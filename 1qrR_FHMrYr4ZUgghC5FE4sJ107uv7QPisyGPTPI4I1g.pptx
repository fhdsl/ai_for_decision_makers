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2BCED8-91C4-4152-B215-B0D8787C50CF}">
  <a:tblStyle styleId="{402BCED8-91C4-4152-B215-B0D8787C50C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Customized Interfaces for eh I In this chapter we will discuss examples of using customized interfaces for eh I.</a:t>
            </a:r>
            <a:r>
              <a:rPr lang="en">
                <a:solidFill>
                  <a:schemeClr val="dk1"/>
                </a:solidFill>
              </a:rPr>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page describes the terms of use for this content.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a0db3466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a0db3466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Sometimes you need the power of AI underneath the hood of your own website/app. There are multiple strategies you can employ to achieve this. In this scenario, you need to have your website or app that has its own interface.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a672011b5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a672011b5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Interfaces are how people will use your app. There's two main interface types that are most common: GUIs and Command line </a:t>
            </a:r>
            <a:endParaRPr/>
          </a:p>
          <a:p>
            <a:pPr indent="0" lvl="0" marL="0" rtl="0" algn="l">
              <a:spcBef>
                <a:spcPts val="0"/>
              </a:spcBef>
              <a:spcAft>
                <a:spcPts val="0"/>
              </a:spcAft>
              <a:buClr>
                <a:schemeClr val="dk1"/>
              </a:buClr>
              <a:buSzPts val="1100"/>
              <a:buFont typeface="Arial"/>
              <a:buNone/>
            </a:pPr>
            <a:r>
              <a:rPr lang="en"/>
              <a:t>- `GUI` - stands for "Graphics user interface" -- it's the most widely used. Here users point and click buttons to tell a computer and its software what they'd like to do. </a:t>
            </a:r>
            <a:endParaRPr/>
          </a:p>
          <a:p>
            <a:pPr indent="0" lvl="0" marL="0" rtl="0" algn="l">
              <a:spcBef>
                <a:spcPts val="0"/>
              </a:spcBef>
              <a:spcAft>
                <a:spcPts val="0"/>
              </a:spcAft>
              <a:buClr>
                <a:schemeClr val="dk1"/>
              </a:buClr>
              <a:buSzPts val="1100"/>
              <a:buFont typeface="Arial"/>
              <a:buNone/>
            </a:pPr>
            <a:r>
              <a:rPr lang="en"/>
              <a:t>- `Command line` - generally for software that is for individuals with more technical expertise and comfort with programming. In this interface, users type commands in order to perform tasks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a672011b50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a672011b50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scenario we could maintain all of the same machinery but merely have a different platform where our users arrive.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a672011b5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a672011b5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multiple strategies for empowering your website or app with an eh I model or tool. These are arranged in order from lowest to highest investment. Embed premade eh I tools in your app - There are prepackaged solutions for standard eh I tools that you might want for your website. These are subscription services but require minimal expertise to employ. Use an A P I (Application programming interface) underneath the hood of your app -- an increasing number of L L Ms and other eh I tools have A P Is available. A P Is allow one to access a website or tool programmatically. This means that you can build your tool in such a way that underneath the hood it is powered by an eh I tool. Deploy existing model in your own app - this is the most technically intensive solution but would be necessary if you require other types of customizations for your eh I tool.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a6bf36de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a6bf36de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Usability experts are going to be really helpful for carrying out this kind of need. Interface designs can make or break a tool’s usability and hence popularity!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a672011b50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a672011b50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services like Cogniflow offer prepackaged eh I services like chatbots that you can embed in your website or tool. This has the advantage of being minimal maintenance or software development knowledge needed. But as always, you generally don't have the ability to highly customize or finely tune these types of options. Cogniflow is a subscription service.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a80a76dc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a80a76dc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Octo M L also has premade eh I services but allows for more customizations and fine tuning of models than Cogniflow does. It is a pay as you go type service since you use their computing resources.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a672011b50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a672011b50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Pre-package tools may only have certain options…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In contrast, A P Is can be very powerful and allow you to incorporate all the power of an eh I tool into your website/app. They also free you team from having to do as much back end development. Although not all eh I tools have A P I access, an increasing number of them are developing this as an option.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a672011b50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a672011b50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Currently Chat G P T's A P I is the most well developed for L L M (it appears at the time of writing this) but of course it requires a higher cost subscription plan. Bard may have a beta version of their A P I being further developed and released. Other types of eh I models (not L L Ms) often have A P I access as well like Google Cloud's speech to text A P I.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a672011b50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a672011b50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If you need more than a custom interface but also custom knowledge, security you will likely need to build custom eh I solutions – again this requires more staff expertise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next chapter we will discuss custom eh I builds.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7561746" y="4517201"/>
            <a:ext cx="1147827" cy="5061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1">
    <p:spTree>
      <p:nvGrpSpPr>
        <p:cNvPr id="20" name="Shape 20"/>
        <p:cNvGrpSpPr/>
        <p:nvPr/>
      </p:nvGrpSpPr>
      <p:grpSpPr>
        <a:xfrm>
          <a:off x="0" y="0"/>
          <a:ext cx="0" cy="0"/>
          <a:chOff x="0" y="0"/>
          <a:chExt cx="0" cy="0"/>
        </a:xfrm>
      </p:grpSpPr>
      <p:grpSp>
        <p:nvGrpSpPr>
          <p:cNvPr id="21" name="Google Shape;21;p3"/>
          <p:cNvGrpSpPr/>
          <p:nvPr/>
        </p:nvGrpSpPr>
        <p:grpSpPr>
          <a:xfrm>
            <a:off x="0" y="490"/>
            <a:ext cx="5153705" cy="5134399"/>
            <a:chOff x="0" y="75"/>
            <a:chExt cx="5153705" cy="5152950"/>
          </a:xfrm>
        </p:grpSpPr>
        <p:sp>
          <p:nvSpPr>
            <p:cNvPr id="22" name="Google Shape;22;p3"/>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28" name="Google Shape;28;p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29" name="Google Shape;29;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30" name="Google Shape;30;p3"/>
          <p:cNvPicPr preferRelativeResize="0"/>
          <p:nvPr/>
        </p:nvPicPr>
        <p:blipFill rotWithShape="1">
          <a:blip r:embed="rId2">
            <a:alphaModFix/>
          </a:blip>
          <a:srcRect b="0" l="22785" r="21708" t="0"/>
          <a:stretch/>
        </p:blipFill>
        <p:spPr>
          <a:xfrm>
            <a:off x="6786250" y="4589350"/>
            <a:ext cx="2040327" cy="4615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grpSp>
        <p:nvGrpSpPr>
          <p:cNvPr id="32" name="Google Shape;32;p4"/>
          <p:cNvGrpSpPr/>
          <p:nvPr/>
        </p:nvGrpSpPr>
        <p:grpSpPr>
          <a:xfrm>
            <a:off x="4406400" y="0"/>
            <a:ext cx="4737600" cy="5143065"/>
            <a:chOff x="4406400" y="0"/>
            <a:chExt cx="4737600" cy="5143065"/>
          </a:xfrm>
        </p:grpSpPr>
        <p:sp>
          <p:nvSpPr>
            <p:cNvPr id="33" name="Google Shape;33;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4"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 name="Google Shape;58;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9" name="Google Shape;59;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60" name="Google Shape;60;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4" name="Google Shape;64;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65" name="Google Shape;65;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6" name="Google Shape;66;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67" name="Google Shape;67;p6"/>
          <p:cNvGrpSpPr/>
          <p:nvPr/>
        </p:nvGrpSpPr>
        <p:grpSpPr>
          <a:xfrm>
            <a:off x="0" y="381001"/>
            <a:ext cx="1037850" cy="1016287"/>
            <a:chOff x="0" y="381001"/>
            <a:chExt cx="1037850" cy="1016287"/>
          </a:xfrm>
        </p:grpSpPr>
        <p:sp>
          <p:nvSpPr>
            <p:cNvPr id="68" name="Google Shape;68;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72" name="Google Shape;72;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74" name="Google Shape;74;p7"/>
          <p:cNvGrpSpPr/>
          <p:nvPr/>
        </p:nvGrpSpPr>
        <p:grpSpPr>
          <a:xfrm>
            <a:off x="0" y="381001"/>
            <a:ext cx="1037850" cy="1016287"/>
            <a:chOff x="0" y="381001"/>
            <a:chExt cx="1037850" cy="1016287"/>
          </a:xfrm>
        </p:grpSpPr>
        <p:sp>
          <p:nvSpPr>
            <p:cNvPr id="75" name="Google Shape;75;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9" name="Google Shape;79;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0" name="Google Shape;80;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2" name="Google Shape;82;p8"/>
          <p:cNvGrpSpPr/>
          <p:nvPr/>
        </p:nvGrpSpPr>
        <p:grpSpPr>
          <a:xfrm>
            <a:off x="0" y="381001"/>
            <a:ext cx="1037850" cy="1016287"/>
            <a:chOff x="0" y="381001"/>
            <a:chExt cx="1037850" cy="1016287"/>
          </a:xfrm>
        </p:grpSpPr>
        <p:sp>
          <p:nvSpPr>
            <p:cNvPr id="83" name="Google Shape;83;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grpSp>
        <p:nvGrpSpPr>
          <p:cNvPr id="86" name="Google Shape;86;p9"/>
          <p:cNvGrpSpPr/>
          <p:nvPr/>
        </p:nvGrpSpPr>
        <p:grpSpPr>
          <a:xfrm>
            <a:off x="4406400" y="0"/>
            <a:ext cx="4737600" cy="5143500"/>
            <a:chOff x="4406400" y="0"/>
            <a:chExt cx="4737600" cy="5143500"/>
          </a:xfrm>
        </p:grpSpPr>
        <p:sp>
          <p:nvSpPr>
            <p:cNvPr id="87" name="Google Shape;87;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 name="Google Shape;106;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8" name="Shape 108"/>
        <p:cNvGrpSpPr/>
        <p:nvPr/>
      </p:nvGrpSpPr>
      <p:grpSpPr>
        <a:xfrm>
          <a:off x="0" y="0"/>
          <a:ext cx="0" cy="0"/>
          <a:chOff x="0" y="0"/>
          <a:chExt cx="0" cy="0"/>
        </a:xfrm>
      </p:grpSpPr>
      <p:sp>
        <p:nvSpPr>
          <p:cNvPr id="109" name="Google Shape;109;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0" name="Google Shape;110;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11" name="Google Shape;111;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12" name="Google Shape;112;p10"/>
          <p:cNvGrpSpPr/>
          <p:nvPr/>
        </p:nvGrpSpPr>
        <p:grpSpPr>
          <a:xfrm>
            <a:off x="0" y="381001"/>
            <a:ext cx="1037850" cy="1016287"/>
            <a:chOff x="0" y="381001"/>
            <a:chExt cx="1037850" cy="1016287"/>
          </a:xfrm>
        </p:grpSpPr>
        <p:sp>
          <p:nvSpPr>
            <p:cNvPr id="113" name="Google Shape;113;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
    <p:spTree>
      <p:nvGrpSpPr>
        <p:cNvPr id="115" name="Shape 115"/>
        <p:cNvGrpSpPr/>
        <p:nvPr/>
      </p:nvGrpSpPr>
      <p:grpSpPr>
        <a:xfrm>
          <a:off x="0" y="0"/>
          <a:ext cx="0" cy="0"/>
          <a:chOff x="0" y="0"/>
          <a:chExt cx="0" cy="0"/>
        </a:xfrm>
      </p:grpSpPr>
      <p:grpSp>
        <p:nvGrpSpPr>
          <p:cNvPr id="116" name="Google Shape;116;p11"/>
          <p:cNvGrpSpPr/>
          <p:nvPr/>
        </p:nvGrpSpPr>
        <p:grpSpPr>
          <a:xfrm>
            <a:off x="43237" y="4724428"/>
            <a:ext cx="428721" cy="393609"/>
            <a:chOff x="0" y="3785672"/>
            <a:chExt cx="698925" cy="684657"/>
          </a:xfrm>
        </p:grpSpPr>
        <p:sp>
          <p:nvSpPr>
            <p:cNvPr id="117" name="Google Shape;117;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0" name="Google Shape;120;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spTree>
      <p:nvGrpSpPr>
        <p:cNvPr id="122" name="Shape 122"/>
        <p:cNvGrpSpPr/>
        <p:nvPr/>
      </p:nvGrpSpPr>
      <p:grpSpPr>
        <a:xfrm>
          <a:off x="0" y="0"/>
          <a:ext cx="0" cy="0"/>
          <a:chOff x="0" y="0"/>
          <a:chExt cx="0" cy="0"/>
        </a:xfrm>
      </p:grpSpPr>
      <p:sp>
        <p:nvSpPr>
          <p:cNvPr id="123" name="Google Shape;123;p12"/>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24" name="Google Shape;124;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5" name="Google Shape;125;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pic>
        <p:nvPicPr>
          <p:cNvPr id="126" name="Google Shape;126;p12"/>
          <p:cNvPicPr preferRelativeResize="0"/>
          <p:nvPr/>
        </p:nvPicPr>
        <p:blipFill>
          <a:blip r:embed="rId2">
            <a:alphaModFix/>
          </a:blip>
          <a:stretch>
            <a:fillRect/>
          </a:stretch>
        </p:blipFill>
        <p:spPr>
          <a:xfrm>
            <a:off x="122450" y="4791197"/>
            <a:ext cx="295975" cy="29006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grpSp>
        <p:nvGrpSpPr>
          <p:cNvPr id="128" name="Google Shape;128;p13"/>
          <p:cNvGrpSpPr/>
          <p:nvPr/>
        </p:nvGrpSpPr>
        <p:grpSpPr>
          <a:xfrm>
            <a:off x="4406400" y="0"/>
            <a:ext cx="4737600" cy="5143065"/>
            <a:chOff x="4406400" y="0"/>
            <a:chExt cx="4737600" cy="5143065"/>
          </a:xfrm>
        </p:grpSpPr>
        <p:sp>
          <p:nvSpPr>
            <p:cNvPr id="129" name="Google Shape;129;p1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1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48" name="Google Shape;148;p1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49" name="Google Shape;14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3"/>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1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hyperlink" Target="https://openai.com/pricing" TargetMode="External"/><Relationship Id="rId4" Type="http://schemas.openxmlformats.org/officeDocument/2006/relationships/hyperlink" Target="https://medium.com/@novita_ai/how-to-use-google-bard-api-57a14d95bfa3" TargetMode="External"/><Relationship Id="rId5" Type="http://schemas.openxmlformats.org/officeDocument/2006/relationships/hyperlink" Target="https://cloud.google.com/speech-to-tex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ctrTitle"/>
          </p:nvPr>
        </p:nvSpPr>
        <p:spPr>
          <a:xfrm>
            <a:off x="3288225" y="1578375"/>
            <a:ext cx="57018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Customized Interfaces for AI</a:t>
            </a:r>
            <a:endParaRPr sz="3988"/>
          </a:p>
        </p:txBody>
      </p:sp>
      <p:grpSp>
        <p:nvGrpSpPr>
          <p:cNvPr id="159" name="Google Shape;159;p15"/>
          <p:cNvGrpSpPr/>
          <p:nvPr/>
        </p:nvGrpSpPr>
        <p:grpSpPr>
          <a:xfrm>
            <a:off x="5746753" y="3038914"/>
            <a:ext cx="784738" cy="783126"/>
            <a:chOff x="10877550" y="3067050"/>
            <a:chExt cx="6400801" cy="7353300"/>
          </a:xfrm>
        </p:grpSpPr>
        <p:sp>
          <p:nvSpPr>
            <p:cNvPr id="160" name="Google Shape;160;p15"/>
            <p:cNvSpPr/>
            <p:nvPr/>
          </p:nvSpPr>
          <p:spPr>
            <a:xfrm>
              <a:off x="11372850" y="3067050"/>
              <a:ext cx="5448300" cy="3695700"/>
            </a:xfrm>
            <a:prstGeom prst="roundRect">
              <a:avLst>
                <a:gd fmla="val 16667" name="adj"/>
              </a:avLst>
            </a:prstGeom>
            <a:solidFill>
              <a:srgbClr val="D9D9D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11563350" y="3314700"/>
              <a:ext cx="5029200" cy="3238500"/>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 name="Google Shape;162;p15"/>
            <p:cNvPicPr preferRelativeResize="0"/>
            <p:nvPr/>
          </p:nvPicPr>
          <p:blipFill>
            <a:blip r:embed="rId3">
              <a:alphaModFix/>
            </a:blip>
            <a:stretch>
              <a:fillRect/>
            </a:stretch>
          </p:blipFill>
          <p:spPr>
            <a:xfrm>
              <a:off x="10877550" y="5562600"/>
              <a:ext cx="6400801" cy="4857750"/>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68" name="Google Shape;168;p16"/>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type="title"/>
          </p:nvPr>
        </p:nvSpPr>
        <p:spPr>
          <a:xfrm>
            <a:off x="484575" y="1591775"/>
            <a:ext cx="7638600" cy="18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3490">
                <a:solidFill>
                  <a:schemeClr val="dk1"/>
                </a:solidFill>
                <a:highlight>
                  <a:srgbClr val="FFFFFF"/>
                </a:highlight>
              </a:rPr>
              <a:t>Sometimes you need the power of AI underneath the hood of your own website/app</a:t>
            </a:r>
            <a:endParaRPr sz="3490">
              <a:solidFill>
                <a:schemeClr val="dk1"/>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8"/>
          <p:cNvSpPr txBox="1"/>
          <p:nvPr>
            <p:ph idx="4294967295" type="title"/>
          </p:nvPr>
        </p:nvSpPr>
        <p:spPr>
          <a:xfrm>
            <a:off x="823850" y="768825"/>
            <a:ext cx="8066400" cy="3454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300"/>
              <a:t>The two most common user interfaces:</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rPr b="1" lang="en" sz="3300"/>
              <a:t>GUI </a:t>
            </a:r>
            <a:r>
              <a:rPr lang="en" sz="3300"/>
              <a:t>(Graphics user interface)</a:t>
            </a:r>
            <a:endParaRPr sz="3300"/>
          </a:p>
          <a:p>
            <a:pPr indent="-417194" lvl="0" marL="457200" rtl="0" algn="l">
              <a:spcBef>
                <a:spcPts val="0"/>
              </a:spcBef>
              <a:spcAft>
                <a:spcPts val="0"/>
              </a:spcAft>
              <a:buSzPct val="100000"/>
              <a:buChar char="-"/>
            </a:pPr>
            <a:r>
              <a:rPr lang="en" sz="3300"/>
              <a:t>Point and click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rPr b="1" lang="en" sz="3300"/>
              <a:t>Command line</a:t>
            </a:r>
            <a:r>
              <a:rPr lang="en" sz="3300"/>
              <a:t>:</a:t>
            </a:r>
            <a:endParaRPr sz="3300"/>
          </a:p>
          <a:p>
            <a:pPr indent="-417194" lvl="0" marL="457200" rtl="0" algn="l">
              <a:spcBef>
                <a:spcPts val="0"/>
              </a:spcBef>
              <a:spcAft>
                <a:spcPts val="0"/>
              </a:spcAft>
              <a:buSzPct val="100000"/>
              <a:buChar char="-"/>
            </a:pPr>
            <a:r>
              <a:rPr lang="en" sz="3300"/>
              <a:t>Type in a command </a:t>
            </a:r>
            <a:endParaRPr sz="3300"/>
          </a:p>
        </p:txBody>
      </p:sp>
      <p:pic>
        <p:nvPicPr>
          <p:cNvPr id="179" name="Google Shape;179;p18"/>
          <p:cNvPicPr preferRelativeResize="0"/>
          <p:nvPr/>
        </p:nvPicPr>
        <p:blipFill>
          <a:blip r:embed="rId3">
            <a:alphaModFix/>
          </a:blip>
          <a:stretch>
            <a:fillRect/>
          </a:stretch>
        </p:blipFill>
        <p:spPr>
          <a:xfrm>
            <a:off x="5483675" y="3072850"/>
            <a:ext cx="1060551" cy="1060551"/>
          </a:xfrm>
          <a:prstGeom prst="rect">
            <a:avLst/>
          </a:prstGeom>
          <a:noFill/>
          <a:ln>
            <a:noFill/>
          </a:ln>
        </p:spPr>
      </p:pic>
      <p:pic>
        <p:nvPicPr>
          <p:cNvPr id="180" name="Google Shape;180;p18"/>
          <p:cNvPicPr preferRelativeResize="0"/>
          <p:nvPr/>
        </p:nvPicPr>
        <p:blipFill>
          <a:blip r:embed="rId4">
            <a:alphaModFix/>
          </a:blip>
          <a:stretch>
            <a:fillRect/>
          </a:stretch>
        </p:blipFill>
        <p:spPr>
          <a:xfrm>
            <a:off x="6416175" y="1394550"/>
            <a:ext cx="1060551" cy="10605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9"/>
          <p:cNvSpPr/>
          <p:nvPr/>
        </p:nvSpPr>
        <p:spPr>
          <a:xfrm rot="7592644">
            <a:off x="2639133" y="2258402"/>
            <a:ext cx="1445483" cy="1367842"/>
          </a:xfrm>
          <a:prstGeom prst="trapezoid">
            <a:avLst>
              <a:gd fmla="val 58416" name="adj"/>
            </a:avLst>
          </a:prstGeom>
          <a:solidFill>
            <a:srgbClr val="C9DAF8"/>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6" name="Google Shape;186;p19"/>
          <p:cNvSpPr/>
          <p:nvPr/>
        </p:nvSpPr>
        <p:spPr>
          <a:xfrm>
            <a:off x="3676000" y="2819100"/>
            <a:ext cx="1641300" cy="1563300"/>
          </a:xfrm>
          <a:prstGeom prst="rect">
            <a:avLst/>
          </a:prstGeom>
          <a:solidFill>
            <a:srgbClr val="6FA8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pic>
        <p:nvPicPr>
          <p:cNvPr id="187" name="Google Shape;187;p19"/>
          <p:cNvPicPr preferRelativeResize="0"/>
          <p:nvPr/>
        </p:nvPicPr>
        <p:blipFill>
          <a:blip r:embed="rId3">
            <a:alphaModFix/>
          </a:blip>
          <a:stretch>
            <a:fillRect/>
          </a:stretch>
        </p:blipFill>
        <p:spPr>
          <a:xfrm>
            <a:off x="3610775" y="2778625"/>
            <a:ext cx="1796649" cy="1796649"/>
          </a:xfrm>
          <a:prstGeom prst="rect">
            <a:avLst/>
          </a:prstGeom>
          <a:noFill/>
          <a:ln>
            <a:noFill/>
          </a:ln>
        </p:spPr>
      </p:pic>
      <p:sp>
        <p:nvSpPr>
          <p:cNvPr id="188" name="Google Shape;188;p19"/>
          <p:cNvSpPr/>
          <p:nvPr/>
        </p:nvSpPr>
        <p:spPr>
          <a:xfrm>
            <a:off x="5407425" y="3930100"/>
            <a:ext cx="2376900" cy="384900"/>
          </a:xfrm>
          <a:prstGeom prst="rect">
            <a:avLst/>
          </a:prstGeom>
          <a:solidFill>
            <a:srgbClr val="6FA8DC"/>
          </a:solidFill>
          <a:ln cap="flat" cmpd="sng" w="762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pic>
        <p:nvPicPr>
          <p:cNvPr id="189" name="Google Shape;189;p19"/>
          <p:cNvPicPr preferRelativeResize="0"/>
          <p:nvPr/>
        </p:nvPicPr>
        <p:blipFill>
          <a:blip r:embed="rId4">
            <a:alphaModFix/>
          </a:blip>
          <a:stretch>
            <a:fillRect/>
          </a:stretch>
        </p:blipFill>
        <p:spPr>
          <a:xfrm>
            <a:off x="5407424" y="2934100"/>
            <a:ext cx="2376906" cy="2376906"/>
          </a:xfrm>
          <a:prstGeom prst="rect">
            <a:avLst/>
          </a:prstGeom>
          <a:noFill/>
          <a:ln>
            <a:noFill/>
          </a:ln>
        </p:spPr>
      </p:pic>
      <p:sp>
        <p:nvSpPr>
          <p:cNvPr id="190" name="Google Shape;190;p19"/>
          <p:cNvSpPr txBox="1"/>
          <p:nvPr/>
        </p:nvSpPr>
        <p:spPr>
          <a:xfrm>
            <a:off x="1068075" y="685350"/>
            <a:ext cx="993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Input</a:t>
            </a:r>
            <a:endParaRPr b="1" sz="2200" u="sng">
              <a:solidFill>
                <a:schemeClr val="lt1"/>
              </a:solidFill>
              <a:latin typeface="Lato"/>
              <a:ea typeface="Lato"/>
              <a:cs typeface="Lato"/>
              <a:sym typeface="Lato"/>
            </a:endParaRPr>
          </a:p>
        </p:txBody>
      </p:sp>
      <p:sp>
        <p:nvSpPr>
          <p:cNvPr id="191" name="Google Shape;191;p19"/>
          <p:cNvSpPr txBox="1"/>
          <p:nvPr/>
        </p:nvSpPr>
        <p:spPr>
          <a:xfrm>
            <a:off x="6100450" y="2549200"/>
            <a:ext cx="155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Output</a:t>
            </a:r>
            <a:endParaRPr b="1" sz="2200" u="sng">
              <a:solidFill>
                <a:schemeClr val="lt1"/>
              </a:solidFill>
              <a:latin typeface="Lato"/>
              <a:ea typeface="Lato"/>
              <a:cs typeface="Lato"/>
              <a:sym typeface="Lato"/>
            </a:endParaRPr>
          </a:p>
        </p:txBody>
      </p:sp>
      <p:sp>
        <p:nvSpPr>
          <p:cNvPr id="192" name="Google Shape;192;p19"/>
          <p:cNvSpPr/>
          <p:nvPr/>
        </p:nvSpPr>
        <p:spPr>
          <a:xfrm>
            <a:off x="3081800" y="4315000"/>
            <a:ext cx="2748900" cy="5601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u="sng">
                <a:latin typeface="Lato"/>
                <a:ea typeface="Lato"/>
                <a:cs typeface="Lato"/>
                <a:sym typeface="Lato"/>
              </a:rPr>
              <a:t>Training Data</a:t>
            </a:r>
            <a:endParaRPr b="1" sz="2000" u="sng">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p:txBody>
      </p:sp>
      <p:sp>
        <p:nvSpPr>
          <p:cNvPr id="193" name="Google Shape;193;p19"/>
          <p:cNvSpPr/>
          <p:nvPr/>
        </p:nvSpPr>
        <p:spPr>
          <a:xfrm rot="2370681">
            <a:off x="2221267" y="1626495"/>
            <a:ext cx="822814" cy="476304"/>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4" name="Google Shape;194;p19"/>
          <p:cNvSpPr/>
          <p:nvPr/>
        </p:nvSpPr>
        <p:spPr>
          <a:xfrm>
            <a:off x="5487090" y="3308618"/>
            <a:ext cx="773100" cy="300600"/>
          </a:xfrm>
          <a:prstGeom prst="rightArrow">
            <a:avLst>
              <a:gd fmla="val 50000" name="adj1"/>
              <a:gd fmla="val 50000" name="adj2"/>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95" name="Google Shape;195;p19"/>
          <p:cNvPicPr preferRelativeResize="0"/>
          <p:nvPr/>
        </p:nvPicPr>
        <p:blipFill>
          <a:blip r:embed="rId5">
            <a:alphaModFix/>
          </a:blip>
          <a:stretch>
            <a:fillRect/>
          </a:stretch>
        </p:blipFill>
        <p:spPr>
          <a:xfrm>
            <a:off x="3081825" y="4315000"/>
            <a:ext cx="560100" cy="560100"/>
          </a:xfrm>
          <a:prstGeom prst="rect">
            <a:avLst/>
          </a:prstGeom>
          <a:noFill/>
          <a:ln>
            <a:noFill/>
          </a:ln>
        </p:spPr>
      </p:pic>
      <p:pic>
        <p:nvPicPr>
          <p:cNvPr id="196" name="Google Shape;196;p19"/>
          <p:cNvPicPr preferRelativeResize="0"/>
          <p:nvPr/>
        </p:nvPicPr>
        <p:blipFill>
          <a:blip r:embed="rId5">
            <a:alphaModFix/>
          </a:blip>
          <a:stretch>
            <a:fillRect/>
          </a:stretch>
        </p:blipFill>
        <p:spPr>
          <a:xfrm>
            <a:off x="5270600" y="4315000"/>
            <a:ext cx="560100" cy="560100"/>
          </a:xfrm>
          <a:prstGeom prst="rect">
            <a:avLst/>
          </a:prstGeom>
          <a:noFill/>
          <a:ln>
            <a:noFill/>
          </a:ln>
        </p:spPr>
      </p:pic>
      <p:sp>
        <p:nvSpPr>
          <p:cNvPr id="197" name="Google Shape;197;p19"/>
          <p:cNvSpPr/>
          <p:nvPr/>
        </p:nvSpPr>
        <p:spPr>
          <a:xfrm>
            <a:off x="6585650" y="3150825"/>
            <a:ext cx="1296000" cy="616200"/>
          </a:xfrm>
          <a:prstGeom prst="wedgeRoundRectCallout">
            <a:avLst>
              <a:gd fmla="val -33623" name="adj1"/>
              <a:gd fmla="val 69096"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It’s an apple.</a:t>
            </a:r>
            <a:endParaRPr>
              <a:latin typeface="Lato"/>
              <a:ea typeface="Lato"/>
              <a:cs typeface="Lato"/>
              <a:sym typeface="Lato"/>
            </a:endParaRPr>
          </a:p>
        </p:txBody>
      </p:sp>
      <p:sp>
        <p:nvSpPr>
          <p:cNvPr id="198" name="Google Shape;198;p19"/>
          <p:cNvSpPr txBox="1"/>
          <p:nvPr/>
        </p:nvSpPr>
        <p:spPr>
          <a:xfrm>
            <a:off x="3676000" y="2310150"/>
            <a:ext cx="1671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u="sng">
                <a:solidFill>
                  <a:schemeClr val="lt1"/>
                </a:solidFill>
                <a:latin typeface="Lato"/>
                <a:ea typeface="Lato"/>
                <a:cs typeface="Lato"/>
                <a:sym typeface="Lato"/>
              </a:rPr>
              <a:t>Algorithms</a:t>
            </a:r>
            <a:endParaRPr b="1" sz="2200" u="sng">
              <a:solidFill>
                <a:schemeClr val="lt1"/>
              </a:solidFill>
              <a:latin typeface="Lato"/>
              <a:ea typeface="Lato"/>
              <a:cs typeface="Lato"/>
              <a:sym typeface="Lato"/>
            </a:endParaRPr>
          </a:p>
        </p:txBody>
      </p:sp>
      <p:sp>
        <p:nvSpPr>
          <p:cNvPr id="199" name="Google Shape;199;p19"/>
          <p:cNvSpPr txBox="1"/>
          <p:nvPr/>
        </p:nvSpPr>
        <p:spPr>
          <a:xfrm>
            <a:off x="47750" y="69750"/>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What’s your use case? </a:t>
            </a:r>
            <a:endParaRPr sz="2800">
              <a:solidFill>
                <a:schemeClr val="lt1"/>
              </a:solidFill>
              <a:latin typeface="Montserrat"/>
              <a:ea typeface="Montserrat"/>
              <a:cs typeface="Montserrat"/>
              <a:sym typeface="Montserrat"/>
            </a:endParaRPr>
          </a:p>
          <a:p>
            <a:pPr indent="0" lvl="0" marL="0" rtl="0" algn="ctr">
              <a:spcBef>
                <a:spcPts val="0"/>
              </a:spcBef>
              <a:spcAft>
                <a:spcPts val="0"/>
              </a:spcAft>
              <a:buNone/>
            </a:pPr>
            <a:r>
              <a:rPr i="1" lang="en" sz="2000">
                <a:solidFill>
                  <a:srgbClr val="FF0000"/>
                </a:solidFill>
                <a:latin typeface="Montserrat"/>
                <a:ea typeface="Montserrat"/>
                <a:cs typeface="Montserrat"/>
                <a:sym typeface="Montserrat"/>
              </a:rPr>
              <a:t>Customized Interface</a:t>
            </a:r>
            <a:r>
              <a:rPr lang="en" sz="2000">
                <a:solidFill>
                  <a:schemeClr val="lt1"/>
                </a:solidFill>
                <a:latin typeface="Montserrat"/>
                <a:ea typeface="Montserrat"/>
                <a:cs typeface="Montserrat"/>
                <a:sym typeface="Montserrat"/>
              </a:rPr>
              <a:t> </a:t>
            </a:r>
            <a:endParaRPr sz="2000">
              <a:solidFill>
                <a:schemeClr val="lt1"/>
              </a:solidFill>
              <a:latin typeface="Montserrat"/>
              <a:ea typeface="Montserrat"/>
              <a:cs typeface="Montserrat"/>
              <a:sym typeface="Montserrat"/>
            </a:endParaRPr>
          </a:p>
        </p:txBody>
      </p:sp>
      <p:sp>
        <p:nvSpPr>
          <p:cNvPr id="200" name="Google Shape;200;p19"/>
          <p:cNvSpPr txBox="1"/>
          <p:nvPr/>
        </p:nvSpPr>
        <p:spPr>
          <a:xfrm>
            <a:off x="3393175" y="844025"/>
            <a:ext cx="5159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900">
                <a:solidFill>
                  <a:srgbClr val="FF0000"/>
                </a:solidFill>
                <a:latin typeface="Montserrat"/>
                <a:ea typeface="Montserrat"/>
                <a:cs typeface="Montserrat"/>
                <a:sym typeface="Montserrat"/>
              </a:rPr>
              <a:t>I need users to access an AI model but from our own website/app</a:t>
            </a:r>
            <a:endParaRPr b="1" sz="1900">
              <a:solidFill>
                <a:srgbClr val="FF0000"/>
              </a:solidFill>
              <a:latin typeface="Montserrat"/>
              <a:ea typeface="Montserrat"/>
              <a:cs typeface="Montserrat"/>
              <a:sym typeface="Montserrat"/>
            </a:endParaRPr>
          </a:p>
        </p:txBody>
      </p:sp>
      <p:grpSp>
        <p:nvGrpSpPr>
          <p:cNvPr id="201" name="Google Shape;201;p19"/>
          <p:cNvGrpSpPr/>
          <p:nvPr/>
        </p:nvGrpSpPr>
        <p:grpSpPr>
          <a:xfrm>
            <a:off x="283169" y="1160645"/>
            <a:ext cx="2149389" cy="2376587"/>
            <a:chOff x="10877550" y="3067050"/>
            <a:chExt cx="6400801" cy="7353300"/>
          </a:xfrm>
        </p:grpSpPr>
        <p:sp>
          <p:nvSpPr>
            <p:cNvPr id="202" name="Google Shape;202;p19"/>
            <p:cNvSpPr/>
            <p:nvPr/>
          </p:nvSpPr>
          <p:spPr>
            <a:xfrm>
              <a:off x="11372850" y="3067050"/>
              <a:ext cx="5448300" cy="3695700"/>
            </a:xfrm>
            <a:prstGeom prst="roundRect">
              <a:avLst>
                <a:gd fmla="val 16667" name="adj"/>
              </a:avLst>
            </a:prstGeom>
            <a:solidFill>
              <a:srgbClr val="D9D9D9"/>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p:nvPr/>
          </p:nvSpPr>
          <p:spPr>
            <a:xfrm>
              <a:off x="11563350" y="3314700"/>
              <a:ext cx="5029200" cy="3238500"/>
            </a:xfrm>
            <a:prstGeom prst="roundRect">
              <a:avLst>
                <a:gd fmla="val 16667" name="adj"/>
              </a:avLst>
            </a:prstGeom>
            <a:solidFill>
              <a:srgbClr val="FFFFFF"/>
            </a:solidFill>
            <a:ln cap="flat" cmpd="sng" w="762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4" name="Google Shape;204;p19"/>
            <p:cNvPicPr preferRelativeResize="0"/>
            <p:nvPr/>
          </p:nvPicPr>
          <p:blipFill>
            <a:blip r:embed="rId6">
              <a:alphaModFix/>
            </a:blip>
            <a:stretch>
              <a:fillRect/>
            </a:stretch>
          </p:blipFill>
          <p:spPr>
            <a:xfrm>
              <a:off x="10877550" y="5562600"/>
              <a:ext cx="6400801" cy="4857750"/>
            </a:xfrm>
            <a:prstGeom prst="rect">
              <a:avLst/>
            </a:prstGeom>
            <a:noFill/>
            <a:ln>
              <a:noFill/>
            </a:ln>
          </p:spPr>
        </p:pic>
      </p:grpSp>
      <p:sp>
        <p:nvSpPr>
          <p:cNvPr id="205" name="Google Shape;205;p19"/>
          <p:cNvSpPr/>
          <p:nvPr/>
        </p:nvSpPr>
        <p:spPr>
          <a:xfrm>
            <a:off x="638313" y="1392388"/>
            <a:ext cx="1439100" cy="616200"/>
          </a:xfrm>
          <a:prstGeom prst="wedgeRoundRectCallout">
            <a:avLst>
              <a:gd fmla="val -3324" name="adj1"/>
              <a:gd fmla="val 81777" name="adj2"/>
              <a:gd fmla="val 0" name="adj3"/>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latin typeface="Lato"/>
                <a:ea typeface="Lato"/>
                <a:cs typeface="Lato"/>
                <a:sym typeface="Lato"/>
              </a:rPr>
              <a:t>What is this?</a:t>
            </a:r>
            <a:endParaRPr sz="1100">
              <a:latin typeface="Lato"/>
              <a:ea typeface="Lato"/>
              <a:cs typeface="Lato"/>
              <a:sym typeface="Lato"/>
            </a:endParaRPr>
          </a:p>
        </p:txBody>
      </p:sp>
      <p:pic>
        <p:nvPicPr>
          <p:cNvPr id="206" name="Google Shape;206;p19"/>
          <p:cNvPicPr preferRelativeResize="0"/>
          <p:nvPr/>
        </p:nvPicPr>
        <p:blipFill>
          <a:blip r:embed="rId7">
            <a:alphaModFix/>
          </a:blip>
          <a:stretch>
            <a:fillRect/>
          </a:stretch>
        </p:blipFill>
        <p:spPr>
          <a:xfrm>
            <a:off x="1547500" y="1392354"/>
            <a:ext cx="616274" cy="61625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745300" y="459425"/>
            <a:ext cx="8403300" cy="4280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sz="2700"/>
          </a:p>
          <a:p>
            <a:pPr indent="0" lvl="0" marL="0" rtl="0" algn="l">
              <a:spcBef>
                <a:spcPts val="0"/>
              </a:spcBef>
              <a:spcAft>
                <a:spcPts val="0"/>
              </a:spcAft>
              <a:buNone/>
            </a:pPr>
            <a:r>
              <a:t/>
            </a:r>
            <a:endParaRPr sz="2700"/>
          </a:p>
          <a:p>
            <a:pPr indent="457200" lvl="0" marL="0" rtl="0" algn="l">
              <a:spcBef>
                <a:spcPts val="0"/>
              </a:spcBef>
              <a:spcAft>
                <a:spcPts val="0"/>
              </a:spcAft>
              <a:buClr>
                <a:schemeClr val="lt1"/>
              </a:buClr>
              <a:buSzPct val="52380"/>
              <a:buFont typeface="Arial"/>
              <a:buNone/>
            </a:pPr>
            <a:r>
              <a:rPr lang="en" sz="2100">
                <a:solidFill>
                  <a:srgbClr val="282828"/>
                </a:solidFill>
                <a:highlight>
                  <a:srgbClr val="FFFFFF"/>
                </a:highlight>
              </a:rPr>
              <a:t>Embed a premade AI </a:t>
            </a:r>
            <a:endParaRPr sz="2100">
              <a:solidFill>
                <a:srgbClr val="282828"/>
              </a:solidFill>
              <a:highlight>
                <a:srgbClr val="FFFFFF"/>
              </a:highlight>
            </a:endParaRPr>
          </a:p>
          <a:p>
            <a:pPr indent="457200" lvl="0" marL="0" rtl="0" algn="l">
              <a:spcBef>
                <a:spcPts val="400"/>
              </a:spcBef>
              <a:spcAft>
                <a:spcPts val="0"/>
              </a:spcAft>
              <a:buClr>
                <a:schemeClr val="lt1"/>
              </a:buClr>
              <a:buSzPct val="52380"/>
              <a:buFont typeface="Arial"/>
              <a:buNone/>
            </a:pPr>
            <a:r>
              <a:rPr lang="en" sz="2100">
                <a:solidFill>
                  <a:srgbClr val="282828"/>
                </a:solidFill>
                <a:highlight>
                  <a:srgbClr val="FFFFFF"/>
                </a:highlight>
              </a:rPr>
              <a:t>tools in your app</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Use an API underneath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the hood of your app</a:t>
            </a:r>
            <a:endParaRPr sz="2100">
              <a:solidFill>
                <a:srgbClr val="282828"/>
              </a:solidFill>
              <a:highlight>
                <a:srgbClr val="FFFFFF"/>
              </a:highlight>
            </a:endParaRPr>
          </a:p>
          <a:p>
            <a:pPr indent="0" lvl="0" marL="0" rtl="0" algn="l">
              <a:lnSpc>
                <a:spcPct val="100000"/>
              </a:lnSpc>
              <a:spcBef>
                <a:spcPts val="400"/>
              </a:spcBef>
              <a:spcAft>
                <a:spcPts val="0"/>
              </a:spcAft>
              <a:buNone/>
            </a:pPr>
            <a:r>
              <a:t/>
            </a:r>
            <a:endParaRPr sz="2100">
              <a:solidFill>
                <a:srgbClr val="282828"/>
              </a:solidFill>
              <a:highlight>
                <a:srgbClr val="FFFFFF"/>
              </a:highlight>
            </a:endParaRPr>
          </a:p>
          <a:p>
            <a:pPr indent="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Deploy existing model in</a:t>
            </a:r>
            <a:endParaRPr sz="2100">
              <a:solidFill>
                <a:srgbClr val="282828"/>
              </a:solidFill>
              <a:highlight>
                <a:srgbClr val="FFFFFF"/>
              </a:highlight>
            </a:endParaRPr>
          </a:p>
          <a:p>
            <a:pPr indent="457200" lvl="0" marL="0" rtl="0" algn="l">
              <a:lnSpc>
                <a:spcPct val="100000"/>
              </a:lnSpc>
              <a:spcBef>
                <a:spcPts val="400"/>
              </a:spcBef>
              <a:spcAft>
                <a:spcPts val="0"/>
              </a:spcAft>
              <a:buNone/>
            </a:pPr>
            <a:r>
              <a:rPr lang="en" sz="2100">
                <a:solidFill>
                  <a:srgbClr val="282828"/>
                </a:solidFill>
                <a:highlight>
                  <a:srgbClr val="FFFFFF"/>
                </a:highlight>
              </a:rPr>
              <a:t>Your own app</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lnSpc>
                <a:spcPct val="100000"/>
              </a:lnSpc>
              <a:spcBef>
                <a:spcPts val="400"/>
              </a:spcBef>
              <a:spcAft>
                <a:spcPts val="0"/>
              </a:spcAft>
              <a:buNone/>
            </a:pPr>
            <a:r>
              <a:t/>
            </a:r>
            <a:endParaRPr sz="2100">
              <a:solidFill>
                <a:srgbClr val="282828"/>
              </a:solidFill>
              <a:highlight>
                <a:srgbClr val="FFFFFF"/>
              </a:highlight>
            </a:endParaRPr>
          </a:p>
          <a:p>
            <a:pPr indent="457200" lvl="0" marL="0" rtl="0" algn="l">
              <a:spcBef>
                <a:spcPts val="400"/>
              </a:spcBef>
              <a:spcAft>
                <a:spcPts val="0"/>
              </a:spcAft>
              <a:buNone/>
            </a:pPr>
            <a:r>
              <a:rPr lang="en" sz="2100">
                <a:solidFill>
                  <a:srgbClr val="282828"/>
                </a:solidFill>
                <a:highlight>
                  <a:srgbClr val="FFFFFF"/>
                </a:highlight>
              </a:rPr>
              <a:t>	</a:t>
            </a:r>
            <a:endParaRPr sz="2100">
              <a:solidFill>
                <a:srgbClr val="282828"/>
              </a:solidFill>
              <a:highlight>
                <a:srgbClr val="FFFFFF"/>
              </a:highlight>
            </a:endParaRPr>
          </a:p>
          <a:p>
            <a:pPr indent="457200" lvl="0" marL="0" rtl="0" algn="l">
              <a:spcBef>
                <a:spcPts val="0"/>
              </a:spcBef>
              <a:spcAft>
                <a:spcPts val="0"/>
              </a:spcAft>
              <a:buNone/>
            </a:pPr>
            <a:r>
              <a:t/>
            </a:r>
            <a:endParaRPr sz="2100">
              <a:solidFill>
                <a:srgbClr val="282828"/>
              </a:solidFill>
              <a:highlight>
                <a:srgbClr val="FFFFFF"/>
              </a:highlight>
            </a:endParaRPr>
          </a:p>
          <a:p>
            <a:pPr indent="457200" lvl="0" marL="0" rtl="0" algn="l">
              <a:spcBef>
                <a:spcPts val="0"/>
              </a:spcBef>
              <a:spcAft>
                <a:spcPts val="0"/>
              </a:spcAft>
              <a:buNone/>
            </a:pPr>
            <a:r>
              <a:t/>
            </a:r>
            <a:endParaRPr sz="1100"/>
          </a:p>
        </p:txBody>
      </p:sp>
      <p:sp>
        <p:nvSpPr>
          <p:cNvPr id="212" name="Google Shape;212;p20"/>
          <p:cNvSpPr/>
          <p:nvPr/>
        </p:nvSpPr>
        <p:spPr>
          <a:xfrm>
            <a:off x="4473175" y="2720250"/>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3" name="Google Shape;213;p20"/>
          <p:cNvSpPr/>
          <p:nvPr/>
        </p:nvSpPr>
        <p:spPr>
          <a:xfrm rot="10800000">
            <a:off x="298175" y="1785300"/>
            <a:ext cx="486000" cy="2342400"/>
          </a:xfrm>
          <a:prstGeom prst="upDownArrow">
            <a:avLst>
              <a:gd fmla="val 50000" name="adj1"/>
              <a:gd fmla="val 50000" name="adj2"/>
            </a:avLst>
          </a:prstGeom>
          <a:gradFill>
            <a:gsLst>
              <a:gs pos="0">
                <a:srgbClr val="FFFFFF"/>
              </a:gs>
              <a:gs pos="57000">
                <a:srgbClr val="B8D4AB"/>
              </a:gs>
              <a:gs pos="100000">
                <a:srgbClr val="EA9999"/>
              </a:gs>
            </a:gsLst>
            <a:lin ang="16200038"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4" name="Google Shape;214;p20"/>
          <p:cNvSpPr txBox="1"/>
          <p:nvPr/>
        </p:nvSpPr>
        <p:spPr>
          <a:xfrm>
            <a:off x="38675" y="4074050"/>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Highest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Investment</a:t>
            </a:r>
            <a:endParaRPr sz="1300">
              <a:solidFill>
                <a:schemeClr val="lt1"/>
              </a:solidFill>
              <a:latin typeface="Lato"/>
              <a:ea typeface="Lato"/>
              <a:cs typeface="Lato"/>
              <a:sym typeface="Lato"/>
            </a:endParaRPr>
          </a:p>
        </p:txBody>
      </p:sp>
      <p:sp>
        <p:nvSpPr>
          <p:cNvPr id="215" name="Google Shape;215;p20"/>
          <p:cNvSpPr txBox="1"/>
          <p:nvPr/>
        </p:nvSpPr>
        <p:spPr>
          <a:xfrm>
            <a:off x="38675" y="1264125"/>
            <a:ext cx="1005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Lato"/>
                <a:ea typeface="Lato"/>
                <a:cs typeface="Lato"/>
                <a:sym typeface="Lato"/>
              </a:rPr>
              <a:t>Lowest</a:t>
            </a:r>
            <a:endParaRPr sz="1300">
              <a:solidFill>
                <a:schemeClr val="lt1"/>
              </a:solidFill>
              <a:latin typeface="Lato"/>
              <a:ea typeface="Lato"/>
              <a:cs typeface="Lato"/>
              <a:sym typeface="Lato"/>
            </a:endParaRPr>
          </a:p>
          <a:p>
            <a:pPr indent="0" lvl="0" marL="0" rtl="0" algn="ctr">
              <a:spcBef>
                <a:spcPts val="0"/>
              </a:spcBef>
              <a:spcAft>
                <a:spcPts val="0"/>
              </a:spcAft>
              <a:buNone/>
            </a:pPr>
            <a:r>
              <a:rPr lang="en" sz="1300">
                <a:solidFill>
                  <a:schemeClr val="lt1"/>
                </a:solidFill>
                <a:latin typeface="Lato"/>
                <a:ea typeface="Lato"/>
                <a:cs typeface="Lato"/>
                <a:sym typeface="Lato"/>
              </a:rPr>
              <a:t>Investment</a:t>
            </a:r>
            <a:endParaRPr sz="1300">
              <a:solidFill>
                <a:schemeClr val="lt1"/>
              </a:solidFill>
              <a:latin typeface="Lato"/>
              <a:ea typeface="Lato"/>
              <a:cs typeface="Lato"/>
              <a:sym typeface="Lato"/>
            </a:endParaRPr>
          </a:p>
        </p:txBody>
      </p:sp>
      <p:sp>
        <p:nvSpPr>
          <p:cNvPr id="216" name="Google Shape;216;p20"/>
          <p:cNvSpPr txBox="1"/>
          <p:nvPr/>
        </p:nvSpPr>
        <p:spPr>
          <a:xfrm>
            <a:off x="38675" y="4789500"/>
            <a:ext cx="7876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latin typeface="Montserrat"/>
                <a:ea typeface="Montserrat"/>
                <a:cs typeface="Montserrat"/>
                <a:sym typeface="Montserrat"/>
              </a:rPr>
              <a:t>Sources: https://hbr.org/2023/07/how-to-train-generative-ai-using-your-companys-data</a:t>
            </a:r>
            <a:endParaRPr sz="1100">
              <a:solidFill>
                <a:schemeClr val="lt1"/>
              </a:solidFill>
              <a:latin typeface="Montserrat"/>
              <a:ea typeface="Montserrat"/>
              <a:cs typeface="Montserrat"/>
              <a:sym typeface="Montserrat"/>
            </a:endParaRPr>
          </a:p>
        </p:txBody>
      </p:sp>
      <p:sp>
        <p:nvSpPr>
          <p:cNvPr id="217" name="Google Shape;217;p20"/>
          <p:cNvSpPr/>
          <p:nvPr/>
        </p:nvSpPr>
        <p:spPr>
          <a:xfrm>
            <a:off x="4473175" y="3995275"/>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8" name="Google Shape;218;p20"/>
          <p:cNvSpPr txBox="1"/>
          <p:nvPr/>
        </p:nvSpPr>
        <p:spPr>
          <a:xfrm>
            <a:off x="5201025" y="2272613"/>
            <a:ext cx="3814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Will likely require a subscription but won’t require as much maintenance as creating your own custom model</a:t>
            </a:r>
            <a:endParaRPr sz="1800">
              <a:solidFill>
                <a:schemeClr val="lt1"/>
              </a:solidFill>
              <a:highlight>
                <a:srgbClr val="FFFFFF"/>
              </a:highlight>
              <a:latin typeface="Montserrat"/>
              <a:ea typeface="Montserrat"/>
              <a:cs typeface="Montserrat"/>
              <a:sym typeface="Montserrat"/>
            </a:endParaRPr>
          </a:p>
        </p:txBody>
      </p:sp>
      <p:sp>
        <p:nvSpPr>
          <p:cNvPr id="219" name="Google Shape;219;p20"/>
          <p:cNvSpPr txBox="1"/>
          <p:nvPr/>
        </p:nvSpPr>
        <p:spPr>
          <a:xfrm>
            <a:off x="5201025" y="3773700"/>
            <a:ext cx="3814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Requires the most technical expertise but allows for most customizations</a:t>
            </a:r>
            <a:endParaRPr sz="1800">
              <a:solidFill>
                <a:schemeClr val="lt1"/>
              </a:solidFill>
              <a:highlight>
                <a:srgbClr val="FFFFFF"/>
              </a:highlight>
              <a:latin typeface="Montserrat"/>
              <a:ea typeface="Montserrat"/>
              <a:cs typeface="Montserrat"/>
              <a:sym typeface="Montserrat"/>
            </a:endParaRPr>
          </a:p>
        </p:txBody>
      </p:sp>
      <p:sp>
        <p:nvSpPr>
          <p:cNvPr id="220" name="Google Shape;220;p20"/>
          <p:cNvSpPr/>
          <p:nvPr/>
        </p:nvSpPr>
        <p:spPr>
          <a:xfrm>
            <a:off x="4473175" y="1320375"/>
            <a:ext cx="406800" cy="472500"/>
          </a:xfrm>
          <a:prstGeom prst="rightArrow">
            <a:avLst>
              <a:gd fmla="val 50000" name="adj1"/>
              <a:gd fmla="val 50000" name="adj2"/>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1" name="Google Shape;221;p20"/>
          <p:cNvSpPr txBox="1"/>
          <p:nvPr/>
        </p:nvSpPr>
        <p:spPr>
          <a:xfrm>
            <a:off x="5201025" y="1048725"/>
            <a:ext cx="3814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highlight>
                  <a:srgbClr val="FFFFFF"/>
                </a:highlight>
                <a:latin typeface="Montserrat"/>
                <a:ea typeface="Montserrat"/>
                <a:cs typeface="Montserrat"/>
                <a:sym typeface="Montserrat"/>
              </a:rPr>
              <a:t>Least amount of expertise but other customizing may not be possible</a:t>
            </a:r>
            <a:endParaRPr sz="1800">
              <a:solidFill>
                <a:schemeClr val="lt1"/>
              </a:solidFill>
              <a:highlight>
                <a:srgbClr val="FFFFFF"/>
              </a:highlight>
              <a:latin typeface="Montserrat"/>
              <a:ea typeface="Montserrat"/>
              <a:cs typeface="Montserrat"/>
              <a:sym typeface="Montserrat"/>
            </a:endParaRPr>
          </a:p>
        </p:txBody>
      </p:sp>
      <p:sp>
        <p:nvSpPr>
          <p:cNvPr id="222" name="Google Shape;222;p20"/>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latin typeface="Montserrat"/>
                <a:ea typeface="Montserrat"/>
                <a:cs typeface="Montserrat"/>
                <a:sym typeface="Montserrat"/>
              </a:rPr>
              <a:t>AI solutions for customized interface</a:t>
            </a:r>
            <a:endParaRPr sz="2800">
              <a:solidFill>
                <a:srgbClr val="282828"/>
              </a:solidFill>
              <a:highlight>
                <a:srgbClr val="FFFFFF"/>
              </a:highlight>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ph type="title"/>
          </p:nvPr>
        </p:nvSpPr>
        <p:spPr>
          <a:xfrm>
            <a:off x="823850" y="1028700"/>
            <a:ext cx="6908100" cy="3446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3300">
                <a:highlight>
                  <a:srgbClr val="FFFFFF"/>
                </a:highlight>
              </a:rPr>
              <a:t>Usability experts are going to be really helpful for ca</a:t>
            </a:r>
            <a:r>
              <a:rPr lang="en" sz="3300">
                <a:highlight>
                  <a:srgbClr val="FFFFFF"/>
                </a:highlight>
              </a:rPr>
              <a:t>rrying out this kind of need</a:t>
            </a:r>
            <a:r>
              <a:rPr lang="en" sz="3300"/>
              <a:t> </a:t>
            </a:r>
            <a:endParaRPr sz="3300"/>
          </a:p>
          <a:p>
            <a:pPr indent="0" lvl="0" marL="0" rtl="0" algn="l">
              <a:spcBef>
                <a:spcPts val="0"/>
              </a:spcBef>
              <a:spcAft>
                <a:spcPts val="0"/>
              </a:spcAft>
              <a:buNone/>
            </a:pPr>
            <a:r>
              <a:t/>
            </a:r>
            <a:endParaRPr sz="3300"/>
          </a:p>
          <a:p>
            <a:pPr indent="0" lvl="0" marL="0" rtl="0" algn="l">
              <a:spcBef>
                <a:spcPts val="0"/>
              </a:spcBef>
              <a:spcAft>
                <a:spcPts val="0"/>
              </a:spcAft>
              <a:buNone/>
            </a:pPr>
            <a:r>
              <a:t/>
            </a:r>
            <a:endParaRPr sz="3300"/>
          </a:p>
          <a:p>
            <a:pPr indent="0" lvl="0" marL="0" rtl="0" algn="l">
              <a:spcBef>
                <a:spcPts val="0"/>
              </a:spcBef>
              <a:spcAft>
                <a:spcPts val="0"/>
              </a:spcAft>
              <a:buClr>
                <a:schemeClr val="lt1"/>
              </a:buClr>
              <a:buSzPct val="33333"/>
              <a:buFont typeface="Arial"/>
              <a:buNone/>
            </a:pPr>
            <a:r>
              <a:rPr lang="en" sz="3300"/>
              <a:t>Interfaces can make or break a </a:t>
            </a:r>
            <a:r>
              <a:rPr b="1" lang="en" sz="3300"/>
              <a:t>tool’s usability </a:t>
            </a:r>
            <a:r>
              <a:rPr lang="en" sz="3300"/>
              <a:t>and hence </a:t>
            </a:r>
            <a:r>
              <a:rPr b="1" lang="en" sz="3300"/>
              <a:t>popularity</a:t>
            </a:r>
            <a:r>
              <a:rPr lang="en" sz="3300"/>
              <a:t>!</a:t>
            </a:r>
            <a:endParaRPr sz="3300"/>
          </a:p>
          <a:p>
            <a:pPr indent="0" lvl="0" marL="0" rtl="0" algn="l">
              <a:spcBef>
                <a:spcPts val="0"/>
              </a:spcBef>
              <a:spcAft>
                <a:spcPts val="0"/>
              </a:spcAft>
              <a:buNone/>
            </a:pPr>
            <a:r>
              <a:t/>
            </a:r>
            <a:endParaRPr sz="3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2"/>
          <p:cNvPicPr preferRelativeResize="0"/>
          <p:nvPr/>
        </p:nvPicPr>
        <p:blipFill>
          <a:blip r:embed="rId3">
            <a:alphaModFix/>
          </a:blip>
          <a:stretch>
            <a:fillRect/>
          </a:stretch>
        </p:blipFill>
        <p:spPr>
          <a:xfrm>
            <a:off x="1303924" y="1266449"/>
            <a:ext cx="5958448" cy="3069501"/>
          </a:xfrm>
          <a:prstGeom prst="rect">
            <a:avLst/>
          </a:prstGeom>
          <a:noFill/>
          <a:ln>
            <a:noFill/>
          </a:ln>
        </p:spPr>
      </p:pic>
      <p:sp>
        <p:nvSpPr>
          <p:cNvPr id="233" name="Google Shape;233;p22"/>
          <p:cNvSpPr txBox="1"/>
          <p:nvPr/>
        </p:nvSpPr>
        <p:spPr>
          <a:xfrm>
            <a:off x="82525" y="4743300"/>
            <a:ext cx="457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https://www.cogniflow.ai/ai-playground</a:t>
            </a:r>
            <a:endParaRPr/>
          </a:p>
        </p:txBody>
      </p:sp>
      <p:sp>
        <p:nvSpPr>
          <p:cNvPr id="234" name="Google Shape;234;p22"/>
          <p:cNvSpPr txBox="1"/>
          <p:nvPr/>
        </p:nvSpPr>
        <p:spPr>
          <a:xfrm>
            <a:off x="0" y="0"/>
            <a:ext cx="91440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latin typeface="Montserrat"/>
                <a:ea typeface="Montserrat"/>
                <a:cs typeface="Montserrat"/>
                <a:sym typeface="Montserrat"/>
              </a:rPr>
              <a:t>Premade AI tools</a:t>
            </a:r>
            <a:endParaRPr sz="2800">
              <a:latin typeface="Montserrat"/>
              <a:ea typeface="Montserrat"/>
              <a:cs typeface="Montserrat"/>
              <a:sym typeface="Montserrat"/>
            </a:endParaRPr>
          </a:p>
          <a:p>
            <a:pPr indent="0" lvl="0" marL="0" rtl="0" algn="ctr">
              <a:spcBef>
                <a:spcPts val="0"/>
              </a:spcBef>
              <a:spcAft>
                <a:spcPts val="0"/>
              </a:spcAft>
              <a:buNone/>
            </a:pPr>
            <a:r>
              <a:rPr i="1" lang="en" sz="2800">
                <a:latin typeface="Montserrat"/>
                <a:ea typeface="Montserrat"/>
                <a:cs typeface="Montserrat"/>
                <a:sym typeface="Montserrat"/>
              </a:rPr>
              <a:t>no need to reinvent the wheel</a:t>
            </a:r>
            <a:endParaRPr i="1" sz="2800">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3"/>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40" name="Google Shape;240;p23"/>
          <p:cNvPicPr preferRelativeResize="0"/>
          <p:nvPr/>
        </p:nvPicPr>
        <p:blipFill>
          <a:blip r:embed="rId3">
            <a:alphaModFix/>
          </a:blip>
          <a:stretch>
            <a:fillRect/>
          </a:stretch>
        </p:blipFill>
        <p:spPr>
          <a:xfrm>
            <a:off x="729925" y="1118925"/>
            <a:ext cx="7398851" cy="3663301"/>
          </a:xfrm>
          <a:prstGeom prst="rect">
            <a:avLst/>
          </a:prstGeom>
          <a:noFill/>
          <a:ln>
            <a:noFill/>
          </a:ln>
        </p:spPr>
      </p:pic>
      <p:sp>
        <p:nvSpPr>
          <p:cNvPr id="241" name="Google Shape;241;p23"/>
          <p:cNvSpPr txBox="1"/>
          <p:nvPr/>
        </p:nvSpPr>
        <p:spPr>
          <a:xfrm>
            <a:off x="0" y="0"/>
            <a:ext cx="9144000" cy="1354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OctoML is premade </a:t>
            </a:r>
            <a:endParaRPr sz="2800">
              <a:solidFill>
                <a:schemeClr val="lt1"/>
              </a:solidFill>
              <a:latin typeface="Montserrat"/>
              <a:ea typeface="Montserrat"/>
              <a:cs typeface="Montserrat"/>
              <a:sym typeface="Montserrat"/>
            </a:endParaRPr>
          </a:p>
          <a:p>
            <a:pPr indent="0" lvl="0" marL="0" rtl="0" algn="ctr">
              <a:spcBef>
                <a:spcPts val="0"/>
              </a:spcBef>
              <a:spcAft>
                <a:spcPts val="0"/>
              </a:spcAft>
              <a:buClr>
                <a:schemeClr val="lt1"/>
              </a:buClr>
              <a:buSzPts val="1100"/>
              <a:buFont typeface="Arial"/>
              <a:buNone/>
            </a:pPr>
            <a:r>
              <a:rPr i="1" lang="en" sz="2000">
                <a:solidFill>
                  <a:schemeClr val="lt1"/>
                </a:solidFill>
                <a:latin typeface="Montserrat"/>
                <a:ea typeface="Montserrat"/>
                <a:cs typeface="Montserrat"/>
                <a:sym typeface="Montserrat"/>
              </a:rPr>
              <a:t>but allows for fine tuning as well</a:t>
            </a:r>
            <a:endParaRPr i="1" sz="2000">
              <a:solidFill>
                <a:schemeClr val="lt1"/>
              </a:solidFill>
              <a:latin typeface="Montserrat"/>
              <a:ea typeface="Montserrat"/>
              <a:cs typeface="Montserrat"/>
              <a:sym typeface="Montserrat"/>
            </a:endParaRPr>
          </a:p>
          <a:p>
            <a:pPr indent="0" lvl="0" marL="0" rtl="0" algn="ctr">
              <a:spcBef>
                <a:spcPts val="0"/>
              </a:spcBef>
              <a:spcAft>
                <a:spcPts val="0"/>
              </a:spcAft>
              <a:buNone/>
            </a:pPr>
            <a:r>
              <a:t/>
            </a:r>
            <a:endParaRPr sz="280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4"/>
          <p:cNvSpPr txBox="1"/>
          <p:nvPr>
            <p:ph type="title"/>
          </p:nvPr>
        </p:nvSpPr>
        <p:spPr>
          <a:xfrm>
            <a:off x="823850" y="866775"/>
            <a:ext cx="7178400" cy="3521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Pre-package tools may only have certain options…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APIs are very powerful and allow you to incorporate all the power of an AI tool into your website/app</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aphicFrame>
        <p:nvGraphicFramePr>
          <p:cNvPr id="251" name="Google Shape;251;p25"/>
          <p:cNvGraphicFramePr/>
          <p:nvPr/>
        </p:nvGraphicFramePr>
        <p:xfrm>
          <a:off x="608700" y="1385963"/>
          <a:ext cx="3000000" cy="3000000"/>
        </p:xfrm>
        <a:graphic>
          <a:graphicData uri="http://schemas.openxmlformats.org/drawingml/2006/table">
            <a:tbl>
              <a:tblPr>
                <a:noFill/>
                <a:tableStyleId>{402BCED8-91C4-4152-B215-B0D8787C50CF}</a:tableStyleId>
              </a:tblPr>
              <a:tblGrid>
                <a:gridCol w="1981650"/>
                <a:gridCol w="1981650"/>
                <a:gridCol w="1981650"/>
                <a:gridCol w="1981650"/>
              </a:tblGrid>
              <a:tr h="381000">
                <a:tc>
                  <a:txBody>
                    <a:bodyPr/>
                    <a:lstStyle/>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Status</a:t>
                      </a:r>
                      <a:endParaRPr/>
                    </a:p>
                  </a:txBody>
                  <a:tcPr marT="91425" marB="91425" marR="91425" marL="91425">
                    <a:solidFill>
                      <a:srgbClr val="FFFFFF"/>
                    </a:solidFill>
                  </a:tcPr>
                </a:tc>
                <a:tc>
                  <a:txBody>
                    <a:bodyPr/>
                    <a:lstStyle/>
                    <a:p>
                      <a:pPr indent="0" lvl="0" marL="0" rtl="0" algn="l">
                        <a:spcBef>
                          <a:spcPts val="0"/>
                        </a:spcBef>
                        <a:spcAft>
                          <a:spcPts val="0"/>
                        </a:spcAft>
                        <a:buClr>
                          <a:schemeClr val="lt1"/>
                        </a:buClr>
                        <a:buSzPts val="1100"/>
                        <a:buFont typeface="Arial"/>
                        <a:buNone/>
                      </a:pPr>
                      <a:r>
                        <a:rPr lang="en">
                          <a:solidFill>
                            <a:schemeClr val="lt1"/>
                          </a:solidFill>
                        </a:rPr>
                        <a:t>Allows for tuning/customizations</a:t>
                      </a:r>
                      <a:endParaRPr>
                        <a:solidFill>
                          <a:schemeClr val="lt1"/>
                        </a:solidFill>
                      </a:endParaRPr>
                    </a:p>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Links</a:t>
                      </a:r>
                      <a:endParaRPr/>
                    </a:p>
                  </a:txBody>
                  <a:tcPr marT="91425" marB="91425" marR="91425" marL="91425">
                    <a:solidFill>
                      <a:srgbClr val="FFFFFF"/>
                    </a:solidFill>
                  </a:tcPr>
                </a:tc>
              </a:tr>
              <a:tr h="381000">
                <a:tc>
                  <a:txBody>
                    <a:bodyPr/>
                    <a:lstStyle/>
                    <a:p>
                      <a:pPr indent="0" lvl="0" marL="0" rtl="0" algn="l">
                        <a:spcBef>
                          <a:spcPts val="0"/>
                        </a:spcBef>
                        <a:spcAft>
                          <a:spcPts val="0"/>
                        </a:spcAft>
                        <a:buNone/>
                      </a:pPr>
                      <a:r>
                        <a:rPr lang="en"/>
                        <a:t>ChatGPT’s API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Works well. Allows customizations.</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Yes and other customizations</a:t>
                      </a:r>
                      <a:endParaRPr/>
                    </a:p>
                  </a:txBody>
                  <a:tcPr marT="91425" marB="91425" marR="91425" marL="91425">
                    <a:solidFill>
                      <a:srgbClr val="FFFFFF"/>
                    </a:solidFill>
                  </a:tcPr>
                </a:tc>
                <a:tc>
                  <a:txBody>
                    <a:bodyPr/>
                    <a:lstStyle/>
                    <a:p>
                      <a:pPr indent="0" lvl="0" marL="0" rtl="0" algn="l">
                        <a:spcBef>
                          <a:spcPts val="0"/>
                        </a:spcBef>
                        <a:spcAft>
                          <a:spcPts val="0"/>
                        </a:spcAft>
                        <a:buClr>
                          <a:schemeClr val="lt1"/>
                        </a:buClr>
                        <a:buSzPts val="1100"/>
                        <a:buFont typeface="Arial"/>
                        <a:buNone/>
                      </a:pPr>
                      <a:r>
                        <a:rPr lang="en" u="sng">
                          <a:solidFill>
                            <a:schemeClr val="accent2"/>
                          </a:solidFill>
                          <a:latin typeface="Montserrat"/>
                          <a:ea typeface="Montserrat"/>
                          <a:cs typeface="Montserrat"/>
                          <a:sym typeface="Montserrat"/>
                          <a:hlinkClick r:id="rId3">
                            <a:extLst>
                              <a:ext uri="{A12FA001-AC4F-418D-AE19-62706E023703}">
                                <ahyp:hlinkClr val="tx"/>
                              </a:ext>
                            </a:extLst>
                          </a:hlinkClick>
                        </a:rPr>
                        <a:t>https://openai.com/pricing</a:t>
                      </a:r>
                      <a:r>
                        <a:rPr lang="en">
                          <a:solidFill>
                            <a:schemeClr val="lt1"/>
                          </a:solidFill>
                          <a:latin typeface="Montserrat"/>
                          <a:ea typeface="Montserrat"/>
                          <a:cs typeface="Montserrat"/>
                          <a:sym typeface="Montserrat"/>
                        </a:rPr>
                        <a:t> </a:t>
                      </a:r>
                      <a:endParaRPr/>
                    </a:p>
                  </a:txBody>
                  <a:tcPr marT="91425" marB="91425" marR="91425" marL="91425">
                    <a:solidFill>
                      <a:srgbClr val="FFFFFF"/>
                    </a:solidFill>
                  </a:tcPr>
                </a:tc>
              </a:tr>
              <a:tr h="381000">
                <a:tc>
                  <a:txBody>
                    <a:bodyPr/>
                    <a:lstStyle/>
                    <a:p>
                      <a:pPr indent="0" lvl="0" marL="0" rtl="0" algn="l">
                        <a:spcBef>
                          <a:spcPts val="0"/>
                        </a:spcBef>
                        <a:spcAft>
                          <a:spcPts val="0"/>
                        </a:spcAft>
                        <a:buNone/>
                      </a:pPr>
                      <a:r>
                        <a:rPr lang="en"/>
                        <a:t>Bard</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Beta version released – not yet available to everyone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TBD</a:t>
                      </a:r>
                      <a:endParaRPr/>
                    </a:p>
                  </a:txBody>
                  <a:tcPr marT="91425" marB="91425" marR="91425" marL="91425">
                    <a:solidFill>
                      <a:srgbClr val="FFFFFF"/>
                    </a:solidFill>
                  </a:tcPr>
                </a:tc>
                <a:tc>
                  <a:txBody>
                    <a:bodyPr/>
                    <a:lstStyle/>
                    <a:p>
                      <a:pPr indent="0" lvl="0" marL="0" rtl="0" algn="l">
                        <a:spcBef>
                          <a:spcPts val="0"/>
                        </a:spcBef>
                        <a:spcAft>
                          <a:spcPts val="0"/>
                        </a:spcAft>
                        <a:buClr>
                          <a:schemeClr val="lt1"/>
                        </a:buClr>
                        <a:buSzPts val="1100"/>
                        <a:buFont typeface="Arial"/>
                        <a:buNone/>
                      </a:pPr>
                      <a:r>
                        <a:rPr lang="en" u="sng">
                          <a:solidFill>
                            <a:schemeClr val="hlink"/>
                          </a:solidFill>
                          <a:latin typeface="Montserrat"/>
                          <a:ea typeface="Montserrat"/>
                          <a:cs typeface="Montserrat"/>
                          <a:sym typeface="Montserrat"/>
                          <a:hlinkClick r:id="rId4"/>
                        </a:rPr>
                        <a:t>How to Use Google Bard API</a:t>
                      </a:r>
                      <a:r>
                        <a:rPr lang="en">
                          <a:latin typeface="Montserrat"/>
                          <a:ea typeface="Montserrat"/>
                          <a:cs typeface="Montserrat"/>
                          <a:sym typeface="Montserrat"/>
                        </a:rPr>
                        <a:t> </a:t>
                      </a:r>
                      <a:endParaRPr/>
                    </a:p>
                  </a:txBody>
                  <a:tcPr marT="91425" marB="91425" marR="91425" marL="91425">
                    <a:solidFill>
                      <a:srgbClr val="FFFFFF"/>
                    </a:solidFill>
                  </a:tcPr>
                </a:tc>
              </a:tr>
              <a:tr h="381000">
                <a:tc>
                  <a:txBody>
                    <a:bodyPr/>
                    <a:lstStyle/>
                    <a:p>
                      <a:pPr indent="0" lvl="0" marL="0" rtl="0" algn="l">
                        <a:spcBef>
                          <a:spcPts val="0"/>
                        </a:spcBef>
                        <a:spcAft>
                          <a:spcPts val="0"/>
                        </a:spcAft>
                        <a:buNone/>
                      </a:pPr>
                      <a:r>
                        <a:rPr lang="en"/>
                        <a:t>Google Cloud’s Speech to Text API </a:t>
                      </a:r>
                      <a:endParaRPr/>
                    </a:p>
                  </a:txBody>
                  <a:tcPr marT="91425" marB="91425" marR="91425" marL="91425">
                    <a:solidFill>
                      <a:srgbClr val="FFFFFF"/>
                    </a:solidFill>
                  </a:tcPr>
                </a:tc>
                <a:tc>
                  <a:txBody>
                    <a:bodyPr/>
                    <a:lstStyle/>
                    <a:p>
                      <a:pPr indent="0" lvl="0" marL="0" rtl="0" algn="l">
                        <a:spcBef>
                          <a:spcPts val="0"/>
                        </a:spcBef>
                        <a:spcAft>
                          <a:spcPts val="0"/>
                        </a:spcAft>
                        <a:buNone/>
                      </a:pPr>
                      <a:r>
                        <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a:t>Specialized models are available</a:t>
                      </a:r>
                      <a:endParaRPr/>
                    </a:p>
                  </a:txBody>
                  <a:tcPr marT="91425" marB="91425" marR="91425" marL="91425">
                    <a:solidFill>
                      <a:srgbClr val="FFFFFF"/>
                    </a:solidFill>
                  </a:tcPr>
                </a:tc>
                <a:tc>
                  <a:txBody>
                    <a:bodyPr/>
                    <a:lstStyle/>
                    <a:p>
                      <a:pPr indent="0" lvl="0" marL="0" rtl="0" algn="l">
                        <a:spcBef>
                          <a:spcPts val="0"/>
                        </a:spcBef>
                        <a:spcAft>
                          <a:spcPts val="0"/>
                        </a:spcAft>
                        <a:buNone/>
                      </a:pPr>
                      <a:r>
                        <a:rPr lang="en" u="sng">
                          <a:solidFill>
                            <a:schemeClr val="hlink"/>
                          </a:solidFill>
                          <a:latin typeface="Montserrat"/>
                          <a:ea typeface="Montserrat"/>
                          <a:cs typeface="Montserrat"/>
                          <a:sym typeface="Montserrat"/>
                          <a:hlinkClick r:id="rId5"/>
                        </a:rPr>
                        <a:t>Speech-to-Text: Automatic Speech Recognition</a:t>
                      </a:r>
                      <a:r>
                        <a:rPr lang="en">
                          <a:latin typeface="Montserrat"/>
                          <a:ea typeface="Montserrat"/>
                          <a:cs typeface="Montserrat"/>
                          <a:sym typeface="Montserrat"/>
                        </a:rPr>
                        <a:t> </a:t>
                      </a:r>
                      <a:endParaRPr>
                        <a:latin typeface="Montserrat"/>
                        <a:ea typeface="Montserrat"/>
                        <a:cs typeface="Montserrat"/>
                        <a:sym typeface="Montserrat"/>
                      </a:endParaRPr>
                    </a:p>
                  </a:txBody>
                  <a:tcPr marT="91425" marB="91425" marR="91425" marL="91425">
                    <a:solidFill>
                      <a:srgbClr val="FFFFFF"/>
                    </a:solidFill>
                  </a:tcPr>
                </a:tc>
              </a:tr>
            </a:tbl>
          </a:graphicData>
        </a:graphic>
      </p:graphicFrame>
      <p:sp>
        <p:nvSpPr>
          <p:cNvPr id="252" name="Google Shape;252;p25"/>
          <p:cNvSpPr txBox="1"/>
          <p:nvPr/>
        </p:nvSpPr>
        <p:spPr>
          <a:xfrm>
            <a:off x="108275" y="4699525"/>
            <a:ext cx="5836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a:t>https://getstream.io/blog/artificial-intelligence-api/</a:t>
            </a:r>
            <a:endParaRPr/>
          </a:p>
        </p:txBody>
      </p:sp>
      <p:sp>
        <p:nvSpPr>
          <p:cNvPr id="253" name="Google Shape;253;p25"/>
          <p:cNvSpPr txBox="1"/>
          <p:nvPr/>
        </p:nvSpPr>
        <p:spPr>
          <a:xfrm>
            <a:off x="0" y="0"/>
            <a:ext cx="914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800">
                <a:solidFill>
                  <a:schemeClr val="lt1"/>
                </a:solidFill>
                <a:latin typeface="Montserrat"/>
                <a:ea typeface="Montserrat"/>
                <a:cs typeface="Montserrat"/>
                <a:sym typeface="Montserrat"/>
              </a:rPr>
              <a:t>Examples of AI platforms with APIs</a:t>
            </a:r>
            <a:endParaRPr sz="2800">
              <a:solidFill>
                <a:schemeClr val="lt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6"/>
          <p:cNvSpPr txBox="1"/>
          <p:nvPr>
            <p:ph type="title"/>
          </p:nvPr>
        </p:nvSpPr>
        <p:spPr>
          <a:xfrm>
            <a:off x="823850" y="866775"/>
            <a:ext cx="7178400" cy="3521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highlight>
                  <a:srgbClr val="FFFFFF"/>
                </a:highlight>
              </a:rPr>
              <a:t>If you need more than a custom interface but also custom knowledge, security you, or handling you will likely need to build custom AI solutions</a:t>
            </a:r>
            <a:endParaRPr>
              <a:highlight>
                <a:srgbClr val="FFFFFF"/>
              </a:highlight>
            </a:endParaRPr>
          </a:p>
          <a:p>
            <a:pPr indent="0" lvl="0" marL="0" rtl="0" algn="l">
              <a:spcBef>
                <a:spcPts val="0"/>
              </a:spcBef>
              <a:spcAft>
                <a:spcPts val="0"/>
              </a:spcAft>
              <a:buNone/>
            </a:pPr>
            <a:r>
              <a:t/>
            </a:r>
            <a:endParaRPr>
              <a:highlight>
                <a:srgbClr val="FFFFFF"/>
              </a:highlight>
            </a:endParaRPr>
          </a:p>
          <a:p>
            <a:pPr indent="0" lvl="0" marL="0" rtl="0" algn="l">
              <a:spcBef>
                <a:spcPts val="0"/>
              </a:spcBef>
              <a:spcAft>
                <a:spcPts val="0"/>
              </a:spcAft>
              <a:buNone/>
            </a:pPr>
            <a:r>
              <a:t/>
            </a:r>
            <a:endParaRPr>
              <a:highlight>
                <a:srgbClr val="FFFFFF"/>
              </a:highlight>
            </a:endParaRPr>
          </a:p>
          <a:p>
            <a:pPr indent="0" lvl="0" marL="0" rtl="0" algn="l">
              <a:spcBef>
                <a:spcPts val="0"/>
              </a:spcBef>
              <a:spcAft>
                <a:spcPts val="0"/>
              </a:spcAft>
              <a:buNone/>
            </a:pPr>
            <a:r>
              <a:rPr lang="en">
                <a:highlight>
                  <a:srgbClr val="FFFFFF"/>
                </a:highlight>
              </a:rPr>
              <a:t>– again this requires more staff expertise</a:t>
            </a:r>
            <a:endParaRPr>
              <a:highlight>
                <a:srgbClr val="FFFFF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