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Welcome to Artificial Intelligence </a:t>
            </a:r>
            <a:r>
              <a:rPr lang="en">
                <a:solidFill>
                  <a:schemeClr val="dk1"/>
                </a:solidFill>
              </a:rPr>
              <a:t>Possibilities</a:t>
            </a:r>
            <a:r>
              <a:rPr lang="en"/>
              <a:t>. We’ll discuss some real examples of using EHY EYE to help you work.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Please feel free to use these resources as long as you credit us.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cf1264c74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cf1264c74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EHY EYE is opening many new doors of possibility in many different fields. Let’s explore several of the general ways in which EHY EYE can be used today.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41ae2cc7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41ae2cc7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Text mining is when a computer</a:t>
            </a:r>
            <a:r>
              <a:rPr lang="en">
                <a:solidFill>
                  <a:schemeClr val="dk1"/>
                </a:solidFill>
              </a:rPr>
              <a:t> identifies patterns, or is tasked with finding text related to specific topics within large bodies of text, such as across many different files, or with in a large policy document. </a:t>
            </a:r>
            <a:r>
              <a:rPr lang="en"/>
              <a:t>Historically, mine ing for relevant text had to follow rule-based or statistical methods that required a lot of human oversight. Generative Aigh eye has led to many advancements in text mining.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641ae2cc7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641ae2cc7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advancements include </a:t>
            </a:r>
            <a:r>
              <a:rPr lang="en"/>
              <a:t>Contextual Understanding. Transformer models, especially, have enhanced contextual understanding in text mining. Models can consider relationships between words in a sentence, regardless of their order. This results in more accurate extraction of context-dependent information.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641ae2cc7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641ae2cc7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Generative artificial intelligence also allows for the completion of pieces of text that have gaps. In text mining, this capability is useful for handling incomplete or noisy data, and can improve the overall quality of mined information.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641ae2cc7f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641ae2cc7f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advantage of generative artificial intelligence is</a:t>
            </a:r>
            <a:r>
              <a:rPr lang="en"/>
              <a:t> domain-specific language generation. This is particularly beneficial in industries where specialized terminology, jargon, or nuance is prevalent. By training generative models on domain-specific data, text mining models can behave more accurately for the discipline in question.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41ae2cc7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641ae2cc7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More specific examples of this include mining clinical patient notes to identify patients with similar symptoms, or mining extensive technical or financial documents to identify relevant sections more easily.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641ae2cc7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641ae2cc7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 simplified example of text mining can be seen here. If we provide some information from the Wikipedia article for the city of Seattle, we can then ask the large language model to extract only relevant statistics related to population growth.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a0731d95f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a0731d95f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Artificial intelligence can be used to </a:t>
            </a:r>
            <a:r>
              <a:rPr lang="en"/>
              <a:t>modify or generate text. This could mean changing the tone of a piece of writing, creating summaries based on text input, or making writing more understandable to different audiences.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641ae2cc7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641ae2cc7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example of modifying text is altering an email to be more empathetic, constructive, and understanding. We all have our moments of frustration, but Aigh EYE can help us be better colleagues. By asking Bard to transform this email, we can prevent an uncomfortable and hurtful work situation.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641ae2cc7f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641ae2cc7f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Generative artificial intelligence can help tackle repetitive or tedious processes. It can be especially useful for automating work that requires conversion of content from one form to another, for example text-to-speech, image-to-text, and so 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641ae2cc7f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641ae2cc7f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generative artificial intelligence</a:t>
            </a:r>
            <a:r>
              <a:rPr lang="en"/>
              <a:t> note takers have entered our world recently. The online meeting platform, Zoom, has an "EHY EYE assistant" that can summarize meetings. Companies, like Fireflies and Otter, also offer similar functionality, recording meeting notes, offering summaries, capturing action items, and more.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a8ebbd37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a8ebbd37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Generative </a:t>
            </a:r>
            <a:r>
              <a:rPr lang="en">
                <a:solidFill>
                  <a:schemeClr val="dk1"/>
                </a:solidFill>
              </a:rPr>
              <a:t>artificial intelligence</a:t>
            </a:r>
            <a:r>
              <a:rPr lang="en"/>
              <a:t> can provide templates or scaffolds. In other words, </a:t>
            </a:r>
            <a:r>
              <a:rPr lang="en">
                <a:solidFill>
                  <a:schemeClr val="dk1"/>
                </a:solidFill>
              </a:rPr>
              <a:t>EHY EYE</a:t>
            </a:r>
            <a:r>
              <a:rPr lang="en"/>
              <a:t> can get the creative juices flowing and make it easier to start new content. </a:t>
            </a:r>
            <a:r>
              <a:rPr lang="en">
                <a:solidFill>
                  <a:schemeClr val="dk1"/>
                </a:solidFill>
              </a:rPr>
              <a:t>Aigh</a:t>
            </a:r>
            <a:r>
              <a:rPr lang="en">
                <a:solidFill>
                  <a:schemeClr val="dk1"/>
                </a:solidFill>
              </a:rPr>
              <a:t> EYE </a:t>
            </a:r>
            <a:r>
              <a:rPr lang="en"/>
              <a:t>can also help synthesize data to suggest possible new relationships.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a8ebbd374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a8ebbd374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Diabetes Data and Hypothesis Hub, for example, makes it easier for biomedical researchers to access and use data related to diabetes. The Hub has a GEE PEE TEE type Aigh EYE, which allows it to generate hypotheses. It randomly selects gene sets and compares them with gene sets found in published articles. The Aigh I then provides ideas about possible explanations for the similarities between these gene sets.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a8ebbd374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a8ebbd374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use generative artificial intelligence to suggest and break down ways to accomplish a task, based on prior task planning. In other words, it can generate a template for events or projects. For example, it can plan the agenda for a conference or meeting, or plan and assign roles for a new project task list. In the screenshots above, we can see that Aigh EYE can give us a good starting point, for an executive meeting agenda.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a8ebbd374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a8ebbd374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use generative EHY EYE to create synthetic or toy data </a:t>
            </a:r>
            <a:r>
              <a:rPr lang="en"/>
              <a:t>examples. It can also fill in sparse data, based on data it has seen before. Here, we are generating a very silly dataset to experiment with some analysis approaches.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a8ebbd374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a8ebbd374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Generative EHY EYE is great at converting text to realistic sounding speech. It can also listen to you dictate and convert that speech into text. Many of the EHY EYE tools that do this are commercial and cost money.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hyperlink" Target="https://unsplash.com/@zvessels55?utm_content=creditCopyText&amp;utm_medium=referral&amp;utm_source=unsplash" TargetMode="External"/><Relationship Id="rId5" Type="http://schemas.openxmlformats.org/officeDocument/2006/relationships/hyperlink" Target="https://unsplash.com/@zvessels55?utm_content=creditCopyText&amp;utm_medium=referral&amp;utm_source=unsplash" TargetMode="External"/><Relationship Id="rId6" Type="http://schemas.openxmlformats.org/officeDocument/2006/relationships/hyperlink" Target="https://unsplash.com/photos/white-wooden-door-near-body-of-water-during-daytime-SMoxmKwhUnE?utm_content=creditCopyText&amp;utm_medium=referral&amp;utm_source=unsplash" TargetMode="External"/><Relationship Id="rId7" Type="http://schemas.openxmlformats.org/officeDocument/2006/relationships/hyperlink" Target="https://unsplash.com/photos/white-wooden-door-near-body-of-water-during-daytime-SMoxmKwhUnE?utm_content=creditCopyText&amp;utm_medium=referral&amp;utm_source=unsplash"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hyperlink" Target="https://www.iconpacks.n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hyperlink" Target="https://www.iconpacks.n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hyperlink" Target="https://www.iconpacks.ne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hyperlink" Target="https://www.iconpacks.ne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7.png"/><Relationship Id="rId7" Type="http://schemas.openxmlformats.org/officeDocument/2006/relationships/hyperlink" Target="https://www.iconpacks.n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hyperlink" Target="https://www.iconpacks.net/" TargetMode="External"/><Relationship Id="rId7" Type="http://schemas.openxmlformats.org/officeDocument/2006/relationships/hyperlink" Target="https://pixabay.com/" TargetMode="External"/><Relationship Id="rId8" Type="http://schemas.openxmlformats.org/officeDocument/2006/relationships/hyperlink" Target="https://chat.openai.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0.png"/><Relationship Id="rId7" Type="http://schemas.openxmlformats.org/officeDocument/2006/relationships/image" Target="../media/image7.png"/><Relationship Id="rId8" Type="http://schemas.openxmlformats.org/officeDocument/2006/relationships/hyperlink" Target="https://www.iconpacks.ne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hyperlink" Target="https://www.iconpacks.net/" TargetMode="External"/><Relationship Id="rId6" Type="http://schemas.openxmlformats.org/officeDocument/2006/relationships/hyperlink" Target="https://bard.google.com/" TargetMode="External"/><Relationship Id="rId7" Type="http://schemas.openxmlformats.org/officeDocument/2006/relationships/image" Target="../media/image11.png"/><Relationship Id="rId8"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hyperlink" Target="https://www.iconpacks.net/" TargetMode="External"/><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12.png"/><Relationship Id="rId7"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hyperlink" Target="https://unsplash.com/photos/macbook-pro-displaying-group-of-people-smgTvepind4" TargetMode="External"/><Relationship Id="rId5" Type="http://schemas.openxmlformats.org/officeDocument/2006/relationships/hyperlink" Target="https://www.iconpacks.net/" TargetMode="External"/><Relationship Id="rId6" Type="http://schemas.openxmlformats.org/officeDocument/2006/relationships/image" Target="../media/image7.png"/><Relationship Id="rId7"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hyperlink" Target="https://www.iconpacks.net/" TargetMode="External"/><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s://academic.oup.com/bioinformaticsadvances/advance-article/doi/10.1093/bioadv/vbad178/7458442" TargetMode="External"/><Relationship Id="rId4" Type="http://schemas.openxmlformats.org/officeDocument/2006/relationships/hyperlink" Target="https://www.iconpacks.net/" TargetMode="External"/><Relationship Id="rId5" Type="http://schemas.openxmlformats.org/officeDocument/2006/relationships/hyperlink" Target="https://pixabay.com/photos/diabetes-blood-sugar-diabetic-528678/" TargetMode="External"/><Relationship Id="rId6" Type="http://schemas.openxmlformats.org/officeDocument/2006/relationships/image" Target="../media/image23.jpg"/><Relationship Id="rId7" Type="http://schemas.openxmlformats.org/officeDocument/2006/relationships/image" Target="../media/image20.png"/><Relationship Id="rId8"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www.iconpacks.net/" TargetMode="External"/><Relationship Id="rId4" Type="http://schemas.openxmlformats.org/officeDocument/2006/relationships/hyperlink" Target="https://chat.openai.com/" TargetMode="External"/><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pixabay.com/vectors/coffee-cup-drink-hot-drink-34251/" TargetMode="External"/><Relationship Id="rId4" Type="http://schemas.openxmlformats.org/officeDocument/2006/relationships/hyperlink" Target="https://poe.com/Claude-instant" TargetMode="External"/><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4.png"/><Relationship Id="rId8"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www.iconpacks.net/" TargetMode="External"/><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image" Target="../media/image18.png"/><Relationship Id="rId7"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nvSpPr>
        <p:spPr>
          <a:xfrm>
            <a:off x="3651700" y="1517100"/>
            <a:ext cx="5017500" cy="2109300"/>
          </a:xfrm>
          <a:prstGeom prst="rect">
            <a:avLst/>
          </a:prstGeom>
          <a:noFill/>
          <a:ln>
            <a:noFill/>
          </a:ln>
        </p:spPr>
        <p:txBody>
          <a:bodyPr anchorCtr="0" anchor="ctr" bIns="91425" lIns="91425" spcFirstLastPara="1" rIns="91425" wrap="square" tIns="91425">
            <a:normAutofit lnSpcReduction="10000"/>
          </a:bodyPr>
          <a:lstStyle/>
          <a:p>
            <a:pPr indent="0" lvl="0" marL="0" rtl="0" algn="ctr">
              <a:spcBef>
                <a:spcPts val="0"/>
              </a:spcBef>
              <a:spcAft>
                <a:spcPts val="0"/>
              </a:spcAft>
              <a:buNone/>
            </a:pPr>
            <a:r>
              <a:rPr lang="en" sz="6500">
                <a:latin typeface="Montserrat"/>
                <a:ea typeface="Montserrat"/>
                <a:cs typeface="Montserrat"/>
                <a:sym typeface="Montserrat"/>
              </a:rPr>
              <a:t>AI Possibilities</a:t>
            </a:r>
            <a:endParaRPr sz="6500">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4" name="Google Shape;164;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823850" y="2053000"/>
            <a:ext cx="4587000" cy="1148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AI is opening many new doors of </a:t>
            </a:r>
            <a:r>
              <a:rPr lang="en"/>
              <a:t>possibility</a:t>
            </a:r>
            <a:r>
              <a:rPr lang="en"/>
              <a:t>!</a:t>
            </a:r>
            <a:endParaRPr/>
          </a:p>
        </p:txBody>
      </p:sp>
      <p:pic>
        <p:nvPicPr>
          <p:cNvPr id="170" name="Google Shape;170;p17"/>
          <p:cNvPicPr preferRelativeResize="0"/>
          <p:nvPr/>
        </p:nvPicPr>
        <p:blipFill>
          <a:blip r:embed="rId3">
            <a:alphaModFix/>
          </a:blip>
          <a:stretch>
            <a:fillRect/>
          </a:stretch>
        </p:blipFill>
        <p:spPr>
          <a:xfrm>
            <a:off x="5563250" y="152400"/>
            <a:ext cx="2508975" cy="4460401"/>
          </a:xfrm>
          <a:prstGeom prst="rect">
            <a:avLst/>
          </a:prstGeom>
          <a:noFill/>
          <a:ln>
            <a:noFill/>
          </a:ln>
        </p:spPr>
      </p:pic>
      <p:sp>
        <p:nvSpPr>
          <p:cNvPr id="171" name="Google Shape;171;p17"/>
          <p:cNvSpPr txBox="1"/>
          <p:nvPr/>
        </p:nvSpPr>
        <p:spPr>
          <a:xfrm>
            <a:off x="532950" y="4731600"/>
            <a:ext cx="6936000" cy="52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lt1"/>
                </a:solidFill>
              </a:rPr>
              <a:t>Photo by</a:t>
            </a:r>
            <a:r>
              <a:rPr lang="en" sz="900">
                <a:solidFill>
                  <a:schemeClr val="lt1"/>
                </a:solidFill>
                <a:uFill>
                  <a:noFill/>
                </a:uFill>
                <a:hlinkClick r:id="rId4">
                  <a:extLst>
                    <a:ext uri="{A12FA001-AC4F-418D-AE19-62706E023703}">
                      <ahyp:hlinkClr val="tx"/>
                    </a:ext>
                  </a:extLst>
                </a:hlinkClick>
              </a:rPr>
              <a:t> </a:t>
            </a:r>
            <a:r>
              <a:rPr lang="en" sz="900" u="sng">
                <a:solidFill>
                  <a:schemeClr val="accent2"/>
                </a:solidFill>
                <a:hlinkClick r:id="rId5">
                  <a:extLst>
                    <a:ext uri="{A12FA001-AC4F-418D-AE19-62706E023703}">
                      <ahyp:hlinkClr val="tx"/>
                    </a:ext>
                  </a:extLst>
                </a:hlinkClick>
              </a:rPr>
              <a:t>TopSphere Media</a:t>
            </a:r>
            <a:r>
              <a:rPr lang="en" sz="900">
                <a:solidFill>
                  <a:schemeClr val="lt1"/>
                </a:solidFill>
              </a:rPr>
              <a:t> on</a:t>
            </a:r>
            <a:r>
              <a:rPr lang="en" sz="900">
                <a:solidFill>
                  <a:schemeClr val="lt1"/>
                </a:solidFill>
                <a:uFill>
                  <a:noFill/>
                </a:uFill>
                <a:hlinkClick r:id="rId6">
                  <a:extLst>
                    <a:ext uri="{A12FA001-AC4F-418D-AE19-62706E023703}">
                      <ahyp:hlinkClr val="tx"/>
                    </a:ext>
                  </a:extLst>
                </a:hlinkClick>
              </a:rPr>
              <a:t> </a:t>
            </a:r>
            <a:r>
              <a:rPr lang="en" sz="900" u="sng">
                <a:solidFill>
                  <a:schemeClr val="accent2"/>
                </a:solidFill>
                <a:hlinkClick r:id="rId7">
                  <a:extLst>
                    <a:ext uri="{A12FA001-AC4F-418D-AE19-62706E023703}">
                      <ahyp:hlinkClr val="tx"/>
                    </a:ext>
                  </a:extLst>
                </a:hlinkClick>
              </a:rPr>
              <a:t>Unsplash</a:t>
            </a:r>
            <a:endParaRPr sz="9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Advances in Text Mining</a:t>
            </a:r>
            <a:endParaRPr sz="3800">
              <a:solidFill>
                <a:schemeClr val="accent2"/>
              </a:solidFill>
            </a:endParaRPr>
          </a:p>
        </p:txBody>
      </p:sp>
      <p:sp>
        <p:nvSpPr>
          <p:cNvPr id="177" name="Google Shape;177;p18"/>
          <p:cNvSpPr txBox="1"/>
          <p:nvPr/>
        </p:nvSpPr>
        <p:spPr>
          <a:xfrm>
            <a:off x="12153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Patterns</a:t>
            </a:r>
            <a:endParaRPr sz="2000">
              <a:solidFill>
                <a:srgbClr val="000000"/>
              </a:solidFill>
              <a:latin typeface="Lato"/>
              <a:ea typeface="Lato"/>
              <a:cs typeface="Lato"/>
              <a:sym typeface="Lato"/>
            </a:endParaRPr>
          </a:p>
        </p:txBody>
      </p:sp>
      <p:sp>
        <p:nvSpPr>
          <p:cNvPr id="178" name="Google Shape;178;p18"/>
          <p:cNvSpPr txBox="1"/>
          <p:nvPr/>
        </p:nvSpPr>
        <p:spPr>
          <a:xfrm>
            <a:off x="33436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Topics</a:t>
            </a:r>
            <a:endParaRPr sz="2000">
              <a:solidFill>
                <a:srgbClr val="000000"/>
              </a:solidFill>
              <a:latin typeface="Lato"/>
              <a:ea typeface="Lato"/>
              <a:cs typeface="Lato"/>
              <a:sym typeface="Lato"/>
            </a:endParaRPr>
          </a:p>
        </p:txBody>
      </p:sp>
      <p:grpSp>
        <p:nvGrpSpPr>
          <p:cNvPr id="179" name="Google Shape;179;p18"/>
          <p:cNvGrpSpPr/>
          <p:nvPr/>
        </p:nvGrpSpPr>
        <p:grpSpPr>
          <a:xfrm>
            <a:off x="473725" y="1884050"/>
            <a:ext cx="1418400" cy="1828800"/>
            <a:chOff x="2774600" y="1623050"/>
            <a:chExt cx="1418400" cy="1828800"/>
          </a:xfrm>
        </p:grpSpPr>
        <p:pic>
          <p:nvPicPr>
            <p:cNvPr id="180" name="Google Shape;180;p18"/>
            <p:cNvPicPr preferRelativeResize="0"/>
            <p:nvPr/>
          </p:nvPicPr>
          <p:blipFill>
            <a:blip r:embed="rId3">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181" name="Google Shape;181;p18"/>
            <p:cNvPicPr preferRelativeResize="0"/>
            <p:nvPr/>
          </p:nvPicPr>
          <p:blipFill>
            <a:blip r:embed="rId3">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182" name="Google Shape;182;p18"/>
            <p:cNvPicPr preferRelativeResize="0"/>
            <p:nvPr/>
          </p:nvPicPr>
          <p:blipFill>
            <a:blip r:embed="rId3">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183" name="Google Shape;183;p18"/>
            <p:cNvPicPr preferRelativeResize="0"/>
            <p:nvPr/>
          </p:nvPicPr>
          <p:blipFill>
            <a:blip r:embed="rId3">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cxnSp>
        <p:nvCxnSpPr>
          <p:cNvPr id="184" name="Google Shape;184;p18"/>
          <p:cNvCxnSpPr/>
          <p:nvPr/>
        </p:nvCxnSpPr>
        <p:spPr>
          <a:xfrm>
            <a:off x="2027225" y="2747938"/>
            <a:ext cx="1097400" cy="7200"/>
          </a:xfrm>
          <a:prstGeom prst="straightConnector1">
            <a:avLst/>
          </a:prstGeom>
          <a:noFill/>
          <a:ln cap="flat" cmpd="sng" w="28575">
            <a:solidFill>
              <a:srgbClr val="000000"/>
            </a:solidFill>
            <a:prstDash val="solid"/>
            <a:round/>
            <a:headEnd len="med" w="med" type="none"/>
            <a:tailEnd len="med" w="med" type="triangle"/>
          </a:ln>
        </p:spPr>
      </p:cxnSp>
      <p:sp>
        <p:nvSpPr>
          <p:cNvPr id="185" name="Google Shape;185;p18"/>
          <p:cNvSpPr/>
          <p:nvPr/>
        </p:nvSpPr>
        <p:spPr>
          <a:xfrm>
            <a:off x="3236050" y="1726800"/>
            <a:ext cx="2291100" cy="2775600"/>
          </a:xfrm>
          <a:prstGeom prst="rect">
            <a:avLst/>
          </a:prstGeom>
          <a:solidFill>
            <a:srgbClr val="D1D5DB"/>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6" name="Google Shape;186;p18"/>
          <p:cNvSpPr txBox="1"/>
          <p:nvPr/>
        </p:nvSpPr>
        <p:spPr>
          <a:xfrm>
            <a:off x="3743800" y="1492800"/>
            <a:ext cx="1275600" cy="234000"/>
          </a:xfrm>
          <a:prstGeom prst="rect">
            <a:avLst/>
          </a:prstGeom>
          <a:solidFill>
            <a:srgbClr val="F3F3F3"/>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a:latin typeface="Lato"/>
                <a:ea typeface="Lato"/>
                <a:cs typeface="Lato"/>
                <a:sym typeface="Lato"/>
              </a:rPr>
              <a:t>Generative AI</a:t>
            </a:r>
            <a:endParaRPr sz="1100">
              <a:solidFill>
                <a:srgbClr val="000000"/>
              </a:solidFill>
              <a:latin typeface="Lato"/>
              <a:ea typeface="Lato"/>
              <a:cs typeface="Lato"/>
              <a:sym typeface="Lato"/>
            </a:endParaRPr>
          </a:p>
        </p:txBody>
      </p:sp>
      <p:sp>
        <p:nvSpPr>
          <p:cNvPr id="187" name="Google Shape;187;p18"/>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4">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Advances in Text Mining</a:t>
            </a:r>
            <a:endParaRPr sz="3800">
              <a:solidFill>
                <a:schemeClr val="accent2"/>
              </a:solidFill>
            </a:endParaRPr>
          </a:p>
        </p:txBody>
      </p:sp>
      <p:grpSp>
        <p:nvGrpSpPr>
          <p:cNvPr id="193" name="Google Shape;193;p19"/>
          <p:cNvGrpSpPr/>
          <p:nvPr/>
        </p:nvGrpSpPr>
        <p:grpSpPr>
          <a:xfrm>
            <a:off x="473725" y="1884050"/>
            <a:ext cx="1418400" cy="1828800"/>
            <a:chOff x="2774600" y="1623050"/>
            <a:chExt cx="1418400" cy="1828800"/>
          </a:xfrm>
        </p:grpSpPr>
        <p:pic>
          <p:nvPicPr>
            <p:cNvPr id="194" name="Google Shape;194;p19"/>
            <p:cNvPicPr preferRelativeResize="0"/>
            <p:nvPr/>
          </p:nvPicPr>
          <p:blipFill>
            <a:blip r:embed="rId3">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195" name="Google Shape;195;p19"/>
            <p:cNvPicPr preferRelativeResize="0"/>
            <p:nvPr/>
          </p:nvPicPr>
          <p:blipFill>
            <a:blip r:embed="rId3">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196" name="Google Shape;196;p19"/>
            <p:cNvPicPr preferRelativeResize="0"/>
            <p:nvPr/>
          </p:nvPicPr>
          <p:blipFill>
            <a:blip r:embed="rId3">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197" name="Google Shape;197;p19"/>
            <p:cNvPicPr preferRelativeResize="0"/>
            <p:nvPr/>
          </p:nvPicPr>
          <p:blipFill>
            <a:blip r:embed="rId3">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cxnSp>
        <p:nvCxnSpPr>
          <p:cNvPr id="198" name="Google Shape;198;p19"/>
          <p:cNvCxnSpPr/>
          <p:nvPr/>
        </p:nvCxnSpPr>
        <p:spPr>
          <a:xfrm>
            <a:off x="2027225" y="2747938"/>
            <a:ext cx="1097400" cy="7200"/>
          </a:xfrm>
          <a:prstGeom prst="straightConnector1">
            <a:avLst/>
          </a:prstGeom>
          <a:noFill/>
          <a:ln cap="flat" cmpd="sng" w="28575">
            <a:solidFill>
              <a:srgbClr val="000000"/>
            </a:solidFill>
            <a:prstDash val="solid"/>
            <a:round/>
            <a:headEnd len="med" w="med" type="none"/>
            <a:tailEnd len="med" w="med" type="triangle"/>
          </a:ln>
        </p:spPr>
      </p:cxnSp>
      <p:sp>
        <p:nvSpPr>
          <p:cNvPr id="199" name="Google Shape;199;p19"/>
          <p:cNvSpPr txBox="1"/>
          <p:nvPr/>
        </p:nvSpPr>
        <p:spPr>
          <a:xfrm>
            <a:off x="12153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Patterns</a:t>
            </a:r>
            <a:endParaRPr sz="2000">
              <a:solidFill>
                <a:srgbClr val="000000"/>
              </a:solidFill>
              <a:latin typeface="Lato"/>
              <a:ea typeface="Lato"/>
              <a:cs typeface="Lato"/>
              <a:sym typeface="Lato"/>
            </a:endParaRPr>
          </a:p>
        </p:txBody>
      </p:sp>
      <p:sp>
        <p:nvSpPr>
          <p:cNvPr id="200" name="Google Shape;200;p19"/>
          <p:cNvSpPr txBox="1"/>
          <p:nvPr/>
        </p:nvSpPr>
        <p:spPr>
          <a:xfrm>
            <a:off x="33436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Topics</a:t>
            </a:r>
            <a:endParaRPr sz="2000">
              <a:solidFill>
                <a:srgbClr val="000000"/>
              </a:solidFill>
              <a:latin typeface="Lato"/>
              <a:ea typeface="Lato"/>
              <a:cs typeface="Lato"/>
              <a:sym typeface="Lato"/>
            </a:endParaRPr>
          </a:p>
        </p:txBody>
      </p:sp>
      <p:sp>
        <p:nvSpPr>
          <p:cNvPr id="201" name="Google Shape;201;p19"/>
          <p:cNvSpPr/>
          <p:nvPr/>
        </p:nvSpPr>
        <p:spPr>
          <a:xfrm>
            <a:off x="3236050" y="1726800"/>
            <a:ext cx="2291100" cy="2775600"/>
          </a:xfrm>
          <a:prstGeom prst="rect">
            <a:avLst/>
          </a:prstGeom>
          <a:solidFill>
            <a:srgbClr val="D1D5DB"/>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19"/>
          <p:cNvSpPr txBox="1"/>
          <p:nvPr/>
        </p:nvSpPr>
        <p:spPr>
          <a:xfrm>
            <a:off x="3743800" y="1492800"/>
            <a:ext cx="1275600" cy="234000"/>
          </a:xfrm>
          <a:prstGeom prst="rect">
            <a:avLst/>
          </a:prstGeom>
          <a:solidFill>
            <a:srgbClr val="F3F3F3"/>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a:latin typeface="Lato"/>
                <a:ea typeface="Lato"/>
                <a:cs typeface="Lato"/>
                <a:sym typeface="Lato"/>
              </a:rPr>
              <a:t>Generative AI</a:t>
            </a:r>
            <a:endParaRPr sz="1100">
              <a:solidFill>
                <a:srgbClr val="000000"/>
              </a:solidFill>
              <a:latin typeface="Lato"/>
              <a:ea typeface="Lato"/>
              <a:cs typeface="Lato"/>
              <a:sym typeface="Lato"/>
            </a:endParaRPr>
          </a:p>
        </p:txBody>
      </p:sp>
      <p:sp>
        <p:nvSpPr>
          <p:cNvPr id="203" name="Google Shape;203;p19"/>
          <p:cNvSpPr txBox="1"/>
          <p:nvPr/>
        </p:nvSpPr>
        <p:spPr>
          <a:xfrm>
            <a:off x="3467200" y="1968100"/>
            <a:ext cx="15039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Contextual Understanding</a:t>
            </a:r>
            <a:endParaRPr>
              <a:solidFill>
                <a:srgbClr val="F3F3F3"/>
              </a:solidFill>
              <a:latin typeface="Lato"/>
              <a:ea typeface="Lato"/>
              <a:cs typeface="Lato"/>
              <a:sym typeface="Lato"/>
            </a:endParaRPr>
          </a:p>
        </p:txBody>
      </p:sp>
      <p:sp>
        <p:nvSpPr>
          <p:cNvPr id="204" name="Google Shape;204;p19"/>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4">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Advances in Text Mining</a:t>
            </a:r>
            <a:endParaRPr sz="3800">
              <a:solidFill>
                <a:schemeClr val="accent2"/>
              </a:solidFill>
            </a:endParaRPr>
          </a:p>
        </p:txBody>
      </p:sp>
      <p:grpSp>
        <p:nvGrpSpPr>
          <p:cNvPr id="210" name="Google Shape;210;p20"/>
          <p:cNvGrpSpPr/>
          <p:nvPr/>
        </p:nvGrpSpPr>
        <p:grpSpPr>
          <a:xfrm>
            <a:off x="473725" y="1884050"/>
            <a:ext cx="1418400" cy="1828800"/>
            <a:chOff x="2774600" y="1623050"/>
            <a:chExt cx="1418400" cy="1828800"/>
          </a:xfrm>
        </p:grpSpPr>
        <p:pic>
          <p:nvPicPr>
            <p:cNvPr id="211" name="Google Shape;211;p20"/>
            <p:cNvPicPr preferRelativeResize="0"/>
            <p:nvPr/>
          </p:nvPicPr>
          <p:blipFill>
            <a:blip r:embed="rId3">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212" name="Google Shape;212;p20"/>
            <p:cNvPicPr preferRelativeResize="0"/>
            <p:nvPr/>
          </p:nvPicPr>
          <p:blipFill>
            <a:blip r:embed="rId3">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213" name="Google Shape;213;p20"/>
            <p:cNvPicPr preferRelativeResize="0"/>
            <p:nvPr/>
          </p:nvPicPr>
          <p:blipFill>
            <a:blip r:embed="rId3">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214" name="Google Shape;214;p20"/>
            <p:cNvPicPr preferRelativeResize="0"/>
            <p:nvPr/>
          </p:nvPicPr>
          <p:blipFill>
            <a:blip r:embed="rId3">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cxnSp>
        <p:nvCxnSpPr>
          <p:cNvPr id="215" name="Google Shape;215;p20"/>
          <p:cNvCxnSpPr/>
          <p:nvPr/>
        </p:nvCxnSpPr>
        <p:spPr>
          <a:xfrm>
            <a:off x="2027225" y="2747938"/>
            <a:ext cx="1097400" cy="7200"/>
          </a:xfrm>
          <a:prstGeom prst="straightConnector1">
            <a:avLst/>
          </a:prstGeom>
          <a:noFill/>
          <a:ln cap="flat" cmpd="sng" w="28575">
            <a:solidFill>
              <a:srgbClr val="000000"/>
            </a:solidFill>
            <a:prstDash val="solid"/>
            <a:round/>
            <a:headEnd len="med" w="med" type="none"/>
            <a:tailEnd len="med" w="med" type="triangle"/>
          </a:ln>
        </p:spPr>
      </p:cxnSp>
      <p:sp>
        <p:nvSpPr>
          <p:cNvPr id="216" name="Google Shape;216;p20"/>
          <p:cNvSpPr txBox="1"/>
          <p:nvPr/>
        </p:nvSpPr>
        <p:spPr>
          <a:xfrm>
            <a:off x="12153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Patterns</a:t>
            </a:r>
            <a:endParaRPr sz="2000">
              <a:solidFill>
                <a:srgbClr val="000000"/>
              </a:solidFill>
              <a:latin typeface="Lato"/>
              <a:ea typeface="Lato"/>
              <a:cs typeface="Lato"/>
              <a:sym typeface="Lato"/>
            </a:endParaRPr>
          </a:p>
        </p:txBody>
      </p:sp>
      <p:sp>
        <p:nvSpPr>
          <p:cNvPr id="217" name="Google Shape;217;p20"/>
          <p:cNvSpPr txBox="1"/>
          <p:nvPr/>
        </p:nvSpPr>
        <p:spPr>
          <a:xfrm>
            <a:off x="33436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Topics</a:t>
            </a:r>
            <a:endParaRPr sz="2000">
              <a:solidFill>
                <a:srgbClr val="000000"/>
              </a:solidFill>
              <a:latin typeface="Lato"/>
              <a:ea typeface="Lato"/>
              <a:cs typeface="Lato"/>
              <a:sym typeface="Lato"/>
            </a:endParaRPr>
          </a:p>
        </p:txBody>
      </p:sp>
      <p:sp>
        <p:nvSpPr>
          <p:cNvPr id="218" name="Google Shape;218;p20"/>
          <p:cNvSpPr/>
          <p:nvPr/>
        </p:nvSpPr>
        <p:spPr>
          <a:xfrm>
            <a:off x="3236050" y="1726800"/>
            <a:ext cx="2291100" cy="2775600"/>
          </a:xfrm>
          <a:prstGeom prst="rect">
            <a:avLst/>
          </a:prstGeom>
          <a:solidFill>
            <a:srgbClr val="D1D5DB"/>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9" name="Google Shape;219;p20"/>
          <p:cNvSpPr txBox="1"/>
          <p:nvPr/>
        </p:nvSpPr>
        <p:spPr>
          <a:xfrm>
            <a:off x="3743800" y="1492800"/>
            <a:ext cx="1275600" cy="234000"/>
          </a:xfrm>
          <a:prstGeom prst="rect">
            <a:avLst/>
          </a:prstGeom>
          <a:solidFill>
            <a:srgbClr val="F3F3F3"/>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a:latin typeface="Lato"/>
                <a:ea typeface="Lato"/>
                <a:cs typeface="Lato"/>
                <a:sym typeface="Lato"/>
              </a:rPr>
              <a:t>Generative AI</a:t>
            </a:r>
            <a:endParaRPr sz="1100">
              <a:solidFill>
                <a:srgbClr val="000000"/>
              </a:solidFill>
              <a:latin typeface="Lato"/>
              <a:ea typeface="Lato"/>
              <a:cs typeface="Lato"/>
              <a:sym typeface="Lato"/>
            </a:endParaRPr>
          </a:p>
        </p:txBody>
      </p:sp>
      <p:sp>
        <p:nvSpPr>
          <p:cNvPr id="220" name="Google Shape;220;p20"/>
          <p:cNvSpPr txBox="1"/>
          <p:nvPr/>
        </p:nvSpPr>
        <p:spPr>
          <a:xfrm>
            <a:off x="3467200" y="1968100"/>
            <a:ext cx="15039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Contextual Understanding</a:t>
            </a:r>
            <a:endParaRPr>
              <a:solidFill>
                <a:srgbClr val="F3F3F3"/>
              </a:solidFill>
              <a:latin typeface="Lato"/>
              <a:ea typeface="Lato"/>
              <a:cs typeface="Lato"/>
              <a:sym typeface="Lato"/>
            </a:endParaRPr>
          </a:p>
        </p:txBody>
      </p:sp>
      <p:sp>
        <p:nvSpPr>
          <p:cNvPr id="221" name="Google Shape;221;p20"/>
          <p:cNvSpPr txBox="1"/>
          <p:nvPr/>
        </p:nvSpPr>
        <p:spPr>
          <a:xfrm>
            <a:off x="3613275" y="2876075"/>
            <a:ext cx="17334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Text Completion and Generation</a:t>
            </a:r>
            <a:endParaRPr>
              <a:solidFill>
                <a:srgbClr val="F3F3F3"/>
              </a:solidFill>
              <a:latin typeface="Lato"/>
              <a:ea typeface="Lato"/>
              <a:cs typeface="Lato"/>
              <a:sym typeface="Lato"/>
            </a:endParaRPr>
          </a:p>
        </p:txBody>
      </p:sp>
      <p:sp>
        <p:nvSpPr>
          <p:cNvPr id="222" name="Google Shape;222;p20"/>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4">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Advances in Text Mining</a:t>
            </a:r>
            <a:endParaRPr sz="3800">
              <a:solidFill>
                <a:schemeClr val="accent2"/>
              </a:solidFill>
            </a:endParaRPr>
          </a:p>
        </p:txBody>
      </p:sp>
      <p:grpSp>
        <p:nvGrpSpPr>
          <p:cNvPr id="228" name="Google Shape;228;p21"/>
          <p:cNvGrpSpPr/>
          <p:nvPr/>
        </p:nvGrpSpPr>
        <p:grpSpPr>
          <a:xfrm>
            <a:off x="473725" y="1884050"/>
            <a:ext cx="1418400" cy="1828800"/>
            <a:chOff x="2774600" y="1623050"/>
            <a:chExt cx="1418400" cy="1828800"/>
          </a:xfrm>
        </p:grpSpPr>
        <p:pic>
          <p:nvPicPr>
            <p:cNvPr id="229" name="Google Shape;229;p21"/>
            <p:cNvPicPr preferRelativeResize="0"/>
            <p:nvPr/>
          </p:nvPicPr>
          <p:blipFill>
            <a:blip r:embed="rId3">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230" name="Google Shape;230;p21"/>
            <p:cNvPicPr preferRelativeResize="0"/>
            <p:nvPr/>
          </p:nvPicPr>
          <p:blipFill>
            <a:blip r:embed="rId3">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231" name="Google Shape;231;p21"/>
            <p:cNvPicPr preferRelativeResize="0"/>
            <p:nvPr/>
          </p:nvPicPr>
          <p:blipFill>
            <a:blip r:embed="rId3">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232" name="Google Shape;232;p21"/>
            <p:cNvPicPr preferRelativeResize="0"/>
            <p:nvPr/>
          </p:nvPicPr>
          <p:blipFill>
            <a:blip r:embed="rId3">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cxnSp>
        <p:nvCxnSpPr>
          <p:cNvPr id="233" name="Google Shape;233;p21"/>
          <p:cNvCxnSpPr/>
          <p:nvPr/>
        </p:nvCxnSpPr>
        <p:spPr>
          <a:xfrm>
            <a:off x="2027225" y="2747938"/>
            <a:ext cx="1097400" cy="7200"/>
          </a:xfrm>
          <a:prstGeom prst="straightConnector1">
            <a:avLst/>
          </a:prstGeom>
          <a:noFill/>
          <a:ln cap="flat" cmpd="sng" w="28575">
            <a:solidFill>
              <a:srgbClr val="000000"/>
            </a:solidFill>
            <a:prstDash val="solid"/>
            <a:round/>
            <a:headEnd len="med" w="med" type="none"/>
            <a:tailEnd len="med" w="med" type="triangle"/>
          </a:ln>
        </p:spPr>
      </p:cxnSp>
      <p:sp>
        <p:nvSpPr>
          <p:cNvPr id="234" name="Google Shape;234;p21"/>
          <p:cNvSpPr txBox="1"/>
          <p:nvPr/>
        </p:nvSpPr>
        <p:spPr>
          <a:xfrm>
            <a:off x="12153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Patterns</a:t>
            </a:r>
            <a:endParaRPr sz="2000">
              <a:solidFill>
                <a:srgbClr val="000000"/>
              </a:solidFill>
              <a:latin typeface="Lato"/>
              <a:ea typeface="Lato"/>
              <a:cs typeface="Lato"/>
              <a:sym typeface="Lato"/>
            </a:endParaRPr>
          </a:p>
        </p:txBody>
      </p:sp>
      <p:sp>
        <p:nvSpPr>
          <p:cNvPr id="235" name="Google Shape;235;p21"/>
          <p:cNvSpPr txBox="1"/>
          <p:nvPr/>
        </p:nvSpPr>
        <p:spPr>
          <a:xfrm>
            <a:off x="33436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Topics</a:t>
            </a:r>
            <a:endParaRPr sz="2000">
              <a:solidFill>
                <a:srgbClr val="000000"/>
              </a:solidFill>
              <a:latin typeface="Lato"/>
              <a:ea typeface="Lato"/>
              <a:cs typeface="Lato"/>
              <a:sym typeface="Lato"/>
            </a:endParaRPr>
          </a:p>
        </p:txBody>
      </p:sp>
      <p:sp>
        <p:nvSpPr>
          <p:cNvPr id="236" name="Google Shape;236;p21"/>
          <p:cNvSpPr/>
          <p:nvPr/>
        </p:nvSpPr>
        <p:spPr>
          <a:xfrm>
            <a:off x="3236050" y="1726800"/>
            <a:ext cx="2291100" cy="2775600"/>
          </a:xfrm>
          <a:prstGeom prst="rect">
            <a:avLst/>
          </a:prstGeom>
          <a:solidFill>
            <a:srgbClr val="D1D5DB"/>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7" name="Google Shape;237;p21"/>
          <p:cNvSpPr txBox="1"/>
          <p:nvPr/>
        </p:nvSpPr>
        <p:spPr>
          <a:xfrm>
            <a:off x="3743800" y="1492800"/>
            <a:ext cx="1275600" cy="234000"/>
          </a:xfrm>
          <a:prstGeom prst="rect">
            <a:avLst/>
          </a:prstGeom>
          <a:solidFill>
            <a:srgbClr val="F3F3F3"/>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a:latin typeface="Lato"/>
                <a:ea typeface="Lato"/>
                <a:cs typeface="Lato"/>
                <a:sym typeface="Lato"/>
              </a:rPr>
              <a:t>Generative AI</a:t>
            </a:r>
            <a:endParaRPr sz="1100">
              <a:solidFill>
                <a:srgbClr val="000000"/>
              </a:solidFill>
              <a:latin typeface="Lato"/>
              <a:ea typeface="Lato"/>
              <a:cs typeface="Lato"/>
              <a:sym typeface="Lato"/>
            </a:endParaRPr>
          </a:p>
        </p:txBody>
      </p:sp>
      <p:sp>
        <p:nvSpPr>
          <p:cNvPr id="238" name="Google Shape;238;p21"/>
          <p:cNvSpPr txBox="1"/>
          <p:nvPr/>
        </p:nvSpPr>
        <p:spPr>
          <a:xfrm>
            <a:off x="3467200" y="1968100"/>
            <a:ext cx="15039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Contextual Understanding</a:t>
            </a:r>
            <a:endParaRPr>
              <a:solidFill>
                <a:srgbClr val="F3F3F3"/>
              </a:solidFill>
              <a:latin typeface="Lato"/>
              <a:ea typeface="Lato"/>
              <a:cs typeface="Lato"/>
              <a:sym typeface="Lato"/>
            </a:endParaRPr>
          </a:p>
        </p:txBody>
      </p:sp>
      <p:sp>
        <p:nvSpPr>
          <p:cNvPr id="239" name="Google Shape;239;p21"/>
          <p:cNvSpPr txBox="1"/>
          <p:nvPr/>
        </p:nvSpPr>
        <p:spPr>
          <a:xfrm>
            <a:off x="3613275" y="2876075"/>
            <a:ext cx="17334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Text Completion and Generation</a:t>
            </a:r>
            <a:endParaRPr>
              <a:solidFill>
                <a:srgbClr val="F3F3F3"/>
              </a:solidFill>
              <a:latin typeface="Lato"/>
              <a:ea typeface="Lato"/>
              <a:cs typeface="Lato"/>
              <a:sym typeface="Lato"/>
            </a:endParaRPr>
          </a:p>
        </p:txBody>
      </p:sp>
      <p:sp>
        <p:nvSpPr>
          <p:cNvPr id="240" name="Google Shape;240;p21"/>
          <p:cNvSpPr txBox="1"/>
          <p:nvPr/>
        </p:nvSpPr>
        <p:spPr>
          <a:xfrm>
            <a:off x="3467200" y="3712850"/>
            <a:ext cx="16749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Domain-Specific Language</a:t>
            </a:r>
            <a:endParaRPr>
              <a:solidFill>
                <a:srgbClr val="F3F3F3"/>
              </a:solidFill>
              <a:latin typeface="Lato"/>
              <a:ea typeface="Lato"/>
              <a:cs typeface="Lato"/>
              <a:sym typeface="Lato"/>
            </a:endParaRPr>
          </a:p>
        </p:txBody>
      </p:sp>
      <p:sp>
        <p:nvSpPr>
          <p:cNvPr id="241" name="Google Shape;241;p21"/>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4">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2"/>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Advances in Text Mining</a:t>
            </a:r>
            <a:endParaRPr sz="3800">
              <a:solidFill>
                <a:schemeClr val="accent2"/>
              </a:solidFill>
            </a:endParaRPr>
          </a:p>
        </p:txBody>
      </p:sp>
      <p:grpSp>
        <p:nvGrpSpPr>
          <p:cNvPr id="247" name="Google Shape;247;p22"/>
          <p:cNvGrpSpPr/>
          <p:nvPr/>
        </p:nvGrpSpPr>
        <p:grpSpPr>
          <a:xfrm>
            <a:off x="473725" y="1884050"/>
            <a:ext cx="1418400" cy="1828800"/>
            <a:chOff x="2774600" y="1623050"/>
            <a:chExt cx="1418400" cy="1828800"/>
          </a:xfrm>
        </p:grpSpPr>
        <p:pic>
          <p:nvPicPr>
            <p:cNvPr id="248" name="Google Shape;248;p22"/>
            <p:cNvPicPr preferRelativeResize="0"/>
            <p:nvPr/>
          </p:nvPicPr>
          <p:blipFill>
            <a:blip r:embed="rId3">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249" name="Google Shape;249;p22"/>
            <p:cNvPicPr preferRelativeResize="0"/>
            <p:nvPr/>
          </p:nvPicPr>
          <p:blipFill>
            <a:blip r:embed="rId3">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250" name="Google Shape;250;p22"/>
            <p:cNvPicPr preferRelativeResize="0"/>
            <p:nvPr/>
          </p:nvPicPr>
          <p:blipFill>
            <a:blip r:embed="rId3">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251" name="Google Shape;251;p22"/>
            <p:cNvPicPr preferRelativeResize="0"/>
            <p:nvPr/>
          </p:nvPicPr>
          <p:blipFill>
            <a:blip r:embed="rId3">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cxnSp>
        <p:nvCxnSpPr>
          <p:cNvPr id="252" name="Google Shape;252;p22"/>
          <p:cNvCxnSpPr/>
          <p:nvPr/>
        </p:nvCxnSpPr>
        <p:spPr>
          <a:xfrm>
            <a:off x="2027225" y="2747938"/>
            <a:ext cx="1097400" cy="7200"/>
          </a:xfrm>
          <a:prstGeom prst="straightConnector1">
            <a:avLst/>
          </a:prstGeom>
          <a:noFill/>
          <a:ln cap="flat" cmpd="sng" w="28575">
            <a:solidFill>
              <a:srgbClr val="000000"/>
            </a:solidFill>
            <a:prstDash val="solid"/>
            <a:round/>
            <a:headEnd len="med" w="med" type="none"/>
            <a:tailEnd len="med" w="med" type="triangle"/>
          </a:ln>
        </p:spPr>
      </p:cxnSp>
      <p:sp>
        <p:nvSpPr>
          <p:cNvPr id="253" name="Google Shape;253;p22"/>
          <p:cNvSpPr txBox="1"/>
          <p:nvPr/>
        </p:nvSpPr>
        <p:spPr>
          <a:xfrm>
            <a:off x="12153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Patterns</a:t>
            </a:r>
            <a:endParaRPr sz="2000">
              <a:solidFill>
                <a:srgbClr val="000000"/>
              </a:solidFill>
              <a:latin typeface="Lato"/>
              <a:ea typeface="Lato"/>
              <a:cs typeface="Lato"/>
              <a:sym typeface="Lato"/>
            </a:endParaRPr>
          </a:p>
        </p:txBody>
      </p:sp>
      <p:sp>
        <p:nvSpPr>
          <p:cNvPr id="254" name="Google Shape;254;p22"/>
          <p:cNvSpPr txBox="1"/>
          <p:nvPr/>
        </p:nvSpPr>
        <p:spPr>
          <a:xfrm>
            <a:off x="3343600" y="880625"/>
            <a:ext cx="1674900" cy="326400"/>
          </a:xfrm>
          <a:prstGeom prst="rect">
            <a:avLst/>
          </a:prstGeom>
          <a:solidFill>
            <a:srgbClr val="FFF2CC"/>
          </a:solidFill>
          <a:ln cap="flat" cmpd="sng" w="9525">
            <a:solidFill>
              <a:srgbClr val="FFB500"/>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2000">
                <a:latin typeface="Lato"/>
                <a:ea typeface="Lato"/>
                <a:cs typeface="Lato"/>
                <a:sym typeface="Lato"/>
              </a:rPr>
              <a:t>Find Topics</a:t>
            </a:r>
            <a:endParaRPr sz="2000">
              <a:solidFill>
                <a:srgbClr val="000000"/>
              </a:solidFill>
              <a:latin typeface="Lato"/>
              <a:ea typeface="Lato"/>
              <a:cs typeface="Lato"/>
              <a:sym typeface="Lato"/>
            </a:endParaRPr>
          </a:p>
        </p:txBody>
      </p:sp>
      <p:sp>
        <p:nvSpPr>
          <p:cNvPr id="255" name="Google Shape;255;p22"/>
          <p:cNvSpPr/>
          <p:nvPr/>
        </p:nvSpPr>
        <p:spPr>
          <a:xfrm>
            <a:off x="3236050" y="1726800"/>
            <a:ext cx="2291100" cy="2775600"/>
          </a:xfrm>
          <a:prstGeom prst="rect">
            <a:avLst/>
          </a:prstGeom>
          <a:solidFill>
            <a:srgbClr val="D1D5DB"/>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6" name="Google Shape;256;p22"/>
          <p:cNvSpPr txBox="1"/>
          <p:nvPr/>
        </p:nvSpPr>
        <p:spPr>
          <a:xfrm>
            <a:off x="3743800" y="1492800"/>
            <a:ext cx="1275600" cy="234000"/>
          </a:xfrm>
          <a:prstGeom prst="rect">
            <a:avLst/>
          </a:prstGeom>
          <a:solidFill>
            <a:srgbClr val="F3F3F3"/>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a:latin typeface="Lato"/>
                <a:ea typeface="Lato"/>
                <a:cs typeface="Lato"/>
                <a:sym typeface="Lato"/>
              </a:rPr>
              <a:t>Generative AI</a:t>
            </a:r>
            <a:endParaRPr sz="1100">
              <a:solidFill>
                <a:srgbClr val="000000"/>
              </a:solidFill>
              <a:latin typeface="Lato"/>
              <a:ea typeface="Lato"/>
              <a:cs typeface="Lato"/>
              <a:sym typeface="Lato"/>
            </a:endParaRPr>
          </a:p>
        </p:txBody>
      </p:sp>
      <p:sp>
        <p:nvSpPr>
          <p:cNvPr id="257" name="Google Shape;257;p22"/>
          <p:cNvSpPr txBox="1"/>
          <p:nvPr/>
        </p:nvSpPr>
        <p:spPr>
          <a:xfrm>
            <a:off x="3467200" y="1968100"/>
            <a:ext cx="15039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Contextual Understanding</a:t>
            </a:r>
            <a:endParaRPr>
              <a:solidFill>
                <a:srgbClr val="F3F3F3"/>
              </a:solidFill>
              <a:latin typeface="Lato"/>
              <a:ea typeface="Lato"/>
              <a:cs typeface="Lato"/>
              <a:sym typeface="Lato"/>
            </a:endParaRPr>
          </a:p>
        </p:txBody>
      </p:sp>
      <p:sp>
        <p:nvSpPr>
          <p:cNvPr id="258" name="Google Shape;258;p22"/>
          <p:cNvSpPr txBox="1"/>
          <p:nvPr/>
        </p:nvSpPr>
        <p:spPr>
          <a:xfrm>
            <a:off x="3613275" y="2876075"/>
            <a:ext cx="17334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Text Completion and Generation</a:t>
            </a:r>
            <a:endParaRPr>
              <a:solidFill>
                <a:srgbClr val="F3F3F3"/>
              </a:solidFill>
              <a:latin typeface="Lato"/>
              <a:ea typeface="Lato"/>
              <a:cs typeface="Lato"/>
              <a:sym typeface="Lato"/>
            </a:endParaRPr>
          </a:p>
        </p:txBody>
      </p:sp>
      <p:sp>
        <p:nvSpPr>
          <p:cNvPr id="259" name="Google Shape;259;p22"/>
          <p:cNvSpPr txBox="1"/>
          <p:nvPr/>
        </p:nvSpPr>
        <p:spPr>
          <a:xfrm>
            <a:off x="3467200" y="3712850"/>
            <a:ext cx="1674900" cy="541800"/>
          </a:xfrm>
          <a:prstGeom prst="rect">
            <a:avLst/>
          </a:prstGeom>
          <a:solidFill>
            <a:schemeClr val="accent1"/>
          </a:solidFill>
          <a:ln cap="flat" cmpd="sng" w="9525">
            <a:solidFill>
              <a:schemeClr val="accent5"/>
            </a:solidFill>
            <a:prstDash val="solid"/>
            <a:round/>
            <a:headEnd len="sm" w="sm" type="none"/>
            <a:tailEnd len="sm" w="sm" type="none"/>
          </a:ln>
        </p:spPr>
        <p:txBody>
          <a:bodyPr anchorCtr="0" anchor="t" bIns="9125" lIns="9125" spcFirstLastPara="1" rIns="9125" wrap="square" tIns="9125">
            <a:spAutoFit/>
          </a:bodyPr>
          <a:lstStyle/>
          <a:p>
            <a:pPr indent="0" lvl="0" marL="0" rtl="0" algn="ctr">
              <a:spcBef>
                <a:spcPts val="0"/>
              </a:spcBef>
              <a:spcAft>
                <a:spcPts val="0"/>
              </a:spcAft>
              <a:buNone/>
            </a:pPr>
            <a:r>
              <a:rPr lang="en" sz="1700">
                <a:solidFill>
                  <a:srgbClr val="F3F3F3"/>
                </a:solidFill>
                <a:latin typeface="Lato"/>
                <a:ea typeface="Lato"/>
                <a:cs typeface="Lato"/>
                <a:sym typeface="Lato"/>
              </a:rPr>
              <a:t>Domain-Specific Language</a:t>
            </a:r>
            <a:endParaRPr>
              <a:solidFill>
                <a:srgbClr val="F3F3F3"/>
              </a:solidFill>
              <a:latin typeface="Lato"/>
              <a:ea typeface="Lato"/>
              <a:cs typeface="Lato"/>
              <a:sym typeface="Lato"/>
            </a:endParaRPr>
          </a:p>
        </p:txBody>
      </p:sp>
      <p:pic>
        <p:nvPicPr>
          <p:cNvPr id="260" name="Google Shape;260;p22"/>
          <p:cNvPicPr preferRelativeResize="0"/>
          <p:nvPr/>
        </p:nvPicPr>
        <p:blipFill>
          <a:blip r:embed="rId4">
            <a:alphaModFix/>
          </a:blip>
          <a:stretch>
            <a:fillRect/>
          </a:stretch>
        </p:blipFill>
        <p:spPr>
          <a:xfrm>
            <a:off x="6979505" y="695400"/>
            <a:ext cx="914400" cy="914400"/>
          </a:xfrm>
          <a:prstGeom prst="rect">
            <a:avLst/>
          </a:prstGeom>
          <a:noFill/>
          <a:ln>
            <a:noFill/>
          </a:ln>
          <a:effectLst>
            <a:outerShdw blurRad="57150" rotWithShape="0" algn="bl" dir="5400000" dist="19050">
              <a:srgbClr val="000000">
                <a:alpha val="50000"/>
              </a:srgbClr>
            </a:outerShdw>
          </a:effectLst>
        </p:spPr>
      </p:pic>
      <p:pic>
        <p:nvPicPr>
          <p:cNvPr id="261" name="Google Shape;261;p22"/>
          <p:cNvPicPr preferRelativeResize="0"/>
          <p:nvPr/>
        </p:nvPicPr>
        <p:blipFill>
          <a:blip r:embed="rId5">
            <a:alphaModFix/>
          </a:blip>
          <a:stretch>
            <a:fillRect/>
          </a:stretch>
        </p:blipFill>
        <p:spPr>
          <a:xfrm>
            <a:off x="6573275" y="1304700"/>
            <a:ext cx="685800" cy="685800"/>
          </a:xfrm>
          <a:prstGeom prst="rect">
            <a:avLst/>
          </a:prstGeom>
          <a:noFill/>
          <a:ln>
            <a:noFill/>
          </a:ln>
        </p:spPr>
      </p:pic>
      <p:pic>
        <p:nvPicPr>
          <p:cNvPr id="262" name="Google Shape;262;p22"/>
          <p:cNvPicPr preferRelativeResize="0"/>
          <p:nvPr/>
        </p:nvPicPr>
        <p:blipFill>
          <a:blip r:embed="rId4">
            <a:alphaModFix/>
          </a:blip>
          <a:stretch>
            <a:fillRect/>
          </a:stretch>
        </p:blipFill>
        <p:spPr>
          <a:xfrm>
            <a:off x="7328280" y="1035600"/>
            <a:ext cx="914400" cy="914400"/>
          </a:xfrm>
          <a:prstGeom prst="rect">
            <a:avLst/>
          </a:prstGeom>
          <a:noFill/>
          <a:ln>
            <a:noFill/>
          </a:ln>
          <a:effectLst>
            <a:outerShdw blurRad="57150" rotWithShape="0" algn="bl" dir="5400000" dist="19050">
              <a:srgbClr val="000000">
                <a:alpha val="50000"/>
              </a:srgbClr>
            </a:outerShdw>
          </a:effectLst>
        </p:spPr>
      </p:pic>
      <p:pic>
        <p:nvPicPr>
          <p:cNvPr id="263" name="Google Shape;263;p22"/>
          <p:cNvPicPr preferRelativeResize="0"/>
          <p:nvPr/>
        </p:nvPicPr>
        <p:blipFill>
          <a:blip r:embed="rId4">
            <a:alphaModFix/>
          </a:blip>
          <a:stretch>
            <a:fillRect/>
          </a:stretch>
        </p:blipFill>
        <p:spPr>
          <a:xfrm>
            <a:off x="7180830" y="1510900"/>
            <a:ext cx="914400" cy="914400"/>
          </a:xfrm>
          <a:prstGeom prst="rect">
            <a:avLst/>
          </a:prstGeom>
          <a:noFill/>
          <a:ln>
            <a:noFill/>
          </a:ln>
          <a:effectLst>
            <a:outerShdw blurRad="57150" rotWithShape="0" algn="bl" dir="5400000" dist="19050">
              <a:srgbClr val="000000">
                <a:alpha val="50000"/>
              </a:srgbClr>
            </a:outerShdw>
          </a:effectLst>
        </p:spPr>
      </p:pic>
      <p:pic>
        <p:nvPicPr>
          <p:cNvPr id="264" name="Google Shape;264;p22"/>
          <p:cNvPicPr preferRelativeResize="0"/>
          <p:nvPr/>
        </p:nvPicPr>
        <p:blipFill>
          <a:blip r:embed="rId6">
            <a:alphaModFix/>
          </a:blip>
          <a:stretch>
            <a:fillRect/>
          </a:stretch>
        </p:blipFill>
        <p:spPr>
          <a:xfrm>
            <a:off x="6405155" y="2932475"/>
            <a:ext cx="914400" cy="914400"/>
          </a:xfrm>
          <a:prstGeom prst="rect">
            <a:avLst/>
          </a:prstGeom>
          <a:noFill/>
          <a:ln>
            <a:noFill/>
          </a:ln>
          <a:effectLst>
            <a:outerShdw blurRad="57150" rotWithShape="0" algn="bl" dir="5400000" dist="19050">
              <a:srgbClr val="000000">
                <a:alpha val="50000"/>
              </a:srgbClr>
            </a:outerShdw>
          </a:effectLst>
        </p:spPr>
      </p:pic>
      <p:pic>
        <p:nvPicPr>
          <p:cNvPr id="265" name="Google Shape;265;p22"/>
          <p:cNvPicPr preferRelativeResize="0"/>
          <p:nvPr/>
        </p:nvPicPr>
        <p:blipFill>
          <a:blip r:embed="rId6">
            <a:alphaModFix/>
          </a:blip>
          <a:stretch>
            <a:fillRect/>
          </a:stretch>
        </p:blipFill>
        <p:spPr>
          <a:xfrm>
            <a:off x="7014005" y="3222050"/>
            <a:ext cx="914400" cy="914400"/>
          </a:xfrm>
          <a:prstGeom prst="rect">
            <a:avLst/>
          </a:prstGeom>
          <a:noFill/>
          <a:ln>
            <a:noFill/>
          </a:ln>
          <a:effectLst>
            <a:outerShdw blurRad="57150" rotWithShape="0" algn="bl" dir="5400000" dist="19050">
              <a:srgbClr val="000000">
                <a:alpha val="50000"/>
              </a:srgbClr>
            </a:outerShdw>
          </a:effectLst>
        </p:spPr>
      </p:pic>
      <p:pic>
        <p:nvPicPr>
          <p:cNvPr id="266" name="Google Shape;266;p22"/>
          <p:cNvPicPr preferRelativeResize="0"/>
          <p:nvPr/>
        </p:nvPicPr>
        <p:blipFill>
          <a:blip r:embed="rId6">
            <a:alphaModFix/>
          </a:blip>
          <a:stretch>
            <a:fillRect/>
          </a:stretch>
        </p:blipFill>
        <p:spPr>
          <a:xfrm>
            <a:off x="7618655" y="2932475"/>
            <a:ext cx="914400" cy="914400"/>
          </a:xfrm>
          <a:prstGeom prst="rect">
            <a:avLst/>
          </a:prstGeom>
          <a:noFill/>
          <a:ln>
            <a:noFill/>
          </a:ln>
          <a:effectLst>
            <a:outerShdw blurRad="57150" rotWithShape="0" algn="bl" dir="5400000" dist="19050">
              <a:srgbClr val="000000">
                <a:alpha val="50000"/>
              </a:srgbClr>
            </a:outerShdw>
          </a:effectLst>
        </p:spPr>
      </p:pic>
      <p:pic>
        <p:nvPicPr>
          <p:cNvPr id="267" name="Google Shape;267;p22"/>
          <p:cNvPicPr preferRelativeResize="0"/>
          <p:nvPr/>
        </p:nvPicPr>
        <p:blipFill>
          <a:blip r:embed="rId6">
            <a:alphaModFix/>
          </a:blip>
          <a:stretch>
            <a:fillRect/>
          </a:stretch>
        </p:blipFill>
        <p:spPr>
          <a:xfrm>
            <a:off x="7388030" y="3457650"/>
            <a:ext cx="914400" cy="914400"/>
          </a:xfrm>
          <a:prstGeom prst="rect">
            <a:avLst/>
          </a:prstGeom>
          <a:noFill/>
          <a:ln>
            <a:noFill/>
          </a:ln>
          <a:effectLst>
            <a:outerShdw blurRad="57150" rotWithShape="0" algn="bl" dir="5400000" dist="19050">
              <a:srgbClr val="000000">
                <a:alpha val="50000"/>
              </a:srgbClr>
            </a:outerShdw>
          </a:effectLst>
        </p:spPr>
      </p:pic>
      <p:pic>
        <p:nvPicPr>
          <p:cNvPr id="268" name="Google Shape;268;p22"/>
          <p:cNvPicPr preferRelativeResize="0"/>
          <p:nvPr/>
        </p:nvPicPr>
        <p:blipFill>
          <a:blip r:embed="rId6">
            <a:alphaModFix/>
          </a:blip>
          <a:stretch>
            <a:fillRect/>
          </a:stretch>
        </p:blipFill>
        <p:spPr>
          <a:xfrm>
            <a:off x="6519455" y="3457650"/>
            <a:ext cx="914400" cy="914400"/>
          </a:xfrm>
          <a:prstGeom prst="rect">
            <a:avLst/>
          </a:prstGeom>
          <a:noFill/>
          <a:ln>
            <a:noFill/>
          </a:ln>
          <a:effectLst>
            <a:outerShdw blurRad="57150" rotWithShape="0" algn="bl" dir="5400000" dist="19050">
              <a:srgbClr val="000000">
                <a:alpha val="50000"/>
              </a:srgbClr>
            </a:outerShdw>
          </a:effectLst>
        </p:spPr>
      </p:pic>
      <p:sp>
        <p:nvSpPr>
          <p:cNvPr id="269" name="Google Shape;269;p22"/>
          <p:cNvSpPr/>
          <p:nvPr/>
        </p:nvSpPr>
        <p:spPr>
          <a:xfrm>
            <a:off x="7550700" y="3949825"/>
            <a:ext cx="386400" cy="115800"/>
          </a:xfrm>
          <a:prstGeom prst="rect">
            <a:avLst/>
          </a:prstGeom>
          <a:solidFill>
            <a:srgbClr val="FFB500">
              <a:alpha val="21880"/>
            </a:srgbClr>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0" name="Google Shape;270;p22"/>
          <p:cNvSpPr/>
          <p:nvPr/>
        </p:nvSpPr>
        <p:spPr>
          <a:xfrm>
            <a:off x="6898250" y="3712850"/>
            <a:ext cx="386400" cy="115800"/>
          </a:xfrm>
          <a:prstGeom prst="rect">
            <a:avLst/>
          </a:prstGeom>
          <a:solidFill>
            <a:srgbClr val="FFB500">
              <a:alpha val="21880"/>
            </a:srgbClr>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 name="Google Shape;271;p22"/>
          <p:cNvSpPr/>
          <p:nvPr/>
        </p:nvSpPr>
        <p:spPr>
          <a:xfrm>
            <a:off x="8150775" y="3417875"/>
            <a:ext cx="205500" cy="115800"/>
          </a:xfrm>
          <a:prstGeom prst="rect">
            <a:avLst/>
          </a:prstGeom>
          <a:solidFill>
            <a:srgbClr val="FFB500">
              <a:alpha val="21880"/>
            </a:srgbClr>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2" name="Google Shape;272;p22"/>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7">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3"/>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a:solidFill>
                  <a:schemeClr val="accent2"/>
                </a:solidFill>
              </a:rPr>
              <a:t>Example:</a:t>
            </a:r>
            <a:r>
              <a:rPr lang="en" sz="3800">
                <a:solidFill>
                  <a:schemeClr val="accent2"/>
                </a:solidFill>
              </a:rPr>
              <a:t> </a:t>
            </a:r>
            <a:r>
              <a:rPr lang="en" sz="3800">
                <a:solidFill>
                  <a:schemeClr val="accent2"/>
                </a:solidFill>
              </a:rPr>
              <a:t>Advances in Text Mining</a:t>
            </a:r>
            <a:endParaRPr sz="3800">
              <a:solidFill>
                <a:schemeClr val="accent2"/>
              </a:solidFill>
            </a:endParaRPr>
          </a:p>
        </p:txBody>
      </p:sp>
      <p:pic>
        <p:nvPicPr>
          <p:cNvPr id="278" name="Google Shape;278;p23"/>
          <p:cNvPicPr preferRelativeResize="0"/>
          <p:nvPr/>
        </p:nvPicPr>
        <p:blipFill>
          <a:blip r:embed="rId3">
            <a:alphaModFix/>
          </a:blip>
          <a:stretch>
            <a:fillRect/>
          </a:stretch>
        </p:blipFill>
        <p:spPr>
          <a:xfrm>
            <a:off x="336900" y="1060450"/>
            <a:ext cx="5595750" cy="1727350"/>
          </a:xfrm>
          <a:prstGeom prst="rect">
            <a:avLst/>
          </a:prstGeom>
          <a:noFill/>
          <a:ln cap="flat" cmpd="sng" w="28575">
            <a:solidFill>
              <a:schemeClr val="accent2"/>
            </a:solidFill>
            <a:prstDash val="solid"/>
            <a:round/>
            <a:headEnd len="sm" w="sm" type="none"/>
            <a:tailEnd len="sm" w="sm" type="none"/>
          </a:ln>
        </p:spPr>
      </p:pic>
      <p:pic>
        <p:nvPicPr>
          <p:cNvPr id="279" name="Google Shape;279;p23"/>
          <p:cNvPicPr preferRelativeResize="0"/>
          <p:nvPr/>
        </p:nvPicPr>
        <p:blipFill>
          <a:blip r:embed="rId4">
            <a:alphaModFix/>
          </a:blip>
          <a:stretch>
            <a:fillRect/>
          </a:stretch>
        </p:blipFill>
        <p:spPr>
          <a:xfrm>
            <a:off x="517258" y="1183058"/>
            <a:ext cx="248749" cy="248749"/>
          </a:xfrm>
          <a:prstGeom prst="rect">
            <a:avLst/>
          </a:prstGeom>
          <a:noFill/>
          <a:ln>
            <a:noFill/>
          </a:ln>
        </p:spPr>
      </p:pic>
      <p:pic>
        <p:nvPicPr>
          <p:cNvPr id="280" name="Google Shape;280;p23"/>
          <p:cNvPicPr preferRelativeResize="0"/>
          <p:nvPr/>
        </p:nvPicPr>
        <p:blipFill>
          <a:blip r:embed="rId5">
            <a:alphaModFix/>
          </a:blip>
          <a:stretch>
            <a:fillRect/>
          </a:stretch>
        </p:blipFill>
        <p:spPr>
          <a:xfrm>
            <a:off x="4150946" y="1735950"/>
            <a:ext cx="4693449" cy="2963001"/>
          </a:xfrm>
          <a:prstGeom prst="rect">
            <a:avLst/>
          </a:prstGeom>
          <a:noFill/>
          <a:ln cap="flat" cmpd="sng" w="28575">
            <a:solidFill>
              <a:schemeClr val="accent5"/>
            </a:solidFill>
            <a:prstDash val="solid"/>
            <a:round/>
            <a:headEnd len="sm" w="sm" type="none"/>
            <a:tailEnd len="sm" w="sm" type="none"/>
          </a:ln>
        </p:spPr>
      </p:pic>
      <p:sp>
        <p:nvSpPr>
          <p:cNvPr id="281" name="Google Shape;281;p23"/>
          <p:cNvSpPr/>
          <p:nvPr/>
        </p:nvSpPr>
        <p:spPr>
          <a:xfrm flipH="1" rot="10301104">
            <a:off x="3325840" y="2831646"/>
            <a:ext cx="657613" cy="707887"/>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2" name="Google Shape;282;p23"/>
          <p:cNvSpPr/>
          <p:nvPr/>
        </p:nvSpPr>
        <p:spPr>
          <a:xfrm rot="4162414">
            <a:off x="6168964" y="953405"/>
            <a:ext cx="657444" cy="707972"/>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3" name="Google Shape;283;p23"/>
          <p:cNvSpPr txBox="1"/>
          <p:nvPr/>
        </p:nvSpPr>
        <p:spPr>
          <a:xfrm>
            <a:off x="424750" y="4771900"/>
            <a:ext cx="6936000" cy="315300"/>
          </a:xfrm>
          <a:prstGeom prst="rect">
            <a:avLst/>
          </a:prstGeom>
          <a:noFill/>
          <a:ln>
            <a:noFill/>
          </a:ln>
        </p:spPr>
        <p:txBody>
          <a:bodyPr anchorCtr="0" anchor="t" bIns="91425" lIns="91425" spcFirstLastPara="1" rIns="91425" wrap="square" tIns="91425">
            <a:normAutofit fontScale="47500" lnSpcReduction="20000"/>
          </a:bodyPr>
          <a:lstStyle/>
          <a:p>
            <a:pPr indent="0" lvl="0" marL="0" rtl="0" algn="l">
              <a:lnSpc>
                <a:spcPct val="115000"/>
              </a:lnSpc>
              <a:spcBef>
                <a:spcPts val="0"/>
              </a:spcBef>
              <a:spcAft>
                <a:spcPts val="1200"/>
              </a:spcAft>
              <a:buNone/>
            </a:pPr>
            <a:r>
              <a:rPr lang="en" sz="1900">
                <a:latin typeface="Lato"/>
                <a:ea typeface="Lato"/>
                <a:cs typeface="Lato"/>
                <a:sym typeface="Lato"/>
              </a:rPr>
              <a:t>Icons </a:t>
            </a:r>
            <a:r>
              <a:rPr lang="en" sz="1900">
                <a:solidFill>
                  <a:srgbClr val="000000"/>
                </a:solidFill>
                <a:latin typeface="Lato"/>
                <a:ea typeface="Lato"/>
                <a:cs typeface="Lato"/>
                <a:sym typeface="Lato"/>
              </a:rPr>
              <a:t>from </a:t>
            </a:r>
            <a:r>
              <a:rPr lang="en" sz="1900" u="sng">
                <a:solidFill>
                  <a:srgbClr val="00C1D5"/>
                </a:solidFill>
                <a:latin typeface="Lato"/>
                <a:ea typeface="Lato"/>
                <a:cs typeface="Lato"/>
                <a:sym typeface="Lato"/>
                <a:hlinkClick r:id="rId6">
                  <a:extLst>
                    <a:ext uri="{A12FA001-AC4F-418D-AE19-62706E023703}">
                      <ahyp:hlinkClr val="tx"/>
                    </a:ext>
                  </a:extLst>
                </a:hlinkClick>
              </a:rPr>
              <a:t>https://www.iconpacks.net</a:t>
            </a:r>
            <a:r>
              <a:rPr lang="en" sz="1900" u="sng">
                <a:solidFill>
                  <a:srgbClr val="00C1D5"/>
                </a:solidFill>
                <a:latin typeface="Lato"/>
                <a:ea typeface="Lato"/>
                <a:cs typeface="Lato"/>
                <a:sym typeface="Lato"/>
                <a:hlinkClick r:id="rId7">
                  <a:extLst>
                    <a:ext uri="{A12FA001-AC4F-418D-AE19-62706E023703}">
                      <ahyp:hlinkClr val="tx"/>
                    </a:ext>
                  </a:extLst>
                </a:hlinkClick>
              </a:rPr>
              <a:t>/</a:t>
            </a:r>
            <a:r>
              <a:rPr lang="en" sz="1900">
                <a:solidFill>
                  <a:srgbClr val="000000"/>
                </a:solidFill>
                <a:latin typeface="Lato"/>
                <a:ea typeface="Lato"/>
                <a:cs typeface="Lato"/>
                <a:sym typeface="Lato"/>
              </a:rPr>
              <a:t> </a:t>
            </a:r>
            <a:r>
              <a:rPr lang="en" sz="1900">
                <a:latin typeface="Lato"/>
                <a:ea typeface="Lato"/>
                <a:cs typeface="Lato"/>
                <a:sym typeface="Lato"/>
              </a:rPr>
              <a:t>; </a:t>
            </a:r>
            <a:r>
              <a:rPr lang="en" sz="1900">
                <a:solidFill>
                  <a:srgbClr val="000000"/>
                </a:solidFill>
                <a:latin typeface="Lato"/>
                <a:ea typeface="Lato"/>
                <a:cs typeface="Lato"/>
                <a:sym typeface="Lato"/>
              </a:rPr>
              <a:t>scree</a:t>
            </a:r>
            <a:r>
              <a:rPr lang="en" sz="1900">
                <a:latin typeface="Lato"/>
                <a:ea typeface="Lato"/>
                <a:cs typeface="Lato"/>
                <a:sym typeface="Lato"/>
              </a:rPr>
              <a:t>nshots from </a:t>
            </a:r>
            <a:r>
              <a:rPr lang="en" sz="1900">
                <a:solidFill>
                  <a:srgbClr val="000000"/>
                </a:solidFill>
                <a:latin typeface="Lato"/>
                <a:ea typeface="Lato"/>
                <a:cs typeface="Lato"/>
                <a:sym typeface="Lato"/>
              </a:rPr>
              <a:t> </a:t>
            </a:r>
            <a:r>
              <a:rPr lang="en" sz="1900" u="sng">
                <a:solidFill>
                  <a:srgbClr val="00C1D5"/>
                </a:solidFill>
                <a:latin typeface="Lato"/>
                <a:ea typeface="Lato"/>
                <a:cs typeface="Lato"/>
                <a:sym typeface="Lato"/>
                <a:hlinkClick r:id="rId8">
                  <a:extLst>
                    <a:ext uri="{A12FA001-AC4F-418D-AE19-62706E023703}">
                      <ahyp:hlinkClr val="tx"/>
                    </a:ext>
                  </a:extLst>
                </a:hlinkClick>
              </a:rPr>
              <a:t>https://chat.openai.com/</a:t>
            </a:r>
            <a:r>
              <a:rPr lang="en" sz="1900">
                <a:solidFill>
                  <a:srgbClr val="000000"/>
                </a:solidFill>
                <a:latin typeface="Lato"/>
                <a:ea typeface="Lato"/>
                <a:cs typeface="Lato"/>
                <a:sym typeface="Lato"/>
              </a:rPr>
              <a:t> </a:t>
            </a:r>
            <a:endParaRPr sz="1900">
              <a:solidFill>
                <a:srgbClr val="000000"/>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4"/>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Modify / Generate Text</a:t>
            </a:r>
            <a:endParaRPr sz="3800">
              <a:solidFill>
                <a:schemeClr val="accent2"/>
              </a:solidFill>
            </a:endParaRPr>
          </a:p>
        </p:txBody>
      </p:sp>
      <p:grpSp>
        <p:nvGrpSpPr>
          <p:cNvPr id="289" name="Google Shape;289;p24"/>
          <p:cNvGrpSpPr/>
          <p:nvPr/>
        </p:nvGrpSpPr>
        <p:grpSpPr>
          <a:xfrm>
            <a:off x="490850" y="1742913"/>
            <a:ext cx="1547725" cy="1495975"/>
            <a:chOff x="490850" y="1702175"/>
            <a:chExt cx="1547725" cy="1495975"/>
          </a:xfrm>
        </p:grpSpPr>
        <p:pic>
          <p:nvPicPr>
            <p:cNvPr id="290" name="Google Shape;290;p24"/>
            <p:cNvPicPr preferRelativeResize="0"/>
            <p:nvPr/>
          </p:nvPicPr>
          <p:blipFill>
            <a:blip r:embed="rId3">
              <a:alphaModFix/>
            </a:blip>
            <a:stretch>
              <a:fillRect/>
            </a:stretch>
          </p:blipFill>
          <p:spPr>
            <a:xfrm>
              <a:off x="490850" y="1702175"/>
              <a:ext cx="914400" cy="914400"/>
            </a:xfrm>
            <a:prstGeom prst="rect">
              <a:avLst/>
            </a:prstGeom>
            <a:noFill/>
            <a:ln>
              <a:noFill/>
            </a:ln>
          </p:spPr>
        </p:pic>
        <p:pic>
          <p:nvPicPr>
            <p:cNvPr id="291" name="Google Shape;291;p24"/>
            <p:cNvPicPr preferRelativeResize="0"/>
            <p:nvPr/>
          </p:nvPicPr>
          <p:blipFill>
            <a:blip r:embed="rId4">
              <a:alphaModFix/>
            </a:blip>
            <a:stretch>
              <a:fillRect/>
            </a:stretch>
          </p:blipFill>
          <p:spPr>
            <a:xfrm>
              <a:off x="1124175" y="2283750"/>
              <a:ext cx="914400" cy="914400"/>
            </a:xfrm>
            <a:prstGeom prst="rect">
              <a:avLst/>
            </a:prstGeom>
            <a:noFill/>
            <a:ln>
              <a:noFill/>
            </a:ln>
          </p:spPr>
        </p:pic>
      </p:grpSp>
      <p:grpSp>
        <p:nvGrpSpPr>
          <p:cNvPr id="292" name="Google Shape;292;p24"/>
          <p:cNvGrpSpPr/>
          <p:nvPr/>
        </p:nvGrpSpPr>
        <p:grpSpPr>
          <a:xfrm>
            <a:off x="3003200" y="1576500"/>
            <a:ext cx="2735930" cy="1828800"/>
            <a:chOff x="2774600" y="1623050"/>
            <a:chExt cx="2735930" cy="1828800"/>
          </a:xfrm>
        </p:grpSpPr>
        <p:pic>
          <p:nvPicPr>
            <p:cNvPr id="293" name="Google Shape;293;p24"/>
            <p:cNvPicPr preferRelativeResize="0"/>
            <p:nvPr/>
          </p:nvPicPr>
          <p:blipFill>
            <a:blip r:embed="rId5">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294" name="Google Shape;294;p24"/>
            <p:cNvPicPr preferRelativeResize="0"/>
            <p:nvPr/>
          </p:nvPicPr>
          <p:blipFill>
            <a:blip r:embed="rId5">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295" name="Google Shape;295;p24"/>
            <p:cNvPicPr preferRelativeResize="0"/>
            <p:nvPr/>
          </p:nvPicPr>
          <p:blipFill>
            <a:blip r:embed="rId5">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296" name="Google Shape;296;p24"/>
            <p:cNvPicPr preferRelativeResize="0"/>
            <p:nvPr/>
          </p:nvPicPr>
          <p:blipFill>
            <a:blip r:embed="rId5">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sp>
          <p:nvSpPr>
            <p:cNvPr id="297" name="Google Shape;297;p24"/>
            <p:cNvSpPr/>
            <p:nvPr/>
          </p:nvSpPr>
          <p:spPr>
            <a:xfrm rot="2927601">
              <a:off x="4254470" y="2722639"/>
              <a:ext cx="234070" cy="251907"/>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98" name="Google Shape;298;p24"/>
            <p:cNvPicPr preferRelativeResize="0"/>
            <p:nvPr/>
          </p:nvPicPr>
          <p:blipFill>
            <a:blip r:embed="rId6">
              <a:alphaModFix/>
            </a:blip>
            <a:stretch>
              <a:fillRect/>
            </a:stretch>
          </p:blipFill>
          <p:spPr>
            <a:xfrm>
              <a:off x="4596130" y="2444350"/>
              <a:ext cx="914400" cy="914400"/>
            </a:xfrm>
            <a:prstGeom prst="rect">
              <a:avLst/>
            </a:prstGeom>
            <a:noFill/>
            <a:ln>
              <a:noFill/>
            </a:ln>
          </p:spPr>
        </p:pic>
      </p:grpSp>
      <p:grpSp>
        <p:nvGrpSpPr>
          <p:cNvPr id="299" name="Google Shape;299;p24"/>
          <p:cNvGrpSpPr/>
          <p:nvPr/>
        </p:nvGrpSpPr>
        <p:grpSpPr>
          <a:xfrm>
            <a:off x="6445580" y="1741400"/>
            <a:ext cx="2045550" cy="1499000"/>
            <a:chOff x="6216980" y="1529950"/>
            <a:chExt cx="2045550" cy="1499000"/>
          </a:xfrm>
        </p:grpSpPr>
        <p:pic>
          <p:nvPicPr>
            <p:cNvPr id="300" name="Google Shape;300;p24"/>
            <p:cNvPicPr preferRelativeResize="0"/>
            <p:nvPr/>
          </p:nvPicPr>
          <p:blipFill>
            <a:blip r:embed="rId6">
              <a:alphaModFix/>
            </a:blip>
            <a:stretch>
              <a:fillRect/>
            </a:stretch>
          </p:blipFill>
          <p:spPr>
            <a:xfrm>
              <a:off x="6216980" y="1529950"/>
              <a:ext cx="914400" cy="914400"/>
            </a:xfrm>
            <a:prstGeom prst="rect">
              <a:avLst/>
            </a:prstGeom>
            <a:noFill/>
            <a:ln>
              <a:noFill/>
            </a:ln>
          </p:spPr>
        </p:pic>
        <p:pic>
          <p:nvPicPr>
            <p:cNvPr id="301" name="Google Shape;301;p24"/>
            <p:cNvPicPr preferRelativeResize="0"/>
            <p:nvPr/>
          </p:nvPicPr>
          <p:blipFill>
            <a:blip r:embed="rId7">
              <a:alphaModFix/>
            </a:blip>
            <a:stretch>
              <a:fillRect/>
            </a:stretch>
          </p:blipFill>
          <p:spPr>
            <a:xfrm>
              <a:off x="7348130" y="2114550"/>
              <a:ext cx="914400" cy="914400"/>
            </a:xfrm>
            <a:prstGeom prst="rect">
              <a:avLst/>
            </a:prstGeom>
            <a:noFill/>
            <a:ln>
              <a:noFill/>
            </a:ln>
          </p:spPr>
        </p:pic>
        <p:sp>
          <p:nvSpPr>
            <p:cNvPr id="302" name="Google Shape;302;p24"/>
            <p:cNvSpPr/>
            <p:nvPr/>
          </p:nvSpPr>
          <p:spPr>
            <a:xfrm rot="2927601">
              <a:off x="7105470" y="2147239"/>
              <a:ext cx="234070" cy="251907"/>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
        <p:nvSpPr>
          <p:cNvPr id="303" name="Google Shape;303;p24"/>
          <p:cNvSpPr txBox="1"/>
          <p:nvPr>
            <p:ph idx="4294967295" type="title"/>
          </p:nvPr>
        </p:nvSpPr>
        <p:spPr>
          <a:xfrm>
            <a:off x="544563" y="3405300"/>
            <a:ext cx="1440300" cy="46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Lato"/>
                <a:ea typeface="Lato"/>
                <a:cs typeface="Lato"/>
                <a:sym typeface="Lato"/>
              </a:rPr>
              <a:t>Change Tone</a:t>
            </a:r>
            <a:endParaRPr sz="2100">
              <a:solidFill>
                <a:schemeClr val="dk1"/>
              </a:solidFill>
              <a:latin typeface="Lato"/>
              <a:ea typeface="Lato"/>
              <a:cs typeface="Lato"/>
              <a:sym typeface="Lato"/>
            </a:endParaRPr>
          </a:p>
        </p:txBody>
      </p:sp>
      <p:sp>
        <p:nvSpPr>
          <p:cNvPr id="304" name="Google Shape;304;p24"/>
          <p:cNvSpPr txBox="1"/>
          <p:nvPr>
            <p:ph idx="4294967295" type="title"/>
          </p:nvPr>
        </p:nvSpPr>
        <p:spPr>
          <a:xfrm>
            <a:off x="3597313" y="3405300"/>
            <a:ext cx="1547700" cy="46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Lato"/>
                <a:ea typeface="Lato"/>
                <a:cs typeface="Lato"/>
                <a:sym typeface="Lato"/>
              </a:rPr>
              <a:t>Summarize</a:t>
            </a:r>
            <a:endParaRPr sz="2100">
              <a:solidFill>
                <a:schemeClr val="dk1"/>
              </a:solidFill>
              <a:latin typeface="Lato"/>
              <a:ea typeface="Lato"/>
              <a:cs typeface="Lato"/>
              <a:sym typeface="Lato"/>
            </a:endParaRPr>
          </a:p>
        </p:txBody>
      </p:sp>
      <p:sp>
        <p:nvSpPr>
          <p:cNvPr id="305" name="Google Shape;305;p24"/>
          <p:cNvSpPr txBox="1"/>
          <p:nvPr>
            <p:ph idx="4294967295" type="title"/>
          </p:nvPr>
        </p:nvSpPr>
        <p:spPr>
          <a:xfrm>
            <a:off x="6748200" y="3405300"/>
            <a:ext cx="1440300" cy="46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Lato"/>
                <a:ea typeface="Lato"/>
                <a:cs typeface="Lato"/>
                <a:sym typeface="Lato"/>
              </a:rPr>
              <a:t>Translate</a:t>
            </a:r>
            <a:endParaRPr sz="2100">
              <a:solidFill>
                <a:schemeClr val="dk1"/>
              </a:solidFill>
              <a:latin typeface="Lato"/>
              <a:ea typeface="Lato"/>
              <a:cs typeface="Lato"/>
              <a:sym typeface="Lato"/>
            </a:endParaRPr>
          </a:p>
        </p:txBody>
      </p:sp>
      <p:sp>
        <p:nvSpPr>
          <p:cNvPr id="306" name="Google Shape;306;p24"/>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8">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5"/>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800">
                <a:solidFill>
                  <a:schemeClr val="accent2"/>
                </a:solidFill>
              </a:rPr>
              <a:t>Example:</a:t>
            </a:r>
            <a:r>
              <a:rPr lang="en" sz="3800">
                <a:solidFill>
                  <a:schemeClr val="accent2"/>
                </a:solidFill>
              </a:rPr>
              <a:t> Change Tone</a:t>
            </a:r>
            <a:endParaRPr sz="3800">
              <a:solidFill>
                <a:schemeClr val="accent2"/>
              </a:solidFill>
            </a:endParaRPr>
          </a:p>
        </p:txBody>
      </p:sp>
      <p:grpSp>
        <p:nvGrpSpPr>
          <p:cNvPr id="312" name="Google Shape;312;p25"/>
          <p:cNvGrpSpPr/>
          <p:nvPr/>
        </p:nvGrpSpPr>
        <p:grpSpPr>
          <a:xfrm>
            <a:off x="7443875" y="152388"/>
            <a:ext cx="1547725" cy="1495975"/>
            <a:chOff x="490850" y="1702175"/>
            <a:chExt cx="1547725" cy="1495975"/>
          </a:xfrm>
        </p:grpSpPr>
        <p:pic>
          <p:nvPicPr>
            <p:cNvPr id="313" name="Google Shape;313;p25"/>
            <p:cNvPicPr preferRelativeResize="0"/>
            <p:nvPr/>
          </p:nvPicPr>
          <p:blipFill>
            <a:blip r:embed="rId3">
              <a:alphaModFix/>
            </a:blip>
            <a:stretch>
              <a:fillRect/>
            </a:stretch>
          </p:blipFill>
          <p:spPr>
            <a:xfrm>
              <a:off x="490850" y="1702175"/>
              <a:ext cx="914400" cy="914400"/>
            </a:xfrm>
            <a:prstGeom prst="rect">
              <a:avLst/>
            </a:prstGeom>
            <a:noFill/>
            <a:ln>
              <a:noFill/>
            </a:ln>
          </p:spPr>
        </p:pic>
        <p:pic>
          <p:nvPicPr>
            <p:cNvPr id="314" name="Google Shape;314;p25"/>
            <p:cNvPicPr preferRelativeResize="0"/>
            <p:nvPr/>
          </p:nvPicPr>
          <p:blipFill>
            <a:blip r:embed="rId4">
              <a:alphaModFix/>
            </a:blip>
            <a:stretch>
              <a:fillRect/>
            </a:stretch>
          </p:blipFill>
          <p:spPr>
            <a:xfrm>
              <a:off x="1124175" y="2283750"/>
              <a:ext cx="914400" cy="914400"/>
            </a:xfrm>
            <a:prstGeom prst="rect">
              <a:avLst/>
            </a:prstGeom>
            <a:noFill/>
            <a:ln>
              <a:noFill/>
            </a:ln>
          </p:spPr>
        </p:pic>
      </p:grpSp>
      <p:sp>
        <p:nvSpPr>
          <p:cNvPr id="315" name="Google Shape;315;p25"/>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5">
                  <a:extLst>
                    <a:ext uri="{A12FA001-AC4F-418D-AE19-62706E023703}">
                      <ahyp:hlinkClr val="tx"/>
                    </a:ext>
                  </a:extLst>
                </a:hlinkClick>
              </a:rPr>
              <a:t>https://www.iconpacks.net/</a:t>
            </a:r>
            <a:r>
              <a:rPr lang="en" sz="900">
                <a:latin typeface="Lato"/>
                <a:ea typeface="Lato"/>
                <a:cs typeface="Lato"/>
                <a:sym typeface="Lato"/>
              </a:rPr>
              <a:t> ; screenshots from  </a:t>
            </a:r>
            <a:r>
              <a:rPr lang="en" sz="900" u="sng">
                <a:solidFill>
                  <a:schemeClr val="hlink"/>
                </a:solidFill>
                <a:latin typeface="Lato"/>
                <a:ea typeface="Lato"/>
                <a:cs typeface="Lato"/>
                <a:sym typeface="Lato"/>
                <a:hlinkClick r:id="rId6"/>
              </a:rPr>
              <a:t>https://bard.google.com/</a:t>
            </a:r>
            <a:r>
              <a:rPr lang="en" sz="900">
                <a:latin typeface="Lato"/>
                <a:ea typeface="Lato"/>
                <a:cs typeface="Lato"/>
                <a:sym typeface="Lato"/>
              </a:rPr>
              <a:t> </a:t>
            </a:r>
            <a:endParaRPr sz="900">
              <a:solidFill>
                <a:srgbClr val="000000"/>
              </a:solidFill>
              <a:latin typeface="Lato"/>
              <a:ea typeface="Lato"/>
              <a:cs typeface="Lato"/>
              <a:sym typeface="Lato"/>
            </a:endParaRPr>
          </a:p>
        </p:txBody>
      </p:sp>
      <p:pic>
        <p:nvPicPr>
          <p:cNvPr id="316" name="Google Shape;316;p25"/>
          <p:cNvPicPr preferRelativeResize="0"/>
          <p:nvPr/>
        </p:nvPicPr>
        <p:blipFill rotWithShape="1">
          <a:blip r:embed="rId7">
            <a:alphaModFix/>
          </a:blip>
          <a:srcRect b="6129" l="7726" r="25258" t="11708"/>
          <a:stretch/>
        </p:blipFill>
        <p:spPr>
          <a:xfrm>
            <a:off x="329850" y="1042550"/>
            <a:ext cx="6127601" cy="1268575"/>
          </a:xfrm>
          <a:prstGeom prst="rect">
            <a:avLst/>
          </a:prstGeom>
          <a:noFill/>
          <a:ln cap="flat" cmpd="sng" w="28575">
            <a:solidFill>
              <a:schemeClr val="accent2"/>
            </a:solidFill>
            <a:prstDash val="solid"/>
            <a:round/>
            <a:headEnd len="sm" w="sm" type="none"/>
            <a:tailEnd len="sm" w="sm" type="none"/>
          </a:ln>
        </p:spPr>
      </p:pic>
      <p:pic>
        <p:nvPicPr>
          <p:cNvPr id="317" name="Google Shape;317;p25"/>
          <p:cNvPicPr preferRelativeResize="0"/>
          <p:nvPr/>
        </p:nvPicPr>
        <p:blipFill>
          <a:blip r:embed="rId8">
            <a:alphaModFix/>
          </a:blip>
          <a:stretch>
            <a:fillRect/>
          </a:stretch>
        </p:blipFill>
        <p:spPr>
          <a:xfrm>
            <a:off x="2680525" y="1940600"/>
            <a:ext cx="6075524" cy="2864350"/>
          </a:xfrm>
          <a:prstGeom prst="rect">
            <a:avLst/>
          </a:prstGeom>
          <a:noFill/>
          <a:ln cap="flat" cmpd="sng" w="28575">
            <a:solidFill>
              <a:schemeClr val="accent5"/>
            </a:solidFill>
            <a:prstDash val="solid"/>
            <a:round/>
            <a:headEnd len="sm" w="sm" type="none"/>
            <a:tailEnd len="sm" w="sm" type="none"/>
          </a:ln>
        </p:spPr>
      </p:pic>
      <p:sp>
        <p:nvSpPr>
          <p:cNvPr id="318" name="Google Shape;318;p25"/>
          <p:cNvSpPr/>
          <p:nvPr/>
        </p:nvSpPr>
        <p:spPr>
          <a:xfrm flipH="1" rot="10301104">
            <a:off x="1900965" y="2428971"/>
            <a:ext cx="657613" cy="707887"/>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p25"/>
          <p:cNvSpPr/>
          <p:nvPr/>
        </p:nvSpPr>
        <p:spPr>
          <a:xfrm rot="4162414">
            <a:off x="6718789" y="1121155"/>
            <a:ext cx="657444" cy="707972"/>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6"/>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Automate Tedious Processes</a:t>
            </a:r>
            <a:endParaRPr sz="3800">
              <a:solidFill>
                <a:schemeClr val="accent2"/>
              </a:solidFill>
            </a:endParaRPr>
          </a:p>
        </p:txBody>
      </p:sp>
      <p:sp>
        <p:nvSpPr>
          <p:cNvPr id="325" name="Google Shape;325;p26"/>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3">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grpSp>
        <p:nvGrpSpPr>
          <p:cNvPr id="326" name="Google Shape;326;p26"/>
          <p:cNvGrpSpPr/>
          <p:nvPr/>
        </p:nvGrpSpPr>
        <p:grpSpPr>
          <a:xfrm>
            <a:off x="418425" y="1274475"/>
            <a:ext cx="1418400" cy="1828800"/>
            <a:chOff x="2774600" y="1623050"/>
            <a:chExt cx="1418400" cy="1828800"/>
          </a:xfrm>
        </p:grpSpPr>
        <p:pic>
          <p:nvPicPr>
            <p:cNvPr id="327" name="Google Shape;327;p26"/>
            <p:cNvPicPr preferRelativeResize="0"/>
            <p:nvPr/>
          </p:nvPicPr>
          <p:blipFill>
            <a:blip r:embed="rId4">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328" name="Google Shape;328;p26"/>
            <p:cNvPicPr preferRelativeResize="0"/>
            <p:nvPr/>
          </p:nvPicPr>
          <p:blipFill>
            <a:blip r:embed="rId4">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329" name="Google Shape;329;p26"/>
            <p:cNvPicPr preferRelativeResize="0"/>
            <p:nvPr/>
          </p:nvPicPr>
          <p:blipFill>
            <a:blip r:embed="rId4">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330" name="Google Shape;330;p26"/>
            <p:cNvPicPr preferRelativeResize="0"/>
            <p:nvPr/>
          </p:nvPicPr>
          <p:blipFill>
            <a:blip r:embed="rId4">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grpSp>
        <p:nvGrpSpPr>
          <p:cNvPr id="331" name="Google Shape;331;p26"/>
          <p:cNvGrpSpPr/>
          <p:nvPr/>
        </p:nvGrpSpPr>
        <p:grpSpPr>
          <a:xfrm>
            <a:off x="2111850" y="1355325"/>
            <a:ext cx="1418400" cy="1828800"/>
            <a:chOff x="2774600" y="1623050"/>
            <a:chExt cx="1418400" cy="1828800"/>
          </a:xfrm>
        </p:grpSpPr>
        <p:pic>
          <p:nvPicPr>
            <p:cNvPr id="332" name="Google Shape;332;p26"/>
            <p:cNvPicPr preferRelativeResize="0"/>
            <p:nvPr/>
          </p:nvPicPr>
          <p:blipFill>
            <a:blip r:embed="rId4">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333" name="Google Shape;333;p26"/>
            <p:cNvPicPr preferRelativeResize="0"/>
            <p:nvPr/>
          </p:nvPicPr>
          <p:blipFill>
            <a:blip r:embed="rId4">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334" name="Google Shape;334;p26"/>
            <p:cNvPicPr preferRelativeResize="0"/>
            <p:nvPr/>
          </p:nvPicPr>
          <p:blipFill>
            <a:blip r:embed="rId4">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335" name="Google Shape;335;p26"/>
            <p:cNvPicPr preferRelativeResize="0"/>
            <p:nvPr/>
          </p:nvPicPr>
          <p:blipFill>
            <a:blip r:embed="rId4">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grpSp>
        <p:nvGrpSpPr>
          <p:cNvPr id="336" name="Google Shape;336;p26"/>
          <p:cNvGrpSpPr/>
          <p:nvPr/>
        </p:nvGrpSpPr>
        <p:grpSpPr>
          <a:xfrm>
            <a:off x="1278025" y="2235650"/>
            <a:ext cx="1418400" cy="1828800"/>
            <a:chOff x="2774600" y="1623050"/>
            <a:chExt cx="1418400" cy="1828800"/>
          </a:xfrm>
        </p:grpSpPr>
        <p:pic>
          <p:nvPicPr>
            <p:cNvPr id="337" name="Google Shape;337;p26"/>
            <p:cNvPicPr preferRelativeResize="0"/>
            <p:nvPr/>
          </p:nvPicPr>
          <p:blipFill>
            <a:blip r:embed="rId4">
              <a:alphaModFix/>
            </a:blip>
            <a:stretch>
              <a:fillRect/>
            </a:stretch>
          </p:blipFill>
          <p:spPr>
            <a:xfrm>
              <a:off x="3003200" y="1623050"/>
              <a:ext cx="914400" cy="914400"/>
            </a:xfrm>
            <a:prstGeom prst="rect">
              <a:avLst/>
            </a:prstGeom>
            <a:noFill/>
            <a:ln>
              <a:noFill/>
            </a:ln>
            <a:effectLst>
              <a:outerShdw blurRad="57150" rotWithShape="0" algn="bl" dir="5400000" dist="19050">
                <a:srgbClr val="000000">
                  <a:alpha val="50000"/>
                </a:srgbClr>
              </a:outerShdw>
            </a:effectLst>
          </p:spPr>
        </p:pic>
        <p:pic>
          <p:nvPicPr>
            <p:cNvPr id="338" name="Google Shape;338;p26"/>
            <p:cNvPicPr preferRelativeResize="0"/>
            <p:nvPr/>
          </p:nvPicPr>
          <p:blipFill>
            <a:blip r:embed="rId4">
              <a:alphaModFix/>
            </a:blip>
            <a:stretch>
              <a:fillRect/>
            </a:stretch>
          </p:blipFill>
          <p:spPr>
            <a:xfrm>
              <a:off x="3232475" y="1959975"/>
              <a:ext cx="914400" cy="914400"/>
            </a:xfrm>
            <a:prstGeom prst="rect">
              <a:avLst/>
            </a:prstGeom>
            <a:noFill/>
            <a:ln>
              <a:noFill/>
            </a:ln>
            <a:effectLst>
              <a:outerShdw blurRad="57150" rotWithShape="0" algn="bl" dir="5400000" dist="19050">
                <a:srgbClr val="000000">
                  <a:alpha val="50000"/>
                </a:srgbClr>
              </a:outerShdw>
            </a:effectLst>
          </p:spPr>
        </p:pic>
        <p:pic>
          <p:nvPicPr>
            <p:cNvPr id="339" name="Google Shape;339;p26"/>
            <p:cNvPicPr preferRelativeResize="0"/>
            <p:nvPr/>
          </p:nvPicPr>
          <p:blipFill>
            <a:blip r:embed="rId4">
              <a:alphaModFix/>
            </a:blip>
            <a:stretch>
              <a:fillRect/>
            </a:stretch>
          </p:blipFill>
          <p:spPr>
            <a:xfrm>
              <a:off x="2774600" y="2283750"/>
              <a:ext cx="914400" cy="914400"/>
            </a:xfrm>
            <a:prstGeom prst="rect">
              <a:avLst/>
            </a:prstGeom>
            <a:noFill/>
            <a:ln>
              <a:noFill/>
            </a:ln>
            <a:effectLst>
              <a:outerShdw blurRad="57150" rotWithShape="0" algn="bl" dir="5400000" dist="19050">
                <a:srgbClr val="000000">
                  <a:alpha val="50000"/>
                </a:srgbClr>
              </a:outerShdw>
            </a:effectLst>
          </p:spPr>
        </p:pic>
        <p:pic>
          <p:nvPicPr>
            <p:cNvPr id="340" name="Google Shape;340;p26"/>
            <p:cNvPicPr preferRelativeResize="0"/>
            <p:nvPr/>
          </p:nvPicPr>
          <p:blipFill>
            <a:blip r:embed="rId4">
              <a:alphaModFix/>
            </a:blip>
            <a:stretch>
              <a:fillRect/>
            </a:stretch>
          </p:blipFill>
          <p:spPr>
            <a:xfrm>
              <a:off x="3278600" y="2537450"/>
              <a:ext cx="914400" cy="914400"/>
            </a:xfrm>
            <a:prstGeom prst="rect">
              <a:avLst/>
            </a:prstGeom>
            <a:noFill/>
            <a:ln>
              <a:noFill/>
            </a:ln>
            <a:effectLst>
              <a:outerShdw blurRad="57150" rotWithShape="0" algn="bl" dir="5400000" dist="19050">
                <a:srgbClr val="000000">
                  <a:alpha val="50000"/>
                </a:srgbClr>
              </a:outerShdw>
            </a:effectLst>
          </p:spPr>
        </p:pic>
      </p:grpSp>
      <p:pic>
        <p:nvPicPr>
          <p:cNvPr id="341" name="Google Shape;341;p26"/>
          <p:cNvPicPr preferRelativeResize="0"/>
          <p:nvPr/>
        </p:nvPicPr>
        <p:blipFill>
          <a:blip r:embed="rId5">
            <a:alphaModFix/>
          </a:blip>
          <a:stretch>
            <a:fillRect/>
          </a:stretch>
        </p:blipFill>
        <p:spPr>
          <a:xfrm>
            <a:off x="5664925" y="2073500"/>
            <a:ext cx="1371601" cy="1371601"/>
          </a:xfrm>
          <a:prstGeom prst="rect">
            <a:avLst/>
          </a:prstGeom>
          <a:noFill/>
          <a:ln>
            <a:noFill/>
          </a:ln>
        </p:spPr>
      </p:pic>
      <p:pic>
        <p:nvPicPr>
          <p:cNvPr id="342" name="Google Shape;342;p26"/>
          <p:cNvPicPr preferRelativeResize="0"/>
          <p:nvPr/>
        </p:nvPicPr>
        <p:blipFill>
          <a:blip r:embed="rId6">
            <a:alphaModFix/>
          </a:blip>
          <a:stretch>
            <a:fillRect/>
          </a:stretch>
        </p:blipFill>
        <p:spPr>
          <a:xfrm>
            <a:off x="7196975" y="2073500"/>
            <a:ext cx="1371601" cy="1371601"/>
          </a:xfrm>
          <a:prstGeom prst="rect">
            <a:avLst/>
          </a:prstGeom>
          <a:noFill/>
          <a:ln>
            <a:noFill/>
          </a:ln>
        </p:spPr>
      </p:pic>
      <p:sp>
        <p:nvSpPr>
          <p:cNvPr id="343" name="Google Shape;343;p26"/>
          <p:cNvSpPr/>
          <p:nvPr/>
        </p:nvSpPr>
        <p:spPr>
          <a:xfrm flipH="1" rot="8645512">
            <a:off x="4079919" y="2915266"/>
            <a:ext cx="1208210" cy="1012174"/>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44" name="Google Shape;344;p26"/>
          <p:cNvPicPr preferRelativeResize="0"/>
          <p:nvPr/>
        </p:nvPicPr>
        <p:blipFill>
          <a:blip r:embed="rId7">
            <a:alphaModFix/>
          </a:blip>
          <a:stretch>
            <a:fillRect/>
          </a:stretch>
        </p:blipFill>
        <p:spPr>
          <a:xfrm>
            <a:off x="4154620" y="2571750"/>
            <a:ext cx="733524" cy="7335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7"/>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800">
                <a:solidFill>
                  <a:schemeClr val="accent2"/>
                </a:solidFill>
              </a:rPr>
              <a:t>Example:</a:t>
            </a:r>
            <a:r>
              <a:rPr lang="en" sz="3800">
                <a:solidFill>
                  <a:schemeClr val="accent2"/>
                </a:solidFill>
              </a:rPr>
              <a:t> </a:t>
            </a:r>
            <a:r>
              <a:rPr lang="en" sz="3800">
                <a:solidFill>
                  <a:schemeClr val="accent2"/>
                </a:solidFill>
              </a:rPr>
              <a:t>Automate Processes</a:t>
            </a:r>
            <a:endParaRPr sz="3800">
              <a:solidFill>
                <a:schemeClr val="accent2"/>
              </a:solidFill>
            </a:endParaRPr>
          </a:p>
        </p:txBody>
      </p:sp>
      <p:pic>
        <p:nvPicPr>
          <p:cNvPr id="350" name="Google Shape;350;p27"/>
          <p:cNvPicPr preferRelativeResize="0"/>
          <p:nvPr/>
        </p:nvPicPr>
        <p:blipFill>
          <a:blip r:embed="rId3">
            <a:alphaModFix/>
          </a:blip>
          <a:stretch>
            <a:fillRect/>
          </a:stretch>
        </p:blipFill>
        <p:spPr>
          <a:xfrm>
            <a:off x="680650" y="1206250"/>
            <a:ext cx="4452726" cy="3339525"/>
          </a:xfrm>
          <a:prstGeom prst="rect">
            <a:avLst/>
          </a:prstGeom>
          <a:noFill/>
          <a:ln>
            <a:noFill/>
          </a:ln>
          <a:effectLst>
            <a:outerShdw blurRad="57150" rotWithShape="0" algn="bl" dir="5400000" dist="19050">
              <a:srgbClr val="000000">
                <a:alpha val="50000"/>
              </a:srgbClr>
            </a:outerShdw>
          </a:effectLst>
        </p:spPr>
      </p:pic>
      <p:sp>
        <p:nvSpPr>
          <p:cNvPr id="351" name="Google Shape;351;p27"/>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latin typeface="Lato"/>
                <a:ea typeface="Lato"/>
                <a:cs typeface="Lato"/>
                <a:sym typeface="Lato"/>
              </a:rPr>
              <a:t>Image from Chris Montgomery via </a:t>
            </a:r>
            <a:r>
              <a:rPr lang="en" sz="900" u="sng">
                <a:solidFill>
                  <a:schemeClr val="hlink"/>
                </a:solidFill>
                <a:latin typeface="Lato"/>
                <a:ea typeface="Lato"/>
                <a:cs typeface="Lato"/>
                <a:sym typeface="Lato"/>
                <a:hlinkClick r:id="rId4"/>
              </a:rPr>
              <a:t>Unsplash</a:t>
            </a:r>
            <a:r>
              <a:rPr lang="en" sz="900">
                <a:latin typeface="Lato"/>
                <a:ea typeface="Lato"/>
                <a:cs typeface="Lato"/>
                <a:sym typeface="Lato"/>
              </a:rPr>
              <a:t>. </a:t>
            </a: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5">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
        <p:nvSpPr>
          <p:cNvPr id="352" name="Google Shape;352;p27"/>
          <p:cNvSpPr txBox="1"/>
          <p:nvPr>
            <p:ph idx="4294967295" type="title"/>
          </p:nvPr>
        </p:nvSpPr>
        <p:spPr>
          <a:xfrm>
            <a:off x="6513525" y="2353275"/>
            <a:ext cx="1815600" cy="46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Lato"/>
                <a:ea typeface="Lato"/>
                <a:cs typeface="Lato"/>
                <a:sym typeface="Lato"/>
              </a:rPr>
              <a:t>Transcription</a:t>
            </a:r>
            <a:endParaRPr sz="2100">
              <a:solidFill>
                <a:schemeClr val="dk1"/>
              </a:solidFill>
              <a:latin typeface="Lato"/>
              <a:ea typeface="Lato"/>
              <a:cs typeface="Lato"/>
              <a:sym typeface="Lato"/>
            </a:endParaRPr>
          </a:p>
        </p:txBody>
      </p:sp>
      <p:pic>
        <p:nvPicPr>
          <p:cNvPr id="353" name="Google Shape;353;p27"/>
          <p:cNvPicPr preferRelativeResize="0"/>
          <p:nvPr/>
        </p:nvPicPr>
        <p:blipFill>
          <a:blip r:embed="rId6">
            <a:alphaModFix/>
          </a:blip>
          <a:stretch>
            <a:fillRect/>
          </a:stretch>
        </p:blipFill>
        <p:spPr>
          <a:xfrm>
            <a:off x="6440030" y="1224825"/>
            <a:ext cx="914400" cy="914400"/>
          </a:xfrm>
          <a:prstGeom prst="rect">
            <a:avLst/>
          </a:prstGeom>
          <a:noFill/>
          <a:ln>
            <a:noFill/>
          </a:ln>
          <a:effectLst>
            <a:outerShdw blurRad="57150" rotWithShape="0" algn="bl" dir="5400000" dist="19050">
              <a:srgbClr val="000000">
                <a:alpha val="50000"/>
              </a:srgbClr>
            </a:outerShdw>
          </a:effectLst>
        </p:spPr>
      </p:pic>
      <p:sp>
        <p:nvSpPr>
          <p:cNvPr id="354" name="Google Shape;354;p27"/>
          <p:cNvSpPr/>
          <p:nvPr/>
        </p:nvSpPr>
        <p:spPr>
          <a:xfrm rot="2927150">
            <a:off x="5552501" y="1260583"/>
            <a:ext cx="629709" cy="547613"/>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55" name="Google Shape;355;p27"/>
          <p:cNvPicPr preferRelativeResize="0"/>
          <p:nvPr/>
        </p:nvPicPr>
        <p:blipFill>
          <a:blip r:embed="rId6">
            <a:alphaModFix/>
          </a:blip>
          <a:stretch>
            <a:fillRect/>
          </a:stretch>
        </p:blipFill>
        <p:spPr>
          <a:xfrm>
            <a:off x="6964130" y="1075225"/>
            <a:ext cx="914400" cy="914400"/>
          </a:xfrm>
          <a:prstGeom prst="rect">
            <a:avLst/>
          </a:prstGeom>
          <a:noFill/>
          <a:ln>
            <a:noFill/>
          </a:ln>
          <a:effectLst>
            <a:outerShdw blurRad="57150" rotWithShape="0" algn="bl" dir="5400000" dist="19050">
              <a:srgbClr val="000000">
                <a:alpha val="50000"/>
              </a:srgbClr>
            </a:outerShdw>
          </a:effectLst>
        </p:spPr>
      </p:pic>
      <p:pic>
        <p:nvPicPr>
          <p:cNvPr id="356" name="Google Shape;356;p27"/>
          <p:cNvPicPr preferRelativeResize="0"/>
          <p:nvPr/>
        </p:nvPicPr>
        <p:blipFill>
          <a:blip r:embed="rId6">
            <a:alphaModFix/>
          </a:blip>
          <a:stretch>
            <a:fillRect/>
          </a:stretch>
        </p:blipFill>
        <p:spPr>
          <a:xfrm>
            <a:off x="7457255" y="1336050"/>
            <a:ext cx="914400" cy="914400"/>
          </a:xfrm>
          <a:prstGeom prst="rect">
            <a:avLst/>
          </a:prstGeom>
          <a:noFill/>
          <a:ln>
            <a:noFill/>
          </a:ln>
          <a:effectLst>
            <a:outerShdw blurRad="57150" rotWithShape="0" algn="bl" dir="5400000" dist="19050">
              <a:srgbClr val="000000">
                <a:alpha val="50000"/>
              </a:srgbClr>
            </a:outerShdw>
          </a:effectLst>
        </p:spPr>
      </p:pic>
      <p:pic>
        <p:nvPicPr>
          <p:cNvPr id="357" name="Google Shape;357;p27"/>
          <p:cNvPicPr preferRelativeResize="0"/>
          <p:nvPr/>
        </p:nvPicPr>
        <p:blipFill>
          <a:blip r:embed="rId7">
            <a:alphaModFix/>
          </a:blip>
          <a:stretch>
            <a:fillRect/>
          </a:stretch>
        </p:blipFill>
        <p:spPr>
          <a:xfrm>
            <a:off x="6430730" y="3539050"/>
            <a:ext cx="914400" cy="914400"/>
          </a:xfrm>
          <a:prstGeom prst="rect">
            <a:avLst/>
          </a:prstGeom>
          <a:noFill/>
          <a:ln>
            <a:noFill/>
          </a:ln>
        </p:spPr>
      </p:pic>
      <p:sp>
        <p:nvSpPr>
          <p:cNvPr id="358" name="Google Shape;358;p27"/>
          <p:cNvSpPr txBox="1"/>
          <p:nvPr>
            <p:ph idx="4294967295" type="title"/>
          </p:nvPr>
        </p:nvSpPr>
        <p:spPr>
          <a:xfrm>
            <a:off x="5980125" y="2985775"/>
            <a:ext cx="1815600" cy="46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dk1"/>
                </a:solidFill>
                <a:latin typeface="Lato"/>
                <a:ea typeface="Lato"/>
                <a:cs typeface="Lato"/>
                <a:sym typeface="Lato"/>
              </a:rPr>
              <a:t>Summary</a:t>
            </a:r>
            <a:endParaRPr sz="2100">
              <a:solidFill>
                <a:schemeClr val="dk1"/>
              </a:solidFill>
              <a:latin typeface="Lato"/>
              <a:ea typeface="Lato"/>
              <a:cs typeface="Lato"/>
              <a:sym typeface="Lato"/>
            </a:endParaRPr>
          </a:p>
        </p:txBody>
      </p:sp>
      <p:sp>
        <p:nvSpPr>
          <p:cNvPr id="359" name="Google Shape;359;p27"/>
          <p:cNvSpPr/>
          <p:nvPr/>
        </p:nvSpPr>
        <p:spPr>
          <a:xfrm flipH="1" rot="8886274">
            <a:off x="5552412" y="3682577"/>
            <a:ext cx="629672" cy="547693"/>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8"/>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Idea Generation</a:t>
            </a:r>
            <a:endParaRPr sz="3800">
              <a:solidFill>
                <a:schemeClr val="accent2"/>
              </a:solidFill>
            </a:endParaRPr>
          </a:p>
        </p:txBody>
      </p:sp>
      <p:sp>
        <p:nvSpPr>
          <p:cNvPr id="365" name="Google Shape;365;p28"/>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3">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
        <p:nvSpPr>
          <p:cNvPr id="366" name="Google Shape;366;p28"/>
          <p:cNvSpPr/>
          <p:nvPr/>
        </p:nvSpPr>
        <p:spPr>
          <a:xfrm flipH="1" rot="8645512">
            <a:off x="4079919" y="2915266"/>
            <a:ext cx="1208210" cy="1012174"/>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67" name="Google Shape;367;p28"/>
          <p:cNvPicPr preferRelativeResize="0"/>
          <p:nvPr/>
        </p:nvPicPr>
        <p:blipFill>
          <a:blip r:embed="rId4">
            <a:alphaModFix/>
          </a:blip>
          <a:stretch>
            <a:fillRect/>
          </a:stretch>
        </p:blipFill>
        <p:spPr>
          <a:xfrm>
            <a:off x="4154620" y="2571750"/>
            <a:ext cx="733524" cy="733524"/>
          </a:xfrm>
          <a:prstGeom prst="rect">
            <a:avLst/>
          </a:prstGeom>
          <a:noFill/>
          <a:ln>
            <a:noFill/>
          </a:ln>
        </p:spPr>
      </p:pic>
      <p:pic>
        <p:nvPicPr>
          <p:cNvPr id="368" name="Google Shape;368;p28"/>
          <p:cNvPicPr preferRelativeResize="0"/>
          <p:nvPr/>
        </p:nvPicPr>
        <p:blipFill>
          <a:blip r:embed="rId5">
            <a:alphaModFix/>
          </a:blip>
          <a:stretch>
            <a:fillRect/>
          </a:stretch>
        </p:blipFill>
        <p:spPr>
          <a:xfrm>
            <a:off x="997792" y="1721875"/>
            <a:ext cx="2323150" cy="2323150"/>
          </a:xfrm>
          <a:prstGeom prst="rect">
            <a:avLst/>
          </a:prstGeom>
          <a:noFill/>
          <a:ln>
            <a:noFill/>
          </a:ln>
        </p:spPr>
      </p:pic>
      <p:pic>
        <p:nvPicPr>
          <p:cNvPr id="369" name="Google Shape;369;p28"/>
          <p:cNvPicPr preferRelativeResize="0"/>
          <p:nvPr/>
        </p:nvPicPr>
        <p:blipFill>
          <a:blip r:embed="rId6">
            <a:alphaModFix/>
          </a:blip>
          <a:stretch>
            <a:fillRect/>
          </a:stretch>
        </p:blipFill>
        <p:spPr>
          <a:xfrm>
            <a:off x="5927074" y="1244975"/>
            <a:ext cx="1371599" cy="1371599"/>
          </a:xfrm>
          <a:prstGeom prst="rect">
            <a:avLst/>
          </a:prstGeom>
          <a:noFill/>
          <a:ln>
            <a:noFill/>
          </a:ln>
        </p:spPr>
      </p:pic>
      <p:pic>
        <p:nvPicPr>
          <p:cNvPr id="370" name="Google Shape;370;p28"/>
          <p:cNvPicPr preferRelativeResize="0"/>
          <p:nvPr/>
        </p:nvPicPr>
        <p:blipFill>
          <a:blip r:embed="rId6">
            <a:alphaModFix/>
          </a:blip>
          <a:stretch>
            <a:fillRect/>
          </a:stretch>
        </p:blipFill>
        <p:spPr>
          <a:xfrm>
            <a:off x="7148524" y="2197650"/>
            <a:ext cx="1371599" cy="1371599"/>
          </a:xfrm>
          <a:prstGeom prst="rect">
            <a:avLst/>
          </a:prstGeom>
          <a:noFill/>
          <a:ln>
            <a:noFill/>
          </a:ln>
        </p:spPr>
      </p:pic>
      <p:pic>
        <p:nvPicPr>
          <p:cNvPr id="371" name="Google Shape;371;p28"/>
          <p:cNvPicPr preferRelativeResize="0"/>
          <p:nvPr/>
        </p:nvPicPr>
        <p:blipFill>
          <a:blip r:embed="rId6">
            <a:alphaModFix/>
          </a:blip>
          <a:stretch>
            <a:fillRect/>
          </a:stretch>
        </p:blipFill>
        <p:spPr>
          <a:xfrm>
            <a:off x="6026624" y="3027725"/>
            <a:ext cx="1371599" cy="13715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800">
                <a:solidFill>
                  <a:schemeClr val="accent2"/>
                </a:solidFill>
              </a:rPr>
              <a:t>Example: </a:t>
            </a:r>
            <a:r>
              <a:rPr lang="en" sz="3800">
                <a:solidFill>
                  <a:schemeClr val="accent2"/>
                </a:solidFill>
              </a:rPr>
              <a:t>Idea Generation</a:t>
            </a:r>
            <a:endParaRPr sz="3800">
              <a:solidFill>
                <a:schemeClr val="accent2"/>
              </a:solidFill>
            </a:endParaRPr>
          </a:p>
        </p:txBody>
      </p:sp>
      <p:sp>
        <p:nvSpPr>
          <p:cNvPr id="377" name="Google Shape;377;p29"/>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latin typeface="Lato"/>
                <a:ea typeface="Lato"/>
                <a:cs typeface="Lato"/>
                <a:sym typeface="Lato"/>
              </a:rPr>
              <a:t>Marino et al. 2023 </a:t>
            </a:r>
            <a:r>
              <a:rPr lang="en" sz="900" u="sng">
                <a:solidFill>
                  <a:schemeClr val="hlink"/>
                </a:solidFill>
                <a:latin typeface="Lato"/>
                <a:ea typeface="Lato"/>
                <a:cs typeface="Lato"/>
                <a:sym typeface="Lato"/>
                <a:hlinkClick r:id="rId3"/>
              </a:rPr>
              <a:t>Bioinformatics Advances</a:t>
            </a:r>
            <a:r>
              <a:rPr lang="en" sz="900">
                <a:latin typeface="Lato"/>
                <a:ea typeface="Lato"/>
                <a:cs typeface="Lato"/>
                <a:sym typeface="Lato"/>
              </a:rPr>
              <a:t>; </a:t>
            </a: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4">
                  <a:extLst>
                    <a:ext uri="{A12FA001-AC4F-418D-AE19-62706E023703}">
                      <ahyp:hlinkClr val="tx"/>
                    </a:ext>
                  </a:extLst>
                </a:hlinkClick>
              </a:rPr>
              <a:t>https://www.iconpacks.net/</a:t>
            </a:r>
            <a:r>
              <a:rPr lang="en" sz="900">
                <a:latin typeface="Lato"/>
                <a:ea typeface="Lato"/>
                <a:cs typeface="Lato"/>
                <a:sym typeface="Lato"/>
              </a:rPr>
              <a:t>; </a:t>
            </a:r>
            <a:r>
              <a:rPr lang="en" sz="900">
                <a:solidFill>
                  <a:schemeClr val="lt1"/>
                </a:solidFill>
                <a:latin typeface="Lato"/>
                <a:ea typeface="Lato"/>
                <a:cs typeface="Lato"/>
                <a:sym typeface="Lato"/>
              </a:rPr>
              <a:t>Image from stevepb via </a:t>
            </a:r>
            <a:r>
              <a:rPr lang="en" sz="900" u="sng">
                <a:solidFill>
                  <a:schemeClr val="hlink"/>
                </a:solidFill>
                <a:latin typeface="Lato"/>
                <a:ea typeface="Lato"/>
                <a:cs typeface="Lato"/>
                <a:sym typeface="Lato"/>
                <a:hlinkClick r:id="rId5"/>
              </a:rPr>
              <a:t>Pixabay</a:t>
            </a:r>
            <a:endParaRPr sz="900">
              <a:solidFill>
                <a:srgbClr val="000000"/>
              </a:solidFill>
              <a:latin typeface="Lato"/>
              <a:ea typeface="Lato"/>
              <a:cs typeface="Lato"/>
              <a:sym typeface="Lato"/>
            </a:endParaRPr>
          </a:p>
        </p:txBody>
      </p:sp>
      <p:pic>
        <p:nvPicPr>
          <p:cNvPr id="378" name="Google Shape;378;p29"/>
          <p:cNvPicPr preferRelativeResize="0"/>
          <p:nvPr/>
        </p:nvPicPr>
        <p:blipFill>
          <a:blip r:embed="rId6">
            <a:alphaModFix/>
          </a:blip>
          <a:stretch>
            <a:fillRect/>
          </a:stretch>
        </p:blipFill>
        <p:spPr>
          <a:xfrm>
            <a:off x="1944862" y="1132713"/>
            <a:ext cx="5254275" cy="3501475"/>
          </a:xfrm>
          <a:prstGeom prst="rect">
            <a:avLst/>
          </a:prstGeom>
          <a:noFill/>
          <a:ln>
            <a:noFill/>
          </a:ln>
        </p:spPr>
      </p:pic>
      <p:grpSp>
        <p:nvGrpSpPr>
          <p:cNvPr id="379" name="Google Shape;379;p29"/>
          <p:cNvGrpSpPr/>
          <p:nvPr/>
        </p:nvGrpSpPr>
        <p:grpSpPr>
          <a:xfrm>
            <a:off x="225950" y="1319275"/>
            <a:ext cx="2234949" cy="2504949"/>
            <a:chOff x="225950" y="1797425"/>
            <a:chExt cx="2234949" cy="2504949"/>
          </a:xfrm>
        </p:grpSpPr>
        <p:pic>
          <p:nvPicPr>
            <p:cNvPr id="380" name="Google Shape;380;p29"/>
            <p:cNvPicPr preferRelativeResize="0"/>
            <p:nvPr/>
          </p:nvPicPr>
          <p:blipFill>
            <a:blip r:embed="rId7">
              <a:alphaModFix/>
            </a:blip>
            <a:stretch>
              <a:fillRect/>
            </a:stretch>
          </p:blipFill>
          <p:spPr>
            <a:xfrm>
              <a:off x="225950" y="1797425"/>
              <a:ext cx="1347924" cy="1347924"/>
            </a:xfrm>
            <a:prstGeom prst="rect">
              <a:avLst/>
            </a:prstGeom>
            <a:noFill/>
            <a:ln>
              <a:noFill/>
            </a:ln>
            <a:effectLst>
              <a:outerShdw blurRad="57150" rotWithShape="0" algn="bl" dir="5400000" dist="19050">
                <a:srgbClr val="000000">
                  <a:alpha val="50000"/>
                </a:srgbClr>
              </a:outerShdw>
            </a:effectLst>
          </p:spPr>
        </p:pic>
        <p:pic>
          <p:nvPicPr>
            <p:cNvPr id="381" name="Google Shape;381;p29"/>
            <p:cNvPicPr preferRelativeResize="0"/>
            <p:nvPr/>
          </p:nvPicPr>
          <p:blipFill>
            <a:blip r:embed="rId7">
              <a:alphaModFix/>
            </a:blip>
            <a:stretch>
              <a:fillRect/>
            </a:stretch>
          </p:blipFill>
          <p:spPr>
            <a:xfrm>
              <a:off x="1112975" y="2209488"/>
              <a:ext cx="1347924" cy="1347924"/>
            </a:xfrm>
            <a:prstGeom prst="rect">
              <a:avLst/>
            </a:prstGeom>
            <a:noFill/>
            <a:ln>
              <a:noFill/>
            </a:ln>
            <a:effectLst>
              <a:outerShdw blurRad="57150" rotWithShape="0" algn="bl" dir="5400000" dist="19050">
                <a:srgbClr val="000000">
                  <a:alpha val="50000"/>
                </a:srgbClr>
              </a:outerShdw>
            </a:effectLst>
          </p:spPr>
        </p:pic>
        <p:pic>
          <p:nvPicPr>
            <p:cNvPr id="382" name="Google Shape;382;p29"/>
            <p:cNvPicPr preferRelativeResize="0"/>
            <p:nvPr/>
          </p:nvPicPr>
          <p:blipFill>
            <a:blip r:embed="rId7">
              <a:alphaModFix/>
            </a:blip>
            <a:stretch>
              <a:fillRect/>
            </a:stretch>
          </p:blipFill>
          <p:spPr>
            <a:xfrm>
              <a:off x="596925" y="2954450"/>
              <a:ext cx="1347924" cy="1347924"/>
            </a:xfrm>
            <a:prstGeom prst="rect">
              <a:avLst/>
            </a:prstGeom>
            <a:noFill/>
            <a:ln>
              <a:noFill/>
            </a:ln>
            <a:effectLst>
              <a:outerShdw blurRad="57150" rotWithShape="0" algn="bl" dir="5400000" dist="19050">
                <a:srgbClr val="000000">
                  <a:alpha val="50000"/>
                </a:srgbClr>
              </a:outerShdw>
            </a:effectLst>
          </p:spPr>
        </p:pic>
      </p:grpSp>
      <p:pic>
        <p:nvPicPr>
          <p:cNvPr id="383" name="Google Shape;383;p29"/>
          <p:cNvPicPr preferRelativeResize="0"/>
          <p:nvPr/>
        </p:nvPicPr>
        <p:blipFill>
          <a:blip r:embed="rId8">
            <a:alphaModFix/>
          </a:blip>
          <a:stretch>
            <a:fillRect/>
          </a:stretch>
        </p:blipFill>
        <p:spPr>
          <a:xfrm>
            <a:off x="6536674" y="994575"/>
            <a:ext cx="1371599" cy="1371599"/>
          </a:xfrm>
          <a:prstGeom prst="rect">
            <a:avLst/>
          </a:prstGeom>
          <a:noFill/>
          <a:ln>
            <a:noFill/>
          </a:ln>
        </p:spPr>
      </p:pic>
      <p:pic>
        <p:nvPicPr>
          <p:cNvPr id="384" name="Google Shape;384;p29"/>
          <p:cNvPicPr preferRelativeResize="0"/>
          <p:nvPr/>
        </p:nvPicPr>
        <p:blipFill>
          <a:blip r:embed="rId8">
            <a:alphaModFix/>
          </a:blip>
          <a:stretch>
            <a:fillRect/>
          </a:stretch>
        </p:blipFill>
        <p:spPr>
          <a:xfrm>
            <a:off x="7377124" y="1947250"/>
            <a:ext cx="1371599" cy="1371599"/>
          </a:xfrm>
          <a:prstGeom prst="rect">
            <a:avLst/>
          </a:prstGeom>
          <a:noFill/>
          <a:ln>
            <a:noFill/>
          </a:ln>
        </p:spPr>
      </p:pic>
      <p:pic>
        <p:nvPicPr>
          <p:cNvPr id="385" name="Google Shape;385;p29"/>
          <p:cNvPicPr preferRelativeResize="0"/>
          <p:nvPr/>
        </p:nvPicPr>
        <p:blipFill>
          <a:blip r:embed="rId8">
            <a:alphaModFix/>
          </a:blip>
          <a:stretch>
            <a:fillRect/>
          </a:stretch>
        </p:blipFill>
        <p:spPr>
          <a:xfrm>
            <a:off x="6788624" y="2777325"/>
            <a:ext cx="1371599" cy="13715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txBox="1"/>
          <p:nvPr>
            <p:ph idx="4294967295" type="title"/>
          </p:nvPr>
        </p:nvSpPr>
        <p:spPr>
          <a:xfrm>
            <a:off x="213450" y="178475"/>
            <a:ext cx="89304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800">
                <a:solidFill>
                  <a:schemeClr val="accent2"/>
                </a:solidFill>
              </a:rPr>
              <a:t>Example:</a:t>
            </a:r>
            <a:r>
              <a:rPr lang="en" sz="3800">
                <a:solidFill>
                  <a:schemeClr val="accent2"/>
                </a:solidFill>
              </a:rPr>
              <a:t> Planning and Organizing</a:t>
            </a:r>
            <a:endParaRPr sz="3800">
              <a:solidFill>
                <a:schemeClr val="accent2"/>
              </a:solidFill>
            </a:endParaRPr>
          </a:p>
        </p:txBody>
      </p:sp>
      <p:sp>
        <p:nvSpPr>
          <p:cNvPr id="391" name="Google Shape;391;p30"/>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latin typeface="Lato"/>
                <a:ea typeface="Lato"/>
                <a:cs typeface="Lato"/>
                <a:sym typeface="Lato"/>
              </a:rPr>
              <a:t>Icons from </a:t>
            </a:r>
            <a:r>
              <a:rPr lang="en" sz="900" u="sng">
                <a:solidFill>
                  <a:schemeClr val="hlink"/>
                </a:solidFill>
                <a:latin typeface="Lato"/>
                <a:ea typeface="Lato"/>
                <a:cs typeface="Lato"/>
                <a:sym typeface="Lato"/>
                <a:hlinkClick r:id="rId3"/>
              </a:rPr>
              <a:t>https://www.iconpacks.net/</a:t>
            </a:r>
            <a:r>
              <a:rPr lang="en" sz="900">
                <a:latin typeface="Lato"/>
                <a:ea typeface="Lato"/>
                <a:cs typeface="Lato"/>
                <a:sym typeface="Lato"/>
              </a:rPr>
              <a:t> ; screenshots from  </a:t>
            </a:r>
            <a:r>
              <a:rPr lang="en" sz="900" u="sng">
                <a:solidFill>
                  <a:schemeClr val="hlink"/>
                </a:solidFill>
                <a:latin typeface="Lato"/>
                <a:ea typeface="Lato"/>
                <a:cs typeface="Lato"/>
                <a:sym typeface="Lato"/>
                <a:hlinkClick r:id="rId4"/>
              </a:rPr>
              <a:t>https://chat.openai.com/</a:t>
            </a:r>
            <a:r>
              <a:rPr lang="en" sz="900">
                <a:latin typeface="Lato"/>
                <a:ea typeface="Lato"/>
                <a:cs typeface="Lato"/>
                <a:sym typeface="Lato"/>
              </a:rPr>
              <a:t> </a:t>
            </a:r>
            <a:endParaRPr sz="900">
              <a:latin typeface="Lato"/>
              <a:ea typeface="Lato"/>
              <a:cs typeface="Lato"/>
              <a:sym typeface="Lato"/>
            </a:endParaRPr>
          </a:p>
        </p:txBody>
      </p:sp>
      <p:pic>
        <p:nvPicPr>
          <p:cNvPr id="392" name="Google Shape;392;p30"/>
          <p:cNvPicPr preferRelativeResize="0"/>
          <p:nvPr/>
        </p:nvPicPr>
        <p:blipFill>
          <a:blip r:embed="rId5">
            <a:alphaModFix/>
          </a:blip>
          <a:stretch>
            <a:fillRect/>
          </a:stretch>
        </p:blipFill>
        <p:spPr>
          <a:xfrm>
            <a:off x="418425" y="1092574"/>
            <a:ext cx="3741675" cy="1140750"/>
          </a:xfrm>
          <a:prstGeom prst="rect">
            <a:avLst/>
          </a:prstGeom>
          <a:noFill/>
          <a:ln cap="flat" cmpd="sng" w="28575">
            <a:solidFill>
              <a:schemeClr val="accent2"/>
            </a:solidFill>
            <a:prstDash val="solid"/>
            <a:round/>
            <a:headEnd len="sm" w="sm" type="none"/>
            <a:tailEnd len="sm" w="sm" type="none"/>
          </a:ln>
        </p:spPr>
      </p:pic>
      <p:pic>
        <p:nvPicPr>
          <p:cNvPr id="393" name="Google Shape;393;p30"/>
          <p:cNvPicPr preferRelativeResize="0"/>
          <p:nvPr/>
        </p:nvPicPr>
        <p:blipFill>
          <a:blip r:embed="rId6">
            <a:alphaModFix/>
          </a:blip>
          <a:stretch>
            <a:fillRect/>
          </a:stretch>
        </p:blipFill>
        <p:spPr>
          <a:xfrm>
            <a:off x="3745000" y="1673275"/>
            <a:ext cx="4513651" cy="3044074"/>
          </a:xfrm>
          <a:prstGeom prst="rect">
            <a:avLst/>
          </a:prstGeom>
          <a:noFill/>
          <a:ln cap="flat" cmpd="sng" w="28575">
            <a:solidFill>
              <a:schemeClr val="accent5"/>
            </a:solidFill>
            <a:prstDash val="solid"/>
            <a:round/>
            <a:headEnd len="sm" w="sm" type="none"/>
            <a:tailEnd len="sm" w="sm" type="none"/>
          </a:ln>
        </p:spPr>
      </p:pic>
      <p:pic>
        <p:nvPicPr>
          <p:cNvPr id="394" name="Google Shape;394;p30"/>
          <p:cNvPicPr preferRelativeResize="0"/>
          <p:nvPr/>
        </p:nvPicPr>
        <p:blipFill>
          <a:blip r:embed="rId7">
            <a:alphaModFix/>
          </a:blip>
          <a:stretch>
            <a:fillRect/>
          </a:stretch>
        </p:blipFill>
        <p:spPr>
          <a:xfrm>
            <a:off x="484526" y="1187301"/>
            <a:ext cx="218250" cy="218250"/>
          </a:xfrm>
          <a:prstGeom prst="rect">
            <a:avLst/>
          </a:prstGeom>
          <a:noFill/>
          <a:ln>
            <a:noFill/>
          </a:ln>
        </p:spPr>
      </p:pic>
      <p:sp>
        <p:nvSpPr>
          <p:cNvPr id="395" name="Google Shape;395;p30"/>
          <p:cNvSpPr/>
          <p:nvPr/>
        </p:nvSpPr>
        <p:spPr>
          <a:xfrm flipH="1" rot="10301104">
            <a:off x="2883840" y="2381246"/>
            <a:ext cx="657613" cy="707887"/>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6" name="Google Shape;396;p30"/>
          <p:cNvSpPr/>
          <p:nvPr/>
        </p:nvSpPr>
        <p:spPr>
          <a:xfrm rot="4162414">
            <a:off x="4571689" y="886680"/>
            <a:ext cx="657444" cy="707972"/>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1"/>
          <p:cNvSpPr txBox="1"/>
          <p:nvPr>
            <p:ph idx="4294967295" type="title"/>
          </p:nvPr>
        </p:nvSpPr>
        <p:spPr>
          <a:xfrm>
            <a:off x="213450" y="178475"/>
            <a:ext cx="89304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800">
                <a:solidFill>
                  <a:schemeClr val="accent2"/>
                </a:solidFill>
              </a:rPr>
              <a:t>Example:</a:t>
            </a:r>
            <a:r>
              <a:rPr lang="en" sz="3800">
                <a:solidFill>
                  <a:schemeClr val="accent2"/>
                </a:solidFill>
              </a:rPr>
              <a:t> Synthetic Data</a:t>
            </a:r>
            <a:endParaRPr sz="3800">
              <a:solidFill>
                <a:schemeClr val="accent2"/>
              </a:solidFill>
            </a:endParaRPr>
          </a:p>
        </p:txBody>
      </p:sp>
      <p:sp>
        <p:nvSpPr>
          <p:cNvPr id="402" name="Google Shape;402;p31"/>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chemeClr val="lt1"/>
                </a:solidFill>
                <a:latin typeface="Lato"/>
                <a:ea typeface="Lato"/>
                <a:cs typeface="Lato"/>
                <a:sym typeface="Lato"/>
              </a:rPr>
              <a:t>Image via </a:t>
            </a:r>
            <a:r>
              <a:rPr lang="en" sz="900" u="sng">
                <a:solidFill>
                  <a:schemeClr val="hlink"/>
                </a:solidFill>
                <a:latin typeface="Lato"/>
                <a:ea typeface="Lato"/>
                <a:cs typeface="Lato"/>
                <a:sym typeface="Lato"/>
                <a:hlinkClick r:id="rId3"/>
              </a:rPr>
              <a:t>Pixabay</a:t>
            </a:r>
            <a:r>
              <a:rPr lang="en" sz="900">
                <a:latin typeface="Lato"/>
                <a:ea typeface="Lato"/>
                <a:cs typeface="Lato"/>
                <a:sym typeface="Lato"/>
              </a:rPr>
              <a:t>; Screenshots from </a:t>
            </a:r>
            <a:r>
              <a:rPr lang="en" sz="900" u="sng">
                <a:solidFill>
                  <a:schemeClr val="hlink"/>
                </a:solidFill>
                <a:latin typeface="Lato"/>
                <a:ea typeface="Lato"/>
                <a:cs typeface="Lato"/>
                <a:sym typeface="Lato"/>
                <a:hlinkClick r:id="rId4"/>
              </a:rPr>
              <a:t>https://poe.com/Claude-instant</a:t>
            </a:r>
            <a:r>
              <a:rPr lang="en" sz="900">
                <a:latin typeface="Lato"/>
                <a:ea typeface="Lato"/>
                <a:cs typeface="Lato"/>
                <a:sym typeface="Lato"/>
              </a:rPr>
              <a:t>  </a:t>
            </a:r>
            <a:endParaRPr sz="900">
              <a:latin typeface="Lato"/>
              <a:ea typeface="Lato"/>
              <a:cs typeface="Lato"/>
              <a:sym typeface="Lato"/>
            </a:endParaRPr>
          </a:p>
        </p:txBody>
      </p:sp>
      <p:pic>
        <p:nvPicPr>
          <p:cNvPr id="403" name="Google Shape;403;p31"/>
          <p:cNvPicPr preferRelativeResize="0"/>
          <p:nvPr/>
        </p:nvPicPr>
        <p:blipFill>
          <a:blip r:embed="rId5">
            <a:alphaModFix/>
          </a:blip>
          <a:stretch>
            <a:fillRect/>
          </a:stretch>
        </p:blipFill>
        <p:spPr>
          <a:xfrm>
            <a:off x="323600" y="987325"/>
            <a:ext cx="5005451" cy="865700"/>
          </a:xfrm>
          <a:prstGeom prst="rect">
            <a:avLst/>
          </a:prstGeom>
          <a:noFill/>
          <a:ln cap="flat" cmpd="sng" w="28575">
            <a:solidFill>
              <a:schemeClr val="accent2"/>
            </a:solidFill>
            <a:prstDash val="solid"/>
            <a:round/>
            <a:headEnd len="sm" w="sm" type="none"/>
            <a:tailEnd len="sm" w="sm" type="none"/>
          </a:ln>
        </p:spPr>
      </p:pic>
      <p:pic>
        <p:nvPicPr>
          <p:cNvPr id="404" name="Google Shape;404;p31"/>
          <p:cNvPicPr preferRelativeResize="0"/>
          <p:nvPr/>
        </p:nvPicPr>
        <p:blipFill>
          <a:blip r:embed="rId6">
            <a:alphaModFix/>
          </a:blip>
          <a:stretch>
            <a:fillRect/>
          </a:stretch>
        </p:blipFill>
        <p:spPr>
          <a:xfrm>
            <a:off x="855975" y="2005425"/>
            <a:ext cx="4136810" cy="2516500"/>
          </a:xfrm>
          <a:prstGeom prst="rect">
            <a:avLst/>
          </a:prstGeom>
          <a:noFill/>
          <a:ln cap="flat" cmpd="sng" w="28575">
            <a:solidFill>
              <a:schemeClr val="accent5"/>
            </a:solidFill>
            <a:prstDash val="solid"/>
            <a:round/>
            <a:headEnd len="sm" w="sm" type="none"/>
            <a:tailEnd len="sm" w="sm" type="none"/>
          </a:ln>
        </p:spPr>
      </p:pic>
      <p:pic>
        <p:nvPicPr>
          <p:cNvPr id="405" name="Google Shape;405;p31"/>
          <p:cNvPicPr preferRelativeResize="0"/>
          <p:nvPr/>
        </p:nvPicPr>
        <p:blipFill>
          <a:blip r:embed="rId7">
            <a:alphaModFix/>
          </a:blip>
          <a:stretch>
            <a:fillRect/>
          </a:stretch>
        </p:blipFill>
        <p:spPr>
          <a:xfrm>
            <a:off x="2962475" y="3343875"/>
            <a:ext cx="5961200" cy="1414875"/>
          </a:xfrm>
          <a:prstGeom prst="rect">
            <a:avLst/>
          </a:prstGeom>
          <a:noFill/>
          <a:ln cap="flat" cmpd="sng" w="28575">
            <a:solidFill>
              <a:schemeClr val="accent5"/>
            </a:solidFill>
            <a:prstDash val="solid"/>
            <a:round/>
            <a:headEnd len="sm" w="sm" type="none"/>
            <a:tailEnd len="sm" w="sm" type="none"/>
          </a:ln>
        </p:spPr>
      </p:pic>
      <p:pic>
        <p:nvPicPr>
          <p:cNvPr id="406" name="Google Shape;406;p31"/>
          <p:cNvPicPr preferRelativeResize="0"/>
          <p:nvPr/>
        </p:nvPicPr>
        <p:blipFill>
          <a:blip r:embed="rId8">
            <a:alphaModFix/>
          </a:blip>
          <a:stretch>
            <a:fillRect/>
          </a:stretch>
        </p:blipFill>
        <p:spPr>
          <a:xfrm>
            <a:off x="6206676" y="1092575"/>
            <a:ext cx="1786825" cy="19464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2"/>
          <p:cNvSpPr txBox="1"/>
          <p:nvPr>
            <p:ph idx="4294967295" type="title"/>
          </p:nvPr>
        </p:nvSpPr>
        <p:spPr>
          <a:xfrm>
            <a:off x="213450" y="178475"/>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800">
                <a:solidFill>
                  <a:schemeClr val="accent2"/>
                </a:solidFill>
              </a:rPr>
              <a:t>Text-to-Speech-to-Text</a:t>
            </a:r>
            <a:endParaRPr sz="3800">
              <a:solidFill>
                <a:schemeClr val="accent2"/>
              </a:solidFill>
            </a:endParaRPr>
          </a:p>
        </p:txBody>
      </p:sp>
      <p:sp>
        <p:nvSpPr>
          <p:cNvPr id="412" name="Google Shape;412;p32"/>
          <p:cNvSpPr txBox="1"/>
          <p:nvPr/>
        </p:nvSpPr>
        <p:spPr>
          <a:xfrm>
            <a:off x="418425" y="4674325"/>
            <a:ext cx="6936000" cy="5238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en" sz="900">
                <a:solidFill>
                  <a:srgbClr val="000000"/>
                </a:solidFill>
                <a:latin typeface="Lato"/>
                <a:ea typeface="Lato"/>
                <a:cs typeface="Lato"/>
                <a:sym typeface="Lato"/>
              </a:rPr>
              <a:t>Icons from </a:t>
            </a:r>
            <a:r>
              <a:rPr lang="en" sz="900" u="sng">
                <a:solidFill>
                  <a:srgbClr val="00C1D5"/>
                </a:solidFill>
                <a:latin typeface="Lato"/>
                <a:ea typeface="Lato"/>
                <a:cs typeface="Lato"/>
                <a:sym typeface="Lato"/>
                <a:hlinkClick r:id="rId3">
                  <a:extLst>
                    <a:ext uri="{A12FA001-AC4F-418D-AE19-62706E023703}">
                      <ahyp:hlinkClr val="tx"/>
                    </a:ext>
                  </a:extLst>
                </a:hlinkClick>
              </a:rPr>
              <a:t>https://www.iconpacks.net/</a:t>
            </a:r>
            <a:endParaRPr sz="900">
              <a:solidFill>
                <a:srgbClr val="000000"/>
              </a:solidFill>
              <a:latin typeface="Lato"/>
              <a:ea typeface="Lato"/>
              <a:cs typeface="Lato"/>
              <a:sym typeface="Lato"/>
            </a:endParaRPr>
          </a:p>
        </p:txBody>
      </p:sp>
      <p:sp>
        <p:nvSpPr>
          <p:cNvPr id="413" name="Google Shape;413;p32"/>
          <p:cNvSpPr/>
          <p:nvPr/>
        </p:nvSpPr>
        <p:spPr>
          <a:xfrm flipH="1" rot="8645512">
            <a:off x="4079919" y="2915266"/>
            <a:ext cx="1208210" cy="1012174"/>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414" name="Google Shape;414;p32"/>
          <p:cNvPicPr preferRelativeResize="0"/>
          <p:nvPr/>
        </p:nvPicPr>
        <p:blipFill>
          <a:blip r:embed="rId4">
            <a:alphaModFix/>
          </a:blip>
          <a:stretch>
            <a:fillRect/>
          </a:stretch>
        </p:blipFill>
        <p:spPr>
          <a:xfrm>
            <a:off x="4154620" y="2571750"/>
            <a:ext cx="733524" cy="733524"/>
          </a:xfrm>
          <a:prstGeom prst="rect">
            <a:avLst/>
          </a:prstGeom>
          <a:noFill/>
          <a:ln>
            <a:noFill/>
          </a:ln>
        </p:spPr>
      </p:pic>
      <p:pic>
        <p:nvPicPr>
          <p:cNvPr id="415" name="Google Shape;415;p32"/>
          <p:cNvPicPr preferRelativeResize="0"/>
          <p:nvPr/>
        </p:nvPicPr>
        <p:blipFill>
          <a:blip r:embed="rId5">
            <a:alphaModFix/>
          </a:blip>
          <a:stretch>
            <a:fillRect/>
          </a:stretch>
        </p:blipFill>
        <p:spPr>
          <a:xfrm>
            <a:off x="997792" y="1721875"/>
            <a:ext cx="2323150" cy="2323150"/>
          </a:xfrm>
          <a:prstGeom prst="rect">
            <a:avLst/>
          </a:prstGeom>
          <a:noFill/>
          <a:ln>
            <a:noFill/>
          </a:ln>
        </p:spPr>
      </p:pic>
      <p:sp>
        <p:nvSpPr>
          <p:cNvPr id="416" name="Google Shape;416;p32"/>
          <p:cNvSpPr/>
          <p:nvPr/>
        </p:nvSpPr>
        <p:spPr>
          <a:xfrm flipH="1" rot="-2281332">
            <a:off x="3850534" y="1788923"/>
            <a:ext cx="1208344" cy="1012215"/>
          </a:xfrm>
          <a:prstGeom prst="bentArrow">
            <a:avLst>
              <a:gd fmla="val 13565" name="adj1"/>
              <a:gd fmla="val 24838" name="adj2"/>
              <a:gd fmla="val 25000" name="adj3"/>
              <a:gd fmla="val 82772" name="adj4"/>
            </a:avLst>
          </a:prstGeom>
          <a:solidFill>
            <a:srgbClr val="FFB500"/>
          </a:solidFill>
          <a:ln cap="flat" cmpd="sng" w="9525">
            <a:solidFill>
              <a:srgbClr val="FFB5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417" name="Google Shape;417;p32"/>
          <p:cNvPicPr preferRelativeResize="0"/>
          <p:nvPr/>
        </p:nvPicPr>
        <p:blipFill>
          <a:blip r:embed="rId6">
            <a:alphaModFix/>
          </a:blip>
          <a:stretch>
            <a:fillRect/>
          </a:stretch>
        </p:blipFill>
        <p:spPr>
          <a:xfrm>
            <a:off x="5664925" y="2073500"/>
            <a:ext cx="1371601" cy="1371601"/>
          </a:xfrm>
          <a:prstGeom prst="rect">
            <a:avLst/>
          </a:prstGeom>
          <a:noFill/>
          <a:ln>
            <a:noFill/>
          </a:ln>
        </p:spPr>
      </p:pic>
      <p:pic>
        <p:nvPicPr>
          <p:cNvPr id="418" name="Google Shape;418;p32"/>
          <p:cNvPicPr preferRelativeResize="0"/>
          <p:nvPr/>
        </p:nvPicPr>
        <p:blipFill>
          <a:blip r:embed="rId7">
            <a:alphaModFix/>
          </a:blip>
          <a:stretch>
            <a:fillRect/>
          </a:stretch>
        </p:blipFill>
        <p:spPr>
          <a:xfrm>
            <a:off x="7196975" y="2073500"/>
            <a:ext cx="1371601" cy="13716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