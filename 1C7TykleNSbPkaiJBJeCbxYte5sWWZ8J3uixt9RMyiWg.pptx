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Let’s talk about what elements an </a:t>
            </a:r>
            <a:r>
              <a:rPr lang="en">
                <a:solidFill>
                  <a:schemeClr val="dk1"/>
                </a:solidFill>
              </a:rPr>
              <a:t>aigh eye</a:t>
            </a:r>
            <a:r>
              <a:rPr lang="en"/>
              <a:t> policy might have.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cf1264c749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cf1264c749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Except where otherwise indicated, the contents of this video are available for use under C C B Y 4 point 0</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a841e2365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2a841e2365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thoughts and ideas presented in this course are not to be substituted for legal or ethical advice. They are only meant to give you a starting point for gathering information about </a:t>
            </a:r>
            <a:r>
              <a:rPr lang="en">
                <a:solidFill>
                  <a:schemeClr val="dk1"/>
                </a:solidFill>
              </a:rPr>
              <a:t>aigh eye</a:t>
            </a:r>
            <a:r>
              <a:rPr lang="en"/>
              <a:t> policy and regulations to consider.</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a0db34665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2a0db34665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A good aigh eye policy should be a living document that evolves as your company adapts to aigh eye use. As aigh eye tools advance, so should the policy surrounding them. It should provide clear guidance and frameworks for developing, deploying, and using aigh eye systems in a responsible and ethical manner. Having a policy in plan can provide an extra level of security for your organization and employees.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1965a5f7f0a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1965a5f7f0a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When writing an </a:t>
            </a:r>
            <a:r>
              <a:rPr lang="en">
                <a:solidFill>
                  <a:schemeClr val="dk1"/>
                </a:solidFill>
              </a:rPr>
              <a:t>aigh eye</a:t>
            </a:r>
            <a:r>
              <a:rPr lang="en"/>
              <a:t> policy, you might consider whether asynchronous collaboration versus synchronous collaboration is right for you.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2a87c9cda0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2a87c9cda0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With an asynchronous approach, people write their individual sections of a document by a deadline, after which the full policy is polished and edited. </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2a87c9cda0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2a87c9cda0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With a synchronous approach, an organization might convene a set of meetings with experts over a length or time to work on the document together. There are benefits and drawbacks to both approaches, and you will know which best fits your organization’s needs.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2a8484fa312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2a8484fa312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rPr>
              <a:t>So w</a:t>
            </a:r>
            <a:r>
              <a:rPr lang="en" sz="1200">
                <a:solidFill>
                  <a:schemeClr val="dk1"/>
                </a:solidFill>
              </a:rPr>
              <a:t>hat is involved in a good </a:t>
            </a:r>
            <a:r>
              <a:rPr lang="en">
                <a:solidFill>
                  <a:schemeClr val="dk1"/>
                </a:solidFill>
              </a:rPr>
              <a:t>aigh eye</a:t>
            </a:r>
            <a:r>
              <a:rPr lang="en" sz="1200">
                <a:solidFill>
                  <a:schemeClr val="dk1"/>
                </a:solidFill>
              </a:rPr>
              <a:t> policy document?</a:t>
            </a:r>
            <a:endParaRPr sz="12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cf1264c749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cf1264c749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general, a policy might discuss the following topics: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2a841e23650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2a841e23650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Purpose and Scope. In this section, you might define what your organization’s goals and plans for </a:t>
            </a:r>
            <a:r>
              <a:rPr lang="en">
                <a:solidFill>
                  <a:schemeClr val="dk1"/>
                </a:solidFill>
              </a:rPr>
              <a:t>aigh eye</a:t>
            </a:r>
            <a:r>
              <a:rPr lang="en"/>
              <a:t> use, as well as what types of </a:t>
            </a:r>
            <a:r>
              <a:rPr lang="en">
                <a:solidFill>
                  <a:schemeClr val="dk1"/>
                </a:solidFill>
              </a:rPr>
              <a:t>aigh eye</a:t>
            </a:r>
            <a:r>
              <a:rPr lang="en"/>
              <a:t> systems the policy will cover. This section might also contain definitions of specific terms, like what your organization cons</a:t>
            </a:r>
            <a:r>
              <a:rPr lang="en"/>
              <a:t>id</a:t>
            </a:r>
            <a:r>
              <a:rPr lang="en"/>
              <a:t>ers </a:t>
            </a:r>
            <a:r>
              <a:rPr lang="en">
                <a:solidFill>
                  <a:schemeClr val="dk1"/>
                </a:solidFill>
              </a:rPr>
              <a:t>aigh eye</a:t>
            </a:r>
            <a:r>
              <a:rPr lang="en"/>
              <a:t> or generative </a:t>
            </a:r>
            <a:r>
              <a:rPr lang="en">
                <a:solidFill>
                  <a:schemeClr val="dk1"/>
                </a:solidFill>
              </a:rPr>
              <a:t>aigh eye</a:t>
            </a:r>
            <a:r>
              <a:rPr lang="en"/>
              <a:t>. A purpose and scope section can ensure everyone is aligned and avoid ambiguity.</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a841e23650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2a841e23650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Values and Principles. This section states how your organization’s core values and principles will guide your use and development of </a:t>
            </a:r>
            <a:r>
              <a:rPr lang="en">
                <a:solidFill>
                  <a:schemeClr val="dk1"/>
                </a:solidFill>
              </a:rPr>
              <a:t>aigh eye</a:t>
            </a:r>
            <a:r>
              <a:rPr lang="en"/>
              <a:t> tools. Some possible principles might be fairness, transparency, accountability, safety, or privacy.</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2a841e23650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2a841e23650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Governance and Oversight. You may want to establish a clear governance strategy for overseeing </a:t>
            </a:r>
            <a:r>
              <a:rPr lang="en">
                <a:solidFill>
                  <a:schemeClr val="dk1"/>
                </a:solidFill>
              </a:rPr>
              <a:t>aigh eye</a:t>
            </a:r>
            <a:r>
              <a:rPr lang="en"/>
              <a:t> initiatives. This includes the roles of those involved in decision-making, as well as their responsibilities.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2a841e23650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2a841e23650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Data Management and Privacy. This section outlines data governance practices that ensure data quality, security, and responsible use in </a:t>
            </a:r>
            <a:r>
              <a:rPr lang="en">
                <a:solidFill>
                  <a:schemeClr val="dk1"/>
                </a:solidFill>
              </a:rPr>
              <a:t>aigh eye</a:t>
            </a:r>
            <a:r>
              <a:rPr lang="en">
                <a:solidFill>
                  <a:schemeClr val="dk1"/>
                </a:solidFill>
              </a:rPr>
              <a:t> </a:t>
            </a:r>
            <a:r>
              <a:rPr lang="en"/>
              <a:t>systems. You should make sure your guidelines are compliant with relevant data privacy regulations like G D P R, C C P A, and other industry-specific regulations.</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2a841e23650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2a841e23650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Fairness and Non-discrimination. In this section, you can lay out how you might monitor and audit </a:t>
            </a:r>
            <a:r>
              <a:rPr lang="en">
                <a:solidFill>
                  <a:schemeClr val="dk1"/>
                </a:solidFill>
              </a:rPr>
              <a:t>aigh eye</a:t>
            </a:r>
            <a:r>
              <a:rPr lang="en"/>
              <a:t> systems for possible bias. This section can also include guidelines for developing or deploying </a:t>
            </a:r>
            <a:r>
              <a:rPr lang="en">
                <a:solidFill>
                  <a:schemeClr val="dk1"/>
                </a:solidFill>
              </a:rPr>
              <a:t>aigh eye</a:t>
            </a:r>
            <a:r>
              <a:rPr lang="en"/>
              <a:t> in ways to avoid perpetuating or exacerbating bias or discrimination based on protected characteristics.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2a841e23650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2a841e23650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Risk Management, Safety, and Oversight. A section like this might lay out robust testing procedures to monitor, identify, and mitigate potential risks associated with </a:t>
            </a:r>
            <a:r>
              <a:rPr lang="en">
                <a:solidFill>
                  <a:schemeClr val="dk1"/>
                </a:solidFill>
              </a:rPr>
              <a:t>aigh eye</a:t>
            </a:r>
            <a:r>
              <a:rPr lang="en"/>
              <a:t> systems, including security vulnerabilities, safety hazards, and unintended consequences. It can also identify ways to ensure oversight and accountability for </a:t>
            </a:r>
            <a:r>
              <a:rPr lang="en">
                <a:solidFill>
                  <a:schemeClr val="dk1"/>
                </a:solidFill>
              </a:rPr>
              <a:t>aigh eye</a:t>
            </a:r>
            <a:r>
              <a:rPr lang="en"/>
              <a:t> systems, ensuring humans remain ultimately responsible for </a:t>
            </a:r>
            <a:r>
              <a:rPr lang="en">
                <a:solidFill>
                  <a:schemeClr val="dk1"/>
                </a:solidFill>
              </a:rPr>
              <a:t>aigh eye</a:t>
            </a:r>
            <a:r>
              <a:rPr lang="en"/>
              <a:t>-driven decisions.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2a841e23650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2a841e23650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Education and Training. This section describes how your organization will provide training and education programs on </a:t>
            </a:r>
            <a:r>
              <a:rPr lang="en">
                <a:solidFill>
                  <a:schemeClr val="dk1"/>
                </a:solidFill>
              </a:rPr>
              <a:t>aigh eye</a:t>
            </a:r>
            <a:r>
              <a:rPr lang="en">
                <a:solidFill>
                  <a:schemeClr val="dk1"/>
                </a:solidFill>
              </a:rPr>
              <a:t> </a:t>
            </a:r>
            <a:r>
              <a:rPr lang="en"/>
              <a:t>systems on responsible </a:t>
            </a:r>
            <a:r>
              <a:rPr lang="en">
                <a:solidFill>
                  <a:schemeClr val="dk1"/>
                </a:solidFill>
              </a:rPr>
              <a:t>aigh eye</a:t>
            </a:r>
            <a:r>
              <a:rPr lang="en"/>
              <a:t> development, deployment, and use. You can also detail how these training modules will be created and what topics are necessary for different groups of employees.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2a841e23650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2a841e23650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Feedback and Review. In this section, you can establish a mechanism for regularly reviewing and updating the </a:t>
            </a:r>
            <a:r>
              <a:rPr lang="en">
                <a:solidFill>
                  <a:schemeClr val="dk1"/>
                </a:solidFill>
              </a:rPr>
              <a:t>aigh eye</a:t>
            </a:r>
            <a:r>
              <a:rPr lang="en"/>
              <a:t> policy as technology and best practices evolve. You may also want to implement procedures for employees to give feedback about </a:t>
            </a:r>
            <a:r>
              <a:rPr lang="en">
                <a:solidFill>
                  <a:schemeClr val="dk1"/>
                </a:solidFill>
              </a:rPr>
              <a:t>aigh eye</a:t>
            </a:r>
            <a:r>
              <a:rPr lang="en"/>
              <a:t> issues or concerns within your organization.</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creativecommons.org/licenses/by/4.0/" TargetMode="External"/><Relationship Id="rId3" Type="http://schemas.openxmlformats.org/officeDocument/2006/relationships/hyperlink" Target="https://creativecommons.org/licenses/by/4.0/" TargetMode="Externa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0" y="490"/>
            <a:ext cx="5153705" cy="5134399"/>
            <a:chOff x="0" y="75"/>
            <a:chExt cx="5153705" cy="5152950"/>
          </a:xfrm>
        </p:grpSpPr>
        <p:sp>
          <p:nvSpPr>
            <p:cNvPr id="11" name="Google Shape;11;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646" y="-75"/>
              <a:ext cx="2299800" cy="23001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flipH="1">
              <a:off x="652821" y="590035"/>
              <a:ext cx="2300100" cy="2299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 name="Google Shape;15;p2"/>
          <p:cNvSpPr/>
          <p:nvPr/>
        </p:nvSpPr>
        <p:spPr>
          <a:xfrm rot="5400000">
            <a:off x="7500300" y="5"/>
            <a:ext cx="1643700" cy="1643700"/>
          </a:xfrm>
          <a:prstGeom prst="diagStripe">
            <a:avLst>
              <a:gd fmla="val 0"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txBox="1"/>
          <p:nvPr>
            <p:ph type="ctrTitle"/>
          </p:nvPr>
        </p:nvSpPr>
        <p:spPr>
          <a:xfrm>
            <a:off x="3537150" y="1578375"/>
            <a:ext cx="5017500" cy="15789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4100"/>
              <a:buNone/>
              <a:defRPr sz="41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p:txBody>
      </p:sp>
      <p:sp>
        <p:nvSpPr>
          <p:cNvPr id="17" name="Google Shape;17;p2"/>
          <p:cNvSpPr txBox="1"/>
          <p:nvPr>
            <p:ph idx="1" type="subTitle"/>
          </p:nvPr>
        </p:nvSpPr>
        <p:spPr>
          <a:xfrm>
            <a:off x="2997775" y="3033950"/>
            <a:ext cx="5939400" cy="506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rgbClr val="434343"/>
              </a:buClr>
              <a:buSzPts val="2800"/>
              <a:buNone/>
              <a:defRPr sz="2800">
                <a:solidFill>
                  <a:srgbClr val="434343"/>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9" name="Google Shape;19;p2"/>
          <p:cNvPicPr preferRelativeResize="0"/>
          <p:nvPr/>
        </p:nvPicPr>
        <p:blipFill>
          <a:blip r:embed="rId2">
            <a:alphaModFix/>
          </a:blip>
          <a:stretch>
            <a:fillRect/>
          </a:stretch>
        </p:blipFill>
        <p:spPr>
          <a:xfrm>
            <a:off x="7561746" y="4517201"/>
            <a:ext cx="1147827" cy="5061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1">
    <p:spTree>
      <p:nvGrpSpPr>
        <p:cNvPr id="20" name="Shape 20"/>
        <p:cNvGrpSpPr/>
        <p:nvPr/>
      </p:nvGrpSpPr>
      <p:grpSpPr>
        <a:xfrm>
          <a:off x="0" y="0"/>
          <a:ext cx="0" cy="0"/>
          <a:chOff x="0" y="0"/>
          <a:chExt cx="0" cy="0"/>
        </a:xfrm>
      </p:grpSpPr>
      <p:grpSp>
        <p:nvGrpSpPr>
          <p:cNvPr id="21" name="Google Shape;21;p3"/>
          <p:cNvGrpSpPr/>
          <p:nvPr/>
        </p:nvGrpSpPr>
        <p:grpSpPr>
          <a:xfrm>
            <a:off x="0" y="490"/>
            <a:ext cx="5153705" cy="5134399"/>
            <a:chOff x="0" y="75"/>
            <a:chExt cx="5153705" cy="5152950"/>
          </a:xfrm>
        </p:grpSpPr>
        <p:sp>
          <p:nvSpPr>
            <p:cNvPr id="22" name="Google Shape;22;p3"/>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5400000">
              <a:off x="1646" y="-75"/>
              <a:ext cx="2299800" cy="23001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flipH="1">
              <a:off x="652821" y="590035"/>
              <a:ext cx="2300100" cy="2299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p:nvPr/>
        </p:nvSpPr>
        <p:spPr>
          <a:xfrm rot="5400000">
            <a:off x="7500300" y="5"/>
            <a:ext cx="1643700" cy="1643700"/>
          </a:xfrm>
          <a:prstGeom prst="diagStripe">
            <a:avLst>
              <a:gd fmla="val 0"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txBox="1"/>
          <p:nvPr>
            <p:ph type="ctrTitle"/>
          </p:nvPr>
        </p:nvSpPr>
        <p:spPr>
          <a:xfrm>
            <a:off x="3537150" y="1578375"/>
            <a:ext cx="5017500" cy="15789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4100"/>
              <a:buNone/>
              <a:defRPr sz="41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p:txBody>
      </p:sp>
      <p:sp>
        <p:nvSpPr>
          <p:cNvPr id="28" name="Google Shape;28;p3"/>
          <p:cNvSpPr txBox="1"/>
          <p:nvPr>
            <p:ph idx="1" type="subTitle"/>
          </p:nvPr>
        </p:nvSpPr>
        <p:spPr>
          <a:xfrm>
            <a:off x="2997775" y="3033950"/>
            <a:ext cx="5939400" cy="506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rgbClr val="434343"/>
              </a:buClr>
              <a:buSzPts val="2800"/>
              <a:buNone/>
              <a:defRPr sz="2800">
                <a:solidFill>
                  <a:srgbClr val="434343"/>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29" name="Google Shape;29;p3"/>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30" name="Google Shape;30;p3"/>
          <p:cNvPicPr preferRelativeResize="0"/>
          <p:nvPr/>
        </p:nvPicPr>
        <p:blipFill rotWithShape="1">
          <a:blip r:embed="rId2">
            <a:alphaModFix/>
          </a:blip>
          <a:srcRect b="0" l="22785" r="21708" t="0"/>
          <a:stretch/>
        </p:blipFill>
        <p:spPr>
          <a:xfrm>
            <a:off x="6786250" y="4589350"/>
            <a:ext cx="2040327" cy="46155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grpSp>
        <p:nvGrpSpPr>
          <p:cNvPr id="32" name="Google Shape;32;p4"/>
          <p:cNvGrpSpPr/>
          <p:nvPr/>
        </p:nvGrpSpPr>
        <p:grpSpPr>
          <a:xfrm>
            <a:off x="4406400" y="0"/>
            <a:ext cx="4737600" cy="5143065"/>
            <a:chOff x="4406400" y="0"/>
            <a:chExt cx="4737600" cy="5143065"/>
          </a:xfrm>
        </p:grpSpPr>
        <p:sp>
          <p:nvSpPr>
            <p:cNvPr id="33" name="Google Shape;33;p4"/>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p:nvPr/>
          </p:nvSpPr>
          <p:spPr>
            <a:xfrm flipH="1">
              <a:off x="6908099" y="2069505"/>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4"/>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4"/>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rot="-5400000">
              <a:off x="7227414" y="3710807"/>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4"/>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 name="Google Shape;51;p4"/>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 name="Google Shape;52;p4"/>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3" name="Google Shape;53;p4"/>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4" name="Shape 54"/>
        <p:cNvGrpSpPr/>
        <p:nvPr/>
      </p:nvGrpSpPr>
      <p:grpSpPr>
        <a:xfrm>
          <a:off x="0" y="0"/>
          <a:ext cx="0" cy="0"/>
          <a:chOff x="0" y="0"/>
          <a:chExt cx="0" cy="0"/>
        </a:xfrm>
      </p:grpSpPr>
      <p:grpSp>
        <p:nvGrpSpPr>
          <p:cNvPr id="55" name="Google Shape;55;p5"/>
          <p:cNvGrpSpPr/>
          <p:nvPr/>
        </p:nvGrpSpPr>
        <p:grpSpPr>
          <a:xfrm>
            <a:off x="0" y="381001"/>
            <a:ext cx="1037850" cy="1016287"/>
            <a:chOff x="0" y="381001"/>
            <a:chExt cx="1037850" cy="1016287"/>
          </a:xfrm>
        </p:grpSpPr>
        <p:sp>
          <p:nvSpPr>
            <p:cNvPr id="56" name="Google Shape;56;p5"/>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5"/>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 name="Google Shape;58;p5"/>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900"/>
              <a:buNone/>
              <a:defRPr sz="2900"/>
            </a:lvl2pPr>
            <a:lvl3pPr lvl="2" rtl="0">
              <a:spcBef>
                <a:spcPts val="0"/>
              </a:spcBef>
              <a:spcAft>
                <a:spcPts val="0"/>
              </a:spcAft>
              <a:buSzPts val="2900"/>
              <a:buNone/>
              <a:defRPr sz="2900"/>
            </a:lvl3pPr>
            <a:lvl4pPr lvl="3" rtl="0">
              <a:spcBef>
                <a:spcPts val="0"/>
              </a:spcBef>
              <a:spcAft>
                <a:spcPts val="0"/>
              </a:spcAft>
              <a:buSzPts val="2900"/>
              <a:buNone/>
              <a:defRPr sz="2900"/>
            </a:lvl4pPr>
            <a:lvl5pPr lvl="4" rtl="0">
              <a:spcBef>
                <a:spcPts val="0"/>
              </a:spcBef>
              <a:spcAft>
                <a:spcPts val="0"/>
              </a:spcAft>
              <a:buSzPts val="2900"/>
              <a:buNone/>
              <a:defRPr sz="2900"/>
            </a:lvl5pPr>
            <a:lvl6pPr lvl="5" rtl="0">
              <a:spcBef>
                <a:spcPts val="0"/>
              </a:spcBef>
              <a:spcAft>
                <a:spcPts val="0"/>
              </a:spcAft>
              <a:buSzPts val="2900"/>
              <a:buNone/>
              <a:defRPr sz="2900"/>
            </a:lvl6pPr>
            <a:lvl7pPr lvl="6" rtl="0">
              <a:spcBef>
                <a:spcPts val="0"/>
              </a:spcBef>
              <a:spcAft>
                <a:spcPts val="0"/>
              </a:spcAft>
              <a:buSzPts val="2900"/>
              <a:buNone/>
              <a:defRPr sz="2900"/>
            </a:lvl7pPr>
            <a:lvl8pPr lvl="7" rtl="0">
              <a:spcBef>
                <a:spcPts val="0"/>
              </a:spcBef>
              <a:spcAft>
                <a:spcPts val="0"/>
              </a:spcAft>
              <a:buSzPts val="2900"/>
              <a:buNone/>
              <a:defRPr sz="2900"/>
            </a:lvl8pPr>
            <a:lvl9pPr lvl="8" rtl="0">
              <a:spcBef>
                <a:spcPts val="0"/>
              </a:spcBef>
              <a:spcAft>
                <a:spcPts val="0"/>
              </a:spcAft>
              <a:buSzPts val="2900"/>
              <a:buNone/>
              <a:defRPr sz="2900"/>
            </a:lvl9pPr>
          </a:lstStyle>
          <a:p/>
        </p:txBody>
      </p:sp>
      <p:sp>
        <p:nvSpPr>
          <p:cNvPr id="59" name="Google Shape;59;p5"/>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49250" lvl="0" marL="457200" rtl="0">
              <a:spcBef>
                <a:spcPts val="0"/>
              </a:spcBef>
              <a:spcAft>
                <a:spcPts val="0"/>
              </a:spcAft>
              <a:buSzPts val="1900"/>
              <a:buChar char="●"/>
              <a:defRPr sz="1900"/>
            </a:lvl1pPr>
            <a:lvl2pPr indent="-336550" lvl="1" marL="914400" rtl="0">
              <a:spcBef>
                <a:spcPts val="0"/>
              </a:spcBef>
              <a:spcAft>
                <a:spcPts val="0"/>
              </a:spcAft>
              <a:buSzPts val="1700"/>
              <a:buChar char="○"/>
              <a:defRPr sz="1700"/>
            </a:lvl2pPr>
            <a:lvl3pPr indent="-336550" lvl="2" marL="1371600" rtl="0">
              <a:spcBef>
                <a:spcPts val="0"/>
              </a:spcBef>
              <a:spcAft>
                <a:spcPts val="0"/>
              </a:spcAft>
              <a:buSzPts val="1700"/>
              <a:buChar char="■"/>
              <a:defRPr sz="1700"/>
            </a:lvl3pPr>
            <a:lvl4pPr indent="-336550" lvl="3" marL="1828800" rtl="0">
              <a:spcBef>
                <a:spcPts val="0"/>
              </a:spcBef>
              <a:spcAft>
                <a:spcPts val="0"/>
              </a:spcAft>
              <a:buSzPts val="1700"/>
              <a:buChar char="●"/>
              <a:defRPr sz="1700"/>
            </a:lvl4pPr>
            <a:lvl5pPr indent="-336550" lvl="4" marL="2286000" rtl="0">
              <a:spcBef>
                <a:spcPts val="0"/>
              </a:spcBef>
              <a:spcAft>
                <a:spcPts val="0"/>
              </a:spcAft>
              <a:buSzPts val="1700"/>
              <a:buChar char="○"/>
              <a:defRPr sz="1700"/>
            </a:lvl5pPr>
            <a:lvl6pPr indent="-336550" lvl="5" marL="2743200" rtl="0">
              <a:spcBef>
                <a:spcPts val="0"/>
              </a:spcBef>
              <a:spcAft>
                <a:spcPts val="0"/>
              </a:spcAft>
              <a:buSzPts val="1700"/>
              <a:buChar char="■"/>
              <a:defRPr sz="1700"/>
            </a:lvl6pPr>
            <a:lvl7pPr indent="-336550" lvl="6" marL="3200400" rtl="0">
              <a:spcBef>
                <a:spcPts val="0"/>
              </a:spcBef>
              <a:spcAft>
                <a:spcPts val="0"/>
              </a:spcAft>
              <a:buSzPts val="1700"/>
              <a:buChar char="●"/>
              <a:defRPr sz="1700"/>
            </a:lvl7pPr>
            <a:lvl8pPr indent="-336550" lvl="7" marL="3657600" rtl="0">
              <a:spcBef>
                <a:spcPts val="0"/>
              </a:spcBef>
              <a:spcAft>
                <a:spcPts val="0"/>
              </a:spcAft>
              <a:buSzPts val="1700"/>
              <a:buChar char="○"/>
              <a:defRPr sz="1700"/>
            </a:lvl8pPr>
            <a:lvl9pPr indent="-336550" lvl="8" marL="4114800" rtl="0">
              <a:spcBef>
                <a:spcPts val="0"/>
              </a:spcBef>
              <a:spcAft>
                <a:spcPts val="0"/>
              </a:spcAft>
              <a:buSzPts val="1700"/>
              <a:buChar char="■"/>
              <a:defRPr sz="1700"/>
            </a:lvl9pPr>
          </a:lstStyle>
          <a:p/>
        </p:txBody>
      </p:sp>
      <p:sp>
        <p:nvSpPr>
          <p:cNvPr id="60" name="Google Shape;60;p5"/>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61" name="Google Shape;61;p5"/>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2" name="Shape 62"/>
        <p:cNvGrpSpPr/>
        <p:nvPr/>
      </p:nvGrpSpPr>
      <p:grpSpPr>
        <a:xfrm>
          <a:off x="0" y="0"/>
          <a:ext cx="0" cy="0"/>
          <a:chOff x="0" y="0"/>
          <a:chExt cx="0" cy="0"/>
        </a:xfrm>
      </p:grpSpPr>
      <p:sp>
        <p:nvSpPr>
          <p:cNvPr id="63" name="Google Shape;63;p6"/>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64" name="Google Shape;64;p6"/>
          <p:cNvSpPr txBox="1"/>
          <p:nvPr/>
        </p:nvSpPr>
        <p:spPr>
          <a:xfrm>
            <a:off x="1409625" y="1455425"/>
            <a:ext cx="3739500" cy="291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Except where otherwise indicated, The contents of this slide presentation are available for use under the </a:t>
            </a:r>
            <a:r>
              <a:rPr lang="en" u="sng">
                <a:solidFill>
                  <a:schemeClr val="hlink"/>
                </a:solidFill>
                <a:latin typeface="Lato"/>
                <a:ea typeface="Lato"/>
                <a:cs typeface="Lato"/>
                <a:sym typeface="Lato"/>
                <a:hlinkClick r:id="rId2"/>
              </a:rPr>
              <a:t>Creative Commons Attribution 4.0 license</a:t>
            </a:r>
            <a:r>
              <a:rPr lang="en">
                <a:latin typeface="Lato"/>
                <a:ea typeface="Lato"/>
                <a:cs typeface="Lato"/>
                <a:sym typeface="Lato"/>
              </a:rPr>
              <a:t>. </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lang="en">
                <a:latin typeface="Lato"/>
                <a:ea typeface="Lato"/>
                <a:cs typeface="Lato"/>
                <a:sym typeface="Lato"/>
              </a:rPr>
              <a:t>You are free to adapt and share the work, but you must give appropriate credit, provide a link to the license, and indicate if changes were made.</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b="1" lang="en">
                <a:latin typeface="Lato"/>
                <a:ea typeface="Lato"/>
                <a:cs typeface="Lato"/>
                <a:sym typeface="Lato"/>
              </a:rPr>
              <a:t>Sample attribution: </a:t>
            </a:r>
            <a:r>
              <a:rPr lang="en">
                <a:latin typeface="Lato"/>
                <a:ea typeface="Lato"/>
                <a:cs typeface="Lato"/>
                <a:sym typeface="Lato"/>
              </a:rPr>
              <a:t>[Title of work] by Fred Hutchinson Cancer Center Data Science Lab. </a:t>
            </a:r>
            <a:r>
              <a:rPr lang="en" u="sng">
                <a:solidFill>
                  <a:schemeClr val="hlink"/>
                </a:solidFill>
                <a:latin typeface="Lato"/>
                <a:ea typeface="Lato"/>
                <a:cs typeface="Lato"/>
                <a:sym typeface="Lato"/>
                <a:hlinkClick r:id="rId3"/>
              </a:rPr>
              <a:t>CC-BY 4.0</a:t>
            </a:r>
            <a:endParaRPr>
              <a:latin typeface="Lato"/>
              <a:ea typeface="Lato"/>
              <a:cs typeface="Lato"/>
              <a:sym typeface="Lato"/>
            </a:endParaRPr>
          </a:p>
        </p:txBody>
      </p:sp>
      <p:pic>
        <p:nvPicPr>
          <p:cNvPr id="65" name="Google Shape;65;p6"/>
          <p:cNvPicPr preferRelativeResize="0"/>
          <p:nvPr/>
        </p:nvPicPr>
        <p:blipFill>
          <a:blip r:embed="rId4">
            <a:alphaModFix/>
          </a:blip>
          <a:stretch>
            <a:fillRect/>
          </a:stretch>
        </p:blipFill>
        <p:spPr>
          <a:xfrm>
            <a:off x="5981726" y="2173675"/>
            <a:ext cx="2275450" cy="796150"/>
          </a:xfrm>
          <a:prstGeom prst="rect">
            <a:avLst/>
          </a:prstGeom>
          <a:noFill/>
          <a:ln>
            <a:noFill/>
          </a:ln>
        </p:spPr>
      </p:pic>
      <p:sp>
        <p:nvSpPr>
          <p:cNvPr id="66" name="Google Shape;66;p6"/>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grpSp>
        <p:nvGrpSpPr>
          <p:cNvPr id="67" name="Google Shape;67;p6"/>
          <p:cNvGrpSpPr/>
          <p:nvPr/>
        </p:nvGrpSpPr>
        <p:grpSpPr>
          <a:xfrm>
            <a:off x="0" y="381001"/>
            <a:ext cx="1037850" cy="1016287"/>
            <a:chOff x="0" y="381001"/>
            <a:chExt cx="1037850" cy="1016287"/>
          </a:xfrm>
        </p:grpSpPr>
        <p:sp>
          <p:nvSpPr>
            <p:cNvPr id="68" name="Google Shape;68;p6"/>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6"/>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7"/>
          <p:cNvSpPr txBox="1"/>
          <p:nvPr>
            <p:ph type="title"/>
          </p:nvPr>
        </p:nvSpPr>
        <p:spPr>
          <a:xfrm>
            <a:off x="1297500" y="393750"/>
            <a:ext cx="78072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p:txBody>
      </p:sp>
      <p:sp>
        <p:nvSpPr>
          <p:cNvPr id="72" name="Google Shape;72;p7"/>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3" name="Google Shape;73;p7"/>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grpSp>
        <p:nvGrpSpPr>
          <p:cNvPr id="74" name="Google Shape;74;p7"/>
          <p:cNvGrpSpPr/>
          <p:nvPr/>
        </p:nvGrpSpPr>
        <p:grpSpPr>
          <a:xfrm>
            <a:off x="0" y="381001"/>
            <a:ext cx="1037850" cy="1016287"/>
            <a:chOff x="0" y="381001"/>
            <a:chExt cx="1037850" cy="1016287"/>
          </a:xfrm>
        </p:grpSpPr>
        <p:sp>
          <p:nvSpPr>
            <p:cNvPr id="75" name="Google Shape;75;p7"/>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7"/>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7" name="Shape 77"/>
        <p:cNvGrpSpPr/>
        <p:nvPr/>
      </p:nvGrpSpPr>
      <p:grpSpPr>
        <a:xfrm>
          <a:off x="0" y="0"/>
          <a:ext cx="0" cy="0"/>
          <a:chOff x="0" y="0"/>
          <a:chExt cx="0" cy="0"/>
        </a:xfrm>
      </p:grpSpPr>
      <p:sp>
        <p:nvSpPr>
          <p:cNvPr id="78" name="Google Shape;78;p8"/>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rtl="0">
              <a:spcBef>
                <a:spcPts val="0"/>
              </a:spcBef>
              <a:spcAft>
                <a:spcPts val="0"/>
              </a:spcAft>
              <a:buSzPts val="3300"/>
              <a:buNone/>
              <a:defRPr sz="33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9" name="Google Shape;79;p8"/>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80" name="Google Shape;80;p8"/>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81" name="Google Shape;81;p8"/>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grpSp>
        <p:nvGrpSpPr>
          <p:cNvPr id="82" name="Google Shape;82;p8"/>
          <p:cNvGrpSpPr/>
          <p:nvPr/>
        </p:nvGrpSpPr>
        <p:grpSpPr>
          <a:xfrm>
            <a:off x="0" y="381001"/>
            <a:ext cx="1037850" cy="1016287"/>
            <a:chOff x="0" y="381001"/>
            <a:chExt cx="1037850" cy="1016287"/>
          </a:xfrm>
        </p:grpSpPr>
        <p:sp>
          <p:nvSpPr>
            <p:cNvPr id="83" name="Google Shape;83;p8"/>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5" name="Shape 85"/>
        <p:cNvGrpSpPr/>
        <p:nvPr/>
      </p:nvGrpSpPr>
      <p:grpSpPr>
        <a:xfrm>
          <a:off x="0" y="0"/>
          <a:ext cx="0" cy="0"/>
          <a:chOff x="0" y="0"/>
          <a:chExt cx="0" cy="0"/>
        </a:xfrm>
      </p:grpSpPr>
      <p:grpSp>
        <p:nvGrpSpPr>
          <p:cNvPr id="86" name="Google Shape;86;p9"/>
          <p:cNvGrpSpPr/>
          <p:nvPr/>
        </p:nvGrpSpPr>
        <p:grpSpPr>
          <a:xfrm>
            <a:off x="4406400" y="0"/>
            <a:ext cx="4737600" cy="5143500"/>
            <a:chOff x="4406400" y="0"/>
            <a:chExt cx="4737600" cy="5143500"/>
          </a:xfrm>
        </p:grpSpPr>
        <p:sp>
          <p:nvSpPr>
            <p:cNvPr id="87" name="Google Shape;87;p9"/>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9"/>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9"/>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9"/>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9"/>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9"/>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9"/>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6908099" y="2069680"/>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9"/>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9"/>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9"/>
            <p:cNvSpPr/>
            <p:nvPr/>
          </p:nvSpPr>
          <p:spPr>
            <a:xfrm rot="-5400000">
              <a:off x="7227414" y="3711189"/>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9"/>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9"/>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9"/>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9"/>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 name="Google Shape;105;p9"/>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6" name="Google Shape;106;p9"/>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7" name="Google Shape;107;p9"/>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8" name="Shape 108"/>
        <p:cNvGrpSpPr/>
        <p:nvPr/>
      </p:nvGrpSpPr>
      <p:grpSpPr>
        <a:xfrm>
          <a:off x="0" y="0"/>
          <a:ext cx="0" cy="0"/>
          <a:chOff x="0" y="0"/>
          <a:chExt cx="0" cy="0"/>
        </a:xfrm>
      </p:grpSpPr>
      <p:sp>
        <p:nvSpPr>
          <p:cNvPr id="109" name="Google Shape;109;p10"/>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rtl="0">
              <a:spcBef>
                <a:spcPts val="0"/>
              </a:spcBef>
              <a:spcAft>
                <a:spcPts val="0"/>
              </a:spcAft>
              <a:buSzPts val="2900"/>
              <a:buNone/>
              <a:defRPr sz="29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10" name="Google Shape;110;p10"/>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666666"/>
              </a:buClr>
              <a:buSzPts val="1800"/>
              <a:buNone/>
              <a:defRPr sz="1800">
                <a:solidFill>
                  <a:srgbClr val="666666"/>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111" name="Google Shape;111;p10"/>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36550" lvl="0" marL="457200" rtl="0">
              <a:spcBef>
                <a:spcPts val="0"/>
              </a:spcBef>
              <a:spcAft>
                <a:spcPts val="0"/>
              </a:spcAft>
              <a:buSzPts val="1700"/>
              <a:buChar char="●"/>
              <a:defRPr sz="1700"/>
            </a:lvl1pPr>
            <a:lvl2pPr indent="-323850" lvl="1" marL="914400" rtl="0">
              <a:spcBef>
                <a:spcPts val="0"/>
              </a:spcBef>
              <a:spcAft>
                <a:spcPts val="0"/>
              </a:spcAft>
              <a:buSzPts val="1500"/>
              <a:buChar char="○"/>
              <a:defRPr sz="1500"/>
            </a:lvl2pPr>
            <a:lvl3pPr indent="-323850" lvl="2" marL="1371600" rtl="0">
              <a:spcBef>
                <a:spcPts val="0"/>
              </a:spcBef>
              <a:spcAft>
                <a:spcPts val="0"/>
              </a:spcAft>
              <a:buSzPts val="1500"/>
              <a:buChar char="■"/>
              <a:defRPr sz="1500"/>
            </a:lvl3pPr>
            <a:lvl4pPr indent="-323850" lvl="3" marL="1828800" rtl="0">
              <a:spcBef>
                <a:spcPts val="0"/>
              </a:spcBef>
              <a:spcAft>
                <a:spcPts val="0"/>
              </a:spcAft>
              <a:buSzPts val="1500"/>
              <a:buChar char="●"/>
              <a:defRPr sz="1500"/>
            </a:lvl4pPr>
            <a:lvl5pPr indent="-323850" lvl="4" marL="2286000" rtl="0">
              <a:spcBef>
                <a:spcPts val="0"/>
              </a:spcBef>
              <a:spcAft>
                <a:spcPts val="0"/>
              </a:spcAft>
              <a:buSzPts val="1500"/>
              <a:buChar char="○"/>
              <a:defRPr sz="1500"/>
            </a:lvl5pPr>
            <a:lvl6pPr indent="-323850" lvl="5" marL="2743200" rtl="0">
              <a:spcBef>
                <a:spcPts val="0"/>
              </a:spcBef>
              <a:spcAft>
                <a:spcPts val="0"/>
              </a:spcAft>
              <a:buSzPts val="1500"/>
              <a:buChar char="■"/>
              <a:defRPr sz="1500"/>
            </a:lvl6pPr>
            <a:lvl7pPr indent="-323850" lvl="6" marL="3200400" rtl="0">
              <a:spcBef>
                <a:spcPts val="0"/>
              </a:spcBef>
              <a:spcAft>
                <a:spcPts val="0"/>
              </a:spcAft>
              <a:buSzPts val="1500"/>
              <a:buChar char="●"/>
              <a:defRPr sz="1500"/>
            </a:lvl7pPr>
            <a:lvl8pPr indent="-323850" lvl="7" marL="3657600" rtl="0">
              <a:spcBef>
                <a:spcPts val="0"/>
              </a:spcBef>
              <a:spcAft>
                <a:spcPts val="0"/>
              </a:spcAft>
              <a:buSzPts val="1500"/>
              <a:buChar char="○"/>
              <a:defRPr sz="1500"/>
            </a:lvl8pPr>
            <a:lvl9pPr indent="-323850" lvl="8" marL="4114800" rtl="0">
              <a:spcBef>
                <a:spcPts val="0"/>
              </a:spcBef>
              <a:spcAft>
                <a:spcPts val="0"/>
              </a:spcAft>
              <a:buSzPts val="1500"/>
              <a:buChar char="■"/>
              <a:defRPr sz="1500"/>
            </a:lvl9pPr>
          </a:lstStyle>
          <a:p/>
        </p:txBody>
      </p:sp>
      <p:grpSp>
        <p:nvGrpSpPr>
          <p:cNvPr id="112" name="Google Shape;112;p10"/>
          <p:cNvGrpSpPr/>
          <p:nvPr/>
        </p:nvGrpSpPr>
        <p:grpSpPr>
          <a:xfrm>
            <a:off x="0" y="381001"/>
            <a:ext cx="1037850" cy="1016287"/>
            <a:chOff x="0" y="381001"/>
            <a:chExt cx="1037850" cy="1016287"/>
          </a:xfrm>
        </p:grpSpPr>
        <p:sp>
          <p:nvSpPr>
            <p:cNvPr id="113" name="Google Shape;113;p10"/>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0"/>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1">
  <p:cSld name="CAPTION_ONLY">
    <p:spTree>
      <p:nvGrpSpPr>
        <p:cNvPr id="115" name="Shape 115"/>
        <p:cNvGrpSpPr/>
        <p:nvPr/>
      </p:nvGrpSpPr>
      <p:grpSpPr>
        <a:xfrm>
          <a:off x="0" y="0"/>
          <a:ext cx="0" cy="0"/>
          <a:chOff x="0" y="0"/>
          <a:chExt cx="0" cy="0"/>
        </a:xfrm>
      </p:grpSpPr>
      <p:grpSp>
        <p:nvGrpSpPr>
          <p:cNvPr id="116" name="Google Shape;116;p11"/>
          <p:cNvGrpSpPr/>
          <p:nvPr/>
        </p:nvGrpSpPr>
        <p:grpSpPr>
          <a:xfrm>
            <a:off x="43237" y="4724428"/>
            <a:ext cx="428721" cy="393609"/>
            <a:chOff x="0" y="3785672"/>
            <a:chExt cx="698925" cy="684657"/>
          </a:xfrm>
        </p:grpSpPr>
        <p:sp>
          <p:nvSpPr>
            <p:cNvPr id="117" name="Google Shape;117;p11"/>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idx="1" type="body"/>
          </p:nvPr>
        </p:nvSpPr>
        <p:spPr>
          <a:xfrm>
            <a:off x="418425" y="4674325"/>
            <a:ext cx="6936000" cy="5238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900"/>
              <a:buNone/>
              <a:defRPr sz="900"/>
            </a:lvl1pPr>
          </a:lstStyle>
          <a:p/>
        </p:txBody>
      </p:sp>
      <p:sp>
        <p:nvSpPr>
          <p:cNvPr id="120" name="Google Shape;120;p11"/>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1" name="Google Shape;121;p11"/>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2">
  <p:cSld name="CAPTION_ONLY_1">
    <p:spTree>
      <p:nvGrpSpPr>
        <p:cNvPr id="122" name="Shape 122"/>
        <p:cNvGrpSpPr/>
        <p:nvPr/>
      </p:nvGrpSpPr>
      <p:grpSpPr>
        <a:xfrm>
          <a:off x="0" y="0"/>
          <a:ext cx="0" cy="0"/>
          <a:chOff x="0" y="0"/>
          <a:chExt cx="0" cy="0"/>
        </a:xfrm>
      </p:grpSpPr>
      <p:sp>
        <p:nvSpPr>
          <p:cNvPr id="123" name="Google Shape;123;p12"/>
          <p:cNvSpPr txBox="1"/>
          <p:nvPr>
            <p:ph idx="1" type="body"/>
          </p:nvPr>
        </p:nvSpPr>
        <p:spPr>
          <a:xfrm>
            <a:off x="418425" y="4674325"/>
            <a:ext cx="6936000" cy="5238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900"/>
              <a:buNone/>
              <a:defRPr sz="900"/>
            </a:lvl1pPr>
          </a:lstStyle>
          <a:p/>
        </p:txBody>
      </p:sp>
      <p:sp>
        <p:nvSpPr>
          <p:cNvPr id="124" name="Google Shape;124;p12"/>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5" name="Google Shape;125;p12"/>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pic>
        <p:nvPicPr>
          <p:cNvPr id="126" name="Google Shape;126;p12"/>
          <p:cNvPicPr preferRelativeResize="0"/>
          <p:nvPr/>
        </p:nvPicPr>
        <p:blipFill>
          <a:blip r:embed="rId2">
            <a:alphaModFix/>
          </a:blip>
          <a:stretch>
            <a:fillRect/>
          </a:stretch>
        </p:blipFill>
        <p:spPr>
          <a:xfrm>
            <a:off x="122450" y="4791197"/>
            <a:ext cx="295975" cy="290066"/>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7" name="Shape 127"/>
        <p:cNvGrpSpPr/>
        <p:nvPr/>
      </p:nvGrpSpPr>
      <p:grpSpPr>
        <a:xfrm>
          <a:off x="0" y="0"/>
          <a:ext cx="0" cy="0"/>
          <a:chOff x="0" y="0"/>
          <a:chExt cx="0" cy="0"/>
        </a:xfrm>
      </p:grpSpPr>
      <p:grpSp>
        <p:nvGrpSpPr>
          <p:cNvPr id="128" name="Google Shape;128;p13"/>
          <p:cNvGrpSpPr/>
          <p:nvPr/>
        </p:nvGrpSpPr>
        <p:grpSpPr>
          <a:xfrm>
            <a:off x="4406400" y="0"/>
            <a:ext cx="4737600" cy="5143065"/>
            <a:chOff x="4406400" y="0"/>
            <a:chExt cx="4737600" cy="5143065"/>
          </a:xfrm>
        </p:grpSpPr>
        <p:sp>
          <p:nvSpPr>
            <p:cNvPr id="129" name="Google Shape;129;p1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3"/>
            <p:cNvSpPr/>
            <p:nvPr/>
          </p:nvSpPr>
          <p:spPr>
            <a:xfrm flipH="1">
              <a:off x="6908099" y="2069505"/>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3"/>
            <p:cNvSpPr/>
            <p:nvPr/>
          </p:nvSpPr>
          <p:spPr>
            <a:xfrm rot="-5400000">
              <a:off x="7227414" y="3710807"/>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7" name="Google Shape;147;p13"/>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rtl="0">
              <a:spcBef>
                <a:spcPts val="0"/>
              </a:spcBef>
              <a:spcAft>
                <a:spcPts val="0"/>
              </a:spcAft>
              <a:buSzPts val="8000"/>
              <a:buNone/>
              <a:defRPr sz="8000"/>
            </a:lvl1pPr>
            <a:lvl2pPr lvl="1" rtl="0">
              <a:spcBef>
                <a:spcPts val="0"/>
              </a:spcBef>
              <a:spcAft>
                <a:spcPts val="0"/>
              </a:spcAft>
              <a:buSzPts val="8000"/>
              <a:buNone/>
              <a:defRPr sz="8000"/>
            </a:lvl2pPr>
            <a:lvl3pPr lvl="2" rtl="0">
              <a:spcBef>
                <a:spcPts val="0"/>
              </a:spcBef>
              <a:spcAft>
                <a:spcPts val="0"/>
              </a:spcAft>
              <a:buSzPts val="8000"/>
              <a:buNone/>
              <a:defRPr sz="8000"/>
            </a:lvl3pPr>
            <a:lvl4pPr lvl="3" rtl="0">
              <a:spcBef>
                <a:spcPts val="0"/>
              </a:spcBef>
              <a:spcAft>
                <a:spcPts val="0"/>
              </a:spcAft>
              <a:buSzPts val="8000"/>
              <a:buNone/>
              <a:defRPr sz="8000"/>
            </a:lvl4pPr>
            <a:lvl5pPr lvl="4" rtl="0">
              <a:spcBef>
                <a:spcPts val="0"/>
              </a:spcBef>
              <a:spcAft>
                <a:spcPts val="0"/>
              </a:spcAft>
              <a:buSzPts val="8000"/>
              <a:buNone/>
              <a:defRPr sz="8000"/>
            </a:lvl5pPr>
            <a:lvl6pPr lvl="5" rtl="0">
              <a:spcBef>
                <a:spcPts val="0"/>
              </a:spcBef>
              <a:spcAft>
                <a:spcPts val="0"/>
              </a:spcAft>
              <a:buSzPts val="8000"/>
              <a:buNone/>
              <a:defRPr sz="8000"/>
            </a:lvl6pPr>
            <a:lvl7pPr lvl="6" rtl="0">
              <a:spcBef>
                <a:spcPts val="0"/>
              </a:spcBef>
              <a:spcAft>
                <a:spcPts val="0"/>
              </a:spcAft>
              <a:buSzPts val="8000"/>
              <a:buNone/>
              <a:defRPr sz="8000"/>
            </a:lvl7pPr>
            <a:lvl8pPr lvl="7" rtl="0">
              <a:spcBef>
                <a:spcPts val="0"/>
              </a:spcBef>
              <a:spcAft>
                <a:spcPts val="0"/>
              </a:spcAft>
              <a:buSzPts val="8000"/>
              <a:buNone/>
              <a:defRPr sz="8000"/>
            </a:lvl8pPr>
            <a:lvl9pPr lvl="8" rtl="0">
              <a:spcBef>
                <a:spcPts val="0"/>
              </a:spcBef>
              <a:spcAft>
                <a:spcPts val="0"/>
              </a:spcAft>
              <a:buSzPts val="8000"/>
              <a:buNone/>
              <a:defRPr sz="8000"/>
            </a:lvl9pPr>
          </a:lstStyle>
          <a:p>
            <a:r>
              <a:t>xx%</a:t>
            </a:r>
          </a:p>
        </p:txBody>
      </p:sp>
      <p:sp>
        <p:nvSpPr>
          <p:cNvPr id="148" name="Google Shape;148;p13"/>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149" name="Google Shape;149;p13"/>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50" name="Google Shape;150;p13"/>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1" name="Shape 151"/>
        <p:cNvGrpSpPr/>
        <p:nvPr/>
      </p:nvGrpSpPr>
      <p:grpSpPr>
        <a:xfrm>
          <a:off x="0" y="0"/>
          <a:ext cx="0" cy="0"/>
          <a:chOff x="0" y="0"/>
          <a:chExt cx="0" cy="0"/>
        </a:xfrm>
      </p:grpSpPr>
      <p:sp>
        <p:nvSpPr>
          <p:cNvPr id="152" name="Google Shape;152;p14"/>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53" name="Google Shape;153;p14"/>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rtl="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lt1"/>
                </a:solidFill>
                <a:latin typeface="Lato"/>
                <a:ea typeface="Lato"/>
                <a:cs typeface="Lato"/>
                <a:sym typeface="Lato"/>
              </a:defRPr>
            </a:lvl1pPr>
            <a:lvl2pPr lvl="1" rtl="0" algn="r">
              <a:buNone/>
              <a:defRPr sz="1000">
                <a:solidFill>
                  <a:schemeClr val="lt1"/>
                </a:solidFill>
                <a:latin typeface="Lato"/>
                <a:ea typeface="Lato"/>
                <a:cs typeface="Lato"/>
                <a:sym typeface="Lato"/>
              </a:defRPr>
            </a:lvl2pPr>
            <a:lvl3pPr lvl="2" rtl="0" algn="r">
              <a:buNone/>
              <a:defRPr sz="1000">
                <a:solidFill>
                  <a:schemeClr val="lt1"/>
                </a:solidFill>
                <a:latin typeface="Lato"/>
                <a:ea typeface="Lato"/>
                <a:cs typeface="Lato"/>
                <a:sym typeface="Lato"/>
              </a:defRPr>
            </a:lvl3pPr>
            <a:lvl4pPr lvl="3" rtl="0" algn="r">
              <a:buNone/>
              <a:defRPr sz="1000">
                <a:solidFill>
                  <a:schemeClr val="lt1"/>
                </a:solidFill>
                <a:latin typeface="Lato"/>
                <a:ea typeface="Lato"/>
                <a:cs typeface="Lato"/>
                <a:sym typeface="Lato"/>
              </a:defRPr>
            </a:lvl4pPr>
            <a:lvl5pPr lvl="4" rtl="0" algn="r">
              <a:buNone/>
              <a:defRPr sz="1000">
                <a:solidFill>
                  <a:schemeClr val="lt1"/>
                </a:solidFill>
                <a:latin typeface="Lato"/>
                <a:ea typeface="Lato"/>
                <a:cs typeface="Lato"/>
                <a:sym typeface="Lato"/>
              </a:defRPr>
            </a:lvl5pPr>
            <a:lvl6pPr lvl="5" rtl="0" algn="r">
              <a:buNone/>
              <a:defRPr sz="1000">
                <a:solidFill>
                  <a:schemeClr val="lt1"/>
                </a:solidFill>
                <a:latin typeface="Lato"/>
                <a:ea typeface="Lato"/>
                <a:cs typeface="Lato"/>
                <a:sym typeface="Lato"/>
              </a:defRPr>
            </a:lvl6pPr>
            <a:lvl7pPr lvl="6" rtl="0" algn="r">
              <a:buNone/>
              <a:defRPr sz="1000">
                <a:solidFill>
                  <a:schemeClr val="lt1"/>
                </a:solidFill>
                <a:latin typeface="Lato"/>
                <a:ea typeface="Lato"/>
                <a:cs typeface="Lato"/>
                <a:sym typeface="Lato"/>
              </a:defRPr>
            </a:lvl7pPr>
            <a:lvl8pPr lvl="7" rtl="0" algn="r">
              <a:buNone/>
              <a:defRPr sz="1000">
                <a:solidFill>
                  <a:schemeClr val="lt1"/>
                </a:solidFill>
                <a:latin typeface="Lato"/>
                <a:ea typeface="Lato"/>
                <a:cs typeface="Lato"/>
                <a:sym typeface="Lato"/>
              </a:defRPr>
            </a:lvl8pPr>
            <a:lvl9pPr lvl="8" rtl="0"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0" Type="http://schemas.openxmlformats.org/officeDocument/2006/relationships/image" Target="../media/image12.png"/><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3.png"/><Relationship Id="rId4" Type="http://schemas.openxmlformats.org/officeDocument/2006/relationships/image" Target="../media/image14.png"/><Relationship Id="rId9"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5.png"/><Relationship Id="rId7" Type="http://schemas.openxmlformats.org/officeDocument/2006/relationships/image" Target="../media/image7.png"/><Relationship Id="rId8" Type="http://schemas.openxmlformats.org/officeDocument/2006/relationships/image" Target="../media/image16.png"/></Relationships>
</file>

<file path=ppt/slides/_rels/slide10.xml.rels><?xml version="1.0" encoding="UTF-8" standalone="yes"?><Relationships xmlns="http://schemas.openxmlformats.org/package/2006/relationships"><Relationship Id="rId10" Type="http://schemas.openxmlformats.org/officeDocument/2006/relationships/image" Target="../media/image12.png"/><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image" Target="../media/image14.png"/><Relationship Id="rId9"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5.png"/><Relationship Id="rId7" Type="http://schemas.openxmlformats.org/officeDocument/2006/relationships/image" Target="../media/image7.png"/><Relationship Id="rId8" Type="http://schemas.openxmlformats.org/officeDocument/2006/relationships/image" Target="../media/image16.png"/></Relationships>
</file>

<file path=ppt/slides/_rels/slide11.xml.rels><?xml version="1.0" encoding="UTF-8" standalone="yes"?><Relationships xmlns="http://schemas.openxmlformats.org/package/2006/relationships"><Relationship Id="rId10" Type="http://schemas.openxmlformats.org/officeDocument/2006/relationships/image" Target="../media/image12.png"/><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image" Target="../media/image14.png"/><Relationship Id="rId9"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5.png"/><Relationship Id="rId7" Type="http://schemas.openxmlformats.org/officeDocument/2006/relationships/image" Target="../media/image7.png"/><Relationship Id="rId8" Type="http://schemas.openxmlformats.org/officeDocument/2006/relationships/image" Target="../media/image16.png"/></Relationships>
</file>

<file path=ppt/slides/_rels/slide12.xml.rels><?xml version="1.0" encoding="UTF-8" standalone="yes"?><Relationships xmlns="http://schemas.openxmlformats.org/package/2006/relationships"><Relationship Id="rId10" Type="http://schemas.openxmlformats.org/officeDocument/2006/relationships/image" Target="../media/image12.png"/><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3.png"/><Relationship Id="rId4" Type="http://schemas.openxmlformats.org/officeDocument/2006/relationships/image" Target="../media/image14.png"/><Relationship Id="rId9"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5.png"/><Relationship Id="rId7" Type="http://schemas.openxmlformats.org/officeDocument/2006/relationships/image" Target="../media/image7.png"/><Relationship Id="rId8" Type="http://schemas.openxmlformats.org/officeDocument/2006/relationships/image" Target="../media/image16.png"/></Relationships>
</file>

<file path=ppt/slides/_rels/slide13.xml.rels><?xml version="1.0" encoding="UTF-8" standalone="yes"?><Relationships xmlns="http://schemas.openxmlformats.org/package/2006/relationships"><Relationship Id="rId10" Type="http://schemas.openxmlformats.org/officeDocument/2006/relationships/image" Target="../media/image12.png"/><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14.png"/><Relationship Id="rId9"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5.png"/><Relationship Id="rId7" Type="http://schemas.openxmlformats.org/officeDocument/2006/relationships/image" Target="../media/image7.png"/><Relationship Id="rId8" Type="http://schemas.openxmlformats.org/officeDocument/2006/relationships/image" Target="../media/image16.png"/></Relationships>
</file>

<file path=ppt/slides/_rels/slide14.xml.rels><?xml version="1.0" encoding="UTF-8" standalone="yes"?><Relationships xmlns="http://schemas.openxmlformats.org/package/2006/relationships"><Relationship Id="rId10" Type="http://schemas.openxmlformats.org/officeDocument/2006/relationships/image" Target="../media/image12.png"/><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3.png"/><Relationship Id="rId4" Type="http://schemas.openxmlformats.org/officeDocument/2006/relationships/image" Target="../media/image14.png"/><Relationship Id="rId9"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5.png"/><Relationship Id="rId7" Type="http://schemas.openxmlformats.org/officeDocument/2006/relationships/image" Target="../media/image7.png"/><Relationship Id="rId8" Type="http://schemas.openxmlformats.org/officeDocument/2006/relationships/image" Target="../media/image16.png"/></Relationships>
</file>

<file path=ppt/slides/_rels/slide15.xml.rels><?xml version="1.0" encoding="UTF-8" standalone="yes"?><Relationships xmlns="http://schemas.openxmlformats.org/package/2006/relationships"><Relationship Id="rId10" Type="http://schemas.openxmlformats.org/officeDocument/2006/relationships/image" Target="../media/image12.png"/><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3.png"/><Relationship Id="rId4" Type="http://schemas.openxmlformats.org/officeDocument/2006/relationships/image" Target="../media/image14.png"/><Relationship Id="rId9"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5.png"/><Relationship Id="rId7" Type="http://schemas.openxmlformats.org/officeDocument/2006/relationships/image" Target="../media/image7.png"/><Relationship Id="rId8" Type="http://schemas.openxmlformats.org/officeDocument/2006/relationships/image" Target="../media/image16.png"/></Relationships>
</file>

<file path=ppt/slides/_rels/slide16.xml.rels><?xml version="1.0" encoding="UTF-8" standalone="yes"?><Relationships xmlns="http://schemas.openxmlformats.org/package/2006/relationships"><Relationship Id="rId10" Type="http://schemas.openxmlformats.org/officeDocument/2006/relationships/image" Target="../media/image12.png"/><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3.png"/><Relationship Id="rId4" Type="http://schemas.openxmlformats.org/officeDocument/2006/relationships/image" Target="../media/image14.png"/><Relationship Id="rId9"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5.png"/><Relationship Id="rId7" Type="http://schemas.openxmlformats.org/officeDocument/2006/relationships/image" Target="../media/image7.png"/><Relationship Id="rId8" Type="http://schemas.openxmlformats.org/officeDocument/2006/relationships/image" Target="../media/image16.png"/></Relationships>
</file>

<file path=ppt/slides/_rels/slide17.xml.rels><?xml version="1.0" encoding="UTF-8" standalone="yes"?><Relationships xmlns="http://schemas.openxmlformats.org/package/2006/relationships"><Relationship Id="rId10" Type="http://schemas.openxmlformats.org/officeDocument/2006/relationships/image" Target="../media/image12.png"/><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13.png"/><Relationship Id="rId4" Type="http://schemas.openxmlformats.org/officeDocument/2006/relationships/image" Target="../media/image14.png"/><Relationship Id="rId9"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5.png"/><Relationship Id="rId7" Type="http://schemas.openxmlformats.org/officeDocument/2006/relationships/image" Target="../media/image7.png"/><Relationship Id="rId8"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5"/>
          <p:cNvSpPr txBox="1"/>
          <p:nvPr>
            <p:ph type="ctrTitle"/>
          </p:nvPr>
        </p:nvSpPr>
        <p:spPr>
          <a:xfrm>
            <a:off x="3288225" y="1578375"/>
            <a:ext cx="5604000" cy="1578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Elements of an </a:t>
            </a:r>
            <a:endParaRPr/>
          </a:p>
          <a:p>
            <a:pPr indent="0" lvl="0" marL="0" rtl="0" algn="ctr">
              <a:spcBef>
                <a:spcPts val="0"/>
              </a:spcBef>
              <a:spcAft>
                <a:spcPts val="0"/>
              </a:spcAft>
              <a:buNone/>
            </a:pPr>
            <a:r>
              <a:rPr lang="en"/>
              <a:t>AI Policy</a:t>
            </a:r>
            <a:endParaRPr sz="3988"/>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6"/>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Terms of Use</a:t>
            </a:r>
            <a:endParaRPr/>
          </a:p>
        </p:txBody>
      </p:sp>
      <p:pic>
        <p:nvPicPr>
          <p:cNvPr id="164" name="Google Shape;164;p16"/>
          <p:cNvPicPr preferRelativeResize="0"/>
          <p:nvPr/>
        </p:nvPicPr>
        <p:blipFill>
          <a:blip r:embed="rId3">
            <a:alphaModFix/>
          </a:blip>
          <a:stretch>
            <a:fillRect/>
          </a:stretch>
        </p:blipFill>
        <p:spPr>
          <a:xfrm>
            <a:off x="5981726" y="2173675"/>
            <a:ext cx="2275450" cy="7961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7"/>
          <p:cNvSpPr txBox="1"/>
          <p:nvPr>
            <p:ph idx="4294967295" type="title"/>
          </p:nvPr>
        </p:nvSpPr>
        <p:spPr>
          <a:xfrm>
            <a:off x="230700" y="1003350"/>
            <a:ext cx="8793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lt1"/>
              </a:buClr>
              <a:buSzPts val="990"/>
              <a:buFont typeface="Arial"/>
              <a:buNone/>
            </a:pPr>
            <a:r>
              <a:rPr b="1" lang="en">
                <a:solidFill>
                  <a:srgbClr val="333333"/>
                </a:solidFill>
                <a:highlight>
                  <a:srgbClr val="FFFFFF"/>
                </a:highlight>
              </a:rPr>
              <a:t>Disclaimer:</a:t>
            </a:r>
            <a:r>
              <a:rPr lang="en">
                <a:solidFill>
                  <a:srgbClr val="333333"/>
                </a:solidFill>
                <a:highlight>
                  <a:srgbClr val="FFFFFF"/>
                </a:highlight>
              </a:rPr>
              <a:t> The thoughts and ideas presented in this course are not to be substituted for legal or ethical advice and are only meant to give you a starting point for gathering information about AI policy and regulations to consider.</a:t>
            </a:r>
            <a:endParaRPr/>
          </a:p>
        </p:txBody>
      </p:sp>
      <p:sp>
        <p:nvSpPr>
          <p:cNvPr id="170" name="Google Shape;170;p17"/>
          <p:cNvSpPr/>
          <p:nvPr/>
        </p:nvSpPr>
        <p:spPr>
          <a:xfrm>
            <a:off x="0" y="791300"/>
            <a:ext cx="9144000" cy="2601600"/>
          </a:xfrm>
          <a:prstGeom prst="rect">
            <a:avLst/>
          </a:prstGeom>
          <a:noFill/>
          <a:ln cap="flat" cmpd="sng" w="3810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71" name="Google Shape;171;p17"/>
          <p:cNvSpPr/>
          <p:nvPr/>
        </p:nvSpPr>
        <p:spPr>
          <a:xfrm>
            <a:off x="76200" y="867500"/>
            <a:ext cx="8948400" cy="2453700"/>
          </a:xfrm>
          <a:prstGeom prst="rect">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8"/>
          <p:cNvSpPr txBox="1"/>
          <p:nvPr>
            <p:ph type="title"/>
          </p:nvPr>
        </p:nvSpPr>
        <p:spPr>
          <a:xfrm>
            <a:off x="251600" y="145700"/>
            <a:ext cx="8505600" cy="4866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en" sz="3190">
                <a:solidFill>
                  <a:schemeClr val="dk1"/>
                </a:solidFill>
              </a:rPr>
              <a:t>Effective AI policies should be living documents</a:t>
            </a:r>
            <a:endParaRPr sz="3190">
              <a:solidFill>
                <a:schemeClr val="dk1"/>
              </a:solidFill>
            </a:endParaRPr>
          </a:p>
          <a:p>
            <a:pPr indent="0" lvl="0" marL="0" rtl="0" algn="l">
              <a:spcBef>
                <a:spcPts val="0"/>
              </a:spcBef>
              <a:spcAft>
                <a:spcPts val="0"/>
              </a:spcAft>
              <a:buSzPts val="990"/>
              <a:buNone/>
            </a:pPr>
            <a:r>
              <a:t/>
            </a:r>
            <a:endParaRPr sz="3190">
              <a:solidFill>
                <a:schemeClr val="dk1"/>
              </a:solidFill>
            </a:endParaRPr>
          </a:p>
          <a:p>
            <a:pPr indent="0" lvl="0" marL="0" rtl="0" algn="l">
              <a:spcBef>
                <a:spcPts val="0"/>
              </a:spcBef>
              <a:spcAft>
                <a:spcPts val="0"/>
              </a:spcAft>
              <a:buSzPts val="990"/>
              <a:buNone/>
            </a:pPr>
            <a:r>
              <a:t/>
            </a:r>
            <a:endParaRPr sz="3490">
              <a:solidFill>
                <a:schemeClr val="dk1"/>
              </a:solidFill>
            </a:endParaRPr>
          </a:p>
          <a:p>
            <a:pPr indent="0" lvl="0" marL="0" rtl="0" algn="l">
              <a:spcBef>
                <a:spcPts val="0"/>
              </a:spcBef>
              <a:spcAft>
                <a:spcPts val="0"/>
              </a:spcAft>
              <a:buSzPts val="990"/>
              <a:buNone/>
            </a:pPr>
            <a:r>
              <a:t/>
            </a:r>
            <a:endParaRPr sz="3490">
              <a:solidFill>
                <a:schemeClr val="dk1"/>
              </a:solidFill>
            </a:endParaRPr>
          </a:p>
          <a:p>
            <a:pPr indent="0" lvl="0" marL="0" rtl="0" algn="l">
              <a:spcBef>
                <a:spcPts val="0"/>
              </a:spcBef>
              <a:spcAft>
                <a:spcPts val="0"/>
              </a:spcAft>
              <a:buSzPts val="990"/>
              <a:buNone/>
            </a:pPr>
            <a:r>
              <a:t/>
            </a:r>
            <a:endParaRPr sz="3490">
              <a:solidFill>
                <a:schemeClr val="dk1"/>
              </a:solidFill>
            </a:endParaRPr>
          </a:p>
          <a:p>
            <a:pPr indent="0" lvl="0" marL="0" rtl="0" algn="l">
              <a:spcBef>
                <a:spcPts val="0"/>
              </a:spcBef>
              <a:spcAft>
                <a:spcPts val="0"/>
              </a:spcAft>
              <a:buSzPts val="990"/>
              <a:buNone/>
            </a:pPr>
            <a:r>
              <a:t/>
            </a:r>
            <a:endParaRPr sz="3490">
              <a:solidFill>
                <a:schemeClr val="dk1"/>
              </a:solidFill>
            </a:endParaRPr>
          </a:p>
          <a:p>
            <a:pPr indent="0" lvl="0" marL="0" rtl="0" algn="l">
              <a:spcBef>
                <a:spcPts val="0"/>
              </a:spcBef>
              <a:spcAft>
                <a:spcPts val="0"/>
              </a:spcAft>
              <a:buSzPts val="990"/>
              <a:buNone/>
            </a:pPr>
            <a:r>
              <a:t/>
            </a:r>
            <a:endParaRPr sz="3490">
              <a:solidFill>
                <a:schemeClr val="dk1"/>
              </a:solidFill>
            </a:endParaRPr>
          </a:p>
          <a:p>
            <a:pPr indent="0" lvl="0" marL="0" rtl="0" algn="l">
              <a:spcBef>
                <a:spcPts val="0"/>
              </a:spcBef>
              <a:spcAft>
                <a:spcPts val="0"/>
              </a:spcAft>
              <a:buSzPts val="990"/>
              <a:buNone/>
            </a:pPr>
            <a:r>
              <a:rPr lang="en" sz="3290">
                <a:solidFill>
                  <a:schemeClr val="dk1"/>
                </a:solidFill>
              </a:rPr>
              <a:t>As AI tools advance, so should policy</a:t>
            </a:r>
            <a:endParaRPr sz="3290">
              <a:solidFill>
                <a:schemeClr val="dk1"/>
              </a:solidFill>
            </a:endParaRPr>
          </a:p>
        </p:txBody>
      </p:sp>
      <p:grpSp>
        <p:nvGrpSpPr>
          <p:cNvPr id="177" name="Google Shape;177;p18"/>
          <p:cNvGrpSpPr/>
          <p:nvPr/>
        </p:nvGrpSpPr>
        <p:grpSpPr>
          <a:xfrm>
            <a:off x="2127358" y="3029114"/>
            <a:ext cx="1045837" cy="1043042"/>
            <a:chOff x="14699200" y="4871125"/>
            <a:chExt cx="4253100" cy="5329800"/>
          </a:xfrm>
        </p:grpSpPr>
        <p:sp>
          <p:nvSpPr>
            <p:cNvPr id="178" name="Google Shape;178;p18"/>
            <p:cNvSpPr/>
            <p:nvPr/>
          </p:nvSpPr>
          <p:spPr>
            <a:xfrm>
              <a:off x="14699200" y="4871125"/>
              <a:ext cx="3948300" cy="50250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79" name="Google Shape;179;p18"/>
            <p:cNvSpPr/>
            <p:nvPr/>
          </p:nvSpPr>
          <p:spPr>
            <a:xfrm>
              <a:off x="14851600" y="5023525"/>
              <a:ext cx="3948300" cy="50250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80" name="Google Shape;180;p18"/>
            <p:cNvSpPr/>
            <p:nvPr/>
          </p:nvSpPr>
          <p:spPr>
            <a:xfrm>
              <a:off x="15004000" y="5175925"/>
              <a:ext cx="3948300" cy="50250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81" name="Google Shape;181;p18"/>
            <p:cNvCxnSpPr/>
            <p:nvPr/>
          </p:nvCxnSpPr>
          <p:spPr>
            <a:xfrm>
              <a:off x="15533150" y="6006050"/>
              <a:ext cx="2973900" cy="0"/>
            </a:xfrm>
            <a:prstGeom prst="straightConnector1">
              <a:avLst/>
            </a:prstGeom>
            <a:noFill/>
            <a:ln cap="flat" cmpd="sng" w="28575">
              <a:solidFill>
                <a:srgbClr val="000000"/>
              </a:solidFill>
              <a:prstDash val="solid"/>
              <a:round/>
              <a:headEnd len="med" w="med" type="none"/>
              <a:tailEnd len="med" w="med" type="none"/>
            </a:ln>
          </p:spPr>
        </p:cxnSp>
        <p:cxnSp>
          <p:nvCxnSpPr>
            <p:cNvPr id="182" name="Google Shape;182;p18"/>
            <p:cNvCxnSpPr/>
            <p:nvPr/>
          </p:nvCxnSpPr>
          <p:spPr>
            <a:xfrm>
              <a:off x="15533150" y="6679000"/>
              <a:ext cx="2973900" cy="0"/>
            </a:xfrm>
            <a:prstGeom prst="straightConnector1">
              <a:avLst/>
            </a:prstGeom>
            <a:noFill/>
            <a:ln cap="flat" cmpd="sng" w="28575">
              <a:solidFill>
                <a:srgbClr val="000000"/>
              </a:solidFill>
              <a:prstDash val="solid"/>
              <a:round/>
              <a:headEnd len="med" w="med" type="none"/>
              <a:tailEnd len="med" w="med" type="none"/>
            </a:ln>
          </p:spPr>
        </p:cxnSp>
        <p:cxnSp>
          <p:nvCxnSpPr>
            <p:cNvPr id="183" name="Google Shape;183;p18"/>
            <p:cNvCxnSpPr/>
            <p:nvPr/>
          </p:nvCxnSpPr>
          <p:spPr>
            <a:xfrm>
              <a:off x="15533150" y="7351950"/>
              <a:ext cx="2973900" cy="0"/>
            </a:xfrm>
            <a:prstGeom prst="straightConnector1">
              <a:avLst/>
            </a:prstGeom>
            <a:noFill/>
            <a:ln cap="flat" cmpd="sng" w="28575">
              <a:solidFill>
                <a:srgbClr val="000000"/>
              </a:solidFill>
              <a:prstDash val="solid"/>
              <a:round/>
              <a:headEnd len="med" w="med" type="none"/>
              <a:tailEnd len="med" w="med" type="none"/>
            </a:ln>
          </p:spPr>
        </p:cxnSp>
        <p:cxnSp>
          <p:nvCxnSpPr>
            <p:cNvPr id="184" name="Google Shape;184;p18"/>
            <p:cNvCxnSpPr/>
            <p:nvPr/>
          </p:nvCxnSpPr>
          <p:spPr>
            <a:xfrm>
              <a:off x="15533150" y="8024900"/>
              <a:ext cx="2973900" cy="0"/>
            </a:xfrm>
            <a:prstGeom prst="straightConnector1">
              <a:avLst/>
            </a:prstGeom>
            <a:noFill/>
            <a:ln cap="flat" cmpd="sng" w="28575">
              <a:solidFill>
                <a:srgbClr val="000000"/>
              </a:solidFill>
              <a:prstDash val="solid"/>
              <a:round/>
              <a:headEnd len="med" w="med" type="none"/>
              <a:tailEnd len="med" w="med" type="none"/>
            </a:ln>
          </p:spPr>
        </p:cxnSp>
        <p:cxnSp>
          <p:nvCxnSpPr>
            <p:cNvPr id="185" name="Google Shape;185;p18"/>
            <p:cNvCxnSpPr/>
            <p:nvPr/>
          </p:nvCxnSpPr>
          <p:spPr>
            <a:xfrm>
              <a:off x="15533150" y="8697850"/>
              <a:ext cx="2973900" cy="0"/>
            </a:xfrm>
            <a:prstGeom prst="straightConnector1">
              <a:avLst/>
            </a:prstGeom>
            <a:noFill/>
            <a:ln cap="flat" cmpd="sng" w="28575">
              <a:solidFill>
                <a:srgbClr val="000000"/>
              </a:solidFill>
              <a:prstDash val="solid"/>
              <a:round/>
              <a:headEnd len="med" w="med" type="none"/>
              <a:tailEnd len="med" w="med" type="none"/>
            </a:ln>
          </p:spPr>
        </p:cxnSp>
        <p:cxnSp>
          <p:nvCxnSpPr>
            <p:cNvPr id="186" name="Google Shape;186;p18"/>
            <p:cNvCxnSpPr/>
            <p:nvPr/>
          </p:nvCxnSpPr>
          <p:spPr>
            <a:xfrm>
              <a:off x="15533150" y="9370800"/>
              <a:ext cx="2973900" cy="0"/>
            </a:xfrm>
            <a:prstGeom prst="straightConnector1">
              <a:avLst/>
            </a:prstGeom>
            <a:noFill/>
            <a:ln cap="flat" cmpd="sng" w="28575">
              <a:solidFill>
                <a:srgbClr val="000000"/>
              </a:solidFill>
              <a:prstDash val="solid"/>
              <a:round/>
              <a:headEnd len="med" w="med" type="none"/>
              <a:tailEnd len="med" w="med" type="none"/>
            </a:ln>
          </p:spPr>
        </p:cxnSp>
      </p:grpSp>
      <p:pic>
        <p:nvPicPr>
          <p:cNvPr id="187" name="Google Shape;187;p18"/>
          <p:cNvPicPr preferRelativeResize="0"/>
          <p:nvPr/>
        </p:nvPicPr>
        <p:blipFill>
          <a:blip r:embed="rId3">
            <a:alphaModFix/>
          </a:blip>
          <a:stretch>
            <a:fillRect/>
          </a:stretch>
        </p:blipFill>
        <p:spPr>
          <a:xfrm>
            <a:off x="2024533" y="1443972"/>
            <a:ext cx="1148667" cy="1148700"/>
          </a:xfrm>
          <a:prstGeom prst="rect">
            <a:avLst/>
          </a:prstGeom>
          <a:noFill/>
          <a:ln>
            <a:noFill/>
          </a:ln>
        </p:spPr>
      </p:pic>
      <p:sp>
        <p:nvSpPr>
          <p:cNvPr id="188" name="Google Shape;188;p18"/>
          <p:cNvSpPr txBox="1"/>
          <p:nvPr/>
        </p:nvSpPr>
        <p:spPr>
          <a:xfrm>
            <a:off x="3477150" y="1245088"/>
            <a:ext cx="51435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lt1"/>
                </a:solidFill>
                <a:latin typeface="Lato"/>
                <a:ea typeface="Lato"/>
                <a:cs typeface="Lato"/>
                <a:sym typeface="Lato"/>
              </a:rPr>
              <a:t>Advancements</a:t>
            </a:r>
            <a:r>
              <a:rPr lang="en" sz="2000">
                <a:solidFill>
                  <a:schemeClr val="lt1"/>
                </a:solidFill>
                <a:latin typeface="Lato"/>
                <a:ea typeface="Lato"/>
                <a:cs typeface="Lato"/>
                <a:sym typeface="Lato"/>
              </a:rPr>
              <a:t> in </a:t>
            </a:r>
            <a:r>
              <a:rPr i="1" lang="en" sz="2000">
                <a:solidFill>
                  <a:schemeClr val="lt1"/>
                </a:solidFill>
                <a:latin typeface="Lato"/>
                <a:ea typeface="Lato"/>
                <a:cs typeface="Lato"/>
                <a:sym typeface="Lato"/>
              </a:rPr>
              <a:t>AI tools</a:t>
            </a:r>
            <a:r>
              <a:rPr lang="en" sz="2000">
                <a:solidFill>
                  <a:schemeClr val="lt1"/>
                </a:solidFill>
                <a:latin typeface="Lato"/>
                <a:ea typeface="Lato"/>
                <a:cs typeface="Lato"/>
                <a:sym typeface="Lato"/>
              </a:rPr>
              <a:t> </a:t>
            </a:r>
            <a:endParaRPr sz="2000">
              <a:solidFill>
                <a:schemeClr val="lt1"/>
              </a:solidFill>
              <a:latin typeface="Lato"/>
              <a:ea typeface="Lato"/>
              <a:cs typeface="Lato"/>
              <a:sym typeface="Lato"/>
            </a:endParaRPr>
          </a:p>
        </p:txBody>
      </p:sp>
      <p:sp>
        <p:nvSpPr>
          <p:cNvPr id="189" name="Google Shape;189;p18"/>
          <p:cNvSpPr txBox="1"/>
          <p:nvPr/>
        </p:nvSpPr>
        <p:spPr>
          <a:xfrm>
            <a:off x="3477150" y="3029125"/>
            <a:ext cx="51435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lt1"/>
                </a:solidFill>
                <a:latin typeface="Lato"/>
                <a:ea typeface="Lato"/>
                <a:cs typeface="Lato"/>
                <a:sym typeface="Lato"/>
              </a:rPr>
              <a:t>Advancements in </a:t>
            </a:r>
            <a:r>
              <a:rPr i="1" lang="en" sz="2000">
                <a:solidFill>
                  <a:schemeClr val="lt1"/>
                </a:solidFill>
                <a:latin typeface="Lato"/>
                <a:ea typeface="Lato"/>
                <a:cs typeface="Lato"/>
                <a:sym typeface="Lato"/>
              </a:rPr>
              <a:t>AI Policy</a:t>
            </a:r>
            <a:endParaRPr i="1" sz="2000">
              <a:solidFill>
                <a:schemeClr val="lt1"/>
              </a:solidFill>
              <a:latin typeface="Lato"/>
              <a:ea typeface="Lato"/>
              <a:cs typeface="Lato"/>
              <a:sym typeface="Lato"/>
            </a:endParaRPr>
          </a:p>
        </p:txBody>
      </p:sp>
      <p:sp>
        <p:nvSpPr>
          <p:cNvPr id="190" name="Google Shape;190;p18"/>
          <p:cNvSpPr/>
          <p:nvPr/>
        </p:nvSpPr>
        <p:spPr>
          <a:xfrm>
            <a:off x="3803000" y="1719188"/>
            <a:ext cx="1821300" cy="699300"/>
          </a:xfrm>
          <a:prstGeom prst="rightArrow">
            <a:avLst>
              <a:gd fmla="val 50000" name="adj1"/>
              <a:gd fmla="val 50000" name="adj2"/>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91" name="Google Shape;191;p18"/>
          <p:cNvSpPr/>
          <p:nvPr/>
        </p:nvSpPr>
        <p:spPr>
          <a:xfrm>
            <a:off x="3803000" y="3372838"/>
            <a:ext cx="1821300" cy="699300"/>
          </a:xfrm>
          <a:prstGeom prst="rightArrow">
            <a:avLst>
              <a:gd fmla="val 50000" name="adj1"/>
              <a:gd fmla="val 50000" name="adj2"/>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9"/>
          <p:cNvSpPr txBox="1"/>
          <p:nvPr>
            <p:ph idx="1" type="body"/>
          </p:nvPr>
        </p:nvSpPr>
        <p:spPr>
          <a:xfrm>
            <a:off x="418425" y="4674325"/>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a:p>
        </p:txBody>
      </p:sp>
      <p:sp>
        <p:nvSpPr>
          <p:cNvPr id="197" name="Google Shape;197;p19"/>
          <p:cNvSpPr txBox="1"/>
          <p:nvPr>
            <p:ph idx="4294967295" type="title"/>
          </p:nvPr>
        </p:nvSpPr>
        <p:spPr>
          <a:xfrm>
            <a:off x="319200" y="638125"/>
            <a:ext cx="8505600" cy="40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190">
                <a:solidFill>
                  <a:schemeClr val="dk1"/>
                </a:solidFill>
              </a:rPr>
              <a:t>Policy writing takes a team</a:t>
            </a:r>
            <a:endParaRPr sz="3190">
              <a:solidFill>
                <a:schemeClr val="dk1"/>
              </a:solidFill>
            </a:endParaRPr>
          </a:p>
          <a:p>
            <a:pPr indent="0" lvl="0" marL="0" rtl="0" algn="l">
              <a:spcBef>
                <a:spcPts val="0"/>
              </a:spcBef>
              <a:spcAft>
                <a:spcPts val="0"/>
              </a:spcAft>
              <a:buSzPts val="990"/>
              <a:buNone/>
            </a:pPr>
            <a:r>
              <a:t/>
            </a:r>
            <a:endParaRPr sz="3190">
              <a:solidFill>
                <a:schemeClr val="dk1"/>
              </a:solidFill>
            </a:endParaRPr>
          </a:p>
          <a:p>
            <a:pPr indent="0" lvl="0" marL="0" rtl="0" algn="l">
              <a:spcBef>
                <a:spcPts val="0"/>
              </a:spcBef>
              <a:spcAft>
                <a:spcPts val="0"/>
              </a:spcAft>
              <a:buSzPts val="990"/>
              <a:buNone/>
            </a:pPr>
            <a:r>
              <a:rPr lang="en" sz="3190">
                <a:solidFill>
                  <a:schemeClr val="dk1"/>
                </a:solidFill>
              </a:rPr>
              <a:t>Consider what is approach works best for your team: </a:t>
            </a:r>
            <a:endParaRPr sz="3190">
              <a:solidFill>
                <a:schemeClr val="dk1"/>
              </a:solidFill>
            </a:endParaRPr>
          </a:p>
          <a:p>
            <a:pPr indent="0" lvl="0" marL="0" rtl="0" algn="l">
              <a:spcBef>
                <a:spcPts val="0"/>
              </a:spcBef>
              <a:spcAft>
                <a:spcPts val="0"/>
              </a:spcAft>
              <a:buSzPts val="990"/>
              <a:buNone/>
            </a:pPr>
            <a:r>
              <a:t/>
            </a:r>
            <a:endParaRPr sz="3190">
              <a:solidFill>
                <a:schemeClr val="dk1"/>
              </a:solidFill>
            </a:endParaRPr>
          </a:p>
          <a:p>
            <a:pPr indent="-431165" lvl="0" marL="457200" rtl="0" algn="l">
              <a:spcBef>
                <a:spcPts val="0"/>
              </a:spcBef>
              <a:spcAft>
                <a:spcPts val="0"/>
              </a:spcAft>
              <a:buClr>
                <a:schemeClr val="dk1"/>
              </a:buClr>
              <a:buSzPts val="3190"/>
              <a:buChar char="●"/>
            </a:pPr>
            <a:r>
              <a:rPr lang="en" sz="3190">
                <a:solidFill>
                  <a:schemeClr val="dk1"/>
                </a:solidFill>
              </a:rPr>
              <a:t>Asynchronous collaboration </a:t>
            </a:r>
            <a:endParaRPr sz="3190">
              <a:solidFill>
                <a:schemeClr val="dk1"/>
              </a:solidFill>
            </a:endParaRPr>
          </a:p>
          <a:p>
            <a:pPr indent="-431165" lvl="0" marL="457200" rtl="0" algn="l">
              <a:spcBef>
                <a:spcPts val="0"/>
              </a:spcBef>
              <a:spcAft>
                <a:spcPts val="0"/>
              </a:spcAft>
              <a:buClr>
                <a:schemeClr val="dk1"/>
              </a:buClr>
              <a:buSzPts val="3190"/>
              <a:buChar char="●"/>
            </a:pPr>
            <a:r>
              <a:rPr lang="en" sz="3190">
                <a:solidFill>
                  <a:schemeClr val="dk1"/>
                </a:solidFill>
              </a:rPr>
              <a:t>Synchronous collaboration </a:t>
            </a:r>
            <a:endParaRPr sz="3490">
              <a:solidFill>
                <a:schemeClr val="dk1"/>
              </a:solidFill>
            </a:endParaRPr>
          </a:p>
          <a:p>
            <a:pPr indent="0" lvl="0" marL="0" rtl="0" algn="l">
              <a:spcBef>
                <a:spcPts val="0"/>
              </a:spcBef>
              <a:spcAft>
                <a:spcPts val="0"/>
              </a:spcAft>
              <a:buSzPts val="990"/>
              <a:buNone/>
            </a:pPr>
            <a:r>
              <a:t/>
            </a:r>
            <a:endParaRPr sz="3290">
              <a:solidFill>
                <a:schemeClr val="dk1"/>
              </a:solidFill>
            </a:endParaRPr>
          </a:p>
          <a:p>
            <a:pPr indent="0" lvl="0" marL="0" rtl="0" algn="l">
              <a:spcBef>
                <a:spcPts val="0"/>
              </a:spcBef>
              <a:spcAft>
                <a:spcPts val="0"/>
              </a:spcAft>
              <a:buSzPts val="990"/>
              <a:buNone/>
            </a:pPr>
            <a:r>
              <a:t/>
            </a:r>
            <a:endParaRPr sz="3290">
              <a:solidFill>
                <a:schemeClr val="dk1"/>
              </a:solidFill>
            </a:endParaRPr>
          </a:p>
          <a:p>
            <a:pPr indent="0" lvl="0" marL="0" rtl="0" algn="l">
              <a:spcBef>
                <a:spcPts val="0"/>
              </a:spcBef>
              <a:spcAft>
                <a:spcPts val="0"/>
              </a:spcAft>
              <a:buSzPts val="990"/>
              <a:buNone/>
            </a:pPr>
            <a:r>
              <a:t/>
            </a:r>
            <a:endParaRPr sz="329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0"/>
          <p:cNvSpPr txBox="1"/>
          <p:nvPr>
            <p:ph idx="4294967295" type="title"/>
          </p:nvPr>
        </p:nvSpPr>
        <p:spPr>
          <a:xfrm>
            <a:off x="319200" y="638125"/>
            <a:ext cx="8505600" cy="40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190">
                <a:solidFill>
                  <a:schemeClr val="dk1"/>
                </a:solidFill>
              </a:rPr>
              <a:t>Policy writing takes a team</a:t>
            </a:r>
            <a:endParaRPr sz="3190">
              <a:solidFill>
                <a:schemeClr val="dk1"/>
              </a:solidFill>
            </a:endParaRPr>
          </a:p>
          <a:p>
            <a:pPr indent="0" lvl="0" marL="0" rtl="0" algn="l">
              <a:spcBef>
                <a:spcPts val="0"/>
              </a:spcBef>
              <a:spcAft>
                <a:spcPts val="0"/>
              </a:spcAft>
              <a:buSzPts val="990"/>
              <a:buNone/>
            </a:pPr>
            <a:r>
              <a:t/>
            </a:r>
            <a:endParaRPr sz="3190">
              <a:solidFill>
                <a:schemeClr val="dk1"/>
              </a:solidFill>
            </a:endParaRPr>
          </a:p>
          <a:p>
            <a:pPr indent="0" lvl="0" marL="0" rtl="0" algn="l">
              <a:spcBef>
                <a:spcPts val="0"/>
              </a:spcBef>
              <a:spcAft>
                <a:spcPts val="0"/>
              </a:spcAft>
              <a:buSzPts val="990"/>
              <a:buNone/>
            </a:pPr>
            <a:r>
              <a:rPr lang="en" sz="3190">
                <a:solidFill>
                  <a:schemeClr val="dk1"/>
                </a:solidFill>
              </a:rPr>
              <a:t>Consider what is approach works best for your team: </a:t>
            </a:r>
            <a:endParaRPr sz="3190">
              <a:solidFill>
                <a:schemeClr val="dk1"/>
              </a:solidFill>
            </a:endParaRPr>
          </a:p>
          <a:p>
            <a:pPr indent="0" lvl="0" marL="0" rtl="0" algn="l">
              <a:spcBef>
                <a:spcPts val="0"/>
              </a:spcBef>
              <a:spcAft>
                <a:spcPts val="0"/>
              </a:spcAft>
              <a:buSzPts val="990"/>
              <a:buNone/>
            </a:pPr>
            <a:r>
              <a:t/>
            </a:r>
            <a:endParaRPr sz="3190">
              <a:solidFill>
                <a:schemeClr val="dk1"/>
              </a:solidFill>
            </a:endParaRPr>
          </a:p>
          <a:p>
            <a:pPr indent="-431165" lvl="0" marL="457200" rtl="0" algn="l">
              <a:spcBef>
                <a:spcPts val="0"/>
              </a:spcBef>
              <a:spcAft>
                <a:spcPts val="0"/>
              </a:spcAft>
              <a:buClr>
                <a:schemeClr val="dk1"/>
              </a:buClr>
              <a:buSzPts val="3190"/>
              <a:buChar char="●"/>
            </a:pPr>
            <a:r>
              <a:rPr b="1" lang="en" sz="3190">
                <a:solidFill>
                  <a:schemeClr val="dk1"/>
                </a:solidFill>
              </a:rPr>
              <a:t>Asynchronous collaboration</a:t>
            </a:r>
            <a:r>
              <a:rPr lang="en" sz="3190">
                <a:solidFill>
                  <a:schemeClr val="dk1"/>
                </a:solidFill>
              </a:rPr>
              <a:t> </a:t>
            </a:r>
            <a:endParaRPr sz="3190">
              <a:solidFill>
                <a:schemeClr val="dk1"/>
              </a:solidFill>
            </a:endParaRPr>
          </a:p>
          <a:p>
            <a:pPr indent="-431165" lvl="0" marL="457200" rtl="0" algn="l">
              <a:spcBef>
                <a:spcPts val="0"/>
              </a:spcBef>
              <a:spcAft>
                <a:spcPts val="0"/>
              </a:spcAft>
              <a:buClr>
                <a:schemeClr val="dk1"/>
              </a:buClr>
              <a:buSzPts val="3190"/>
              <a:buChar char="●"/>
            </a:pPr>
            <a:r>
              <a:rPr lang="en" sz="3190">
                <a:solidFill>
                  <a:schemeClr val="dk1"/>
                </a:solidFill>
              </a:rPr>
              <a:t>Synchronous collaboration </a:t>
            </a:r>
            <a:endParaRPr sz="3490">
              <a:solidFill>
                <a:schemeClr val="dk1"/>
              </a:solidFill>
            </a:endParaRPr>
          </a:p>
          <a:p>
            <a:pPr indent="0" lvl="0" marL="0" rtl="0" algn="l">
              <a:spcBef>
                <a:spcPts val="0"/>
              </a:spcBef>
              <a:spcAft>
                <a:spcPts val="0"/>
              </a:spcAft>
              <a:buSzPts val="990"/>
              <a:buNone/>
            </a:pPr>
            <a:r>
              <a:t/>
            </a:r>
            <a:endParaRPr sz="3290">
              <a:solidFill>
                <a:schemeClr val="dk1"/>
              </a:solidFill>
            </a:endParaRPr>
          </a:p>
          <a:p>
            <a:pPr indent="0" lvl="0" marL="0" rtl="0" algn="l">
              <a:spcBef>
                <a:spcPts val="0"/>
              </a:spcBef>
              <a:spcAft>
                <a:spcPts val="0"/>
              </a:spcAft>
              <a:buSzPts val="990"/>
              <a:buNone/>
            </a:pPr>
            <a:r>
              <a:t/>
            </a:r>
            <a:endParaRPr sz="3290">
              <a:solidFill>
                <a:schemeClr val="dk1"/>
              </a:solidFill>
            </a:endParaRPr>
          </a:p>
          <a:p>
            <a:pPr indent="0" lvl="0" marL="0" rtl="0" algn="l">
              <a:spcBef>
                <a:spcPts val="0"/>
              </a:spcBef>
              <a:spcAft>
                <a:spcPts val="0"/>
              </a:spcAft>
              <a:buSzPts val="990"/>
              <a:buNone/>
            </a:pPr>
            <a:r>
              <a:t/>
            </a:r>
            <a:endParaRPr sz="3290">
              <a:solidFill>
                <a:schemeClr val="dk1"/>
              </a:solidFill>
            </a:endParaRPr>
          </a:p>
        </p:txBody>
      </p:sp>
      <p:sp>
        <p:nvSpPr>
          <p:cNvPr id="203" name="Google Shape;203;p20"/>
          <p:cNvSpPr txBox="1"/>
          <p:nvPr>
            <p:ph idx="1" type="body"/>
          </p:nvPr>
        </p:nvSpPr>
        <p:spPr>
          <a:xfrm>
            <a:off x="418425" y="4674325"/>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Image from iconpacks.net</a:t>
            </a:r>
            <a:endParaRPr/>
          </a:p>
        </p:txBody>
      </p:sp>
      <p:pic>
        <p:nvPicPr>
          <p:cNvPr id="204" name="Google Shape;204;p20"/>
          <p:cNvPicPr preferRelativeResize="0"/>
          <p:nvPr/>
        </p:nvPicPr>
        <p:blipFill>
          <a:blip r:embed="rId3">
            <a:alphaModFix/>
          </a:blip>
          <a:stretch>
            <a:fillRect/>
          </a:stretch>
        </p:blipFill>
        <p:spPr>
          <a:xfrm>
            <a:off x="7006725" y="2858175"/>
            <a:ext cx="914400" cy="9144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1"/>
          <p:cNvSpPr txBox="1"/>
          <p:nvPr>
            <p:ph idx="4294967295" type="title"/>
          </p:nvPr>
        </p:nvSpPr>
        <p:spPr>
          <a:xfrm>
            <a:off x="319200" y="638125"/>
            <a:ext cx="8505600" cy="40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190">
                <a:solidFill>
                  <a:schemeClr val="dk1"/>
                </a:solidFill>
              </a:rPr>
              <a:t>Policy writing takes a team</a:t>
            </a:r>
            <a:endParaRPr sz="3190">
              <a:solidFill>
                <a:schemeClr val="dk1"/>
              </a:solidFill>
            </a:endParaRPr>
          </a:p>
          <a:p>
            <a:pPr indent="0" lvl="0" marL="0" rtl="0" algn="l">
              <a:spcBef>
                <a:spcPts val="0"/>
              </a:spcBef>
              <a:spcAft>
                <a:spcPts val="0"/>
              </a:spcAft>
              <a:buSzPts val="990"/>
              <a:buNone/>
            </a:pPr>
            <a:r>
              <a:t/>
            </a:r>
            <a:endParaRPr sz="3190">
              <a:solidFill>
                <a:schemeClr val="dk1"/>
              </a:solidFill>
            </a:endParaRPr>
          </a:p>
          <a:p>
            <a:pPr indent="0" lvl="0" marL="0" rtl="0" algn="l">
              <a:spcBef>
                <a:spcPts val="0"/>
              </a:spcBef>
              <a:spcAft>
                <a:spcPts val="0"/>
              </a:spcAft>
              <a:buSzPts val="990"/>
              <a:buNone/>
            </a:pPr>
            <a:r>
              <a:rPr lang="en" sz="3190">
                <a:solidFill>
                  <a:schemeClr val="dk1"/>
                </a:solidFill>
              </a:rPr>
              <a:t>Consider what is approach works best for your team: </a:t>
            </a:r>
            <a:endParaRPr sz="3190">
              <a:solidFill>
                <a:schemeClr val="dk1"/>
              </a:solidFill>
            </a:endParaRPr>
          </a:p>
          <a:p>
            <a:pPr indent="0" lvl="0" marL="0" rtl="0" algn="l">
              <a:spcBef>
                <a:spcPts val="0"/>
              </a:spcBef>
              <a:spcAft>
                <a:spcPts val="0"/>
              </a:spcAft>
              <a:buSzPts val="990"/>
              <a:buNone/>
            </a:pPr>
            <a:r>
              <a:t/>
            </a:r>
            <a:endParaRPr sz="3190">
              <a:solidFill>
                <a:schemeClr val="dk1"/>
              </a:solidFill>
            </a:endParaRPr>
          </a:p>
          <a:p>
            <a:pPr indent="-431165" lvl="0" marL="457200" rtl="0" algn="l">
              <a:spcBef>
                <a:spcPts val="0"/>
              </a:spcBef>
              <a:spcAft>
                <a:spcPts val="0"/>
              </a:spcAft>
              <a:buClr>
                <a:schemeClr val="dk1"/>
              </a:buClr>
              <a:buSzPts val="3190"/>
              <a:buChar char="●"/>
            </a:pPr>
            <a:r>
              <a:rPr lang="en" sz="3190">
                <a:solidFill>
                  <a:schemeClr val="dk1"/>
                </a:solidFill>
              </a:rPr>
              <a:t>Asynchronous collaboration </a:t>
            </a:r>
            <a:endParaRPr sz="3190">
              <a:solidFill>
                <a:schemeClr val="dk1"/>
              </a:solidFill>
            </a:endParaRPr>
          </a:p>
          <a:p>
            <a:pPr indent="-431165" lvl="0" marL="457200" rtl="0" algn="l">
              <a:spcBef>
                <a:spcPts val="0"/>
              </a:spcBef>
              <a:spcAft>
                <a:spcPts val="0"/>
              </a:spcAft>
              <a:buClr>
                <a:schemeClr val="dk1"/>
              </a:buClr>
              <a:buSzPts val="3190"/>
              <a:buChar char="●"/>
            </a:pPr>
            <a:r>
              <a:rPr b="1" lang="en" sz="3190">
                <a:solidFill>
                  <a:schemeClr val="dk1"/>
                </a:solidFill>
              </a:rPr>
              <a:t>Synchronous collaboration</a:t>
            </a:r>
            <a:r>
              <a:rPr lang="en" sz="3190">
                <a:solidFill>
                  <a:schemeClr val="dk1"/>
                </a:solidFill>
              </a:rPr>
              <a:t> </a:t>
            </a:r>
            <a:endParaRPr sz="3490">
              <a:solidFill>
                <a:schemeClr val="dk1"/>
              </a:solidFill>
            </a:endParaRPr>
          </a:p>
          <a:p>
            <a:pPr indent="0" lvl="0" marL="0" rtl="0" algn="l">
              <a:spcBef>
                <a:spcPts val="0"/>
              </a:spcBef>
              <a:spcAft>
                <a:spcPts val="0"/>
              </a:spcAft>
              <a:buSzPts val="990"/>
              <a:buNone/>
            </a:pPr>
            <a:r>
              <a:t/>
            </a:r>
            <a:endParaRPr sz="3290">
              <a:solidFill>
                <a:schemeClr val="dk1"/>
              </a:solidFill>
            </a:endParaRPr>
          </a:p>
          <a:p>
            <a:pPr indent="0" lvl="0" marL="0" rtl="0" algn="l">
              <a:spcBef>
                <a:spcPts val="0"/>
              </a:spcBef>
              <a:spcAft>
                <a:spcPts val="0"/>
              </a:spcAft>
              <a:buSzPts val="990"/>
              <a:buNone/>
            </a:pPr>
            <a:r>
              <a:t/>
            </a:r>
            <a:endParaRPr sz="3290">
              <a:solidFill>
                <a:schemeClr val="dk1"/>
              </a:solidFill>
            </a:endParaRPr>
          </a:p>
          <a:p>
            <a:pPr indent="0" lvl="0" marL="0" rtl="0" algn="l">
              <a:spcBef>
                <a:spcPts val="0"/>
              </a:spcBef>
              <a:spcAft>
                <a:spcPts val="0"/>
              </a:spcAft>
              <a:buSzPts val="990"/>
              <a:buNone/>
            </a:pPr>
            <a:r>
              <a:t/>
            </a:r>
            <a:endParaRPr sz="3290">
              <a:solidFill>
                <a:schemeClr val="dk1"/>
              </a:solidFill>
            </a:endParaRPr>
          </a:p>
        </p:txBody>
      </p:sp>
      <p:sp>
        <p:nvSpPr>
          <p:cNvPr id="210" name="Google Shape;210;p21"/>
          <p:cNvSpPr txBox="1"/>
          <p:nvPr>
            <p:ph idx="1" type="body"/>
          </p:nvPr>
        </p:nvSpPr>
        <p:spPr>
          <a:xfrm>
            <a:off x="418425" y="4674325"/>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Image from iconpacks.net</a:t>
            </a:r>
            <a:endParaRPr/>
          </a:p>
        </p:txBody>
      </p:sp>
      <p:pic>
        <p:nvPicPr>
          <p:cNvPr id="211" name="Google Shape;211;p21"/>
          <p:cNvPicPr preferRelativeResize="0"/>
          <p:nvPr/>
        </p:nvPicPr>
        <p:blipFill>
          <a:blip r:embed="rId3">
            <a:alphaModFix/>
          </a:blip>
          <a:stretch>
            <a:fillRect/>
          </a:stretch>
        </p:blipFill>
        <p:spPr>
          <a:xfrm>
            <a:off x="6707225" y="3417300"/>
            <a:ext cx="914400" cy="914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2"/>
          <p:cNvSpPr txBox="1"/>
          <p:nvPr>
            <p:ph type="title"/>
          </p:nvPr>
        </p:nvSpPr>
        <p:spPr>
          <a:xfrm>
            <a:off x="823850" y="866775"/>
            <a:ext cx="6199200" cy="3521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What is involved in a effective AI </a:t>
            </a:r>
            <a:r>
              <a:rPr lang="en"/>
              <a:t>policy</a:t>
            </a:r>
            <a:r>
              <a:rPr lang="en"/>
              <a:t> document?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3"/>
          <p:cNvSpPr txBox="1"/>
          <p:nvPr>
            <p:ph type="title"/>
          </p:nvPr>
        </p:nvSpPr>
        <p:spPr>
          <a:xfrm>
            <a:off x="1045275" y="230350"/>
            <a:ext cx="77238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lt1"/>
              </a:buClr>
              <a:buSzPts val="990"/>
              <a:buFont typeface="Arial"/>
              <a:buNone/>
            </a:pPr>
            <a:r>
              <a:rPr lang="en" sz="3490">
                <a:solidFill>
                  <a:schemeClr val="dk1"/>
                </a:solidFill>
              </a:rPr>
              <a:t>Elements of an effective AI policy</a:t>
            </a:r>
            <a:endParaRPr/>
          </a:p>
        </p:txBody>
      </p:sp>
      <p:sp>
        <p:nvSpPr>
          <p:cNvPr id="222" name="Google Shape;222;p23"/>
          <p:cNvSpPr txBox="1"/>
          <p:nvPr>
            <p:ph idx="1" type="body"/>
          </p:nvPr>
        </p:nvSpPr>
        <p:spPr>
          <a:xfrm>
            <a:off x="1526100" y="1034525"/>
            <a:ext cx="7038900" cy="37983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852"/>
              <a:buNone/>
            </a:pPr>
            <a:r>
              <a:rPr lang="en" sz="2137">
                <a:latin typeface="Montserrat"/>
                <a:ea typeface="Montserrat"/>
                <a:cs typeface="Montserrat"/>
                <a:sym typeface="Montserrat"/>
              </a:rPr>
              <a:t>Purpose and Scope</a:t>
            </a:r>
            <a:endParaRPr sz="2137">
              <a:latin typeface="Montserrat"/>
              <a:ea typeface="Montserrat"/>
              <a:cs typeface="Montserrat"/>
              <a:sym typeface="Montserrat"/>
            </a:endParaRPr>
          </a:p>
          <a:p>
            <a:pPr indent="0" lvl="0" marL="0" rtl="0" algn="l">
              <a:lnSpc>
                <a:spcPct val="95000"/>
              </a:lnSpc>
              <a:spcBef>
                <a:spcPts val="1200"/>
              </a:spcBef>
              <a:spcAft>
                <a:spcPts val="0"/>
              </a:spcAft>
              <a:buSzPts val="852"/>
              <a:buNone/>
            </a:pPr>
            <a:r>
              <a:rPr lang="en" sz="2137">
                <a:latin typeface="Montserrat"/>
                <a:ea typeface="Montserrat"/>
                <a:cs typeface="Montserrat"/>
                <a:sym typeface="Montserrat"/>
              </a:rPr>
              <a:t>Values and Principles</a:t>
            </a:r>
            <a:endParaRPr sz="2137">
              <a:latin typeface="Montserrat"/>
              <a:ea typeface="Montserrat"/>
              <a:cs typeface="Montserrat"/>
              <a:sym typeface="Montserrat"/>
            </a:endParaRPr>
          </a:p>
          <a:p>
            <a:pPr indent="0" lvl="0" marL="0" rtl="0" algn="l">
              <a:lnSpc>
                <a:spcPct val="95000"/>
              </a:lnSpc>
              <a:spcBef>
                <a:spcPts val="1200"/>
              </a:spcBef>
              <a:spcAft>
                <a:spcPts val="0"/>
              </a:spcAft>
              <a:buSzPts val="852"/>
              <a:buNone/>
            </a:pPr>
            <a:r>
              <a:rPr lang="en" sz="2137">
                <a:latin typeface="Montserrat"/>
                <a:ea typeface="Montserrat"/>
                <a:cs typeface="Montserrat"/>
                <a:sym typeface="Montserrat"/>
              </a:rPr>
              <a:t>Governance and Oversight</a:t>
            </a:r>
            <a:endParaRPr sz="2137">
              <a:latin typeface="Montserrat"/>
              <a:ea typeface="Montserrat"/>
              <a:cs typeface="Montserrat"/>
              <a:sym typeface="Montserrat"/>
            </a:endParaRPr>
          </a:p>
          <a:p>
            <a:pPr indent="0" lvl="0" marL="0" rtl="0" algn="l">
              <a:lnSpc>
                <a:spcPct val="95000"/>
              </a:lnSpc>
              <a:spcBef>
                <a:spcPts val="1200"/>
              </a:spcBef>
              <a:spcAft>
                <a:spcPts val="0"/>
              </a:spcAft>
              <a:buSzPts val="852"/>
              <a:buNone/>
            </a:pPr>
            <a:r>
              <a:rPr lang="en" sz="2137">
                <a:latin typeface="Montserrat"/>
                <a:ea typeface="Montserrat"/>
                <a:cs typeface="Montserrat"/>
                <a:sym typeface="Montserrat"/>
              </a:rPr>
              <a:t>Data Management and Privacy</a:t>
            </a:r>
            <a:endParaRPr sz="2137">
              <a:latin typeface="Montserrat"/>
              <a:ea typeface="Montserrat"/>
              <a:cs typeface="Montserrat"/>
              <a:sym typeface="Montserrat"/>
            </a:endParaRPr>
          </a:p>
          <a:p>
            <a:pPr indent="0" lvl="0" marL="0" rtl="0" algn="l">
              <a:lnSpc>
                <a:spcPct val="95000"/>
              </a:lnSpc>
              <a:spcBef>
                <a:spcPts val="1200"/>
              </a:spcBef>
              <a:spcAft>
                <a:spcPts val="0"/>
              </a:spcAft>
              <a:buSzPts val="852"/>
              <a:buNone/>
            </a:pPr>
            <a:r>
              <a:rPr lang="en" sz="2137">
                <a:latin typeface="Montserrat"/>
                <a:ea typeface="Montserrat"/>
                <a:cs typeface="Montserrat"/>
                <a:sym typeface="Montserrat"/>
              </a:rPr>
              <a:t>Fairness and Non-discrimination</a:t>
            </a:r>
            <a:endParaRPr sz="2137">
              <a:latin typeface="Montserrat"/>
              <a:ea typeface="Montserrat"/>
              <a:cs typeface="Montserrat"/>
              <a:sym typeface="Montserrat"/>
            </a:endParaRPr>
          </a:p>
          <a:p>
            <a:pPr indent="0" lvl="0" marL="0" rtl="0" algn="l">
              <a:lnSpc>
                <a:spcPct val="95000"/>
              </a:lnSpc>
              <a:spcBef>
                <a:spcPts val="1200"/>
              </a:spcBef>
              <a:spcAft>
                <a:spcPts val="0"/>
              </a:spcAft>
              <a:buClr>
                <a:schemeClr val="lt1"/>
              </a:buClr>
              <a:buSzPts val="852"/>
              <a:buFont typeface="Arial"/>
              <a:buNone/>
            </a:pPr>
            <a:r>
              <a:rPr lang="en" sz="2137">
                <a:latin typeface="Montserrat"/>
                <a:ea typeface="Montserrat"/>
                <a:cs typeface="Montserrat"/>
                <a:sym typeface="Montserrat"/>
              </a:rPr>
              <a:t>Risk Management, Safety, and Oversight</a:t>
            </a:r>
            <a:endParaRPr sz="2137">
              <a:latin typeface="Montserrat"/>
              <a:ea typeface="Montserrat"/>
              <a:cs typeface="Montserrat"/>
              <a:sym typeface="Montserrat"/>
            </a:endParaRPr>
          </a:p>
          <a:p>
            <a:pPr indent="0" lvl="0" marL="0" rtl="0" algn="l">
              <a:lnSpc>
                <a:spcPct val="95000"/>
              </a:lnSpc>
              <a:spcBef>
                <a:spcPts val="1200"/>
              </a:spcBef>
              <a:spcAft>
                <a:spcPts val="0"/>
              </a:spcAft>
              <a:buSzPts val="852"/>
              <a:buNone/>
            </a:pPr>
            <a:r>
              <a:rPr lang="en" sz="2137">
                <a:latin typeface="Montserrat"/>
                <a:ea typeface="Montserrat"/>
                <a:cs typeface="Montserrat"/>
                <a:sym typeface="Montserrat"/>
              </a:rPr>
              <a:t>Education and Training</a:t>
            </a:r>
            <a:endParaRPr sz="2137">
              <a:latin typeface="Montserrat"/>
              <a:ea typeface="Montserrat"/>
              <a:cs typeface="Montserrat"/>
              <a:sym typeface="Montserrat"/>
            </a:endParaRPr>
          </a:p>
          <a:p>
            <a:pPr indent="0" lvl="0" marL="0" rtl="0" algn="l">
              <a:lnSpc>
                <a:spcPct val="95000"/>
              </a:lnSpc>
              <a:spcBef>
                <a:spcPts val="1200"/>
              </a:spcBef>
              <a:spcAft>
                <a:spcPts val="1200"/>
              </a:spcAft>
              <a:buSzPts val="852"/>
              <a:buNone/>
            </a:pPr>
            <a:r>
              <a:rPr lang="en" sz="2137">
                <a:latin typeface="Montserrat"/>
                <a:ea typeface="Montserrat"/>
                <a:cs typeface="Montserrat"/>
                <a:sym typeface="Montserrat"/>
              </a:rPr>
              <a:t>Feedback and Review</a:t>
            </a:r>
            <a:endParaRPr sz="2137">
              <a:latin typeface="Montserrat"/>
              <a:ea typeface="Montserrat"/>
              <a:cs typeface="Montserrat"/>
              <a:sym typeface="Montserrat"/>
            </a:endParaRPr>
          </a:p>
        </p:txBody>
      </p:sp>
      <p:pic>
        <p:nvPicPr>
          <p:cNvPr id="223" name="Google Shape;223;p23"/>
          <p:cNvPicPr preferRelativeResize="0"/>
          <p:nvPr/>
        </p:nvPicPr>
        <p:blipFill>
          <a:blip r:embed="rId3">
            <a:alphaModFix/>
          </a:blip>
          <a:stretch>
            <a:fillRect/>
          </a:stretch>
        </p:blipFill>
        <p:spPr>
          <a:xfrm>
            <a:off x="1185475" y="1133300"/>
            <a:ext cx="340626" cy="340626"/>
          </a:xfrm>
          <a:prstGeom prst="rect">
            <a:avLst/>
          </a:prstGeom>
          <a:noFill/>
          <a:ln>
            <a:noFill/>
          </a:ln>
        </p:spPr>
      </p:pic>
      <p:pic>
        <p:nvPicPr>
          <p:cNvPr id="224" name="Google Shape;224;p23"/>
          <p:cNvPicPr preferRelativeResize="0"/>
          <p:nvPr/>
        </p:nvPicPr>
        <p:blipFill>
          <a:blip r:embed="rId4">
            <a:alphaModFix/>
          </a:blip>
          <a:stretch>
            <a:fillRect/>
          </a:stretch>
        </p:blipFill>
        <p:spPr>
          <a:xfrm>
            <a:off x="1185475" y="1643675"/>
            <a:ext cx="340626" cy="340626"/>
          </a:xfrm>
          <a:prstGeom prst="rect">
            <a:avLst/>
          </a:prstGeom>
          <a:noFill/>
          <a:ln>
            <a:noFill/>
          </a:ln>
        </p:spPr>
      </p:pic>
      <p:pic>
        <p:nvPicPr>
          <p:cNvPr id="225" name="Google Shape;225;p23"/>
          <p:cNvPicPr preferRelativeResize="0"/>
          <p:nvPr/>
        </p:nvPicPr>
        <p:blipFill>
          <a:blip r:embed="rId5">
            <a:alphaModFix/>
          </a:blip>
          <a:stretch>
            <a:fillRect/>
          </a:stretch>
        </p:blipFill>
        <p:spPr>
          <a:xfrm>
            <a:off x="1185475" y="2033449"/>
            <a:ext cx="340626" cy="340626"/>
          </a:xfrm>
          <a:prstGeom prst="rect">
            <a:avLst/>
          </a:prstGeom>
          <a:noFill/>
          <a:ln>
            <a:noFill/>
          </a:ln>
        </p:spPr>
      </p:pic>
      <p:pic>
        <p:nvPicPr>
          <p:cNvPr id="226" name="Google Shape;226;p23"/>
          <p:cNvPicPr preferRelativeResize="0"/>
          <p:nvPr/>
        </p:nvPicPr>
        <p:blipFill>
          <a:blip r:embed="rId6">
            <a:alphaModFix/>
          </a:blip>
          <a:stretch>
            <a:fillRect/>
          </a:stretch>
        </p:blipFill>
        <p:spPr>
          <a:xfrm flipH="1">
            <a:off x="1185472" y="2483527"/>
            <a:ext cx="340626" cy="340626"/>
          </a:xfrm>
          <a:prstGeom prst="rect">
            <a:avLst/>
          </a:prstGeom>
          <a:noFill/>
          <a:ln>
            <a:noFill/>
          </a:ln>
        </p:spPr>
      </p:pic>
      <p:pic>
        <p:nvPicPr>
          <p:cNvPr id="227" name="Google Shape;227;p23"/>
          <p:cNvPicPr preferRelativeResize="0"/>
          <p:nvPr/>
        </p:nvPicPr>
        <p:blipFill>
          <a:blip r:embed="rId7">
            <a:alphaModFix/>
          </a:blip>
          <a:stretch>
            <a:fillRect/>
          </a:stretch>
        </p:blipFill>
        <p:spPr>
          <a:xfrm>
            <a:off x="1185469" y="2933612"/>
            <a:ext cx="340626" cy="340638"/>
          </a:xfrm>
          <a:prstGeom prst="rect">
            <a:avLst/>
          </a:prstGeom>
          <a:noFill/>
          <a:ln>
            <a:noFill/>
          </a:ln>
        </p:spPr>
      </p:pic>
      <p:pic>
        <p:nvPicPr>
          <p:cNvPr id="228" name="Google Shape;228;p23"/>
          <p:cNvPicPr preferRelativeResize="0"/>
          <p:nvPr/>
        </p:nvPicPr>
        <p:blipFill>
          <a:blip r:embed="rId8">
            <a:alphaModFix/>
          </a:blip>
          <a:stretch>
            <a:fillRect/>
          </a:stretch>
        </p:blipFill>
        <p:spPr>
          <a:xfrm>
            <a:off x="1185475" y="3383700"/>
            <a:ext cx="340626" cy="340626"/>
          </a:xfrm>
          <a:prstGeom prst="rect">
            <a:avLst/>
          </a:prstGeom>
          <a:noFill/>
          <a:ln>
            <a:noFill/>
          </a:ln>
        </p:spPr>
      </p:pic>
      <p:pic>
        <p:nvPicPr>
          <p:cNvPr id="229" name="Google Shape;229;p23"/>
          <p:cNvPicPr preferRelativeResize="0"/>
          <p:nvPr/>
        </p:nvPicPr>
        <p:blipFill>
          <a:blip r:embed="rId9">
            <a:alphaModFix/>
          </a:blip>
          <a:stretch>
            <a:fillRect/>
          </a:stretch>
        </p:blipFill>
        <p:spPr>
          <a:xfrm>
            <a:off x="1185475" y="3833766"/>
            <a:ext cx="340626" cy="340617"/>
          </a:xfrm>
          <a:prstGeom prst="rect">
            <a:avLst/>
          </a:prstGeom>
          <a:noFill/>
          <a:ln>
            <a:noFill/>
          </a:ln>
        </p:spPr>
      </p:pic>
      <p:pic>
        <p:nvPicPr>
          <p:cNvPr id="230" name="Google Shape;230;p23"/>
          <p:cNvPicPr preferRelativeResize="0"/>
          <p:nvPr/>
        </p:nvPicPr>
        <p:blipFill>
          <a:blip r:embed="rId10">
            <a:alphaModFix/>
          </a:blip>
          <a:stretch>
            <a:fillRect/>
          </a:stretch>
        </p:blipFill>
        <p:spPr>
          <a:xfrm>
            <a:off x="1106025" y="4283825"/>
            <a:ext cx="499524" cy="4995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4"/>
          <p:cNvSpPr txBox="1"/>
          <p:nvPr>
            <p:ph type="title"/>
          </p:nvPr>
        </p:nvSpPr>
        <p:spPr>
          <a:xfrm>
            <a:off x="1045275" y="230350"/>
            <a:ext cx="77238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lt1"/>
              </a:buClr>
              <a:buSzPts val="990"/>
              <a:buFont typeface="Arial"/>
              <a:buNone/>
            </a:pPr>
            <a:r>
              <a:rPr lang="en" sz="3490">
                <a:solidFill>
                  <a:schemeClr val="dk1"/>
                </a:solidFill>
              </a:rPr>
              <a:t>Elements of an effective AI policy</a:t>
            </a:r>
            <a:endParaRPr/>
          </a:p>
        </p:txBody>
      </p:sp>
      <p:sp>
        <p:nvSpPr>
          <p:cNvPr id="236" name="Google Shape;236;p24"/>
          <p:cNvSpPr txBox="1"/>
          <p:nvPr>
            <p:ph idx="1" type="body"/>
          </p:nvPr>
        </p:nvSpPr>
        <p:spPr>
          <a:xfrm>
            <a:off x="1526100" y="1034525"/>
            <a:ext cx="7038900" cy="37983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852"/>
              <a:buNone/>
            </a:pPr>
            <a:r>
              <a:rPr lang="en" sz="2137">
                <a:highlight>
                  <a:srgbClr val="FFF2CC"/>
                </a:highlight>
                <a:latin typeface="Montserrat"/>
                <a:ea typeface="Montserrat"/>
                <a:cs typeface="Montserrat"/>
                <a:sym typeface="Montserrat"/>
              </a:rPr>
              <a:t>Purpose and Scope</a:t>
            </a:r>
            <a:endParaRPr sz="2137">
              <a:highlight>
                <a:srgbClr val="FFF2CC"/>
              </a:highlight>
              <a:latin typeface="Montserrat"/>
              <a:ea typeface="Montserrat"/>
              <a:cs typeface="Montserrat"/>
              <a:sym typeface="Montserrat"/>
            </a:endParaRPr>
          </a:p>
          <a:p>
            <a:pPr indent="0" lvl="0" marL="0" rtl="0" algn="l">
              <a:lnSpc>
                <a:spcPct val="95000"/>
              </a:lnSpc>
              <a:spcBef>
                <a:spcPts val="1200"/>
              </a:spcBef>
              <a:spcAft>
                <a:spcPts val="0"/>
              </a:spcAft>
              <a:buSzPts val="852"/>
              <a:buNone/>
            </a:pPr>
            <a:r>
              <a:rPr lang="en" sz="2137">
                <a:latin typeface="Montserrat"/>
                <a:ea typeface="Montserrat"/>
                <a:cs typeface="Montserrat"/>
                <a:sym typeface="Montserrat"/>
              </a:rPr>
              <a:t>Values and Principles</a:t>
            </a:r>
            <a:endParaRPr sz="2137">
              <a:latin typeface="Montserrat"/>
              <a:ea typeface="Montserrat"/>
              <a:cs typeface="Montserrat"/>
              <a:sym typeface="Montserrat"/>
            </a:endParaRPr>
          </a:p>
          <a:p>
            <a:pPr indent="0" lvl="0" marL="0" rtl="0" algn="l">
              <a:lnSpc>
                <a:spcPct val="95000"/>
              </a:lnSpc>
              <a:spcBef>
                <a:spcPts val="1200"/>
              </a:spcBef>
              <a:spcAft>
                <a:spcPts val="0"/>
              </a:spcAft>
              <a:buSzPts val="852"/>
              <a:buNone/>
            </a:pPr>
            <a:r>
              <a:rPr lang="en" sz="2137">
                <a:latin typeface="Montserrat"/>
                <a:ea typeface="Montserrat"/>
                <a:cs typeface="Montserrat"/>
                <a:sym typeface="Montserrat"/>
              </a:rPr>
              <a:t>Governance and Oversight</a:t>
            </a:r>
            <a:endParaRPr sz="2137">
              <a:latin typeface="Montserrat"/>
              <a:ea typeface="Montserrat"/>
              <a:cs typeface="Montserrat"/>
              <a:sym typeface="Montserrat"/>
            </a:endParaRPr>
          </a:p>
          <a:p>
            <a:pPr indent="0" lvl="0" marL="0" rtl="0" algn="l">
              <a:lnSpc>
                <a:spcPct val="95000"/>
              </a:lnSpc>
              <a:spcBef>
                <a:spcPts val="1200"/>
              </a:spcBef>
              <a:spcAft>
                <a:spcPts val="0"/>
              </a:spcAft>
              <a:buSzPts val="852"/>
              <a:buNone/>
            </a:pPr>
            <a:r>
              <a:rPr lang="en" sz="2137">
                <a:latin typeface="Montserrat"/>
                <a:ea typeface="Montserrat"/>
                <a:cs typeface="Montserrat"/>
                <a:sym typeface="Montserrat"/>
              </a:rPr>
              <a:t>Data Management and Privacy</a:t>
            </a:r>
            <a:endParaRPr sz="2137">
              <a:latin typeface="Montserrat"/>
              <a:ea typeface="Montserrat"/>
              <a:cs typeface="Montserrat"/>
              <a:sym typeface="Montserrat"/>
            </a:endParaRPr>
          </a:p>
          <a:p>
            <a:pPr indent="0" lvl="0" marL="0" rtl="0" algn="l">
              <a:lnSpc>
                <a:spcPct val="95000"/>
              </a:lnSpc>
              <a:spcBef>
                <a:spcPts val="1200"/>
              </a:spcBef>
              <a:spcAft>
                <a:spcPts val="0"/>
              </a:spcAft>
              <a:buSzPts val="852"/>
              <a:buNone/>
            </a:pPr>
            <a:r>
              <a:rPr lang="en" sz="2137">
                <a:latin typeface="Montserrat"/>
                <a:ea typeface="Montserrat"/>
                <a:cs typeface="Montserrat"/>
                <a:sym typeface="Montserrat"/>
              </a:rPr>
              <a:t>Fairness and Non-discrimination</a:t>
            </a:r>
            <a:endParaRPr sz="2137">
              <a:latin typeface="Montserrat"/>
              <a:ea typeface="Montserrat"/>
              <a:cs typeface="Montserrat"/>
              <a:sym typeface="Montserrat"/>
            </a:endParaRPr>
          </a:p>
          <a:p>
            <a:pPr indent="0" lvl="0" marL="0" rtl="0" algn="l">
              <a:lnSpc>
                <a:spcPct val="95000"/>
              </a:lnSpc>
              <a:spcBef>
                <a:spcPts val="1200"/>
              </a:spcBef>
              <a:spcAft>
                <a:spcPts val="0"/>
              </a:spcAft>
              <a:buClr>
                <a:schemeClr val="lt1"/>
              </a:buClr>
              <a:buSzPts val="852"/>
              <a:buFont typeface="Arial"/>
              <a:buNone/>
            </a:pPr>
            <a:r>
              <a:rPr lang="en" sz="2137">
                <a:latin typeface="Montserrat"/>
                <a:ea typeface="Montserrat"/>
                <a:cs typeface="Montserrat"/>
                <a:sym typeface="Montserrat"/>
              </a:rPr>
              <a:t>Risk Management, Safety, and Oversight</a:t>
            </a:r>
            <a:endParaRPr sz="2137">
              <a:latin typeface="Montserrat"/>
              <a:ea typeface="Montserrat"/>
              <a:cs typeface="Montserrat"/>
              <a:sym typeface="Montserrat"/>
            </a:endParaRPr>
          </a:p>
          <a:p>
            <a:pPr indent="0" lvl="0" marL="0" rtl="0" algn="l">
              <a:lnSpc>
                <a:spcPct val="95000"/>
              </a:lnSpc>
              <a:spcBef>
                <a:spcPts val="1200"/>
              </a:spcBef>
              <a:spcAft>
                <a:spcPts val="0"/>
              </a:spcAft>
              <a:buSzPts val="852"/>
              <a:buNone/>
            </a:pPr>
            <a:r>
              <a:rPr lang="en" sz="2137">
                <a:latin typeface="Montserrat"/>
                <a:ea typeface="Montserrat"/>
                <a:cs typeface="Montserrat"/>
                <a:sym typeface="Montserrat"/>
              </a:rPr>
              <a:t>Education and Training</a:t>
            </a:r>
            <a:endParaRPr sz="2137">
              <a:latin typeface="Montserrat"/>
              <a:ea typeface="Montserrat"/>
              <a:cs typeface="Montserrat"/>
              <a:sym typeface="Montserrat"/>
            </a:endParaRPr>
          </a:p>
          <a:p>
            <a:pPr indent="0" lvl="0" marL="0" rtl="0" algn="l">
              <a:lnSpc>
                <a:spcPct val="95000"/>
              </a:lnSpc>
              <a:spcBef>
                <a:spcPts val="1200"/>
              </a:spcBef>
              <a:spcAft>
                <a:spcPts val="1200"/>
              </a:spcAft>
              <a:buSzPts val="852"/>
              <a:buNone/>
            </a:pPr>
            <a:r>
              <a:rPr lang="en" sz="2137">
                <a:latin typeface="Montserrat"/>
                <a:ea typeface="Montserrat"/>
                <a:cs typeface="Montserrat"/>
                <a:sym typeface="Montserrat"/>
              </a:rPr>
              <a:t>Feedback and Review</a:t>
            </a:r>
            <a:endParaRPr sz="2137">
              <a:latin typeface="Montserrat"/>
              <a:ea typeface="Montserrat"/>
              <a:cs typeface="Montserrat"/>
              <a:sym typeface="Montserrat"/>
            </a:endParaRPr>
          </a:p>
        </p:txBody>
      </p:sp>
      <p:pic>
        <p:nvPicPr>
          <p:cNvPr id="237" name="Google Shape;237;p24"/>
          <p:cNvPicPr preferRelativeResize="0"/>
          <p:nvPr/>
        </p:nvPicPr>
        <p:blipFill>
          <a:blip r:embed="rId3">
            <a:alphaModFix/>
          </a:blip>
          <a:stretch>
            <a:fillRect/>
          </a:stretch>
        </p:blipFill>
        <p:spPr>
          <a:xfrm>
            <a:off x="1185475" y="1133300"/>
            <a:ext cx="340626" cy="340626"/>
          </a:xfrm>
          <a:prstGeom prst="rect">
            <a:avLst/>
          </a:prstGeom>
          <a:noFill/>
          <a:ln>
            <a:noFill/>
          </a:ln>
        </p:spPr>
      </p:pic>
      <p:pic>
        <p:nvPicPr>
          <p:cNvPr id="238" name="Google Shape;238;p24"/>
          <p:cNvPicPr preferRelativeResize="0"/>
          <p:nvPr/>
        </p:nvPicPr>
        <p:blipFill>
          <a:blip r:embed="rId4">
            <a:alphaModFix/>
          </a:blip>
          <a:stretch>
            <a:fillRect/>
          </a:stretch>
        </p:blipFill>
        <p:spPr>
          <a:xfrm>
            <a:off x="1185475" y="1643675"/>
            <a:ext cx="340626" cy="340626"/>
          </a:xfrm>
          <a:prstGeom prst="rect">
            <a:avLst/>
          </a:prstGeom>
          <a:noFill/>
          <a:ln>
            <a:noFill/>
          </a:ln>
        </p:spPr>
      </p:pic>
      <p:pic>
        <p:nvPicPr>
          <p:cNvPr id="239" name="Google Shape;239;p24"/>
          <p:cNvPicPr preferRelativeResize="0"/>
          <p:nvPr/>
        </p:nvPicPr>
        <p:blipFill>
          <a:blip r:embed="rId5">
            <a:alphaModFix/>
          </a:blip>
          <a:stretch>
            <a:fillRect/>
          </a:stretch>
        </p:blipFill>
        <p:spPr>
          <a:xfrm>
            <a:off x="1185475" y="2033449"/>
            <a:ext cx="340626" cy="340626"/>
          </a:xfrm>
          <a:prstGeom prst="rect">
            <a:avLst/>
          </a:prstGeom>
          <a:noFill/>
          <a:ln>
            <a:noFill/>
          </a:ln>
        </p:spPr>
      </p:pic>
      <p:pic>
        <p:nvPicPr>
          <p:cNvPr id="240" name="Google Shape;240;p24"/>
          <p:cNvPicPr preferRelativeResize="0"/>
          <p:nvPr/>
        </p:nvPicPr>
        <p:blipFill>
          <a:blip r:embed="rId6">
            <a:alphaModFix/>
          </a:blip>
          <a:stretch>
            <a:fillRect/>
          </a:stretch>
        </p:blipFill>
        <p:spPr>
          <a:xfrm flipH="1">
            <a:off x="1185472" y="2483527"/>
            <a:ext cx="340626" cy="340626"/>
          </a:xfrm>
          <a:prstGeom prst="rect">
            <a:avLst/>
          </a:prstGeom>
          <a:noFill/>
          <a:ln>
            <a:noFill/>
          </a:ln>
        </p:spPr>
      </p:pic>
      <p:pic>
        <p:nvPicPr>
          <p:cNvPr id="241" name="Google Shape;241;p24"/>
          <p:cNvPicPr preferRelativeResize="0"/>
          <p:nvPr/>
        </p:nvPicPr>
        <p:blipFill>
          <a:blip r:embed="rId7">
            <a:alphaModFix/>
          </a:blip>
          <a:stretch>
            <a:fillRect/>
          </a:stretch>
        </p:blipFill>
        <p:spPr>
          <a:xfrm>
            <a:off x="1185469" y="2933612"/>
            <a:ext cx="340626" cy="340638"/>
          </a:xfrm>
          <a:prstGeom prst="rect">
            <a:avLst/>
          </a:prstGeom>
          <a:noFill/>
          <a:ln>
            <a:noFill/>
          </a:ln>
        </p:spPr>
      </p:pic>
      <p:pic>
        <p:nvPicPr>
          <p:cNvPr id="242" name="Google Shape;242;p24"/>
          <p:cNvPicPr preferRelativeResize="0"/>
          <p:nvPr/>
        </p:nvPicPr>
        <p:blipFill>
          <a:blip r:embed="rId8">
            <a:alphaModFix/>
          </a:blip>
          <a:stretch>
            <a:fillRect/>
          </a:stretch>
        </p:blipFill>
        <p:spPr>
          <a:xfrm>
            <a:off x="1185475" y="3383700"/>
            <a:ext cx="340626" cy="340626"/>
          </a:xfrm>
          <a:prstGeom prst="rect">
            <a:avLst/>
          </a:prstGeom>
          <a:noFill/>
          <a:ln>
            <a:noFill/>
          </a:ln>
        </p:spPr>
      </p:pic>
      <p:pic>
        <p:nvPicPr>
          <p:cNvPr id="243" name="Google Shape;243;p24"/>
          <p:cNvPicPr preferRelativeResize="0"/>
          <p:nvPr/>
        </p:nvPicPr>
        <p:blipFill>
          <a:blip r:embed="rId9">
            <a:alphaModFix/>
          </a:blip>
          <a:stretch>
            <a:fillRect/>
          </a:stretch>
        </p:blipFill>
        <p:spPr>
          <a:xfrm>
            <a:off x="1185475" y="3833766"/>
            <a:ext cx="340626" cy="340617"/>
          </a:xfrm>
          <a:prstGeom prst="rect">
            <a:avLst/>
          </a:prstGeom>
          <a:noFill/>
          <a:ln>
            <a:noFill/>
          </a:ln>
        </p:spPr>
      </p:pic>
      <p:pic>
        <p:nvPicPr>
          <p:cNvPr id="244" name="Google Shape;244;p24"/>
          <p:cNvPicPr preferRelativeResize="0"/>
          <p:nvPr/>
        </p:nvPicPr>
        <p:blipFill>
          <a:blip r:embed="rId10">
            <a:alphaModFix/>
          </a:blip>
          <a:stretch>
            <a:fillRect/>
          </a:stretch>
        </p:blipFill>
        <p:spPr>
          <a:xfrm>
            <a:off x="1106025" y="4283825"/>
            <a:ext cx="499524" cy="49952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5"/>
          <p:cNvSpPr txBox="1"/>
          <p:nvPr>
            <p:ph type="title"/>
          </p:nvPr>
        </p:nvSpPr>
        <p:spPr>
          <a:xfrm>
            <a:off x="1045275" y="230350"/>
            <a:ext cx="77238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lt1"/>
              </a:buClr>
              <a:buSzPts val="990"/>
              <a:buFont typeface="Arial"/>
              <a:buNone/>
            </a:pPr>
            <a:r>
              <a:rPr lang="en" sz="3490">
                <a:solidFill>
                  <a:schemeClr val="dk1"/>
                </a:solidFill>
              </a:rPr>
              <a:t>Elements of an effective AI policy</a:t>
            </a:r>
            <a:endParaRPr/>
          </a:p>
        </p:txBody>
      </p:sp>
      <p:sp>
        <p:nvSpPr>
          <p:cNvPr id="250" name="Google Shape;250;p25"/>
          <p:cNvSpPr txBox="1"/>
          <p:nvPr>
            <p:ph idx="1" type="body"/>
          </p:nvPr>
        </p:nvSpPr>
        <p:spPr>
          <a:xfrm>
            <a:off x="1526100" y="1034525"/>
            <a:ext cx="7038900" cy="37983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852"/>
              <a:buNone/>
            </a:pPr>
            <a:r>
              <a:rPr lang="en" sz="2137">
                <a:latin typeface="Montserrat"/>
                <a:ea typeface="Montserrat"/>
                <a:cs typeface="Montserrat"/>
                <a:sym typeface="Montserrat"/>
              </a:rPr>
              <a:t>Purpose and Scope</a:t>
            </a:r>
            <a:endParaRPr sz="2137">
              <a:latin typeface="Montserrat"/>
              <a:ea typeface="Montserrat"/>
              <a:cs typeface="Montserrat"/>
              <a:sym typeface="Montserrat"/>
            </a:endParaRPr>
          </a:p>
          <a:p>
            <a:pPr indent="0" lvl="0" marL="0" rtl="0" algn="l">
              <a:lnSpc>
                <a:spcPct val="95000"/>
              </a:lnSpc>
              <a:spcBef>
                <a:spcPts val="1200"/>
              </a:spcBef>
              <a:spcAft>
                <a:spcPts val="0"/>
              </a:spcAft>
              <a:buSzPts val="852"/>
              <a:buNone/>
            </a:pPr>
            <a:r>
              <a:rPr lang="en" sz="2137">
                <a:highlight>
                  <a:srgbClr val="FFF2CC"/>
                </a:highlight>
                <a:latin typeface="Montserrat"/>
                <a:ea typeface="Montserrat"/>
                <a:cs typeface="Montserrat"/>
                <a:sym typeface="Montserrat"/>
              </a:rPr>
              <a:t>Values and Principles</a:t>
            </a:r>
            <a:endParaRPr sz="2137">
              <a:highlight>
                <a:srgbClr val="FFF2CC"/>
              </a:highlight>
              <a:latin typeface="Montserrat"/>
              <a:ea typeface="Montserrat"/>
              <a:cs typeface="Montserrat"/>
              <a:sym typeface="Montserrat"/>
            </a:endParaRPr>
          </a:p>
          <a:p>
            <a:pPr indent="0" lvl="0" marL="0" rtl="0" algn="l">
              <a:lnSpc>
                <a:spcPct val="95000"/>
              </a:lnSpc>
              <a:spcBef>
                <a:spcPts val="1200"/>
              </a:spcBef>
              <a:spcAft>
                <a:spcPts val="0"/>
              </a:spcAft>
              <a:buSzPts val="852"/>
              <a:buNone/>
            </a:pPr>
            <a:r>
              <a:rPr lang="en" sz="2137">
                <a:latin typeface="Montserrat"/>
                <a:ea typeface="Montserrat"/>
                <a:cs typeface="Montserrat"/>
                <a:sym typeface="Montserrat"/>
              </a:rPr>
              <a:t>Governance and Oversight</a:t>
            </a:r>
            <a:endParaRPr sz="2137">
              <a:latin typeface="Montserrat"/>
              <a:ea typeface="Montserrat"/>
              <a:cs typeface="Montserrat"/>
              <a:sym typeface="Montserrat"/>
            </a:endParaRPr>
          </a:p>
          <a:p>
            <a:pPr indent="0" lvl="0" marL="0" rtl="0" algn="l">
              <a:lnSpc>
                <a:spcPct val="95000"/>
              </a:lnSpc>
              <a:spcBef>
                <a:spcPts val="1200"/>
              </a:spcBef>
              <a:spcAft>
                <a:spcPts val="0"/>
              </a:spcAft>
              <a:buSzPts val="852"/>
              <a:buNone/>
            </a:pPr>
            <a:r>
              <a:rPr lang="en" sz="2137">
                <a:latin typeface="Montserrat"/>
                <a:ea typeface="Montserrat"/>
                <a:cs typeface="Montserrat"/>
                <a:sym typeface="Montserrat"/>
              </a:rPr>
              <a:t>Data Management and Privacy</a:t>
            </a:r>
            <a:endParaRPr sz="2137">
              <a:latin typeface="Montserrat"/>
              <a:ea typeface="Montserrat"/>
              <a:cs typeface="Montserrat"/>
              <a:sym typeface="Montserrat"/>
            </a:endParaRPr>
          </a:p>
          <a:p>
            <a:pPr indent="0" lvl="0" marL="0" rtl="0" algn="l">
              <a:lnSpc>
                <a:spcPct val="95000"/>
              </a:lnSpc>
              <a:spcBef>
                <a:spcPts val="1200"/>
              </a:spcBef>
              <a:spcAft>
                <a:spcPts val="0"/>
              </a:spcAft>
              <a:buSzPts val="852"/>
              <a:buNone/>
            </a:pPr>
            <a:r>
              <a:rPr lang="en" sz="2137">
                <a:latin typeface="Montserrat"/>
                <a:ea typeface="Montserrat"/>
                <a:cs typeface="Montserrat"/>
                <a:sym typeface="Montserrat"/>
              </a:rPr>
              <a:t>Fairness and Non-discrimination</a:t>
            </a:r>
            <a:endParaRPr sz="2137">
              <a:latin typeface="Montserrat"/>
              <a:ea typeface="Montserrat"/>
              <a:cs typeface="Montserrat"/>
              <a:sym typeface="Montserrat"/>
            </a:endParaRPr>
          </a:p>
          <a:p>
            <a:pPr indent="0" lvl="0" marL="0" rtl="0" algn="l">
              <a:lnSpc>
                <a:spcPct val="95000"/>
              </a:lnSpc>
              <a:spcBef>
                <a:spcPts val="1200"/>
              </a:spcBef>
              <a:spcAft>
                <a:spcPts val="0"/>
              </a:spcAft>
              <a:buClr>
                <a:schemeClr val="lt1"/>
              </a:buClr>
              <a:buSzPts val="852"/>
              <a:buFont typeface="Arial"/>
              <a:buNone/>
            </a:pPr>
            <a:r>
              <a:rPr lang="en" sz="2137">
                <a:latin typeface="Montserrat"/>
                <a:ea typeface="Montserrat"/>
                <a:cs typeface="Montserrat"/>
                <a:sym typeface="Montserrat"/>
              </a:rPr>
              <a:t>Risk Management, Safety, and Oversight</a:t>
            </a:r>
            <a:endParaRPr sz="2137">
              <a:latin typeface="Montserrat"/>
              <a:ea typeface="Montserrat"/>
              <a:cs typeface="Montserrat"/>
              <a:sym typeface="Montserrat"/>
            </a:endParaRPr>
          </a:p>
          <a:p>
            <a:pPr indent="0" lvl="0" marL="0" rtl="0" algn="l">
              <a:lnSpc>
                <a:spcPct val="95000"/>
              </a:lnSpc>
              <a:spcBef>
                <a:spcPts val="1200"/>
              </a:spcBef>
              <a:spcAft>
                <a:spcPts val="0"/>
              </a:spcAft>
              <a:buSzPts val="852"/>
              <a:buNone/>
            </a:pPr>
            <a:r>
              <a:rPr lang="en" sz="2137">
                <a:latin typeface="Montserrat"/>
                <a:ea typeface="Montserrat"/>
                <a:cs typeface="Montserrat"/>
                <a:sym typeface="Montserrat"/>
              </a:rPr>
              <a:t>Education and Training</a:t>
            </a:r>
            <a:endParaRPr sz="2137">
              <a:latin typeface="Montserrat"/>
              <a:ea typeface="Montserrat"/>
              <a:cs typeface="Montserrat"/>
              <a:sym typeface="Montserrat"/>
            </a:endParaRPr>
          </a:p>
          <a:p>
            <a:pPr indent="0" lvl="0" marL="0" rtl="0" algn="l">
              <a:lnSpc>
                <a:spcPct val="95000"/>
              </a:lnSpc>
              <a:spcBef>
                <a:spcPts val="1200"/>
              </a:spcBef>
              <a:spcAft>
                <a:spcPts val="1200"/>
              </a:spcAft>
              <a:buSzPts val="852"/>
              <a:buNone/>
            </a:pPr>
            <a:r>
              <a:rPr lang="en" sz="2137">
                <a:latin typeface="Montserrat"/>
                <a:ea typeface="Montserrat"/>
                <a:cs typeface="Montserrat"/>
                <a:sym typeface="Montserrat"/>
              </a:rPr>
              <a:t>Feedback and Review</a:t>
            </a:r>
            <a:endParaRPr sz="2137">
              <a:latin typeface="Montserrat"/>
              <a:ea typeface="Montserrat"/>
              <a:cs typeface="Montserrat"/>
              <a:sym typeface="Montserrat"/>
            </a:endParaRPr>
          </a:p>
        </p:txBody>
      </p:sp>
      <p:pic>
        <p:nvPicPr>
          <p:cNvPr id="251" name="Google Shape;251;p25"/>
          <p:cNvPicPr preferRelativeResize="0"/>
          <p:nvPr/>
        </p:nvPicPr>
        <p:blipFill>
          <a:blip r:embed="rId3">
            <a:alphaModFix/>
          </a:blip>
          <a:stretch>
            <a:fillRect/>
          </a:stretch>
        </p:blipFill>
        <p:spPr>
          <a:xfrm>
            <a:off x="1185475" y="1133300"/>
            <a:ext cx="340626" cy="340626"/>
          </a:xfrm>
          <a:prstGeom prst="rect">
            <a:avLst/>
          </a:prstGeom>
          <a:noFill/>
          <a:ln>
            <a:noFill/>
          </a:ln>
        </p:spPr>
      </p:pic>
      <p:pic>
        <p:nvPicPr>
          <p:cNvPr id="252" name="Google Shape;252;p25"/>
          <p:cNvPicPr preferRelativeResize="0"/>
          <p:nvPr/>
        </p:nvPicPr>
        <p:blipFill>
          <a:blip r:embed="rId4">
            <a:alphaModFix/>
          </a:blip>
          <a:stretch>
            <a:fillRect/>
          </a:stretch>
        </p:blipFill>
        <p:spPr>
          <a:xfrm>
            <a:off x="1185475" y="1643675"/>
            <a:ext cx="340626" cy="340626"/>
          </a:xfrm>
          <a:prstGeom prst="rect">
            <a:avLst/>
          </a:prstGeom>
          <a:noFill/>
          <a:ln>
            <a:noFill/>
          </a:ln>
        </p:spPr>
      </p:pic>
      <p:pic>
        <p:nvPicPr>
          <p:cNvPr id="253" name="Google Shape;253;p25"/>
          <p:cNvPicPr preferRelativeResize="0"/>
          <p:nvPr/>
        </p:nvPicPr>
        <p:blipFill>
          <a:blip r:embed="rId5">
            <a:alphaModFix/>
          </a:blip>
          <a:stretch>
            <a:fillRect/>
          </a:stretch>
        </p:blipFill>
        <p:spPr>
          <a:xfrm>
            <a:off x="1185475" y="2033449"/>
            <a:ext cx="340626" cy="340626"/>
          </a:xfrm>
          <a:prstGeom prst="rect">
            <a:avLst/>
          </a:prstGeom>
          <a:noFill/>
          <a:ln>
            <a:noFill/>
          </a:ln>
        </p:spPr>
      </p:pic>
      <p:pic>
        <p:nvPicPr>
          <p:cNvPr id="254" name="Google Shape;254;p25"/>
          <p:cNvPicPr preferRelativeResize="0"/>
          <p:nvPr/>
        </p:nvPicPr>
        <p:blipFill>
          <a:blip r:embed="rId6">
            <a:alphaModFix/>
          </a:blip>
          <a:stretch>
            <a:fillRect/>
          </a:stretch>
        </p:blipFill>
        <p:spPr>
          <a:xfrm flipH="1">
            <a:off x="1185472" y="2483527"/>
            <a:ext cx="340626" cy="340626"/>
          </a:xfrm>
          <a:prstGeom prst="rect">
            <a:avLst/>
          </a:prstGeom>
          <a:noFill/>
          <a:ln>
            <a:noFill/>
          </a:ln>
        </p:spPr>
      </p:pic>
      <p:pic>
        <p:nvPicPr>
          <p:cNvPr id="255" name="Google Shape;255;p25"/>
          <p:cNvPicPr preferRelativeResize="0"/>
          <p:nvPr/>
        </p:nvPicPr>
        <p:blipFill>
          <a:blip r:embed="rId7">
            <a:alphaModFix/>
          </a:blip>
          <a:stretch>
            <a:fillRect/>
          </a:stretch>
        </p:blipFill>
        <p:spPr>
          <a:xfrm>
            <a:off x="1185469" y="2933612"/>
            <a:ext cx="340626" cy="340638"/>
          </a:xfrm>
          <a:prstGeom prst="rect">
            <a:avLst/>
          </a:prstGeom>
          <a:noFill/>
          <a:ln>
            <a:noFill/>
          </a:ln>
        </p:spPr>
      </p:pic>
      <p:pic>
        <p:nvPicPr>
          <p:cNvPr id="256" name="Google Shape;256;p25"/>
          <p:cNvPicPr preferRelativeResize="0"/>
          <p:nvPr/>
        </p:nvPicPr>
        <p:blipFill>
          <a:blip r:embed="rId8">
            <a:alphaModFix/>
          </a:blip>
          <a:stretch>
            <a:fillRect/>
          </a:stretch>
        </p:blipFill>
        <p:spPr>
          <a:xfrm>
            <a:off x="1185475" y="3383700"/>
            <a:ext cx="340626" cy="340626"/>
          </a:xfrm>
          <a:prstGeom prst="rect">
            <a:avLst/>
          </a:prstGeom>
          <a:noFill/>
          <a:ln>
            <a:noFill/>
          </a:ln>
        </p:spPr>
      </p:pic>
      <p:pic>
        <p:nvPicPr>
          <p:cNvPr id="257" name="Google Shape;257;p25"/>
          <p:cNvPicPr preferRelativeResize="0"/>
          <p:nvPr/>
        </p:nvPicPr>
        <p:blipFill>
          <a:blip r:embed="rId9">
            <a:alphaModFix/>
          </a:blip>
          <a:stretch>
            <a:fillRect/>
          </a:stretch>
        </p:blipFill>
        <p:spPr>
          <a:xfrm>
            <a:off x="1185475" y="3833766"/>
            <a:ext cx="340626" cy="340617"/>
          </a:xfrm>
          <a:prstGeom prst="rect">
            <a:avLst/>
          </a:prstGeom>
          <a:noFill/>
          <a:ln>
            <a:noFill/>
          </a:ln>
        </p:spPr>
      </p:pic>
      <p:pic>
        <p:nvPicPr>
          <p:cNvPr id="258" name="Google Shape;258;p25"/>
          <p:cNvPicPr preferRelativeResize="0"/>
          <p:nvPr/>
        </p:nvPicPr>
        <p:blipFill>
          <a:blip r:embed="rId10">
            <a:alphaModFix/>
          </a:blip>
          <a:stretch>
            <a:fillRect/>
          </a:stretch>
        </p:blipFill>
        <p:spPr>
          <a:xfrm>
            <a:off x="1106025" y="4283825"/>
            <a:ext cx="499524" cy="49952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6"/>
          <p:cNvSpPr txBox="1"/>
          <p:nvPr>
            <p:ph type="title"/>
          </p:nvPr>
        </p:nvSpPr>
        <p:spPr>
          <a:xfrm>
            <a:off x="1045275" y="230350"/>
            <a:ext cx="77238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lt1"/>
              </a:buClr>
              <a:buSzPts val="990"/>
              <a:buFont typeface="Arial"/>
              <a:buNone/>
            </a:pPr>
            <a:r>
              <a:rPr lang="en" sz="3490">
                <a:solidFill>
                  <a:schemeClr val="dk1"/>
                </a:solidFill>
              </a:rPr>
              <a:t>Elements of an effective AI policy</a:t>
            </a:r>
            <a:endParaRPr/>
          </a:p>
        </p:txBody>
      </p:sp>
      <p:sp>
        <p:nvSpPr>
          <p:cNvPr id="264" name="Google Shape;264;p26"/>
          <p:cNvSpPr txBox="1"/>
          <p:nvPr>
            <p:ph idx="1" type="body"/>
          </p:nvPr>
        </p:nvSpPr>
        <p:spPr>
          <a:xfrm>
            <a:off x="1526100" y="1034525"/>
            <a:ext cx="7038900" cy="37983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852"/>
              <a:buNone/>
            </a:pPr>
            <a:r>
              <a:rPr lang="en" sz="2137">
                <a:latin typeface="Montserrat"/>
                <a:ea typeface="Montserrat"/>
                <a:cs typeface="Montserrat"/>
                <a:sym typeface="Montserrat"/>
              </a:rPr>
              <a:t>Purpose and Scope</a:t>
            </a:r>
            <a:endParaRPr sz="2137">
              <a:latin typeface="Montserrat"/>
              <a:ea typeface="Montserrat"/>
              <a:cs typeface="Montserrat"/>
              <a:sym typeface="Montserrat"/>
            </a:endParaRPr>
          </a:p>
          <a:p>
            <a:pPr indent="0" lvl="0" marL="0" rtl="0" algn="l">
              <a:lnSpc>
                <a:spcPct val="95000"/>
              </a:lnSpc>
              <a:spcBef>
                <a:spcPts val="1200"/>
              </a:spcBef>
              <a:spcAft>
                <a:spcPts val="0"/>
              </a:spcAft>
              <a:buSzPts val="852"/>
              <a:buNone/>
            </a:pPr>
            <a:r>
              <a:rPr lang="en" sz="2137">
                <a:latin typeface="Montserrat"/>
                <a:ea typeface="Montserrat"/>
                <a:cs typeface="Montserrat"/>
                <a:sym typeface="Montserrat"/>
              </a:rPr>
              <a:t>Values and Principles</a:t>
            </a:r>
            <a:endParaRPr sz="2137">
              <a:latin typeface="Montserrat"/>
              <a:ea typeface="Montserrat"/>
              <a:cs typeface="Montserrat"/>
              <a:sym typeface="Montserrat"/>
            </a:endParaRPr>
          </a:p>
          <a:p>
            <a:pPr indent="0" lvl="0" marL="0" rtl="0" algn="l">
              <a:lnSpc>
                <a:spcPct val="95000"/>
              </a:lnSpc>
              <a:spcBef>
                <a:spcPts val="1200"/>
              </a:spcBef>
              <a:spcAft>
                <a:spcPts val="0"/>
              </a:spcAft>
              <a:buSzPts val="852"/>
              <a:buNone/>
            </a:pPr>
            <a:r>
              <a:rPr lang="en" sz="2137">
                <a:highlight>
                  <a:srgbClr val="FFF2CC"/>
                </a:highlight>
                <a:latin typeface="Montserrat"/>
                <a:ea typeface="Montserrat"/>
                <a:cs typeface="Montserrat"/>
                <a:sym typeface="Montserrat"/>
              </a:rPr>
              <a:t>Governance and Oversight</a:t>
            </a:r>
            <a:endParaRPr sz="2137">
              <a:highlight>
                <a:srgbClr val="FFF2CC"/>
              </a:highlight>
              <a:latin typeface="Montserrat"/>
              <a:ea typeface="Montserrat"/>
              <a:cs typeface="Montserrat"/>
              <a:sym typeface="Montserrat"/>
            </a:endParaRPr>
          </a:p>
          <a:p>
            <a:pPr indent="0" lvl="0" marL="0" rtl="0" algn="l">
              <a:lnSpc>
                <a:spcPct val="95000"/>
              </a:lnSpc>
              <a:spcBef>
                <a:spcPts val="1200"/>
              </a:spcBef>
              <a:spcAft>
                <a:spcPts val="0"/>
              </a:spcAft>
              <a:buSzPts val="852"/>
              <a:buNone/>
            </a:pPr>
            <a:r>
              <a:rPr lang="en" sz="2137">
                <a:latin typeface="Montserrat"/>
                <a:ea typeface="Montserrat"/>
                <a:cs typeface="Montserrat"/>
                <a:sym typeface="Montserrat"/>
              </a:rPr>
              <a:t>Data Management and Privacy</a:t>
            </a:r>
            <a:endParaRPr sz="2137">
              <a:latin typeface="Montserrat"/>
              <a:ea typeface="Montserrat"/>
              <a:cs typeface="Montserrat"/>
              <a:sym typeface="Montserrat"/>
            </a:endParaRPr>
          </a:p>
          <a:p>
            <a:pPr indent="0" lvl="0" marL="0" rtl="0" algn="l">
              <a:lnSpc>
                <a:spcPct val="95000"/>
              </a:lnSpc>
              <a:spcBef>
                <a:spcPts val="1200"/>
              </a:spcBef>
              <a:spcAft>
                <a:spcPts val="0"/>
              </a:spcAft>
              <a:buSzPts val="852"/>
              <a:buNone/>
            </a:pPr>
            <a:r>
              <a:rPr lang="en" sz="2137">
                <a:latin typeface="Montserrat"/>
                <a:ea typeface="Montserrat"/>
                <a:cs typeface="Montserrat"/>
                <a:sym typeface="Montserrat"/>
              </a:rPr>
              <a:t>Fairness and Non-discrimination</a:t>
            </a:r>
            <a:endParaRPr sz="2137">
              <a:latin typeface="Montserrat"/>
              <a:ea typeface="Montserrat"/>
              <a:cs typeface="Montserrat"/>
              <a:sym typeface="Montserrat"/>
            </a:endParaRPr>
          </a:p>
          <a:p>
            <a:pPr indent="0" lvl="0" marL="0" rtl="0" algn="l">
              <a:lnSpc>
                <a:spcPct val="95000"/>
              </a:lnSpc>
              <a:spcBef>
                <a:spcPts val="1200"/>
              </a:spcBef>
              <a:spcAft>
                <a:spcPts val="0"/>
              </a:spcAft>
              <a:buClr>
                <a:schemeClr val="lt1"/>
              </a:buClr>
              <a:buSzPts val="852"/>
              <a:buFont typeface="Arial"/>
              <a:buNone/>
            </a:pPr>
            <a:r>
              <a:rPr lang="en" sz="2137">
                <a:latin typeface="Montserrat"/>
                <a:ea typeface="Montserrat"/>
                <a:cs typeface="Montserrat"/>
                <a:sym typeface="Montserrat"/>
              </a:rPr>
              <a:t>Risk Management, Safety, and Oversight</a:t>
            </a:r>
            <a:endParaRPr sz="2137">
              <a:latin typeface="Montserrat"/>
              <a:ea typeface="Montserrat"/>
              <a:cs typeface="Montserrat"/>
              <a:sym typeface="Montserrat"/>
            </a:endParaRPr>
          </a:p>
          <a:p>
            <a:pPr indent="0" lvl="0" marL="0" rtl="0" algn="l">
              <a:lnSpc>
                <a:spcPct val="95000"/>
              </a:lnSpc>
              <a:spcBef>
                <a:spcPts val="1200"/>
              </a:spcBef>
              <a:spcAft>
                <a:spcPts val="0"/>
              </a:spcAft>
              <a:buSzPts val="852"/>
              <a:buNone/>
            </a:pPr>
            <a:r>
              <a:rPr lang="en" sz="2137">
                <a:latin typeface="Montserrat"/>
                <a:ea typeface="Montserrat"/>
                <a:cs typeface="Montserrat"/>
                <a:sym typeface="Montserrat"/>
              </a:rPr>
              <a:t>Education and Training</a:t>
            </a:r>
            <a:endParaRPr sz="2137">
              <a:latin typeface="Montserrat"/>
              <a:ea typeface="Montserrat"/>
              <a:cs typeface="Montserrat"/>
              <a:sym typeface="Montserrat"/>
            </a:endParaRPr>
          </a:p>
          <a:p>
            <a:pPr indent="0" lvl="0" marL="0" rtl="0" algn="l">
              <a:lnSpc>
                <a:spcPct val="95000"/>
              </a:lnSpc>
              <a:spcBef>
                <a:spcPts val="1200"/>
              </a:spcBef>
              <a:spcAft>
                <a:spcPts val="1200"/>
              </a:spcAft>
              <a:buSzPts val="852"/>
              <a:buNone/>
            </a:pPr>
            <a:r>
              <a:rPr lang="en" sz="2137">
                <a:latin typeface="Montserrat"/>
                <a:ea typeface="Montserrat"/>
                <a:cs typeface="Montserrat"/>
                <a:sym typeface="Montserrat"/>
              </a:rPr>
              <a:t>Feedback and Review</a:t>
            </a:r>
            <a:endParaRPr sz="2137">
              <a:latin typeface="Montserrat"/>
              <a:ea typeface="Montserrat"/>
              <a:cs typeface="Montserrat"/>
              <a:sym typeface="Montserrat"/>
            </a:endParaRPr>
          </a:p>
        </p:txBody>
      </p:sp>
      <p:pic>
        <p:nvPicPr>
          <p:cNvPr id="265" name="Google Shape;265;p26"/>
          <p:cNvPicPr preferRelativeResize="0"/>
          <p:nvPr/>
        </p:nvPicPr>
        <p:blipFill>
          <a:blip r:embed="rId3">
            <a:alphaModFix/>
          </a:blip>
          <a:stretch>
            <a:fillRect/>
          </a:stretch>
        </p:blipFill>
        <p:spPr>
          <a:xfrm>
            <a:off x="1185475" y="1133300"/>
            <a:ext cx="340626" cy="340626"/>
          </a:xfrm>
          <a:prstGeom prst="rect">
            <a:avLst/>
          </a:prstGeom>
          <a:noFill/>
          <a:ln>
            <a:noFill/>
          </a:ln>
        </p:spPr>
      </p:pic>
      <p:pic>
        <p:nvPicPr>
          <p:cNvPr id="266" name="Google Shape;266;p26"/>
          <p:cNvPicPr preferRelativeResize="0"/>
          <p:nvPr/>
        </p:nvPicPr>
        <p:blipFill>
          <a:blip r:embed="rId4">
            <a:alphaModFix/>
          </a:blip>
          <a:stretch>
            <a:fillRect/>
          </a:stretch>
        </p:blipFill>
        <p:spPr>
          <a:xfrm>
            <a:off x="1185475" y="1643675"/>
            <a:ext cx="340626" cy="340626"/>
          </a:xfrm>
          <a:prstGeom prst="rect">
            <a:avLst/>
          </a:prstGeom>
          <a:noFill/>
          <a:ln>
            <a:noFill/>
          </a:ln>
        </p:spPr>
      </p:pic>
      <p:pic>
        <p:nvPicPr>
          <p:cNvPr id="267" name="Google Shape;267;p26"/>
          <p:cNvPicPr preferRelativeResize="0"/>
          <p:nvPr/>
        </p:nvPicPr>
        <p:blipFill>
          <a:blip r:embed="rId5">
            <a:alphaModFix/>
          </a:blip>
          <a:stretch>
            <a:fillRect/>
          </a:stretch>
        </p:blipFill>
        <p:spPr>
          <a:xfrm>
            <a:off x="1185475" y="2033449"/>
            <a:ext cx="340626" cy="340626"/>
          </a:xfrm>
          <a:prstGeom prst="rect">
            <a:avLst/>
          </a:prstGeom>
          <a:noFill/>
          <a:ln>
            <a:noFill/>
          </a:ln>
        </p:spPr>
      </p:pic>
      <p:pic>
        <p:nvPicPr>
          <p:cNvPr id="268" name="Google Shape;268;p26"/>
          <p:cNvPicPr preferRelativeResize="0"/>
          <p:nvPr/>
        </p:nvPicPr>
        <p:blipFill>
          <a:blip r:embed="rId6">
            <a:alphaModFix/>
          </a:blip>
          <a:stretch>
            <a:fillRect/>
          </a:stretch>
        </p:blipFill>
        <p:spPr>
          <a:xfrm flipH="1">
            <a:off x="1185472" y="2483527"/>
            <a:ext cx="340626" cy="340626"/>
          </a:xfrm>
          <a:prstGeom prst="rect">
            <a:avLst/>
          </a:prstGeom>
          <a:noFill/>
          <a:ln>
            <a:noFill/>
          </a:ln>
        </p:spPr>
      </p:pic>
      <p:pic>
        <p:nvPicPr>
          <p:cNvPr id="269" name="Google Shape;269;p26"/>
          <p:cNvPicPr preferRelativeResize="0"/>
          <p:nvPr/>
        </p:nvPicPr>
        <p:blipFill>
          <a:blip r:embed="rId7">
            <a:alphaModFix/>
          </a:blip>
          <a:stretch>
            <a:fillRect/>
          </a:stretch>
        </p:blipFill>
        <p:spPr>
          <a:xfrm>
            <a:off x="1185469" y="2933612"/>
            <a:ext cx="340626" cy="340638"/>
          </a:xfrm>
          <a:prstGeom prst="rect">
            <a:avLst/>
          </a:prstGeom>
          <a:noFill/>
          <a:ln>
            <a:noFill/>
          </a:ln>
        </p:spPr>
      </p:pic>
      <p:pic>
        <p:nvPicPr>
          <p:cNvPr id="270" name="Google Shape;270;p26"/>
          <p:cNvPicPr preferRelativeResize="0"/>
          <p:nvPr/>
        </p:nvPicPr>
        <p:blipFill>
          <a:blip r:embed="rId8">
            <a:alphaModFix/>
          </a:blip>
          <a:stretch>
            <a:fillRect/>
          </a:stretch>
        </p:blipFill>
        <p:spPr>
          <a:xfrm>
            <a:off x="1185475" y="3383700"/>
            <a:ext cx="340626" cy="340626"/>
          </a:xfrm>
          <a:prstGeom prst="rect">
            <a:avLst/>
          </a:prstGeom>
          <a:noFill/>
          <a:ln>
            <a:noFill/>
          </a:ln>
        </p:spPr>
      </p:pic>
      <p:pic>
        <p:nvPicPr>
          <p:cNvPr id="271" name="Google Shape;271;p26"/>
          <p:cNvPicPr preferRelativeResize="0"/>
          <p:nvPr/>
        </p:nvPicPr>
        <p:blipFill>
          <a:blip r:embed="rId9">
            <a:alphaModFix/>
          </a:blip>
          <a:stretch>
            <a:fillRect/>
          </a:stretch>
        </p:blipFill>
        <p:spPr>
          <a:xfrm>
            <a:off x="1185475" y="3833766"/>
            <a:ext cx="340626" cy="340617"/>
          </a:xfrm>
          <a:prstGeom prst="rect">
            <a:avLst/>
          </a:prstGeom>
          <a:noFill/>
          <a:ln>
            <a:noFill/>
          </a:ln>
        </p:spPr>
      </p:pic>
      <p:pic>
        <p:nvPicPr>
          <p:cNvPr id="272" name="Google Shape;272;p26"/>
          <p:cNvPicPr preferRelativeResize="0"/>
          <p:nvPr/>
        </p:nvPicPr>
        <p:blipFill>
          <a:blip r:embed="rId10">
            <a:alphaModFix/>
          </a:blip>
          <a:stretch>
            <a:fillRect/>
          </a:stretch>
        </p:blipFill>
        <p:spPr>
          <a:xfrm>
            <a:off x="1106025" y="4283825"/>
            <a:ext cx="499524" cy="49952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7"/>
          <p:cNvSpPr txBox="1"/>
          <p:nvPr>
            <p:ph type="title"/>
          </p:nvPr>
        </p:nvSpPr>
        <p:spPr>
          <a:xfrm>
            <a:off x="1045275" y="230350"/>
            <a:ext cx="77238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lt1"/>
              </a:buClr>
              <a:buSzPts val="990"/>
              <a:buFont typeface="Arial"/>
              <a:buNone/>
            </a:pPr>
            <a:r>
              <a:rPr lang="en" sz="3490">
                <a:solidFill>
                  <a:schemeClr val="dk1"/>
                </a:solidFill>
              </a:rPr>
              <a:t>Elements of an effective AI policy</a:t>
            </a:r>
            <a:endParaRPr/>
          </a:p>
        </p:txBody>
      </p:sp>
      <p:sp>
        <p:nvSpPr>
          <p:cNvPr id="278" name="Google Shape;278;p27"/>
          <p:cNvSpPr txBox="1"/>
          <p:nvPr>
            <p:ph idx="1" type="body"/>
          </p:nvPr>
        </p:nvSpPr>
        <p:spPr>
          <a:xfrm>
            <a:off x="1526100" y="1034525"/>
            <a:ext cx="7038900" cy="37983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852"/>
              <a:buNone/>
            </a:pPr>
            <a:r>
              <a:rPr lang="en" sz="2137">
                <a:latin typeface="Montserrat"/>
                <a:ea typeface="Montserrat"/>
                <a:cs typeface="Montserrat"/>
                <a:sym typeface="Montserrat"/>
              </a:rPr>
              <a:t>Purpose and Scope</a:t>
            </a:r>
            <a:endParaRPr sz="2137">
              <a:latin typeface="Montserrat"/>
              <a:ea typeface="Montserrat"/>
              <a:cs typeface="Montserrat"/>
              <a:sym typeface="Montserrat"/>
            </a:endParaRPr>
          </a:p>
          <a:p>
            <a:pPr indent="0" lvl="0" marL="0" rtl="0" algn="l">
              <a:lnSpc>
                <a:spcPct val="95000"/>
              </a:lnSpc>
              <a:spcBef>
                <a:spcPts val="1200"/>
              </a:spcBef>
              <a:spcAft>
                <a:spcPts val="0"/>
              </a:spcAft>
              <a:buSzPts val="852"/>
              <a:buNone/>
            </a:pPr>
            <a:r>
              <a:rPr lang="en" sz="2137">
                <a:latin typeface="Montserrat"/>
                <a:ea typeface="Montserrat"/>
                <a:cs typeface="Montserrat"/>
                <a:sym typeface="Montserrat"/>
              </a:rPr>
              <a:t>Values and Principles</a:t>
            </a:r>
            <a:endParaRPr sz="2137">
              <a:latin typeface="Montserrat"/>
              <a:ea typeface="Montserrat"/>
              <a:cs typeface="Montserrat"/>
              <a:sym typeface="Montserrat"/>
            </a:endParaRPr>
          </a:p>
          <a:p>
            <a:pPr indent="0" lvl="0" marL="0" rtl="0" algn="l">
              <a:lnSpc>
                <a:spcPct val="95000"/>
              </a:lnSpc>
              <a:spcBef>
                <a:spcPts val="1200"/>
              </a:spcBef>
              <a:spcAft>
                <a:spcPts val="0"/>
              </a:spcAft>
              <a:buSzPts val="852"/>
              <a:buNone/>
            </a:pPr>
            <a:r>
              <a:rPr lang="en" sz="2137">
                <a:latin typeface="Montserrat"/>
                <a:ea typeface="Montserrat"/>
                <a:cs typeface="Montserrat"/>
                <a:sym typeface="Montserrat"/>
              </a:rPr>
              <a:t>Governance and Oversight</a:t>
            </a:r>
            <a:endParaRPr sz="2137">
              <a:latin typeface="Montserrat"/>
              <a:ea typeface="Montserrat"/>
              <a:cs typeface="Montserrat"/>
              <a:sym typeface="Montserrat"/>
            </a:endParaRPr>
          </a:p>
          <a:p>
            <a:pPr indent="0" lvl="0" marL="0" rtl="0" algn="l">
              <a:lnSpc>
                <a:spcPct val="95000"/>
              </a:lnSpc>
              <a:spcBef>
                <a:spcPts val="1200"/>
              </a:spcBef>
              <a:spcAft>
                <a:spcPts val="0"/>
              </a:spcAft>
              <a:buSzPts val="852"/>
              <a:buNone/>
            </a:pPr>
            <a:r>
              <a:rPr lang="en" sz="2137">
                <a:highlight>
                  <a:srgbClr val="FFF2CC"/>
                </a:highlight>
                <a:latin typeface="Montserrat"/>
                <a:ea typeface="Montserrat"/>
                <a:cs typeface="Montserrat"/>
                <a:sym typeface="Montserrat"/>
              </a:rPr>
              <a:t>Data Management and Privacy</a:t>
            </a:r>
            <a:endParaRPr sz="2137">
              <a:highlight>
                <a:srgbClr val="FFF2CC"/>
              </a:highlight>
              <a:latin typeface="Montserrat"/>
              <a:ea typeface="Montserrat"/>
              <a:cs typeface="Montserrat"/>
              <a:sym typeface="Montserrat"/>
            </a:endParaRPr>
          </a:p>
          <a:p>
            <a:pPr indent="0" lvl="0" marL="0" rtl="0" algn="l">
              <a:lnSpc>
                <a:spcPct val="95000"/>
              </a:lnSpc>
              <a:spcBef>
                <a:spcPts val="1200"/>
              </a:spcBef>
              <a:spcAft>
                <a:spcPts val="0"/>
              </a:spcAft>
              <a:buSzPts val="852"/>
              <a:buNone/>
            </a:pPr>
            <a:r>
              <a:rPr lang="en" sz="2137">
                <a:latin typeface="Montserrat"/>
                <a:ea typeface="Montserrat"/>
                <a:cs typeface="Montserrat"/>
                <a:sym typeface="Montserrat"/>
              </a:rPr>
              <a:t>Fairness and Non-discrimination</a:t>
            </a:r>
            <a:endParaRPr sz="2137">
              <a:latin typeface="Montserrat"/>
              <a:ea typeface="Montserrat"/>
              <a:cs typeface="Montserrat"/>
              <a:sym typeface="Montserrat"/>
            </a:endParaRPr>
          </a:p>
          <a:p>
            <a:pPr indent="0" lvl="0" marL="0" rtl="0" algn="l">
              <a:lnSpc>
                <a:spcPct val="95000"/>
              </a:lnSpc>
              <a:spcBef>
                <a:spcPts val="1200"/>
              </a:spcBef>
              <a:spcAft>
                <a:spcPts val="0"/>
              </a:spcAft>
              <a:buClr>
                <a:schemeClr val="lt1"/>
              </a:buClr>
              <a:buSzPts val="852"/>
              <a:buFont typeface="Arial"/>
              <a:buNone/>
            </a:pPr>
            <a:r>
              <a:rPr lang="en" sz="2137">
                <a:latin typeface="Montserrat"/>
                <a:ea typeface="Montserrat"/>
                <a:cs typeface="Montserrat"/>
                <a:sym typeface="Montserrat"/>
              </a:rPr>
              <a:t>Risk Management, Safety, and Oversight</a:t>
            </a:r>
            <a:endParaRPr sz="2137">
              <a:latin typeface="Montserrat"/>
              <a:ea typeface="Montserrat"/>
              <a:cs typeface="Montserrat"/>
              <a:sym typeface="Montserrat"/>
            </a:endParaRPr>
          </a:p>
          <a:p>
            <a:pPr indent="0" lvl="0" marL="0" rtl="0" algn="l">
              <a:lnSpc>
                <a:spcPct val="95000"/>
              </a:lnSpc>
              <a:spcBef>
                <a:spcPts val="1200"/>
              </a:spcBef>
              <a:spcAft>
                <a:spcPts val="0"/>
              </a:spcAft>
              <a:buSzPts val="852"/>
              <a:buNone/>
            </a:pPr>
            <a:r>
              <a:rPr lang="en" sz="2137">
                <a:latin typeface="Montserrat"/>
                <a:ea typeface="Montserrat"/>
                <a:cs typeface="Montserrat"/>
                <a:sym typeface="Montserrat"/>
              </a:rPr>
              <a:t>Education and Training</a:t>
            </a:r>
            <a:endParaRPr sz="2137">
              <a:latin typeface="Montserrat"/>
              <a:ea typeface="Montserrat"/>
              <a:cs typeface="Montserrat"/>
              <a:sym typeface="Montserrat"/>
            </a:endParaRPr>
          </a:p>
          <a:p>
            <a:pPr indent="0" lvl="0" marL="0" rtl="0" algn="l">
              <a:lnSpc>
                <a:spcPct val="95000"/>
              </a:lnSpc>
              <a:spcBef>
                <a:spcPts val="1200"/>
              </a:spcBef>
              <a:spcAft>
                <a:spcPts val="1200"/>
              </a:spcAft>
              <a:buSzPts val="852"/>
              <a:buNone/>
            </a:pPr>
            <a:r>
              <a:rPr lang="en" sz="2137">
                <a:latin typeface="Montserrat"/>
                <a:ea typeface="Montserrat"/>
                <a:cs typeface="Montserrat"/>
                <a:sym typeface="Montserrat"/>
              </a:rPr>
              <a:t>Feedback and Review</a:t>
            </a:r>
            <a:endParaRPr sz="2137">
              <a:latin typeface="Montserrat"/>
              <a:ea typeface="Montserrat"/>
              <a:cs typeface="Montserrat"/>
              <a:sym typeface="Montserrat"/>
            </a:endParaRPr>
          </a:p>
        </p:txBody>
      </p:sp>
      <p:pic>
        <p:nvPicPr>
          <p:cNvPr id="279" name="Google Shape;279;p27"/>
          <p:cNvPicPr preferRelativeResize="0"/>
          <p:nvPr/>
        </p:nvPicPr>
        <p:blipFill>
          <a:blip r:embed="rId3">
            <a:alphaModFix/>
          </a:blip>
          <a:stretch>
            <a:fillRect/>
          </a:stretch>
        </p:blipFill>
        <p:spPr>
          <a:xfrm>
            <a:off x="1185475" y="1133300"/>
            <a:ext cx="340626" cy="340626"/>
          </a:xfrm>
          <a:prstGeom prst="rect">
            <a:avLst/>
          </a:prstGeom>
          <a:noFill/>
          <a:ln>
            <a:noFill/>
          </a:ln>
        </p:spPr>
      </p:pic>
      <p:pic>
        <p:nvPicPr>
          <p:cNvPr id="280" name="Google Shape;280;p27"/>
          <p:cNvPicPr preferRelativeResize="0"/>
          <p:nvPr/>
        </p:nvPicPr>
        <p:blipFill>
          <a:blip r:embed="rId4">
            <a:alphaModFix/>
          </a:blip>
          <a:stretch>
            <a:fillRect/>
          </a:stretch>
        </p:blipFill>
        <p:spPr>
          <a:xfrm>
            <a:off x="1185475" y="1643675"/>
            <a:ext cx="340626" cy="340626"/>
          </a:xfrm>
          <a:prstGeom prst="rect">
            <a:avLst/>
          </a:prstGeom>
          <a:noFill/>
          <a:ln>
            <a:noFill/>
          </a:ln>
        </p:spPr>
      </p:pic>
      <p:pic>
        <p:nvPicPr>
          <p:cNvPr id="281" name="Google Shape;281;p27"/>
          <p:cNvPicPr preferRelativeResize="0"/>
          <p:nvPr/>
        </p:nvPicPr>
        <p:blipFill>
          <a:blip r:embed="rId5">
            <a:alphaModFix/>
          </a:blip>
          <a:stretch>
            <a:fillRect/>
          </a:stretch>
        </p:blipFill>
        <p:spPr>
          <a:xfrm>
            <a:off x="1185475" y="2033449"/>
            <a:ext cx="340626" cy="340626"/>
          </a:xfrm>
          <a:prstGeom prst="rect">
            <a:avLst/>
          </a:prstGeom>
          <a:noFill/>
          <a:ln>
            <a:noFill/>
          </a:ln>
        </p:spPr>
      </p:pic>
      <p:pic>
        <p:nvPicPr>
          <p:cNvPr id="282" name="Google Shape;282;p27"/>
          <p:cNvPicPr preferRelativeResize="0"/>
          <p:nvPr/>
        </p:nvPicPr>
        <p:blipFill>
          <a:blip r:embed="rId6">
            <a:alphaModFix/>
          </a:blip>
          <a:stretch>
            <a:fillRect/>
          </a:stretch>
        </p:blipFill>
        <p:spPr>
          <a:xfrm flipH="1">
            <a:off x="1185472" y="2483527"/>
            <a:ext cx="340626" cy="340626"/>
          </a:xfrm>
          <a:prstGeom prst="rect">
            <a:avLst/>
          </a:prstGeom>
          <a:noFill/>
          <a:ln>
            <a:noFill/>
          </a:ln>
        </p:spPr>
      </p:pic>
      <p:pic>
        <p:nvPicPr>
          <p:cNvPr id="283" name="Google Shape;283;p27"/>
          <p:cNvPicPr preferRelativeResize="0"/>
          <p:nvPr/>
        </p:nvPicPr>
        <p:blipFill>
          <a:blip r:embed="rId7">
            <a:alphaModFix/>
          </a:blip>
          <a:stretch>
            <a:fillRect/>
          </a:stretch>
        </p:blipFill>
        <p:spPr>
          <a:xfrm>
            <a:off x="1185469" y="2933612"/>
            <a:ext cx="340626" cy="340638"/>
          </a:xfrm>
          <a:prstGeom prst="rect">
            <a:avLst/>
          </a:prstGeom>
          <a:noFill/>
          <a:ln>
            <a:noFill/>
          </a:ln>
        </p:spPr>
      </p:pic>
      <p:pic>
        <p:nvPicPr>
          <p:cNvPr id="284" name="Google Shape;284;p27"/>
          <p:cNvPicPr preferRelativeResize="0"/>
          <p:nvPr/>
        </p:nvPicPr>
        <p:blipFill>
          <a:blip r:embed="rId8">
            <a:alphaModFix/>
          </a:blip>
          <a:stretch>
            <a:fillRect/>
          </a:stretch>
        </p:blipFill>
        <p:spPr>
          <a:xfrm>
            <a:off x="1185475" y="3383700"/>
            <a:ext cx="340626" cy="340626"/>
          </a:xfrm>
          <a:prstGeom prst="rect">
            <a:avLst/>
          </a:prstGeom>
          <a:noFill/>
          <a:ln>
            <a:noFill/>
          </a:ln>
        </p:spPr>
      </p:pic>
      <p:pic>
        <p:nvPicPr>
          <p:cNvPr id="285" name="Google Shape;285;p27"/>
          <p:cNvPicPr preferRelativeResize="0"/>
          <p:nvPr/>
        </p:nvPicPr>
        <p:blipFill>
          <a:blip r:embed="rId9">
            <a:alphaModFix/>
          </a:blip>
          <a:stretch>
            <a:fillRect/>
          </a:stretch>
        </p:blipFill>
        <p:spPr>
          <a:xfrm>
            <a:off x="1185475" y="3833766"/>
            <a:ext cx="340626" cy="340617"/>
          </a:xfrm>
          <a:prstGeom prst="rect">
            <a:avLst/>
          </a:prstGeom>
          <a:noFill/>
          <a:ln>
            <a:noFill/>
          </a:ln>
        </p:spPr>
      </p:pic>
      <p:pic>
        <p:nvPicPr>
          <p:cNvPr id="286" name="Google Shape;286;p27"/>
          <p:cNvPicPr preferRelativeResize="0"/>
          <p:nvPr/>
        </p:nvPicPr>
        <p:blipFill>
          <a:blip r:embed="rId10">
            <a:alphaModFix/>
          </a:blip>
          <a:stretch>
            <a:fillRect/>
          </a:stretch>
        </p:blipFill>
        <p:spPr>
          <a:xfrm>
            <a:off x="1106025" y="4283825"/>
            <a:ext cx="499524" cy="49952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28"/>
          <p:cNvSpPr txBox="1"/>
          <p:nvPr>
            <p:ph type="title"/>
          </p:nvPr>
        </p:nvSpPr>
        <p:spPr>
          <a:xfrm>
            <a:off x="1045275" y="230350"/>
            <a:ext cx="77238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lt1"/>
              </a:buClr>
              <a:buSzPts val="990"/>
              <a:buFont typeface="Arial"/>
              <a:buNone/>
            </a:pPr>
            <a:r>
              <a:rPr lang="en" sz="3490">
                <a:solidFill>
                  <a:schemeClr val="dk1"/>
                </a:solidFill>
              </a:rPr>
              <a:t>Elements of an effective AI policy</a:t>
            </a:r>
            <a:endParaRPr/>
          </a:p>
        </p:txBody>
      </p:sp>
      <p:sp>
        <p:nvSpPr>
          <p:cNvPr id="292" name="Google Shape;292;p28"/>
          <p:cNvSpPr txBox="1"/>
          <p:nvPr>
            <p:ph idx="1" type="body"/>
          </p:nvPr>
        </p:nvSpPr>
        <p:spPr>
          <a:xfrm>
            <a:off x="1526100" y="1034525"/>
            <a:ext cx="7038900" cy="37983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852"/>
              <a:buNone/>
            </a:pPr>
            <a:r>
              <a:rPr lang="en" sz="2137">
                <a:latin typeface="Montserrat"/>
                <a:ea typeface="Montserrat"/>
                <a:cs typeface="Montserrat"/>
                <a:sym typeface="Montserrat"/>
              </a:rPr>
              <a:t>Purpose and Scope</a:t>
            </a:r>
            <a:endParaRPr sz="2137">
              <a:latin typeface="Montserrat"/>
              <a:ea typeface="Montserrat"/>
              <a:cs typeface="Montserrat"/>
              <a:sym typeface="Montserrat"/>
            </a:endParaRPr>
          </a:p>
          <a:p>
            <a:pPr indent="0" lvl="0" marL="0" rtl="0" algn="l">
              <a:lnSpc>
                <a:spcPct val="95000"/>
              </a:lnSpc>
              <a:spcBef>
                <a:spcPts val="1200"/>
              </a:spcBef>
              <a:spcAft>
                <a:spcPts val="0"/>
              </a:spcAft>
              <a:buSzPts val="852"/>
              <a:buNone/>
            </a:pPr>
            <a:r>
              <a:rPr lang="en" sz="2137">
                <a:latin typeface="Montserrat"/>
                <a:ea typeface="Montserrat"/>
                <a:cs typeface="Montserrat"/>
                <a:sym typeface="Montserrat"/>
              </a:rPr>
              <a:t>Values and Principles</a:t>
            </a:r>
            <a:endParaRPr sz="2137">
              <a:latin typeface="Montserrat"/>
              <a:ea typeface="Montserrat"/>
              <a:cs typeface="Montserrat"/>
              <a:sym typeface="Montserrat"/>
            </a:endParaRPr>
          </a:p>
          <a:p>
            <a:pPr indent="0" lvl="0" marL="0" rtl="0" algn="l">
              <a:lnSpc>
                <a:spcPct val="95000"/>
              </a:lnSpc>
              <a:spcBef>
                <a:spcPts val="1200"/>
              </a:spcBef>
              <a:spcAft>
                <a:spcPts val="0"/>
              </a:spcAft>
              <a:buSzPts val="852"/>
              <a:buNone/>
            </a:pPr>
            <a:r>
              <a:rPr lang="en" sz="2137">
                <a:latin typeface="Montserrat"/>
                <a:ea typeface="Montserrat"/>
                <a:cs typeface="Montserrat"/>
                <a:sym typeface="Montserrat"/>
              </a:rPr>
              <a:t>Governance and Oversight</a:t>
            </a:r>
            <a:endParaRPr sz="2137">
              <a:latin typeface="Montserrat"/>
              <a:ea typeface="Montserrat"/>
              <a:cs typeface="Montserrat"/>
              <a:sym typeface="Montserrat"/>
            </a:endParaRPr>
          </a:p>
          <a:p>
            <a:pPr indent="0" lvl="0" marL="0" rtl="0" algn="l">
              <a:lnSpc>
                <a:spcPct val="95000"/>
              </a:lnSpc>
              <a:spcBef>
                <a:spcPts val="1200"/>
              </a:spcBef>
              <a:spcAft>
                <a:spcPts val="0"/>
              </a:spcAft>
              <a:buSzPts val="852"/>
              <a:buNone/>
            </a:pPr>
            <a:r>
              <a:rPr lang="en" sz="2137">
                <a:latin typeface="Montserrat"/>
                <a:ea typeface="Montserrat"/>
                <a:cs typeface="Montserrat"/>
                <a:sym typeface="Montserrat"/>
              </a:rPr>
              <a:t>Data Management and Privacy</a:t>
            </a:r>
            <a:endParaRPr sz="2137">
              <a:latin typeface="Montserrat"/>
              <a:ea typeface="Montserrat"/>
              <a:cs typeface="Montserrat"/>
              <a:sym typeface="Montserrat"/>
            </a:endParaRPr>
          </a:p>
          <a:p>
            <a:pPr indent="0" lvl="0" marL="0" rtl="0" algn="l">
              <a:lnSpc>
                <a:spcPct val="95000"/>
              </a:lnSpc>
              <a:spcBef>
                <a:spcPts val="1200"/>
              </a:spcBef>
              <a:spcAft>
                <a:spcPts val="0"/>
              </a:spcAft>
              <a:buSzPts val="852"/>
              <a:buNone/>
            </a:pPr>
            <a:r>
              <a:rPr lang="en" sz="2137">
                <a:highlight>
                  <a:srgbClr val="FFF2CC"/>
                </a:highlight>
                <a:latin typeface="Montserrat"/>
                <a:ea typeface="Montserrat"/>
                <a:cs typeface="Montserrat"/>
                <a:sym typeface="Montserrat"/>
              </a:rPr>
              <a:t>Fairness and Non-discrimination</a:t>
            </a:r>
            <a:endParaRPr sz="2137">
              <a:highlight>
                <a:srgbClr val="FFF2CC"/>
              </a:highlight>
              <a:latin typeface="Montserrat"/>
              <a:ea typeface="Montserrat"/>
              <a:cs typeface="Montserrat"/>
              <a:sym typeface="Montserrat"/>
            </a:endParaRPr>
          </a:p>
          <a:p>
            <a:pPr indent="0" lvl="0" marL="0" rtl="0" algn="l">
              <a:lnSpc>
                <a:spcPct val="95000"/>
              </a:lnSpc>
              <a:spcBef>
                <a:spcPts val="1200"/>
              </a:spcBef>
              <a:spcAft>
                <a:spcPts val="0"/>
              </a:spcAft>
              <a:buSzPts val="852"/>
              <a:buNone/>
            </a:pPr>
            <a:r>
              <a:rPr lang="en" sz="2137">
                <a:latin typeface="Montserrat"/>
                <a:ea typeface="Montserrat"/>
                <a:cs typeface="Montserrat"/>
                <a:sym typeface="Montserrat"/>
              </a:rPr>
              <a:t>Risk Management, Safety, and Oversight</a:t>
            </a:r>
            <a:endParaRPr sz="2137">
              <a:latin typeface="Montserrat"/>
              <a:ea typeface="Montserrat"/>
              <a:cs typeface="Montserrat"/>
              <a:sym typeface="Montserrat"/>
            </a:endParaRPr>
          </a:p>
          <a:p>
            <a:pPr indent="0" lvl="0" marL="0" rtl="0" algn="l">
              <a:lnSpc>
                <a:spcPct val="95000"/>
              </a:lnSpc>
              <a:spcBef>
                <a:spcPts val="1200"/>
              </a:spcBef>
              <a:spcAft>
                <a:spcPts val="0"/>
              </a:spcAft>
              <a:buSzPts val="852"/>
              <a:buNone/>
            </a:pPr>
            <a:r>
              <a:rPr lang="en" sz="2137">
                <a:latin typeface="Montserrat"/>
                <a:ea typeface="Montserrat"/>
                <a:cs typeface="Montserrat"/>
                <a:sym typeface="Montserrat"/>
              </a:rPr>
              <a:t>Education and Training</a:t>
            </a:r>
            <a:endParaRPr sz="2137">
              <a:latin typeface="Montserrat"/>
              <a:ea typeface="Montserrat"/>
              <a:cs typeface="Montserrat"/>
              <a:sym typeface="Montserrat"/>
            </a:endParaRPr>
          </a:p>
          <a:p>
            <a:pPr indent="0" lvl="0" marL="0" rtl="0" algn="l">
              <a:lnSpc>
                <a:spcPct val="95000"/>
              </a:lnSpc>
              <a:spcBef>
                <a:spcPts val="1200"/>
              </a:spcBef>
              <a:spcAft>
                <a:spcPts val="1200"/>
              </a:spcAft>
              <a:buSzPts val="852"/>
              <a:buNone/>
            </a:pPr>
            <a:r>
              <a:rPr lang="en" sz="2137">
                <a:latin typeface="Montserrat"/>
                <a:ea typeface="Montserrat"/>
                <a:cs typeface="Montserrat"/>
                <a:sym typeface="Montserrat"/>
              </a:rPr>
              <a:t>Feedback and Review</a:t>
            </a:r>
            <a:endParaRPr sz="2137">
              <a:latin typeface="Montserrat"/>
              <a:ea typeface="Montserrat"/>
              <a:cs typeface="Montserrat"/>
              <a:sym typeface="Montserrat"/>
            </a:endParaRPr>
          </a:p>
        </p:txBody>
      </p:sp>
      <p:pic>
        <p:nvPicPr>
          <p:cNvPr id="293" name="Google Shape;293;p28"/>
          <p:cNvPicPr preferRelativeResize="0"/>
          <p:nvPr/>
        </p:nvPicPr>
        <p:blipFill>
          <a:blip r:embed="rId3">
            <a:alphaModFix/>
          </a:blip>
          <a:stretch>
            <a:fillRect/>
          </a:stretch>
        </p:blipFill>
        <p:spPr>
          <a:xfrm>
            <a:off x="1185475" y="1133300"/>
            <a:ext cx="340626" cy="340626"/>
          </a:xfrm>
          <a:prstGeom prst="rect">
            <a:avLst/>
          </a:prstGeom>
          <a:noFill/>
          <a:ln>
            <a:noFill/>
          </a:ln>
        </p:spPr>
      </p:pic>
      <p:pic>
        <p:nvPicPr>
          <p:cNvPr id="294" name="Google Shape;294;p28"/>
          <p:cNvPicPr preferRelativeResize="0"/>
          <p:nvPr/>
        </p:nvPicPr>
        <p:blipFill>
          <a:blip r:embed="rId4">
            <a:alphaModFix/>
          </a:blip>
          <a:stretch>
            <a:fillRect/>
          </a:stretch>
        </p:blipFill>
        <p:spPr>
          <a:xfrm>
            <a:off x="1185475" y="1643675"/>
            <a:ext cx="340626" cy="340626"/>
          </a:xfrm>
          <a:prstGeom prst="rect">
            <a:avLst/>
          </a:prstGeom>
          <a:noFill/>
          <a:ln>
            <a:noFill/>
          </a:ln>
        </p:spPr>
      </p:pic>
      <p:pic>
        <p:nvPicPr>
          <p:cNvPr id="295" name="Google Shape;295;p28"/>
          <p:cNvPicPr preferRelativeResize="0"/>
          <p:nvPr/>
        </p:nvPicPr>
        <p:blipFill>
          <a:blip r:embed="rId5">
            <a:alphaModFix/>
          </a:blip>
          <a:stretch>
            <a:fillRect/>
          </a:stretch>
        </p:blipFill>
        <p:spPr>
          <a:xfrm>
            <a:off x="1185475" y="2033449"/>
            <a:ext cx="340626" cy="340626"/>
          </a:xfrm>
          <a:prstGeom prst="rect">
            <a:avLst/>
          </a:prstGeom>
          <a:noFill/>
          <a:ln>
            <a:noFill/>
          </a:ln>
        </p:spPr>
      </p:pic>
      <p:pic>
        <p:nvPicPr>
          <p:cNvPr id="296" name="Google Shape;296;p28"/>
          <p:cNvPicPr preferRelativeResize="0"/>
          <p:nvPr/>
        </p:nvPicPr>
        <p:blipFill>
          <a:blip r:embed="rId6">
            <a:alphaModFix/>
          </a:blip>
          <a:stretch>
            <a:fillRect/>
          </a:stretch>
        </p:blipFill>
        <p:spPr>
          <a:xfrm flipH="1">
            <a:off x="1185472" y="2483527"/>
            <a:ext cx="340626" cy="340626"/>
          </a:xfrm>
          <a:prstGeom prst="rect">
            <a:avLst/>
          </a:prstGeom>
          <a:noFill/>
          <a:ln>
            <a:noFill/>
          </a:ln>
        </p:spPr>
      </p:pic>
      <p:pic>
        <p:nvPicPr>
          <p:cNvPr id="297" name="Google Shape;297;p28"/>
          <p:cNvPicPr preferRelativeResize="0"/>
          <p:nvPr/>
        </p:nvPicPr>
        <p:blipFill>
          <a:blip r:embed="rId7">
            <a:alphaModFix/>
          </a:blip>
          <a:stretch>
            <a:fillRect/>
          </a:stretch>
        </p:blipFill>
        <p:spPr>
          <a:xfrm>
            <a:off x="1185469" y="2933612"/>
            <a:ext cx="340626" cy="340638"/>
          </a:xfrm>
          <a:prstGeom prst="rect">
            <a:avLst/>
          </a:prstGeom>
          <a:noFill/>
          <a:ln>
            <a:noFill/>
          </a:ln>
        </p:spPr>
      </p:pic>
      <p:pic>
        <p:nvPicPr>
          <p:cNvPr id="298" name="Google Shape;298;p28"/>
          <p:cNvPicPr preferRelativeResize="0"/>
          <p:nvPr/>
        </p:nvPicPr>
        <p:blipFill>
          <a:blip r:embed="rId8">
            <a:alphaModFix/>
          </a:blip>
          <a:stretch>
            <a:fillRect/>
          </a:stretch>
        </p:blipFill>
        <p:spPr>
          <a:xfrm>
            <a:off x="1185475" y="3383700"/>
            <a:ext cx="340626" cy="340626"/>
          </a:xfrm>
          <a:prstGeom prst="rect">
            <a:avLst/>
          </a:prstGeom>
          <a:noFill/>
          <a:ln>
            <a:noFill/>
          </a:ln>
        </p:spPr>
      </p:pic>
      <p:pic>
        <p:nvPicPr>
          <p:cNvPr id="299" name="Google Shape;299;p28"/>
          <p:cNvPicPr preferRelativeResize="0"/>
          <p:nvPr/>
        </p:nvPicPr>
        <p:blipFill>
          <a:blip r:embed="rId9">
            <a:alphaModFix/>
          </a:blip>
          <a:stretch>
            <a:fillRect/>
          </a:stretch>
        </p:blipFill>
        <p:spPr>
          <a:xfrm>
            <a:off x="1185475" y="3833766"/>
            <a:ext cx="340626" cy="340617"/>
          </a:xfrm>
          <a:prstGeom prst="rect">
            <a:avLst/>
          </a:prstGeom>
          <a:noFill/>
          <a:ln>
            <a:noFill/>
          </a:ln>
        </p:spPr>
      </p:pic>
      <p:pic>
        <p:nvPicPr>
          <p:cNvPr id="300" name="Google Shape;300;p28"/>
          <p:cNvPicPr preferRelativeResize="0"/>
          <p:nvPr/>
        </p:nvPicPr>
        <p:blipFill>
          <a:blip r:embed="rId10">
            <a:alphaModFix/>
          </a:blip>
          <a:stretch>
            <a:fillRect/>
          </a:stretch>
        </p:blipFill>
        <p:spPr>
          <a:xfrm>
            <a:off x="1106025" y="4283825"/>
            <a:ext cx="499524" cy="49952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29"/>
          <p:cNvSpPr txBox="1"/>
          <p:nvPr>
            <p:ph type="title"/>
          </p:nvPr>
        </p:nvSpPr>
        <p:spPr>
          <a:xfrm>
            <a:off x="1045275" y="230350"/>
            <a:ext cx="77238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lt1"/>
              </a:buClr>
              <a:buSzPts val="990"/>
              <a:buFont typeface="Arial"/>
              <a:buNone/>
            </a:pPr>
            <a:r>
              <a:rPr lang="en" sz="3490">
                <a:solidFill>
                  <a:schemeClr val="dk1"/>
                </a:solidFill>
              </a:rPr>
              <a:t>Elements of an effective AI policy</a:t>
            </a:r>
            <a:endParaRPr/>
          </a:p>
        </p:txBody>
      </p:sp>
      <p:sp>
        <p:nvSpPr>
          <p:cNvPr id="306" name="Google Shape;306;p29"/>
          <p:cNvSpPr txBox="1"/>
          <p:nvPr>
            <p:ph idx="1" type="body"/>
          </p:nvPr>
        </p:nvSpPr>
        <p:spPr>
          <a:xfrm>
            <a:off x="1526100" y="1034525"/>
            <a:ext cx="7038900" cy="37983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852"/>
              <a:buNone/>
            </a:pPr>
            <a:r>
              <a:rPr lang="en" sz="2137">
                <a:latin typeface="Montserrat"/>
                <a:ea typeface="Montserrat"/>
                <a:cs typeface="Montserrat"/>
                <a:sym typeface="Montserrat"/>
              </a:rPr>
              <a:t>Purpose and Scope</a:t>
            </a:r>
            <a:endParaRPr sz="2137">
              <a:latin typeface="Montserrat"/>
              <a:ea typeface="Montserrat"/>
              <a:cs typeface="Montserrat"/>
              <a:sym typeface="Montserrat"/>
            </a:endParaRPr>
          </a:p>
          <a:p>
            <a:pPr indent="0" lvl="0" marL="0" rtl="0" algn="l">
              <a:lnSpc>
                <a:spcPct val="95000"/>
              </a:lnSpc>
              <a:spcBef>
                <a:spcPts val="1200"/>
              </a:spcBef>
              <a:spcAft>
                <a:spcPts val="0"/>
              </a:spcAft>
              <a:buSzPts val="852"/>
              <a:buNone/>
            </a:pPr>
            <a:r>
              <a:rPr lang="en" sz="2137">
                <a:latin typeface="Montserrat"/>
                <a:ea typeface="Montserrat"/>
                <a:cs typeface="Montserrat"/>
                <a:sym typeface="Montserrat"/>
              </a:rPr>
              <a:t>Values and Principles</a:t>
            </a:r>
            <a:endParaRPr sz="2137">
              <a:latin typeface="Montserrat"/>
              <a:ea typeface="Montserrat"/>
              <a:cs typeface="Montserrat"/>
              <a:sym typeface="Montserrat"/>
            </a:endParaRPr>
          </a:p>
          <a:p>
            <a:pPr indent="0" lvl="0" marL="0" rtl="0" algn="l">
              <a:lnSpc>
                <a:spcPct val="95000"/>
              </a:lnSpc>
              <a:spcBef>
                <a:spcPts val="1200"/>
              </a:spcBef>
              <a:spcAft>
                <a:spcPts val="0"/>
              </a:spcAft>
              <a:buSzPts val="852"/>
              <a:buNone/>
            </a:pPr>
            <a:r>
              <a:rPr lang="en" sz="2137">
                <a:latin typeface="Montserrat"/>
                <a:ea typeface="Montserrat"/>
                <a:cs typeface="Montserrat"/>
                <a:sym typeface="Montserrat"/>
              </a:rPr>
              <a:t>Governance and Oversight</a:t>
            </a:r>
            <a:endParaRPr sz="2137">
              <a:latin typeface="Montserrat"/>
              <a:ea typeface="Montserrat"/>
              <a:cs typeface="Montserrat"/>
              <a:sym typeface="Montserrat"/>
            </a:endParaRPr>
          </a:p>
          <a:p>
            <a:pPr indent="0" lvl="0" marL="0" rtl="0" algn="l">
              <a:lnSpc>
                <a:spcPct val="95000"/>
              </a:lnSpc>
              <a:spcBef>
                <a:spcPts val="1200"/>
              </a:spcBef>
              <a:spcAft>
                <a:spcPts val="0"/>
              </a:spcAft>
              <a:buSzPts val="852"/>
              <a:buNone/>
            </a:pPr>
            <a:r>
              <a:rPr lang="en" sz="2137">
                <a:latin typeface="Montserrat"/>
                <a:ea typeface="Montserrat"/>
                <a:cs typeface="Montserrat"/>
                <a:sym typeface="Montserrat"/>
              </a:rPr>
              <a:t>Data Management and Privacy</a:t>
            </a:r>
            <a:endParaRPr sz="2137">
              <a:latin typeface="Montserrat"/>
              <a:ea typeface="Montserrat"/>
              <a:cs typeface="Montserrat"/>
              <a:sym typeface="Montserrat"/>
            </a:endParaRPr>
          </a:p>
          <a:p>
            <a:pPr indent="0" lvl="0" marL="0" rtl="0" algn="l">
              <a:lnSpc>
                <a:spcPct val="95000"/>
              </a:lnSpc>
              <a:spcBef>
                <a:spcPts val="1200"/>
              </a:spcBef>
              <a:spcAft>
                <a:spcPts val="0"/>
              </a:spcAft>
              <a:buSzPts val="852"/>
              <a:buNone/>
            </a:pPr>
            <a:r>
              <a:rPr lang="en" sz="2137">
                <a:latin typeface="Montserrat"/>
                <a:ea typeface="Montserrat"/>
                <a:cs typeface="Montserrat"/>
                <a:sym typeface="Montserrat"/>
              </a:rPr>
              <a:t>Fairness and Non-discrimination</a:t>
            </a:r>
            <a:endParaRPr sz="2137">
              <a:latin typeface="Montserrat"/>
              <a:ea typeface="Montserrat"/>
              <a:cs typeface="Montserrat"/>
              <a:sym typeface="Montserrat"/>
            </a:endParaRPr>
          </a:p>
          <a:p>
            <a:pPr indent="0" lvl="0" marL="0" rtl="0" algn="l">
              <a:lnSpc>
                <a:spcPct val="95000"/>
              </a:lnSpc>
              <a:spcBef>
                <a:spcPts val="1200"/>
              </a:spcBef>
              <a:spcAft>
                <a:spcPts val="0"/>
              </a:spcAft>
              <a:buSzPts val="852"/>
              <a:buNone/>
            </a:pPr>
            <a:r>
              <a:rPr lang="en" sz="2137">
                <a:highlight>
                  <a:srgbClr val="FFF2CC"/>
                </a:highlight>
                <a:latin typeface="Montserrat"/>
                <a:ea typeface="Montserrat"/>
                <a:cs typeface="Montserrat"/>
                <a:sym typeface="Montserrat"/>
              </a:rPr>
              <a:t>Risk Management, Safety, and Oversight</a:t>
            </a:r>
            <a:endParaRPr sz="2137">
              <a:highlight>
                <a:srgbClr val="FFF2CC"/>
              </a:highlight>
              <a:latin typeface="Montserrat"/>
              <a:ea typeface="Montserrat"/>
              <a:cs typeface="Montserrat"/>
              <a:sym typeface="Montserrat"/>
            </a:endParaRPr>
          </a:p>
          <a:p>
            <a:pPr indent="0" lvl="0" marL="0" rtl="0" algn="l">
              <a:lnSpc>
                <a:spcPct val="95000"/>
              </a:lnSpc>
              <a:spcBef>
                <a:spcPts val="1200"/>
              </a:spcBef>
              <a:spcAft>
                <a:spcPts val="0"/>
              </a:spcAft>
              <a:buSzPts val="852"/>
              <a:buNone/>
            </a:pPr>
            <a:r>
              <a:rPr lang="en" sz="2137">
                <a:latin typeface="Montserrat"/>
                <a:ea typeface="Montserrat"/>
                <a:cs typeface="Montserrat"/>
                <a:sym typeface="Montserrat"/>
              </a:rPr>
              <a:t>Education and Training</a:t>
            </a:r>
            <a:endParaRPr sz="2137">
              <a:latin typeface="Montserrat"/>
              <a:ea typeface="Montserrat"/>
              <a:cs typeface="Montserrat"/>
              <a:sym typeface="Montserrat"/>
            </a:endParaRPr>
          </a:p>
          <a:p>
            <a:pPr indent="0" lvl="0" marL="0" rtl="0" algn="l">
              <a:lnSpc>
                <a:spcPct val="95000"/>
              </a:lnSpc>
              <a:spcBef>
                <a:spcPts val="1200"/>
              </a:spcBef>
              <a:spcAft>
                <a:spcPts val="1200"/>
              </a:spcAft>
              <a:buSzPts val="852"/>
              <a:buNone/>
            </a:pPr>
            <a:r>
              <a:rPr lang="en" sz="2137">
                <a:latin typeface="Montserrat"/>
                <a:ea typeface="Montserrat"/>
                <a:cs typeface="Montserrat"/>
                <a:sym typeface="Montserrat"/>
              </a:rPr>
              <a:t>Feedback and Review</a:t>
            </a:r>
            <a:endParaRPr sz="2137">
              <a:latin typeface="Montserrat"/>
              <a:ea typeface="Montserrat"/>
              <a:cs typeface="Montserrat"/>
              <a:sym typeface="Montserrat"/>
            </a:endParaRPr>
          </a:p>
        </p:txBody>
      </p:sp>
      <p:pic>
        <p:nvPicPr>
          <p:cNvPr id="307" name="Google Shape;307;p29"/>
          <p:cNvPicPr preferRelativeResize="0"/>
          <p:nvPr/>
        </p:nvPicPr>
        <p:blipFill>
          <a:blip r:embed="rId3">
            <a:alphaModFix/>
          </a:blip>
          <a:stretch>
            <a:fillRect/>
          </a:stretch>
        </p:blipFill>
        <p:spPr>
          <a:xfrm>
            <a:off x="1185475" y="1133300"/>
            <a:ext cx="340626" cy="340626"/>
          </a:xfrm>
          <a:prstGeom prst="rect">
            <a:avLst/>
          </a:prstGeom>
          <a:noFill/>
          <a:ln>
            <a:noFill/>
          </a:ln>
        </p:spPr>
      </p:pic>
      <p:pic>
        <p:nvPicPr>
          <p:cNvPr id="308" name="Google Shape;308;p29"/>
          <p:cNvPicPr preferRelativeResize="0"/>
          <p:nvPr/>
        </p:nvPicPr>
        <p:blipFill>
          <a:blip r:embed="rId4">
            <a:alphaModFix/>
          </a:blip>
          <a:stretch>
            <a:fillRect/>
          </a:stretch>
        </p:blipFill>
        <p:spPr>
          <a:xfrm>
            <a:off x="1185475" y="1643675"/>
            <a:ext cx="340626" cy="340626"/>
          </a:xfrm>
          <a:prstGeom prst="rect">
            <a:avLst/>
          </a:prstGeom>
          <a:noFill/>
          <a:ln>
            <a:noFill/>
          </a:ln>
        </p:spPr>
      </p:pic>
      <p:pic>
        <p:nvPicPr>
          <p:cNvPr id="309" name="Google Shape;309;p29"/>
          <p:cNvPicPr preferRelativeResize="0"/>
          <p:nvPr/>
        </p:nvPicPr>
        <p:blipFill>
          <a:blip r:embed="rId5">
            <a:alphaModFix/>
          </a:blip>
          <a:stretch>
            <a:fillRect/>
          </a:stretch>
        </p:blipFill>
        <p:spPr>
          <a:xfrm>
            <a:off x="1185475" y="2033449"/>
            <a:ext cx="340626" cy="340626"/>
          </a:xfrm>
          <a:prstGeom prst="rect">
            <a:avLst/>
          </a:prstGeom>
          <a:noFill/>
          <a:ln>
            <a:noFill/>
          </a:ln>
        </p:spPr>
      </p:pic>
      <p:pic>
        <p:nvPicPr>
          <p:cNvPr id="310" name="Google Shape;310;p29"/>
          <p:cNvPicPr preferRelativeResize="0"/>
          <p:nvPr/>
        </p:nvPicPr>
        <p:blipFill>
          <a:blip r:embed="rId6">
            <a:alphaModFix/>
          </a:blip>
          <a:stretch>
            <a:fillRect/>
          </a:stretch>
        </p:blipFill>
        <p:spPr>
          <a:xfrm flipH="1">
            <a:off x="1185472" y="2483527"/>
            <a:ext cx="340626" cy="340626"/>
          </a:xfrm>
          <a:prstGeom prst="rect">
            <a:avLst/>
          </a:prstGeom>
          <a:noFill/>
          <a:ln>
            <a:noFill/>
          </a:ln>
        </p:spPr>
      </p:pic>
      <p:pic>
        <p:nvPicPr>
          <p:cNvPr id="311" name="Google Shape;311;p29"/>
          <p:cNvPicPr preferRelativeResize="0"/>
          <p:nvPr/>
        </p:nvPicPr>
        <p:blipFill>
          <a:blip r:embed="rId7">
            <a:alphaModFix/>
          </a:blip>
          <a:stretch>
            <a:fillRect/>
          </a:stretch>
        </p:blipFill>
        <p:spPr>
          <a:xfrm>
            <a:off x="1185469" y="2933612"/>
            <a:ext cx="340626" cy="340638"/>
          </a:xfrm>
          <a:prstGeom prst="rect">
            <a:avLst/>
          </a:prstGeom>
          <a:noFill/>
          <a:ln>
            <a:noFill/>
          </a:ln>
        </p:spPr>
      </p:pic>
      <p:pic>
        <p:nvPicPr>
          <p:cNvPr id="312" name="Google Shape;312;p29"/>
          <p:cNvPicPr preferRelativeResize="0"/>
          <p:nvPr/>
        </p:nvPicPr>
        <p:blipFill>
          <a:blip r:embed="rId8">
            <a:alphaModFix/>
          </a:blip>
          <a:stretch>
            <a:fillRect/>
          </a:stretch>
        </p:blipFill>
        <p:spPr>
          <a:xfrm>
            <a:off x="1185475" y="3383700"/>
            <a:ext cx="340626" cy="340626"/>
          </a:xfrm>
          <a:prstGeom prst="rect">
            <a:avLst/>
          </a:prstGeom>
          <a:noFill/>
          <a:ln>
            <a:noFill/>
          </a:ln>
        </p:spPr>
      </p:pic>
      <p:pic>
        <p:nvPicPr>
          <p:cNvPr id="313" name="Google Shape;313;p29"/>
          <p:cNvPicPr preferRelativeResize="0"/>
          <p:nvPr/>
        </p:nvPicPr>
        <p:blipFill>
          <a:blip r:embed="rId9">
            <a:alphaModFix/>
          </a:blip>
          <a:stretch>
            <a:fillRect/>
          </a:stretch>
        </p:blipFill>
        <p:spPr>
          <a:xfrm>
            <a:off x="1185475" y="3833766"/>
            <a:ext cx="340626" cy="340617"/>
          </a:xfrm>
          <a:prstGeom prst="rect">
            <a:avLst/>
          </a:prstGeom>
          <a:noFill/>
          <a:ln>
            <a:noFill/>
          </a:ln>
        </p:spPr>
      </p:pic>
      <p:pic>
        <p:nvPicPr>
          <p:cNvPr id="314" name="Google Shape;314;p29"/>
          <p:cNvPicPr preferRelativeResize="0"/>
          <p:nvPr/>
        </p:nvPicPr>
        <p:blipFill>
          <a:blip r:embed="rId10">
            <a:alphaModFix/>
          </a:blip>
          <a:stretch>
            <a:fillRect/>
          </a:stretch>
        </p:blipFill>
        <p:spPr>
          <a:xfrm>
            <a:off x="1106025" y="4283825"/>
            <a:ext cx="499524" cy="49952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0"/>
          <p:cNvSpPr txBox="1"/>
          <p:nvPr>
            <p:ph type="title"/>
          </p:nvPr>
        </p:nvSpPr>
        <p:spPr>
          <a:xfrm>
            <a:off x="1045275" y="230350"/>
            <a:ext cx="77238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lt1"/>
              </a:buClr>
              <a:buSzPts val="990"/>
              <a:buFont typeface="Arial"/>
              <a:buNone/>
            </a:pPr>
            <a:r>
              <a:rPr lang="en" sz="3490">
                <a:solidFill>
                  <a:schemeClr val="dk1"/>
                </a:solidFill>
              </a:rPr>
              <a:t>Elements of an effective AI policy</a:t>
            </a:r>
            <a:endParaRPr/>
          </a:p>
        </p:txBody>
      </p:sp>
      <p:sp>
        <p:nvSpPr>
          <p:cNvPr id="320" name="Google Shape;320;p30"/>
          <p:cNvSpPr txBox="1"/>
          <p:nvPr>
            <p:ph idx="1" type="body"/>
          </p:nvPr>
        </p:nvSpPr>
        <p:spPr>
          <a:xfrm>
            <a:off x="1526100" y="1034525"/>
            <a:ext cx="7038900" cy="37983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852"/>
              <a:buNone/>
            </a:pPr>
            <a:r>
              <a:rPr lang="en" sz="2137">
                <a:latin typeface="Montserrat"/>
                <a:ea typeface="Montserrat"/>
                <a:cs typeface="Montserrat"/>
                <a:sym typeface="Montserrat"/>
              </a:rPr>
              <a:t>Purpose and Scope</a:t>
            </a:r>
            <a:endParaRPr sz="2137">
              <a:latin typeface="Montserrat"/>
              <a:ea typeface="Montserrat"/>
              <a:cs typeface="Montserrat"/>
              <a:sym typeface="Montserrat"/>
            </a:endParaRPr>
          </a:p>
          <a:p>
            <a:pPr indent="0" lvl="0" marL="0" rtl="0" algn="l">
              <a:lnSpc>
                <a:spcPct val="95000"/>
              </a:lnSpc>
              <a:spcBef>
                <a:spcPts val="1200"/>
              </a:spcBef>
              <a:spcAft>
                <a:spcPts val="0"/>
              </a:spcAft>
              <a:buSzPts val="852"/>
              <a:buNone/>
            </a:pPr>
            <a:r>
              <a:rPr lang="en" sz="2137">
                <a:latin typeface="Montserrat"/>
                <a:ea typeface="Montserrat"/>
                <a:cs typeface="Montserrat"/>
                <a:sym typeface="Montserrat"/>
              </a:rPr>
              <a:t>Values and Principles</a:t>
            </a:r>
            <a:endParaRPr sz="2137">
              <a:latin typeface="Montserrat"/>
              <a:ea typeface="Montserrat"/>
              <a:cs typeface="Montserrat"/>
              <a:sym typeface="Montserrat"/>
            </a:endParaRPr>
          </a:p>
          <a:p>
            <a:pPr indent="0" lvl="0" marL="0" rtl="0" algn="l">
              <a:lnSpc>
                <a:spcPct val="95000"/>
              </a:lnSpc>
              <a:spcBef>
                <a:spcPts val="1200"/>
              </a:spcBef>
              <a:spcAft>
                <a:spcPts val="0"/>
              </a:spcAft>
              <a:buSzPts val="852"/>
              <a:buNone/>
            </a:pPr>
            <a:r>
              <a:rPr lang="en" sz="2137">
                <a:latin typeface="Montserrat"/>
                <a:ea typeface="Montserrat"/>
                <a:cs typeface="Montserrat"/>
                <a:sym typeface="Montserrat"/>
              </a:rPr>
              <a:t>Governance and Oversight</a:t>
            </a:r>
            <a:endParaRPr sz="2137">
              <a:latin typeface="Montserrat"/>
              <a:ea typeface="Montserrat"/>
              <a:cs typeface="Montserrat"/>
              <a:sym typeface="Montserrat"/>
            </a:endParaRPr>
          </a:p>
          <a:p>
            <a:pPr indent="0" lvl="0" marL="0" rtl="0" algn="l">
              <a:lnSpc>
                <a:spcPct val="95000"/>
              </a:lnSpc>
              <a:spcBef>
                <a:spcPts val="1200"/>
              </a:spcBef>
              <a:spcAft>
                <a:spcPts val="0"/>
              </a:spcAft>
              <a:buSzPts val="852"/>
              <a:buNone/>
            </a:pPr>
            <a:r>
              <a:rPr lang="en" sz="2137">
                <a:latin typeface="Montserrat"/>
                <a:ea typeface="Montserrat"/>
                <a:cs typeface="Montserrat"/>
                <a:sym typeface="Montserrat"/>
              </a:rPr>
              <a:t>Data Management and Privacy</a:t>
            </a:r>
            <a:endParaRPr sz="2137">
              <a:latin typeface="Montserrat"/>
              <a:ea typeface="Montserrat"/>
              <a:cs typeface="Montserrat"/>
              <a:sym typeface="Montserrat"/>
            </a:endParaRPr>
          </a:p>
          <a:p>
            <a:pPr indent="0" lvl="0" marL="0" rtl="0" algn="l">
              <a:lnSpc>
                <a:spcPct val="95000"/>
              </a:lnSpc>
              <a:spcBef>
                <a:spcPts val="1200"/>
              </a:spcBef>
              <a:spcAft>
                <a:spcPts val="0"/>
              </a:spcAft>
              <a:buSzPts val="852"/>
              <a:buNone/>
            </a:pPr>
            <a:r>
              <a:rPr lang="en" sz="2137">
                <a:latin typeface="Montserrat"/>
                <a:ea typeface="Montserrat"/>
                <a:cs typeface="Montserrat"/>
                <a:sym typeface="Montserrat"/>
              </a:rPr>
              <a:t>Fairness and Non-discrimination</a:t>
            </a:r>
            <a:endParaRPr sz="2137">
              <a:latin typeface="Montserrat"/>
              <a:ea typeface="Montserrat"/>
              <a:cs typeface="Montserrat"/>
              <a:sym typeface="Montserrat"/>
            </a:endParaRPr>
          </a:p>
          <a:p>
            <a:pPr indent="0" lvl="0" marL="0" rtl="0" algn="l">
              <a:lnSpc>
                <a:spcPct val="95000"/>
              </a:lnSpc>
              <a:spcBef>
                <a:spcPts val="1200"/>
              </a:spcBef>
              <a:spcAft>
                <a:spcPts val="0"/>
              </a:spcAft>
              <a:buClr>
                <a:schemeClr val="lt1"/>
              </a:buClr>
              <a:buSzPts val="852"/>
              <a:buFont typeface="Arial"/>
              <a:buNone/>
            </a:pPr>
            <a:r>
              <a:rPr lang="en" sz="2137">
                <a:latin typeface="Montserrat"/>
                <a:ea typeface="Montserrat"/>
                <a:cs typeface="Montserrat"/>
                <a:sym typeface="Montserrat"/>
              </a:rPr>
              <a:t>Risk Management, Safety, and Oversight</a:t>
            </a:r>
            <a:endParaRPr sz="2137">
              <a:latin typeface="Montserrat"/>
              <a:ea typeface="Montserrat"/>
              <a:cs typeface="Montserrat"/>
              <a:sym typeface="Montserrat"/>
            </a:endParaRPr>
          </a:p>
          <a:p>
            <a:pPr indent="0" lvl="0" marL="0" rtl="0" algn="l">
              <a:lnSpc>
                <a:spcPct val="95000"/>
              </a:lnSpc>
              <a:spcBef>
                <a:spcPts val="1200"/>
              </a:spcBef>
              <a:spcAft>
                <a:spcPts val="0"/>
              </a:spcAft>
              <a:buSzPts val="852"/>
              <a:buNone/>
            </a:pPr>
            <a:r>
              <a:rPr lang="en" sz="2137">
                <a:highlight>
                  <a:srgbClr val="FFF2CC"/>
                </a:highlight>
                <a:latin typeface="Montserrat"/>
                <a:ea typeface="Montserrat"/>
                <a:cs typeface="Montserrat"/>
                <a:sym typeface="Montserrat"/>
              </a:rPr>
              <a:t>Education and Training</a:t>
            </a:r>
            <a:endParaRPr sz="2137">
              <a:highlight>
                <a:srgbClr val="FFF2CC"/>
              </a:highlight>
              <a:latin typeface="Montserrat"/>
              <a:ea typeface="Montserrat"/>
              <a:cs typeface="Montserrat"/>
              <a:sym typeface="Montserrat"/>
            </a:endParaRPr>
          </a:p>
          <a:p>
            <a:pPr indent="0" lvl="0" marL="0" rtl="0" algn="l">
              <a:lnSpc>
                <a:spcPct val="95000"/>
              </a:lnSpc>
              <a:spcBef>
                <a:spcPts val="1200"/>
              </a:spcBef>
              <a:spcAft>
                <a:spcPts val="1200"/>
              </a:spcAft>
              <a:buSzPts val="852"/>
              <a:buNone/>
            </a:pPr>
            <a:r>
              <a:rPr lang="en" sz="2137">
                <a:latin typeface="Montserrat"/>
                <a:ea typeface="Montserrat"/>
                <a:cs typeface="Montserrat"/>
                <a:sym typeface="Montserrat"/>
              </a:rPr>
              <a:t>Feedback and Review</a:t>
            </a:r>
            <a:endParaRPr sz="2137">
              <a:latin typeface="Montserrat"/>
              <a:ea typeface="Montserrat"/>
              <a:cs typeface="Montserrat"/>
              <a:sym typeface="Montserrat"/>
            </a:endParaRPr>
          </a:p>
        </p:txBody>
      </p:sp>
      <p:pic>
        <p:nvPicPr>
          <p:cNvPr id="321" name="Google Shape;321;p30"/>
          <p:cNvPicPr preferRelativeResize="0"/>
          <p:nvPr/>
        </p:nvPicPr>
        <p:blipFill>
          <a:blip r:embed="rId3">
            <a:alphaModFix/>
          </a:blip>
          <a:stretch>
            <a:fillRect/>
          </a:stretch>
        </p:blipFill>
        <p:spPr>
          <a:xfrm>
            <a:off x="1185475" y="1133300"/>
            <a:ext cx="340626" cy="340626"/>
          </a:xfrm>
          <a:prstGeom prst="rect">
            <a:avLst/>
          </a:prstGeom>
          <a:noFill/>
          <a:ln>
            <a:noFill/>
          </a:ln>
        </p:spPr>
      </p:pic>
      <p:pic>
        <p:nvPicPr>
          <p:cNvPr id="322" name="Google Shape;322;p30"/>
          <p:cNvPicPr preferRelativeResize="0"/>
          <p:nvPr/>
        </p:nvPicPr>
        <p:blipFill>
          <a:blip r:embed="rId4">
            <a:alphaModFix/>
          </a:blip>
          <a:stretch>
            <a:fillRect/>
          </a:stretch>
        </p:blipFill>
        <p:spPr>
          <a:xfrm>
            <a:off x="1185475" y="1643675"/>
            <a:ext cx="340626" cy="340626"/>
          </a:xfrm>
          <a:prstGeom prst="rect">
            <a:avLst/>
          </a:prstGeom>
          <a:noFill/>
          <a:ln>
            <a:noFill/>
          </a:ln>
        </p:spPr>
      </p:pic>
      <p:pic>
        <p:nvPicPr>
          <p:cNvPr id="323" name="Google Shape;323;p30"/>
          <p:cNvPicPr preferRelativeResize="0"/>
          <p:nvPr/>
        </p:nvPicPr>
        <p:blipFill>
          <a:blip r:embed="rId5">
            <a:alphaModFix/>
          </a:blip>
          <a:stretch>
            <a:fillRect/>
          </a:stretch>
        </p:blipFill>
        <p:spPr>
          <a:xfrm>
            <a:off x="1185475" y="2033449"/>
            <a:ext cx="340626" cy="340626"/>
          </a:xfrm>
          <a:prstGeom prst="rect">
            <a:avLst/>
          </a:prstGeom>
          <a:noFill/>
          <a:ln>
            <a:noFill/>
          </a:ln>
        </p:spPr>
      </p:pic>
      <p:pic>
        <p:nvPicPr>
          <p:cNvPr id="324" name="Google Shape;324;p30"/>
          <p:cNvPicPr preferRelativeResize="0"/>
          <p:nvPr/>
        </p:nvPicPr>
        <p:blipFill>
          <a:blip r:embed="rId6">
            <a:alphaModFix/>
          </a:blip>
          <a:stretch>
            <a:fillRect/>
          </a:stretch>
        </p:blipFill>
        <p:spPr>
          <a:xfrm flipH="1">
            <a:off x="1185472" y="2483527"/>
            <a:ext cx="340626" cy="340626"/>
          </a:xfrm>
          <a:prstGeom prst="rect">
            <a:avLst/>
          </a:prstGeom>
          <a:noFill/>
          <a:ln>
            <a:noFill/>
          </a:ln>
        </p:spPr>
      </p:pic>
      <p:pic>
        <p:nvPicPr>
          <p:cNvPr id="325" name="Google Shape;325;p30"/>
          <p:cNvPicPr preferRelativeResize="0"/>
          <p:nvPr/>
        </p:nvPicPr>
        <p:blipFill>
          <a:blip r:embed="rId7">
            <a:alphaModFix/>
          </a:blip>
          <a:stretch>
            <a:fillRect/>
          </a:stretch>
        </p:blipFill>
        <p:spPr>
          <a:xfrm>
            <a:off x="1185469" y="2933612"/>
            <a:ext cx="340626" cy="340638"/>
          </a:xfrm>
          <a:prstGeom prst="rect">
            <a:avLst/>
          </a:prstGeom>
          <a:noFill/>
          <a:ln>
            <a:noFill/>
          </a:ln>
        </p:spPr>
      </p:pic>
      <p:pic>
        <p:nvPicPr>
          <p:cNvPr id="326" name="Google Shape;326;p30"/>
          <p:cNvPicPr preferRelativeResize="0"/>
          <p:nvPr/>
        </p:nvPicPr>
        <p:blipFill>
          <a:blip r:embed="rId8">
            <a:alphaModFix/>
          </a:blip>
          <a:stretch>
            <a:fillRect/>
          </a:stretch>
        </p:blipFill>
        <p:spPr>
          <a:xfrm>
            <a:off x="1185475" y="3383700"/>
            <a:ext cx="340626" cy="340626"/>
          </a:xfrm>
          <a:prstGeom prst="rect">
            <a:avLst/>
          </a:prstGeom>
          <a:noFill/>
          <a:ln>
            <a:noFill/>
          </a:ln>
        </p:spPr>
      </p:pic>
      <p:pic>
        <p:nvPicPr>
          <p:cNvPr id="327" name="Google Shape;327;p30"/>
          <p:cNvPicPr preferRelativeResize="0"/>
          <p:nvPr/>
        </p:nvPicPr>
        <p:blipFill>
          <a:blip r:embed="rId9">
            <a:alphaModFix/>
          </a:blip>
          <a:stretch>
            <a:fillRect/>
          </a:stretch>
        </p:blipFill>
        <p:spPr>
          <a:xfrm>
            <a:off x="1185475" y="3833766"/>
            <a:ext cx="340626" cy="340617"/>
          </a:xfrm>
          <a:prstGeom prst="rect">
            <a:avLst/>
          </a:prstGeom>
          <a:noFill/>
          <a:ln>
            <a:noFill/>
          </a:ln>
        </p:spPr>
      </p:pic>
      <p:pic>
        <p:nvPicPr>
          <p:cNvPr id="328" name="Google Shape;328;p30"/>
          <p:cNvPicPr preferRelativeResize="0"/>
          <p:nvPr/>
        </p:nvPicPr>
        <p:blipFill>
          <a:blip r:embed="rId10">
            <a:alphaModFix/>
          </a:blip>
          <a:stretch>
            <a:fillRect/>
          </a:stretch>
        </p:blipFill>
        <p:spPr>
          <a:xfrm>
            <a:off x="1106025" y="4283825"/>
            <a:ext cx="499524" cy="49952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31"/>
          <p:cNvSpPr txBox="1"/>
          <p:nvPr>
            <p:ph type="title"/>
          </p:nvPr>
        </p:nvSpPr>
        <p:spPr>
          <a:xfrm>
            <a:off x="1045275" y="230350"/>
            <a:ext cx="77238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lt1"/>
              </a:buClr>
              <a:buSzPts val="990"/>
              <a:buFont typeface="Arial"/>
              <a:buNone/>
            </a:pPr>
            <a:r>
              <a:rPr lang="en" sz="3490">
                <a:solidFill>
                  <a:schemeClr val="dk1"/>
                </a:solidFill>
              </a:rPr>
              <a:t>Elements of an effective AI policy</a:t>
            </a:r>
            <a:endParaRPr/>
          </a:p>
        </p:txBody>
      </p:sp>
      <p:sp>
        <p:nvSpPr>
          <p:cNvPr id="334" name="Google Shape;334;p31"/>
          <p:cNvSpPr txBox="1"/>
          <p:nvPr>
            <p:ph idx="1" type="body"/>
          </p:nvPr>
        </p:nvSpPr>
        <p:spPr>
          <a:xfrm>
            <a:off x="1526100" y="1034525"/>
            <a:ext cx="7038900" cy="37983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852"/>
              <a:buNone/>
            </a:pPr>
            <a:r>
              <a:rPr lang="en" sz="2137">
                <a:latin typeface="Montserrat"/>
                <a:ea typeface="Montserrat"/>
                <a:cs typeface="Montserrat"/>
                <a:sym typeface="Montserrat"/>
              </a:rPr>
              <a:t>Purpose and Scope</a:t>
            </a:r>
            <a:endParaRPr sz="2137">
              <a:latin typeface="Montserrat"/>
              <a:ea typeface="Montserrat"/>
              <a:cs typeface="Montserrat"/>
              <a:sym typeface="Montserrat"/>
            </a:endParaRPr>
          </a:p>
          <a:p>
            <a:pPr indent="0" lvl="0" marL="0" rtl="0" algn="l">
              <a:lnSpc>
                <a:spcPct val="95000"/>
              </a:lnSpc>
              <a:spcBef>
                <a:spcPts val="1200"/>
              </a:spcBef>
              <a:spcAft>
                <a:spcPts val="0"/>
              </a:spcAft>
              <a:buSzPts val="852"/>
              <a:buNone/>
            </a:pPr>
            <a:r>
              <a:rPr lang="en" sz="2137">
                <a:latin typeface="Montserrat"/>
                <a:ea typeface="Montserrat"/>
                <a:cs typeface="Montserrat"/>
                <a:sym typeface="Montserrat"/>
              </a:rPr>
              <a:t>Values and Principles</a:t>
            </a:r>
            <a:endParaRPr sz="2137">
              <a:latin typeface="Montserrat"/>
              <a:ea typeface="Montserrat"/>
              <a:cs typeface="Montserrat"/>
              <a:sym typeface="Montserrat"/>
            </a:endParaRPr>
          </a:p>
          <a:p>
            <a:pPr indent="0" lvl="0" marL="0" rtl="0" algn="l">
              <a:lnSpc>
                <a:spcPct val="95000"/>
              </a:lnSpc>
              <a:spcBef>
                <a:spcPts val="1200"/>
              </a:spcBef>
              <a:spcAft>
                <a:spcPts val="0"/>
              </a:spcAft>
              <a:buSzPts val="852"/>
              <a:buNone/>
            </a:pPr>
            <a:r>
              <a:rPr lang="en" sz="2137">
                <a:latin typeface="Montserrat"/>
                <a:ea typeface="Montserrat"/>
                <a:cs typeface="Montserrat"/>
                <a:sym typeface="Montserrat"/>
              </a:rPr>
              <a:t>Governance and Oversight</a:t>
            </a:r>
            <a:endParaRPr sz="2137">
              <a:latin typeface="Montserrat"/>
              <a:ea typeface="Montserrat"/>
              <a:cs typeface="Montserrat"/>
              <a:sym typeface="Montserrat"/>
            </a:endParaRPr>
          </a:p>
          <a:p>
            <a:pPr indent="0" lvl="0" marL="0" rtl="0" algn="l">
              <a:lnSpc>
                <a:spcPct val="95000"/>
              </a:lnSpc>
              <a:spcBef>
                <a:spcPts val="1200"/>
              </a:spcBef>
              <a:spcAft>
                <a:spcPts val="0"/>
              </a:spcAft>
              <a:buSzPts val="852"/>
              <a:buNone/>
            </a:pPr>
            <a:r>
              <a:rPr lang="en" sz="2137">
                <a:latin typeface="Montserrat"/>
                <a:ea typeface="Montserrat"/>
                <a:cs typeface="Montserrat"/>
                <a:sym typeface="Montserrat"/>
              </a:rPr>
              <a:t>Data Management and Privacy</a:t>
            </a:r>
            <a:endParaRPr sz="2137">
              <a:latin typeface="Montserrat"/>
              <a:ea typeface="Montserrat"/>
              <a:cs typeface="Montserrat"/>
              <a:sym typeface="Montserrat"/>
            </a:endParaRPr>
          </a:p>
          <a:p>
            <a:pPr indent="0" lvl="0" marL="0" rtl="0" algn="l">
              <a:lnSpc>
                <a:spcPct val="95000"/>
              </a:lnSpc>
              <a:spcBef>
                <a:spcPts val="1200"/>
              </a:spcBef>
              <a:spcAft>
                <a:spcPts val="0"/>
              </a:spcAft>
              <a:buSzPts val="852"/>
              <a:buNone/>
            </a:pPr>
            <a:r>
              <a:rPr lang="en" sz="2137">
                <a:latin typeface="Montserrat"/>
                <a:ea typeface="Montserrat"/>
                <a:cs typeface="Montserrat"/>
                <a:sym typeface="Montserrat"/>
              </a:rPr>
              <a:t>Fairness and Non-discrimination</a:t>
            </a:r>
            <a:endParaRPr sz="2137">
              <a:latin typeface="Montserrat"/>
              <a:ea typeface="Montserrat"/>
              <a:cs typeface="Montserrat"/>
              <a:sym typeface="Montserrat"/>
            </a:endParaRPr>
          </a:p>
          <a:p>
            <a:pPr indent="0" lvl="0" marL="0" rtl="0" algn="l">
              <a:lnSpc>
                <a:spcPct val="95000"/>
              </a:lnSpc>
              <a:spcBef>
                <a:spcPts val="1200"/>
              </a:spcBef>
              <a:spcAft>
                <a:spcPts val="0"/>
              </a:spcAft>
              <a:buClr>
                <a:schemeClr val="lt1"/>
              </a:buClr>
              <a:buSzPts val="852"/>
              <a:buFont typeface="Arial"/>
              <a:buNone/>
            </a:pPr>
            <a:r>
              <a:rPr lang="en" sz="2137">
                <a:latin typeface="Montserrat"/>
                <a:ea typeface="Montserrat"/>
                <a:cs typeface="Montserrat"/>
                <a:sym typeface="Montserrat"/>
              </a:rPr>
              <a:t>Risk Management, Safety, and Oversight</a:t>
            </a:r>
            <a:endParaRPr sz="2137">
              <a:latin typeface="Montserrat"/>
              <a:ea typeface="Montserrat"/>
              <a:cs typeface="Montserrat"/>
              <a:sym typeface="Montserrat"/>
            </a:endParaRPr>
          </a:p>
          <a:p>
            <a:pPr indent="0" lvl="0" marL="0" rtl="0" algn="l">
              <a:lnSpc>
                <a:spcPct val="95000"/>
              </a:lnSpc>
              <a:spcBef>
                <a:spcPts val="1200"/>
              </a:spcBef>
              <a:spcAft>
                <a:spcPts val="0"/>
              </a:spcAft>
              <a:buSzPts val="852"/>
              <a:buNone/>
            </a:pPr>
            <a:r>
              <a:rPr lang="en" sz="2137">
                <a:latin typeface="Montserrat"/>
                <a:ea typeface="Montserrat"/>
                <a:cs typeface="Montserrat"/>
                <a:sym typeface="Montserrat"/>
              </a:rPr>
              <a:t>Education and Training</a:t>
            </a:r>
            <a:endParaRPr sz="2137">
              <a:latin typeface="Montserrat"/>
              <a:ea typeface="Montserrat"/>
              <a:cs typeface="Montserrat"/>
              <a:sym typeface="Montserrat"/>
            </a:endParaRPr>
          </a:p>
          <a:p>
            <a:pPr indent="0" lvl="0" marL="0" rtl="0" algn="l">
              <a:lnSpc>
                <a:spcPct val="95000"/>
              </a:lnSpc>
              <a:spcBef>
                <a:spcPts val="1200"/>
              </a:spcBef>
              <a:spcAft>
                <a:spcPts val="1200"/>
              </a:spcAft>
              <a:buSzPts val="852"/>
              <a:buNone/>
            </a:pPr>
            <a:r>
              <a:rPr lang="en" sz="2137">
                <a:highlight>
                  <a:srgbClr val="FFF2CC"/>
                </a:highlight>
                <a:latin typeface="Montserrat"/>
                <a:ea typeface="Montserrat"/>
                <a:cs typeface="Montserrat"/>
                <a:sym typeface="Montserrat"/>
              </a:rPr>
              <a:t>Feedback and Review</a:t>
            </a:r>
            <a:endParaRPr sz="2137">
              <a:highlight>
                <a:srgbClr val="FFF2CC"/>
              </a:highlight>
              <a:latin typeface="Montserrat"/>
              <a:ea typeface="Montserrat"/>
              <a:cs typeface="Montserrat"/>
              <a:sym typeface="Montserrat"/>
            </a:endParaRPr>
          </a:p>
        </p:txBody>
      </p:sp>
      <p:pic>
        <p:nvPicPr>
          <p:cNvPr id="335" name="Google Shape;335;p31"/>
          <p:cNvPicPr preferRelativeResize="0"/>
          <p:nvPr/>
        </p:nvPicPr>
        <p:blipFill>
          <a:blip r:embed="rId3">
            <a:alphaModFix/>
          </a:blip>
          <a:stretch>
            <a:fillRect/>
          </a:stretch>
        </p:blipFill>
        <p:spPr>
          <a:xfrm>
            <a:off x="1185475" y="1133300"/>
            <a:ext cx="340626" cy="340626"/>
          </a:xfrm>
          <a:prstGeom prst="rect">
            <a:avLst/>
          </a:prstGeom>
          <a:noFill/>
          <a:ln>
            <a:noFill/>
          </a:ln>
        </p:spPr>
      </p:pic>
      <p:pic>
        <p:nvPicPr>
          <p:cNvPr id="336" name="Google Shape;336;p31"/>
          <p:cNvPicPr preferRelativeResize="0"/>
          <p:nvPr/>
        </p:nvPicPr>
        <p:blipFill>
          <a:blip r:embed="rId4">
            <a:alphaModFix/>
          </a:blip>
          <a:stretch>
            <a:fillRect/>
          </a:stretch>
        </p:blipFill>
        <p:spPr>
          <a:xfrm>
            <a:off x="1185475" y="1643675"/>
            <a:ext cx="340626" cy="340626"/>
          </a:xfrm>
          <a:prstGeom prst="rect">
            <a:avLst/>
          </a:prstGeom>
          <a:noFill/>
          <a:ln>
            <a:noFill/>
          </a:ln>
        </p:spPr>
      </p:pic>
      <p:pic>
        <p:nvPicPr>
          <p:cNvPr id="337" name="Google Shape;337;p31"/>
          <p:cNvPicPr preferRelativeResize="0"/>
          <p:nvPr/>
        </p:nvPicPr>
        <p:blipFill>
          <a:blip r:embed="rId5">
            <a:alphaModFix/>
          </a:blip>
          <a:stretch>
            <a:fillRect/>
          </a:stretch>
        </p:blipFill>
        <p:spPr>
          <a:xfrm>
            <a:off x="1185475" y="2033449"/>
            <a:ext cx="340626" cy="340626"/>
          </a:xfrm>
          <a:prstGeom prst="rect">
            <a:avLst/>
          </a:prstGeom>
          <a:noFill/>
          <a:ln>
            <a:noFill/>
          </a:ln>
        </p:spPr>
      </p:pic>
      <p:pic>
        <p:nvPicPr>
          <p:cNvPr id="338" name="Google Shape;338;p31"/>
          <p:cNvPicPr preferRelativeResize="0"/>
          <p:nvPr/>
        </p:nvPicPr>
        <p:blipFill>
          <a:blip r:embed="rId6">
            <a:alphaModFix/>
          </a:blip>
          <a:stretch>
            <a:fillRect/>
          </a:stretch>
        </p:blipFill>
        <p:spPr>
          <a:xfrm flipH="1">
            <a:off x="1185472" y="2483527"/>
            <a:ext cx="340626" cy="340626"/>
          </a:xfrm>
          <a:prstGeom prst="rect">
            <a:avLst/>
          </a:prstGeom>
          <a:noFill/>
          <a:ln>
            <a:noFill/>
          </a:ln>
        </p:spPr>
      </p:pic>
      <p:pic>
        <p:nvPicPr>
          <p:cNvPr id="339" name="Google Shape;339;p31"/>
          <p:cNvPicPr preferRelativeResize="0"/>
          <p:nvPr/>
        </p:nvPicPr>
        <p:blipFill>
          <a:blip r:embed="rId7">
            <a:alphaModFix/>
          </a:blip>
          <a:stretch>
            <a:fillRect/>
          </a:stretch>
        </p:blipFill>
        <p:spPr>
          <a:xfrm>
            <a:off x="1185469" y="2933612"/>
            <a:ext cx="340626" cy="340638"/>
          </a:xfrm>
          <a:prstGeom prst="rect">
            <a:avLst/>
          </a:prstGeom>
          <a:noFill/>
          <a:ln>
            <a:noFill/>
          </a:ln>
        </p:spPr>
      </p:pic>
      <p:pic>
        <p:nvPicPr>
          <p:cNvPr id="340" name="Google Shape;340;p31"/>
          <p:cNvPicPr preferRelativeResize="0"/>
          <p:nvPr/>
        </p:nvPicPr>
        <p:blipFill>
          <a:blip r:embed="rId8">
            <a:alphaModFix/>
          </a:blip>
          <a:stretch>
            <a:fillRect/>
          </a:stretch>
        </p:blipFill>
        <p:spPr>
          <a:xfrm>
            <a:off x="1185475" y="3383700"/>
            <a:ext cx="340626" cy="340626"/>
          </a:xfrm>
          <a:prstGeom prst="rect">
            <a:avLst/>
          </a:prstGeom>
          <a:noFill/>
          <a:ln>
            <a:noFill/>
          </a:ln>
        </p:spPr>
      </p:pic>
      <p:pic>
        <p:nvPicPr>
          <p:cNvPr id="341" name="Google Shape;341;p31"/>
          <p:cNvPicPr preferRelativeResize="0"/>
          <p:nvPr/>
        </p:nvPicPr>
        <p:blipFill>
          <a:blip r:embed="rId9">
            <a:alphaModFix/>
          </a:blip>
          <a:stretch>
            <a:fillRect/>
          </a:stretch>
        </p:blipFill>
        <p:spPr>
          <a:xfrm>
            <a:off x="1185475" y="3833766"/>
            <a:ext cx="340626" cy="340617"/>
          </a:xfrm>
          <a:prstGeom prst="rect">
            <a:avLst/>
          </a:prstGeom>
          <a:noFill/>
          <a:ln>
            <a:noFill/>
          </a:ln>
        </p:spPr>
      </p:pic>
      <p:pic>
        <p:nvPicPr>
          <p:cNvPr id="342" name="Google Shape;342;p31"/>
          <p:cNvPicPr preferRelativeResize="0"/>
          <p:nvPr/>
        </p:nvPicPr>
        <p:blipFill>
          <a:blip r:embed="rId10">
            <a:alphaModFix/>
          </a:blip>
          <a:stretch>
            <a:fillRect/>
          </a:stretch>
        </p:blipFill>
        <p:spPr>
          <a:xfrm>
            <a:off x="1106025" y="4283825"/>
            <a:ext cx="499524" cy="49952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000000"/>
      </a:lt1>
      <a:dk2>
        <a:srgbClr val="000000"/>
      </a:dk2>
      <a:lt2>
        <a:srgbClr val="000000"/>
      </a:lt2>
      <a:accent1>
        <a:srgbClr val="1B365D"/>
      </a:accent1>
      <a:accent2>
        <a:srgbClr val="00C1D5"/>
      </a:accent2>
      <a:accent3>
        <a:srgbClr val="FFB500"/>
      </a:accent3>
      <a:accent4>
        <a:srgbClr val="AA4AC4"/>
      </a:accent4>
      <a:accent5>
        <a:srgbClr val="0A799A"/>
      </a:accent5>
      <a:accent6>
        <a:srgbClr val="F4F4F4"/>
      </a:accent6>
      <a:hlink>
        <a:srgbClr val="00C1D5"/>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