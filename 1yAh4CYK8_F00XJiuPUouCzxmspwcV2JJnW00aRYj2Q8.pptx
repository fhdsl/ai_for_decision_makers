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discuss some considerations for creating an </a:t>
            </a:r>
            <a:r>
              <a:rPr lang="en">
                <a:solidFill>
                  <a:schemeClr val="dk1"/>
                </a:solidFill>
              </a:rPr>
              <a:t>aigh eye</a:t>
            </a:r>
            <a:r>
              <a:rPr lang="en"/>
              <a:t> Policy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Except where otherwise indicated, the contents of this video are available for use under C C B Y 4 point 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84c6fb6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84c6fb6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thoughts and ideas presented in this course are not to be substituted for legal or ethical advice. They are only meant to give you a starting point for gathering information about </a:t>
            </a:r>
            <a:r>
              <a:rPr lang="en">
                <a:solidFill>
                  <a:schemeClr val="dk1"/>
                </a:solidFill>
              </a:rPr>
              <a:t>aigh eye</a:t>
            </a:r>
            <a:r>
              <a:rPr lang="en"/>
              <a:t> policy and regulations to consider.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a0db3466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a0db3466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you create an </a:t>
            </a:r>
            <a:r>
              <a:rPr lang="en">
                <a:solidFill>
                  <a:schemeClr val="dk1"/>
                </a:solidFill>
              </a:rPr>
              <a:t>aigh eye</a:t>
            </a:r>
            <a:r>
              <a:rPr lang="en"/>
              <a:t> policy, as well as what you cover in it, is going to be highly dependent on what your organization's needs are. Unfortunately, there is no "one size fits all" approach to </a:t>
            </a:r>
            <a:r>
              <a:rPr lang="en">
                <a:solidFill>
                  <a:schemeClr val="dk1"/>
                </a:solidFill>
              </a:rPr>
              <a:t>aigh eye</a:t>
            </a:r>
            <a:r>
              <a:rPr lang="en"/>
              <a:t> policies, governance, and training. However, we can offer some considerations based on our experiences creating and implementing policies.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965a5f7f0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965a5f7f0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probably not enough to build only an </a:t>
            </a:r>
            <a:r>
              <a:rPr lang="en">
                <a:solidFill>
                  <a:schemeClr val="dk1"/>
                </a:solidFill>
              </a:rPr>
              <a:t>aigh eye</a:t>
            </a:r>
            <a:r>
              <a:rPr lang="en"/>
              <a:t> policy. Building an </a:t>
            </a:r>
            <a:r>
              <a:rPr lang="en">
                <a:solidFill>
                  <a:schemeClr val="dk1"/>
                </a:solidFill>
              </a:rPr>
              <a:t>aigh eye</a:t>
            </a:r>
            <a:r>
              <a:rPr lang="en"/>
              <a:t> support system that makes it possible for the people in your organization to adopt </a:t>
            </a:r>
            <a:r>
              <a:rPr lang="en">
                <a:solidFill>
                  <a:schemeClr val="dk1"/>
                </a:solidFill>
              </a:rPr>
              <a:t>aigh eye</a:t>
            </a:r>
            <a:r>
              <a:rPr lang="en"/>
              <a:t> in safe and ethical ways is also important. An </a:t>
            </a:r>
            <a:r>
              <a:rPr lang="en">
                <a:solidFill>
                  <a:schemeClr val="dk1"/>
                </a:solidFill>
              </a:rPr>
              <a:t>aigh eye</a:t>
            </a:r>
            <a:r>
              <a:rPr lang="en"/>
              <a:t> policy support system might include a governance plan describing how new </a:t>
            </a:r>
            <a:r>
              <a:rPr lang="en">
                <a:solidFill>
                  <a:schemeClr val="dk1"/>
                </a:solidFill>
              </a:rPr>
              <a:t>aigh eye</a:t>
            </a:r>
            <a:r>
              <a:rPr lang="en"/>
              <a:t> use cases will be reviewed and guidance for implementation provided, a clear understanding of the necessary components of your infrastructure to plan to use </a:t>
            </a:r>
            <a:r>
              <a:rPr lang="en">
                <a:solidFill>
                  <a:schemeClr val="dk1"/>
                </a:solidFill>
              </a:rPr>
              <a:t>aigh eye</a:t>
            </a:r>
            <a:r>
              <a:rPr lang="en"/>
              <a:t> tools on, and training materials that include specific best practices for different types of </a:t>
            </a:r>
            <a:r>
              <a:rPr lang="en">
                <a:solidFill>
                  <a:schemeClr val="dk1"/>
                </a:solidFill>
              </a:rPr>
              <a:t>aigh eye</a:t>
            </a:r>
            <a:r>
              <a:rPr lang="en"/>
              <a:t> tools and use cases.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a84c6fb612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a84c6fb61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Thinking about your aigh eye policy as just the beginning, not the entire thing, can be a way to protect your employees, your organization, and the people you serve.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a84c6fb61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a84c6fb61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aigh eye</a:t>
            </a:r>
            <a:r>
              <a:rPr lang="en"/>
              <a:t> systems are being integrated into every aspect of the work environment.  Sometimes these tools are very obvious such as when an </a:t>
            </a:r>
            <a:r>
              <a:rPr lang="en">
                <a:solidFill>
                  <a:schemeClr val="dk1"/>
                </a:solidFill>
              </a:rPr>
              <a:t>aigh eye</a:t>
            </a:r>
            <a:r>
              <a:rPr lang="en"/>
              <a:t> tool is applied to your data to do predictive work. Other times they are less obvious such as when they are integrated into common desktop software as co-pilots or “auto-fill”.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84c6fb61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84c6fb61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likely need a lot of different people with different perspectives to weigh in to get even close to what you want in terms of a comprehensive aigh eye policy. Limiting policy and governance plan creation to just the Chief Data Officer’s office or the I T department or the legal department might make things faster, but the trade-off is that you are likely only covering a fraction of what you need. </a:t>
            </a:r>
            <a:r>
              <a:rPr lang="en"/>
              <a:t>At minimum, most organizations probably need representatives from legal, compliance and governance, I T , offices of diversity, equity, inclusion, ethical review, and training.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a84c6fb61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a84c6fb61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Creating a meaningful policy and getting the necessary supports put in place is easier when you have people with varied and broad expertise creating the policy from the beginning.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a84c6fb612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a84c6fb61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speed at which </a:t>
            </a:r>
            <a:r>
              <a:rPr lang="en">
                <a:solidFill>
                  <a:schemeClr val="dk1"/>
                </a:solidFill>
              </a:rPr>
              <a:t>aigh eye</a:t>
            </a:r>
            <a:r>
              <a:rPr lang="en"/>
              <a:t> technology is changing is fast enough that creating useful guidelines around its use is difficult. An</a:t>
            </a:r>
            <a:r>
              <a:rPr lang="en">
                <a:solidFill>
                  <a:schemeClr val="dk1"/>
                </a:solidFill>
              </a:rPr>
              <a:t> aigh eye</a:t>
            </a:r>
            <a:r>
              <a:rPr lang="en"/>
              <a:t> policy requires you to get a diverse set of opinions together and make it cohesive and coherent, and that takes time. The last thing you want to do is create a policy that no longer applies in 3 months when </a:t>
            </a:r>
            <a:r>
              <a:rPr lang="en">
                <a:solidFill>
                  <a:schemeClr val="dk1"/>
                </a:solidFill>
              </a:rPr>
              <a:t>aigh eye</a:t>
            </a:r>
            <a:r>
              <a:rPr lang="en"/>
              <a:t> systems have changed again.</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a84c6fb612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a84c6fb61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possible approach is to think of your </a:t>
            </a:r>
            <a:r>
              <a:rPr lang="en">
                <a:solidFill>
                  <a:schemeClr val="dk1"/>
                </a:solidFill>
              </a:rPr>
              <a:t>aigh eye</a:t>
            </a:r>
            <a:r>
              <a:rPr lang="en"/>
              <a:t> Policy as an ongoing living document as opposed to a one time effort.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a84c6fb61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a84c6fb61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Another way includes creating both an aigh eye Policy and an aigh eye Best Practices document, where the policy changes infrequently while the best practices evolves more quickly. </a:t>
            </a:r>
            <a:r>
              <a:rPr lang="en"/>
              <a:t>For example, the policy document might say something like “you should use infrastructure that matches current best practices.” This allows you to create a policy that is still useful over time as your organization learns what </a:t>
            </a:r>
            <a:r>
              <a:rPr lang="en">
                <a:solidFill>
                  <a:schemeClr val="dk1"/>
                </a:solidFill>
              </a:rPr>
              <a:t>aigh eye</a:t>
            </a:r>
            <a:r>
              <a:rPr lang="en"/>
              <a:t> practices and infrastructure is best for it.</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a84c6fb612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a84c6fb612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still requires you to communicate frequently with your employees on the state of the best practices for </a:t>
            </a:r>
            <a:r>
              <a:rPr lang="en">
                <a:solidFill>
                  <a:schemeClr val="dk1"/>
                </a:solidFill>
              </a:rPr>
              <a:t>aigh eye</a:t>
            </a:r>
            <a:r>
              <a:rPr lang="en"/>
              <a:t> use. However, the best practices can be tailored to fit specific departments and change as those departments need it to do so. This also allows an organization to communicate to specific departments and employees who might be affected by an update to their best practices 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a84c6fb612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a84c6fb612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However you choose to do it, systematize the process of creating your policy so that you can easily update it when necessary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a8756d67b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a8756d67b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a:t>
            </a:r>
            <a:r>
              <a:rPr lang="en">
                <a:solidFill>
                  <a:schemeClr val="dk1"/>
                </a:solidFill>
              </a:rPr>
              <a:t>aigh eye</a:t>
            </a:r>
            <a:r>
              <a:rPr lang="en"/>
              <a:t> policies are most effective when they are easy for people to follow. This can be particularly challenging in periods of explosive technological growth like we’re experiencing now with </a:t>
            </a:r>
            <a:r>
              <a:rPr lang="en">
                <a:solidFill>
                  <a:schemeClr val="dk1"/>
                </a:solidFill>
              </a:rPr>
              <a:t>aigh eye</a:t>
            </a:r>
            <a:r>
              <a:rPr lang="en"/>
              <a:t>. What is possible with </a:t>
            </a:r>
            <a:r>
              <a:rPr lang="en">
                <a:solidFill>
                  <a:schemeClr val="dk1"/>
                </a:solidFill>
              </a:rPr>
              <a:t>aigh eye</a:t>
            </a:r>
            <a:r>
              <a:rPr lang="en"/>
              <a:t>, and how to safely and ethically use </a:t>
            </a:r>
            <a:r>
              <a:rPr lang="en">
                <a:solidFill>
                  <a:schemeClr val="dk1"/>
                </a:solidFill>
              </a:rPr>
              <a:t>aigh eye</a:t>
            </a:r>
            <a:r>
              <a:rPr lang="en"/>
              <a:t>, is changing quickly, making it a challenge for people to always know how to comply with an </a:t>
            </a:r>
            <a:r>
              <a:rPr lang="en">
                <a:solidFill>
                  <a:schemeClr val="dk1"/>
                </a:solidFill>
              </a:rPr>
              <a:t>aigh eye</a:t>
            </a:r>
            <a:r>
              <a:rPr lang="en"/>
              <a:t> policy.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a8a44b23b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a8a44b23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is an opportunity to make your aigh eye governance plan include specific points about communication, training and guidance so users have regular updates from the governance group that enable them to use aigh eye tools ethically and securely.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a84c6fb61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a84c6fb61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situations like these, one way to approach training is to focus on major points people should consider, clearly outline the steps people can take to do the right thing, and identify who people can approach when they have questions. Many people may not solidly know the answers to all questions, but the right people can help you find the answer.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a84c6fb612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a84c6fb612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Training people how to loop in the proper people, and to ask for help from the very beginning, might save them stress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Considerations for creating an AI policy</a:t>
            </a:r>
            <a:endParaRPr sz="398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idx="4294967295" type="title"/>
          </p:nvPr>
        </p:nvSpPr>
        <p:spPr>
          <a:xfrm>
            <a:off x="230700" y="1003350"/>
            <a:ext cx="8793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990"/>
              <a:buFont typeface="Arial"/>
              <a:buNone/>
            </a:pPr>
            <a:r>
              <a:rPr b="1" lang="en">
                <a:solidFill>
                  <a:srgbClr val="333333"/>
                </a:solidFill>
                <a:highlight>
                  <a:srgbClr val="FFFFFF"/>
                </a:highlight>
              </a:rPr>
              <a:t>Disclaimer:</a:t>
            </a:r>
            <a:r>
              <a:rPr lang="en">
                <a:solidFill>
                  <a:srgbClr val="333333"/>
                </a:solidFill>
                <a:highlight>
                  <a:srgbClr val="FFFFFF"/>
                </a:highlight>
              </a:rPr>
              <a:t> The thoughts and ideas presented in this course are not to be substituted for legal or ethical advice and are only meant to give you a starting point for gathering information about AI policy and regulations to consider.</a:t>
            </a:r>
            <a:endParaRPr/>
          </a:p>
        </p:txBody>
      </p:sp>
      <p:sp>
        <p:nvSpPr>
          <p:cNvPr id="170" name="Google Shape;170;p17"/>
          <p:cNvSpPr/>
          <p:nvPr/>
        </p:nvSpPr>
        <p:spPr>
          <a:xfrm>
            <a:off x="0" y="791300"/>
            <a:ext cx="9144000" cy="26016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 name="Google Shape;171;p17"/>
          <p:cNvSpPr/>
          <p:nvPr/>
        </p:nvSpPr>
        <p:spPr>
          <a:xfrm>
            <a:off x="76200" y="867500"/>
            <a:ext cx="8948400" cy="2453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266175" y="1655575"/>
            <a:ext cx="6058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3490">
                <a:solidFill>
                  <a:schemeClr val="accent2"/>
                </a:solidFill>
                <a:highlight>
                  <a:srgbClr val="FFFFFF"/>
                </a:highlight>
              </a:rPr>
              <a:t>AI policies are highly individual</a:t>
            </a:r>
            <a:r>
              <a:rPr lang="en" sz="3490">
                <a:solidFill>
                  <a:schemeClr val="dk1"/>
                </a:solidFill>
                <a:highlight>
                  <a:srgbClr val="FFFFFF"/>
                </a:highlight>
              </a:rPr>
              <a:t> and should fit your organization’s needs.</a:t>
            </a:r>
            <a:endParaRPr sz="2690">
              <a:solidFill>
                <a:schemeClr val="dk1"/>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Images from iconpacks.net</a:t>
            </a:r>
            <a:endParaRPr/>
          </a:p>
        </p:txBody>
      </p:sp>
      <p:sp>
        <p:nvSpPr>
          <p:cNvPr id="182" name="Google Shape;182;p19"/>
          <p:cNvSpPr txBox="1"/>
          <p:nvPr>
            <p:ph idx="4294967295" type="title"/>
          </p:nvPr>
        </p:nvSpPr>
        <p:spPr>
          <a:xfrm>
            <a:off x="208950" y="165150"/>
            <a:ext cx="88125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28366"/>
              <a:buFont typeface="Arial"/>
              <a:buNone/>
            </a:pPr>
            <a:r>
              <a:rPr lang="en" sz="3490">
                <a:solidFill>
                  <a:schemeClr val="dk1"/>
                </a:solidFill>
              </a:rPr>
              <a:t>An AI policy alone is probably not enough</a:t>
            </a:r>
            <a:endParaRPr/>
          </a:p>
        </p:txBody>
      </p:sp>
      <p:pic>
        <p:nvPicPr>
          <p:cNvPr id="183" name="Google Shape;183;p19"/>
          <p:cNvPicPr preferRelativeResize="0"/>
          <p:nvPr/>
        </p:nvPicPr>
        <p:blipFill>
          <a:blip r:embed="rId3">
            <a:alphaModFix/>
          </a:blip>
          <a:stretch>
            <a:fillRect/>
          </a:stretch>
        </p:blipFill>
        <p:spPr>
          <a:xfrm>
            <a:off x="2063350" y="2159125"/>
            <a:ext cx="1131075" cy="1131075"/>
          </a:xfrm>
          <a:prstGeom prst="rect">
            <a:avLst/>
          </a:prstGeom>
          <a:noFill/>
          <a:ln>
            <a:noFill/>
          </a:ln>
        </p:spPr>
      </p:pic>
      <p:pic>
        <p:nvPicPr>
          <p:cNvPr id="184" name="Google Shape;184;p19"/>
          <p:cNvPicPr preferRelativeResize="0"/>
          <p:nvPr/>
        </p:nvPicPr>
        <p:blipFill>
          <a:blip r:embed="rId4">
            <a:alphaModFix/>
          </a:blip>
          <a:stretch>
            <a:fillRect/>
          </a:stretch>
        </p:blipFill>
        <p:spPr>
          <a:xfrm>
            <a:off x="3612350" y="2335925"/>
            <a:ext cx="737600" cy="737600"/>
          </a:xfrm>
          <a:prstGeom prst="rect">
            <a:avLst/>
          </a:prstGeom>
          <a:noFill/>
          <a:ln>
            <a:noFill/>
          </a:ln>
        </p:spPr>
      </p:pic>
      <p:pic>
        <p:nvPicPr>
          <p:cNvPr id="185" name="Google Shape;185;p19"/>
          <p:cNvPicPr preferRelativeResize="0"/>
          <p:nvPr/>
        </p:nvPicPr>
        <p:blipFill>
          <a:blip r:embed="rId5">
            <a:alphaModFix/>
          </a:blip>
          <a:stretch>
            <a:fillRect/>
          </a:stretch>
        </p:blipFill>
        <p:spPr>
          <a:xfrm>
            <a:off x="5113025" y="2436775"/>
            <a:ext cx="1032975" cy="1032975"/>
          </a:xfrm>
          <a:prstGeom prst="rect">
            <a:avLst/>
          </a:prstGeom>
          <a:noFill/>
          <a:ln>
            <a:noFill/>
          </a:ln>
        </p:spPr>
      </p:pic>
      <p:pic>
        <p:nvPicPr>
          <p:cNvPr id="186" name="Google Shape;186;p19"/>
          <p:cNvPicPr preferRelativeResize="0"/>
          <p:nvPr/>
        </p:nvPicPr>
        <p:blipFill>
          <a:blip r:embed="rId6">
            <a:alphaModFix/>
          </a:blip>
          <a:stretch>
            <a:fillRect/>
          </a:stretch>
        </p:blipFill>
        <p:spPr>
          <a:xfrm>
            <a:off x="5014925" y="3645713"/>
            <a:ext cx="1131075" cy="1131075"/>
          </a:xfrm>
          <a:prstGeom prst="rect">
            <a:avLst/>
          </a:prstGeom>
          <a:noFill/>
          <a:ln>
            <a:noFill/>
          </a:ln>
        </p:spPr>
      </p:pic>
      <p:pic>
        <p:nvPicPr>
          <p:cNvPr id="187" name="Google Shape;187;p19"/>
          <p:cNvPicPr preferRelativeResize="0"/>
          <p:nvPr/>
        </p:nvPicPr>
        <p:blipFill>
          <a:blip r:embed="rId7">
            <a:alphaModFix/>
          </a:blip>
          <a:stretch>
            <a:fillRect/>
          </a:stretch>
        </p:blipFill>
        <p:spPr>
          <a:xfrm>
            <a:off x="5018500" y="1165150"/>
            <a:ext cx="1032975" cy="1032975"/>
          </a:xfrm>
          <a:prstGeom prst="rect">
            <a:avLst/>
          </a:prstGeom>
          <a:noFill/>
          <a:ln>
            <a:noFill/>
          </a:ln>
        </p:spPr>
      </p:pic>
      <p:pic>
        <p:nvPicPr>
          <p:cNvPr id="188" name="Google Shape;188;p19"/>
          <p:cNvPicPr preferRelativeResize="0"/>
          <p:nvPr/>
        </p:nvPicPr>
        <p:blipFill>
          <a:blip r:embed="rId8">
            <a:alphaModFix/>
          </a:blip>
          <a:stretch>
            <a:fillRect/>
          </a:stretch>
        </p:blipFill>
        <p:spPr>
          <a:xfrm>
            <a:off x="5501300" y="1384050"/>
            <a:ext cx="408825" cy="408825"/>
          </a:xfrm>
          <a:prstGeom prst="rect">
            <a:avLst/>
          </a:prstGeom>
          <a:noFill/>
          <a:ln>
            <a:noFill/>
          </a:ln>
        </p:spPr>
      </p:pic>
      <p:sp>
        <p:nvSpPr>
          <p:cNvPr id="189" name="Google Shape;189;p19"/>
          <p:cNvSpPr txBox="1"/>
          <p:nvPr/>
        </p:nvSpPr>
        <p:spPr>
          <a:xfrm>
            <a:off x="2241000" y="3406900"/>
            <a:ext cx="1638900" cy="5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5"/>
                </a:solidFill>
                <a:latin typeface="Montserrat"/>
                <a:ea typeface="Montserrat"/>
                <a:cs typeface="Montserrat"/>
                <a:sym typeface="Montserrat"/>
              </a:rPr>
              <a:t>Policy</a:t>
            </a:r>
            <a:endParaRPr b="1" sz="1500">
              <a:solidFill>
                <a:schemeClr val="accent5"/>
              </a:solidFill>
              <a:latin typeface="Montserrat"/>
              <a:ea typeface="Montserrat"/>
              <a:cs typeface="Montserrat"/>
              <a:sym typeface="Montserrat"/>
            </a:endParaRPr>
          </a:p>
        </p:txBody>
      </p:sp>
      <p:sp>
        <p:nvSpPr>
          <p:cNvPr id="190" name="Google Shape;190;p19"/>
          <p:cNvSpPr txBox="1"/>
          <p:nvPr/>
        </p:nvSpPr>
        <p:spPr>
          <a:xfrm>
            <a:off x="6325375" y="1429950"/>
            <a:ext cx="2039400" cy="5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4"/>
                </a:solidFill>
                <a:latin typeface="Montserrat"/>
                <a:ea typeface="Montserrat"/>
                <a:cs typeface="Montserrat"/>
                <a:sym typeface="Montserrat"/>
              </a:rPr>
              <a:t>Governance plan</a:t>
            </a:r>
            <a:endParaRPr b="1" sz="1500">
              <a:solidFill>
                <a:schemeClr val="accent4"/>
              </a:solidFill>
              <a:latin typeface="Montserrat"/>
              <a:ea typeface="Montserrat"/>
              <a:cs typeface="Montserrat"/>
              <a:sym typeface="Montserrat"/>
            </a:endParaRPr>
          </a:p>
        </p:txBody>
      </p:sp>
      <p:sp>
        <p:nvSpPr>
          <p:cNvPr id="191" name="Google Shape;191;p19"/>
          <p:cNvSpPr txBox="1"/>
          <p:nvPr/>
        </p:nvSpPr>
        <p:spPr>
          <a:xfrm>
            <a:off x="6401575" y="2670113"/>
            <a:ext cx="2039400" cy="5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4"/>
                </a:solidFill>
                <a:latin typeface="Montserrat"/>
                <a:ea typeface="Montserrat"/>
                <a:cs typeface="Montserrat"/>
                <a:sym typeface="Montserrat"/>
              </a:rPr>
              <a:t>Infrastructure</a:t>
            </a:r>
            <a:endParaRPr b="1" sz="1500">
              <a:solidFill>
                <a:schemeClr val="accent4"/>
              </a:solidFill>
              <a:latin typeface="Montserrat"/>
              <a:ea typeface="Montserrat"/>
              <a:cs typeface="Montserrat"/>
              <a:sym typeface="Montserrat"/>
            </a:endParaRPr>
          </a:p>
        </p:txBody>
      </p:sp>
      <p:sp>
        <p:nvSpPr>
          <p:cNvPr id="192" name="Google Shape;192;p19"/>
          <p:cNvSpPr txBox="1"/>
          <p:nvPr/>
        </p:nvSpPr>
        <p:spPr>
          <a:xfrm>
            <a:off x="6401575" y="3910288"/>
            <a:ext cx="2039400" cy="5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4"/>
                </a:solidFill>
                <a:latin typeface="Montserrat"/>
                <a:ea typeface="Montserrat"/>
                <a:cs typeface="Montserrat"/>
                <a:sym typeface="Montserrat"/>
              </a:rPr>
              <a:t>Training </a:t>
            </a:r>
            <a:endParaRPr b="1" sz="1500">
              <a:solidFill>
                <a:schemeClr val="accent4"/>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266175" y="1198375"/>
            <a:ext cx="8158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3450">
                <a:highlight>
                  <a:srgbClr val="FFFFFF"/>
                </a:highlight>
              </a:rPr>
              <a:t>Think about your AI policy as </a:t>
            </a:r>
            <a:r>
              <a:rPr b="1" lang="en" sz="3450">
                <a:solidFill>
                  <a:schemeClr val="accent2"/>
                </a:solidFill>
                <a:highlight>
                  <a:srgbClr val="FFFFFF"/>
                </a:highlight>
              </a:rPr>
              <a:t>just the beginning</a:t>
            </a:r>
            <a:r>
              <a:rPr lang="en" sz="3450">
                <a:highlight>
                  <a:srgbClr val="FFFFFF"/>
                </a:highlight>
              </a:rPr>
              <a:t>, not the entire thing.</a:t>
            </a:r>
            <a:endParaRPr sz="3450">
              <a:solidFill>
                <a:schemeClr val="dk1"/>
              </a:solidFill>
              <a:highlight>
                <a:srgbClr val="FFFFFF"/>
              </a:highlight>
            </a:endParaRPr>
          </a:p>
        </p:txBody>
      </p:sp>
      <p:sp>
        <p:nvSpPr>
          <p:cNvPr id="198" name="Google Shape;198;p20"/>
          <p:cNvSpPr txBox="1"/>
          <p:nvPr>
            <p:ph idx="4294967295" type="body"/>
          </p:nvPr>
        </p:nvSpPr>
        <p:spPr>
          <a:xfrm>
            <a:off x="418425" y="46743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900"/>
              <a:t>Images from iconpacks.net</a:t>
            </a:r>
            <a:endParaRPr sz="900"/>
          </a:p>
        </p:txBody>
      </p:sp>
      <p:pic>
        <p:nvPicPr>
          <p:cNvPr id="199" name="Google Shape;199;p20"/>
          <p:cNvPicPr preferRelativeResize="0"/>
          <p:nvPr/>
        </p:nvPicPr>
        <p:blipFill>
          <a:blip r:embed="rId3">
            <a:alphaModFix/>
          </a:blip>
          <a:stretch>
            <a:fillRect/>
          </a:stretch>
        </p:blipFill>
        <p:spPr>
          <a:xfrm>
            <a:off x="2385250" y="2752000"/>
            <a:ext cx="914400"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205" name="Google Shape;205;p21"/>
          <p:cNvSpPr txBox="1"/>
          <p:nvPr>
            <p:ph idx="4294967295" type="title"/>
          </p:nvPr>
        </p:nvSpPr>
        <p:spPr>
          <a:xfrm>
            <a:off x="128075" y="506550"/>
            <a:ext cx="4527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28366"/>
              <a:buFont typeface="Arial"/>
              <a:buNone/>
            </a:pPr>
            <a:r>
              <a:rPr lang="en" sz="3490">
                <a:solidFill>
                  <a:schemeClr val="dk1"/>
                </a:solidFill>
              </a:rPr>
              <a:t>AI systems are showing up in every aspect of the work environment, in both obvious and unexpected ways</a:t>
            </a:r>
            <a:endParaRPr/>
          </a:p>
        </p:txBody>
      </p:sp>
      <p:pic>
        <p:nvPicPr>
          <p:cNvPr id="206" name="Google Shape;206;p21"/>
          <p:cNvPicPr preferRelativeResize="0"/>
          <p:nvPr/>
        </p:nvPicPr>
        <p:blipFill>
          <a:blip r:embed="rId3">
            <a:alphaModFix/>
          </a:blip>
          <a:stretch>
            <a:fillRect/>
          </a:stretch>
        </p:blipFill>
        <p:spPr>
          <a:xfrm>
            <a:off x="4731275" y="381000"/>
            <a:ext cx="4184125" cy="4184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from pixabay.com</a:t>
            </a:r>
            <a:endParaRPr/>
          </a:p>
        </p:txBody>
      </p:sp>
      <p:sp>
        <p:nvSpPr>
          <p:cNvPr id="212" name="Google Shape;212;p22"/>
          <p:cNvSpPr txBox="1"/>
          <p:nvPr>
            <p:ph idx="4294967295" type="title"/>
          </p:nvPr>
        </p:nvSpPr>
        <p:spPr>
          <a:xfrm>
            <a:off x="128075" y="241350"/>
            <a:ext cx="88932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28366"/>
              <a:buFont typeface="Arial"/>
              <a:buNone/>
            </a:pPr>
            <a:r>
              <a:rPr lang="en" sz="3490">
                <a:solidFill>
                  <a:schemeClr val="dk1"/>
                </a:solidFill>
              </a:rPr>
              <a:t>Have a variety of voices weighing in from the start of your policy development</a:t>
            </a:r>
            <a:endParaRPr/>
          </a:p>
        </p:txBody>
      </p:sp>
      <p:pic>
        <p:nvPicPr>
          <p:cNvPr id="213" name="Google Shape;213;p22"/>
          <p:cNvPicPr preferRelativeResize="0"/>
          <p:nvPr/>
        </p:nvPicPr>
        <p:blipFill>
          <a:blip r:embed="rId3">
            <a:alphaModFix/>
          </a:blip>
          <a:stretch>
            <a:fillRect/>
          </a:stretch>
        </p:blipFill>
        <p:spPr>
          <a:xfrm>
            <a:off x="1392925" y="1521675"/>
            <a:ext cx="6695901" cy="3300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266175" y="1426975"/>
            <a:ext cx="8290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3450">
                <a:highlight>
                  <a:srgbClr val="FFFFFF"/>
                </a:highlight>
              </a:rPr>
              <a:t>H</a:t>
            </a:r>
            <a:r>
              <a:rPr lang="en" sz="3450">
                <a:highlight>
                  <a:srgbClr val="FFFFFF"/>
                </a:highlight>
              </a:rPr>
              <a:t>ave </a:t>
            </a:r>
            <a:r>
              <a:rPr b="1" lang="en" sz="3450">
                <a:solidFill>
                  <a:schemeClr val="accent2"/>
                </a:solidFill>
                <a:highlight>
                  <a:srgbClr val="FFFFFF"/>
                </a:highlight>
              </a:rPr>
              <a:t>people with varied and broad expertise</a:t>
            </a:r>
            <a:r>
              <a:rPr lang="en" sz="3450">
                <a:highlight>
                  <a:srgbClr val="FFFFFF"/>
                </a:highlight>
              </a:rPr>
              <a:t> create your policy from the beginning.</a:t>
            </a:r>
            <a:endParaRPr sz="3450">
              <a:solidFill>
                <a:schemeClr val="dk1"/>
              </a:solidFill>
              <a:highlight>
                <a:srgbClr val="FFFFFF"/>
              </a:highlight>
            </a:endParaRPr>
          </a:p>
        </p:txBody>
      </p:sp>
      <p:pic>
        <p:nvPicPr>
          <p:cNvPr id="219" name="Google Shape;219;p23"/>
          <p:cNvPicPr preferRelativeResize="0"/>
          <p:nvPr/>
        </p:nvPicPr>
        <p:blipFill>
          <a:blip r:embed="rId3">
            <a:alphaModFix/>
          </a:blip>
          <a:stretch>
            <a:fillRect/>
          </a:stretch>
        </p:blipFill>
        <p:spPr>
          <a:xfrm>
            <a:off x="2744075" y="3498925"/>
            <a:ext cx="914400" cy="914400"/>
          </a:xfrm>
          <a:prstGeom prst="rect">
            <a:avLst/>
          </a:prstGeom>
          <a:noFill/>
          <a:ln>
            <a:noFill/>
          </a:ln>
        </p:spPr>
      </p:pic>
      <p:sp>
        <p:nvSpPr>
          <p:cNvPr id="220" name="Google Shape;220;p23"/>
          <p:cNvSpPr txBox="1"/>
          <p:nvPr>
            <p:ph idx="4294967295" type="body"/>
          </p:nvPr>
        </p:nvSpPr>
        <p:spPr>
          <a:xfrm>
            <a:off x="418425" y="46743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900"/>
              <a:t>Images from iconpacks.net</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by Cara Fuller on Unsplash</a:t>
            </a:r>
            <a:endParaRPr/>
          </a:p>
        </p:txBody>
      </p:sp>
      <p:sp>
        <p:nvSpPr>
          <p:cNvPr id="226" name="Google Shape;226;p24"/>
          <p:cNvSpPr txBox="1"/>
          <p:nvPr>
            <p:ph idx="4294967295" type="title"/>
          </p:nvPr>
        </p:nvSpPr>
        <p:spPr>
          <a:xfrm>
            <a:off x="0" y="241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Plan to keep your guidance agile…</a:t>
            </a:r>
            <a:endParaRPr sz="3490">
              <a:solidFill>
                <a:schemeClr val="dk1"/>
              </a:solidFill>
            </a:endParaRPr>
          </a:p>
        </p:txBody>
      </p:sp>
      <p:pic>
        <p:nvPicPr>
          <p:cNvPr id="227" name="Google Shape;227;p24"/>
          <p:cNvPicPr preferRelativeResize="0"/>
          <p:nvPr/>
        </p:nvPicPr>
        <p:blipFill>
          <a:blip r:embed="rId3">
            <a:alphaModFix/>
          </a:blip>
          <a:stretch>
            <a:fillRect/>
          </a:stretch>
        </p:blipFill>
        <p:spPr>
          <a:xfrm>
            <a:off x="1898863" y="1192800"/>
            <a:ext cx="5223572" cy="3481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Images from iconpacks.net</a:t>
            </a:r>
            <a:endParaRPr/>
          </a:p>
        </p:txBody>
      </p:sp>
      <p:sp>
        <p:nvSpPr>
          <p:cNvPr id="233" name="Google Shape;233;p25"/>
          <p:cNvSpPr txBox="1"/>
          <p:nvPr>
            <p:ph idx="4294967295" type="title"/>
          </p:nvPr>
        </p:nvSpPr>
        <p:spPr>
          <a:xfrm>
            <a:off x="0" y="241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Plan to keep your guidance agile…</a:t>
            </a:r>
            <a:endParaRPr/>
          </a:p>
        </p:txBody>
      </p:sp>
      <p:sp>
        <p:nvSpPr>
          <p:cNvPr id="234" name="Google Shape;234;p25"/>
          <p:cNvSpPr txBox="1"/>
          <p:nvPr>
            <p:ph idx="4294967295" type="title"/>
          </p:nvPr>
        </p:nvSpPr>
        <p:spPr>
          <a:xfrm>
            <a:off x="990600" y="13081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Make a “living” document</a:t>
            </a:r>
            <a:endParaRPr/>
          </a:p>
        </p:txBody>
      </p:sp>
      <p:pic>
        <p:nvPicPr>
          <p:cNvPr id="235" name="Google Shape;235;p25"/>
          <p:cNvPicPr preferRelativeResize="0"/>
          <p:nvPr/>
        </p:nvPicPr>
        <p:blipFill>
          <a:blip r:embed="rId3">
            <a:alphaModFix/>
          </a:blip>
          <a:stretch>
            <a:fillRect/>
          </a:stretch>
        </p:blipFill>
        <p:spPr>
          <a:xfrm>
            <a:off x="228600" y="1155600"/>
            <a:ext cx="914400" cy="91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Images from iconpacks.net</a:t>
            </a:r>
            <a:endParaRPr/>
          </a:p>
        </p:txBody>
      </p:sp>
      <p:sp>
        <p:nvSpPr>
          <p:cNvPr id="241" name="Google Shape;241;p26"/>
          <p:cNvSpPr txBox="1"/>
          <p:nvPr>
            <p:ph idx="4294967295" type="title"/>
          </p:nvPr>
        </p:nvSpPr>
        <p:spPr>
          <a:xfrm>
            <a:off x="0" y="241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Plan to keep your guidance agile…</a:t>
            </a:r>
            <a:endParaRPr/>
          </a:p>
        </p:txBody>
      </p:sp>
      <p:sp>
        <p:nvSpPr>
          <p:cNvPr id="242" name="Google Shape;242;p26"/>
          <p:cNvSpPr txBox="1"/>
          <p:nvPr>
            <p:ph idx="4294967295" type="title"/>
          </p:nvPr>
        </p:nvSpPr>
        <p:spPr>
          <a:xfrm>
            <a:off x="990600" y="13081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Make a “living” document</a:t>
            </a:r>
            <a:endParaRPr/>
          </a:p>
        </p:txBody>
      </p:sp>
      <p:sp>
        <p:nvSpPr>
          <p:cNvPr id="243" name="Google Shape;243;p26"/>
          <p:cNvSpPr txBox="1"/>
          <p:nvPr>
            <p:ph idx="4294967295" type="title"/>
          </p:nvPr>
        </p:nvSpPr>
        <p:spPr>
          <a:xfrm>
            <a:off x="990600" y="2146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Consider policy + best practices</a:t>
            </a:r>
            <a:endParaRPr/>
          </a:p>
        </p:txBody>
      </p:sp>
      <p:pic>
        <p:nvPicPr>
          <p:cNvPr id="244" name="Google Shape;244;p26"/>
          <p:cNvPicPr preferRelativeResize="0"/>
          <p:nvPr/>
        </p:nvPicPr>
        <p:blipFill>
          <a:blip r:embed="rId3">
            <a:alphaModFix/>
          </a:blip>
          <a:stretch>
            <a:fillRect/>
          </a:stretch>
        </p:blipFill>
        <p:spPr>
          <a:xfrm>
            <a:off x="228600" y="1155600"/>
            <a:ext cx="914400" cy="914400"/>
          </a:xfrm>
          <a:prstGeom prst="rect">
            <a:avLst/>
          </a:prstGeom>
          <a:noFill/>
          <a:ln>
            <a:noFill/>
          </a:ln>
        </p:spPr>
      </p:pic>
      <p:pic>
        <p:nvPicPr>
          <p:cNvPr id="245" name="Google Shape;245;p26"/>
          <p:cNvPicPr preferRelativeResize="0"/>
          <p:nvPr/>
        </p:nvPicPr>
        <p:blipFill>
          <a:blip r:embed="rId4">
            <a:alphaModFix/>
          </a:blip>
          <a:stretch>
            <a:fillRect/>
          </a:stretch>
        </p:blipFill>
        <p:spPr>
          <a:xfrm>
            <a:off x="236588" y="2198738"/>
            <a:ext cx="746025" cy="746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7"/>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Images from iconpacks.net</a:t>
            </a:r>
            <a:endParaRPr/>
          </a:p>
        </p:txBody>
      </p:sp>
      <p:sp>
        <p:nvSpPr>
          <p:cNvPr id="251" name="Google Shape;251;p27"/>
          <p:cNvSpPr txBox="1"/>
          <p:nvPr>
            <p:ph idx="4294967295" type="title"/>
          </p:nvPr>
        </p:nvSpPr>
        <p:spPr>
          <a:xfrm>
            <a:off x="0" y="241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Plan to keep your guidance agile…</a:t>
            </a:r>
            <a:endParaRPr/>
          </a:p>
        </p:txBody>
      </p:sp>
      <p:sp>
        <p:nvSpPr>
          <p:cNvPr id="252" name="Google Shape;252;p27"/>
          <p:cNvSpPr txBox="1"/>
          <p:nvPr>
            <p:ph idx="4294967295" type="title"/>
          </p:nvPr>
        </p:nvSpPr>
        <p:spPr>
          <a:xfrm>
            <a:off x="990600" y="13081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Make a “living” document</a:t>
            </a:r>
            <a:endParaRPr/>
          </a:p>
        </p:txBody>
      </p:sp>
      <p:sp>
        <p:nvSpPr>
          <p:cNvPr id="253" name="Google Shape;253;p27"/>
          <p:cNvSpPr txBox="1"/>
          <p:nvPr>
            <p:ph idx="4294967295" type="title"/>
          </p:nvPr>
        </p:nvSpPr>
        <p:spPr>
          <a:xfrm>
            <a:off x="990600" y="21463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Consider policy + best practices</a:t>
            </a:r>
            <a:endParaRPr/>
          </a:p>
        </p:txBody>
      </p:sp>
      <p:sp>
        <p:nvSpPr>
          <p:cNvPr id="254" name="Google Shape;254;p27"/>
          <p:cNvSpPr txBox="1"/>
          <p:nvPr>
            <p:ph idx="4294967295" type="title"/>
          </p:nvPr>
        </p:nvSpPr>
        <p:spPr>
          <a:xfrm>
            <a:off x="990600" y="2984550"/>
            <a:ext cx="9021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Communicate frequently</a:t>
            </a:r>
            <a:endParaRPr/>
          </a:p>
        </p:txBody>
      </p:sp>
      <p:pic>
        <p:nvPicPr>
          <p:cNvPr id="255" name="Google Shape;255;p27"/>
          <p:cNvPicPr preferRelativeResize="0"/>
          <p:nvPr/>
        </p:nvPicPr>
        <p:blipFill>
          <a:blip r:embed="rId3">
            <a:alphaModFix/>
          </a:blip>
          <a:stretch>
            <a:fillRect/>
          </a:stretch>
        </p:blipFill>
        <p:spPr>
          <a:xfrm>
            <a:off x="228600" y="1155600"/>
            <a:ext cx="914400" cy="914400"/>
          </a:xfrm>
          <a:prstGeom prst="rect">
            <a:avLst/>
          </a:prstGeom>
          <a:noFill/>
          <a:ln>
            <a:noFill/>
          </a:ln>
        </p:spPr>
      </p:pic>
      <p:pic>
        <p:nvPicPr>
          <p:cNvPr id="256" name="Google Shape;256;p27"/>
          <p:cNvPicPr preferRelativeResize="0"/>
          <p:nvPr/>
        </p:nvPicPr>
        <p:blipFill>
          <a:blip r:embed="rId4">
            <a:alphaModFix/>
          </a:blip>
          <a:stretch>
            <a:fillRect/>
          </a:stretch>
        </p:blipFill>
        <p:spPr>
          <a:xfrm>
            <a:off x="236588" y="2198738"/>
            <a:ext cx="746025" cy="746025"/>
          </a:xfrm>
          <a:prstGeom prst="rect">
            <a:avLst/>
          </a:prstGeom>
          <a:noFill/>
          <a:ln>
            <a:noFill/>
          </a:ln>
        </p:spPr>
      </p:pic>
      <p:pic>
        <p:nvPicPr>
          <p:cNvPr id="257" name="Google Shape;257;p27"/>
          <p:cNvPicPr preferRelativeResize="0"/>
          <p:nvPr/>
        </p:nvPicPr>
        <p:blipFill>
          <a:blip r:embed="rId5">
            <a:alphaModFix/>
          </a:blip>
          <a:stretch>
            <a:fillRect/>
          </a:stretch>
        </p:blipFill>
        <p:spPr>
          <a:xfrm>
            <a:off x="304822" y="3073497"/>
            <a:ext cx="746025" cy="74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266175" y="1350775"/>
            <a:ext cx="84033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3450">
                <a:solidFill>
                  <a:schemeClr val="accent2"/>
                </a:solidFill>
                <a:highlight>
                  <a:srgbClr val="FFFFFF"/>
                </a:highlight>
              </a:rPr>
              <a:t>S</a:t>
            </a:r>
            <a:r>
              <a:rPr b="1" lang="en" sz="3450">
                <a:solidFill>
                  <a:schemeClr val="accent2"/>
                </a:solidFill>
                <a:highlight>
                  <a:srgbClr val="FFFFFF"/>
                </a:highlight>
              </a:rPr>
              <a:t>ystematize the process</a:t>
            </a:r>
            <a:r>
              <a:rPr lang="en" sz="3450">
                <a:highlight>
                  <a:srgbClr val="FFFFFF"/>
                </a:highlight>
              </a:rPr>
              <a:t> of creating your policy so that you can easily update it when necessary</a:t>
            </a:r>
            <a:endParaRPr sz="3450">
              <a:solidFill>
                <a:schemeClr val="dk1"/>
              </a:solidFill>
              <a:highlight>
                <a:srgbClr val="FFFFFF"/>
              </a:highlight>
            </a:endParaRPr>
          </a:p>
        </p:txBody>
      </p:sp>
      <p:pic>
        <p:nvPicPr>
          <p:cNvPr id="263" name="Google Shape;263;p28"/>
          <p:cNvPicPr preferRelativeResize="0"/>
          <p:nvPr/>
        </p:nvPicPr>
        <p:blipFill>
          <a:blip r:embed="rId3">
            <a:alphaModFix/>
          </a:blip>
          <a:stretch>
            <a:fillRect/>
          </a:stretch>
        </p:blipFill>
        <p:spPr>
          <a:xfrm>
            <a:off x="2884100" y="3060350"/>
            <a:ext cx="1259950" cy="1259950"/>
          </a:xfrm>
          <a:prstGeom prst="rect">
            <a:avLst/>
          </a:prstGeom>
          <a:noFill/>
          <a:ln>
            <a:noFill/>
          </a:ln>
        </p:spPr>
      </p:pic>
      <p:sp>
        <p:nvSpPr>
          <p:cNvPr id="264" name="Google Shape;264;p28"/>
          <p:cNvSpPr txBox="1"/>
          <p:nvPr>
            <p:ph idx="4294967295" type="body"/>
          </p:nvPr>
        </p:nvSpPr>
        <p:spPr>
          <a:xfrm>
            <a:off x="418425" y="46743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900"/>
              <a:t>Images from iconpacks.net</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9"/>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by bruce mars on Unsplash</a:t>
            </a:r>
            <a:endParaRPr/>
          </a:p>
        </p:txBody>
      </p:sp>
      <p:sp>
        <p:nvSpPr>
          <p:cNvPr id="270" name="Google Shape;270;p29"/>
          <p:cNvSpPr txBox="1"/>
          <p:nvPr>
            <p:ph idx="4294967295" type="title"/>
          </p:nvPr>
        </p:nvSpPr>
        <p:spPr>
          <a:xfrm>
            <a:off x="0" y="241350"/>
            <a:ext cx="90213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28366"/>
              <a:buFont typeface="Arial"/>
              <a:buNone/>
            </a:pPr>
            <a:r>
              <a:rPr lang="en" sz="3490">
                <a:solidFill>
                  <a:schemeClr val="dk1"/>
                </a:solidFill>
              </a:rPr>
              <a:t>Make it easy for people to follow your policy</a:t>
            </a:r>
            <a:endParaRPr/>
          </a:p>
        </p:txBody>
      </p:sp>
      <p:pic>
        <p:nvPicPr>
          <p:cNvPr id="271" name="Google Shape;271;p29"/>
          <p:cNvPicPr preferRelativeResize="0"/>
          <p:nvPr/>
        </p:nvPicPr>
        <p:blipFill>
          <a:blip r:embed="rId3">
            <a:alphaModFix/>
          </a:blip>
          <a:stretch>
            <a:fillRect/>
          </a:stretch>
        </p:blipFill>
        <p:spPr>
          <a:xfrm>
            <a:off x="1752600" y="1005450"/>
            <a:ext cx="5161677" cy="34402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type="title"/>
          </p:nvPr>
        </p:nvSpPr>
        <p:spPr>
          <a:xfrm>
            <a:off x="1219200" y="393750"/>
            <a:ext cx="7509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Include specific points about:</a:t>
            </a:r>
            <a:endParaRPr/>
          </a:p>
        </p:txBody>
      </p:sp>
      <p:sp>
        <p:nvSpPr>
          <p:cNvPr id="277" name="Google Shape;277;p30"/>
          <p:cNvSpPr txBox="1"/>
          <p:nvPr/>
        </p:nvSpPr>
        <p:spPr>
          <a:xfrm>
            <a:off x="1602300" y="1491350"/>
            <a:ext cx="7038900" cy="29112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rPr lang="en" sz="3000">
                <a:latin typeface="Montserrat"/>
                <a:ea typeface="Montserrat"/>
                <a:cs typeface="Montserrat"/>
                <a:sym typeface="Montserrat"/>
              </a:rPr>
              <a:t>Communication</a:t>
            </a:r>
            <a:endParaRPr sz="3000">
              <a:latin typeface="Montserrat"/>
              <a:ea typeface="Montserrat"/>
              <a:cs typeface="Montserrat"/>
              <a:sym typeface="Montserrat"/>
            </a:endParaRPr>
          </a:p>
          <a:p>
            <a:pPr indent="0" lvl="0" marL="457200" rtl="0" algn="l">
              <a:lnSpc>
                <a:spcPct val="115000"/>
              </a:lnSpc>
              <a:spcBef>
                <a:spcPts val="1200"/>
              </a:spcBef>
              <a:spcAft>
                <a:spcPts val="0"/>
              </a:spcAft>
              <a:buNone/>
            </a:pPr>
            <a:r>
              <a:rPr lang="en" sz="3000">
                <a:latin typeface="Montserrat"/>
                <a:ea typeface="Montserrat"/>
                <a:cs typeface="Montserrat"/>
                <a:sym typeface="Montserrat"/>
              </a:rPr>
              <a:t>Training</a:t>
            </a:r>
            <a:endParaRPr sz="3000">
              <a:latin typeface="Montserrat"/>
              <a:ea typeface="Montserrat"/>
              <a:cs typeface="Montserrat"/>
              <a:sym typeface="Montserrat"/>
            </a:endParaRPr>
          </a:p>
          <a:p>
            <a:pPr indent="0" lvl="0" marL="457200" rtl="0" algn="l">
              <a:lnSpc>
                <a:spcPct val="115000"/>
              </a:lnSpc>
              <a:spcBef>
                <a:spcPts val="1200"/>
              </a:spcBef>
              <a:spcAft>
                <a:spcPts val="1200"/>
              </a:spcAft>
              <a:buNone/>
            </a:pPr>
            <a:r>
              <a:rPr lang="en" sz="3000">
                <a:latin typeface="Montserrat"/>
                <a:ea typeface="Montserrat"/>
                <a:cs typeface="Montserrat"/>
                <a:sym typeface="Montserrat"/>
              </a:rPr>
              <a:t>Guidance</a:t>
            </a:r>
            <a:endParaRPr sz="3000">
              <a:latin typeface="Montserrat"/>
              <a:ea typeface="Montserrat"/>
              <a:cs typeface="Montserrat"/>
              <a:sym typeface="Montserrat"/>
            </a:endParaRPr>
          </a:p>
        </p:txBody>
      </p:sp>
      <p:pic>
        <p:nvPicPr>
          <p:cNvPr id="278" name="Google Shape;278;p30"/>
          <p:cNvPicPr preferRelativeResize="0"/>
          <p:nvPr/>
        </p:nvPicPr>
        <p:blipFill>
          <a:blip r:embed="rId3">
            <a:alphaModFix/>
          </a:blip>
          <a:stretch>
            <a:fillRect/>
          </a:stretch>
        </p:blipFill>
        <p:spPr>
          <a:xfrm>
            <a:off x="1361850" y="1554575"/>
            <a:ext cx="618450" cy="552000"/>
          </a:xfrm>
          <a:prstGeom prst="rect">
            <a:avLst/>
          </a:prstGeom>
          <a:noFill/>
          <a:ln>
            <a:noFill/>
          </a:ln>
        </p:spPr>
      </p:pic>
      <p:pic>
        <p:nvPicPr>
          <p:cNvPr id="279" name="Google Shape;279;p30"/>
          <p:cNvPicPr preferRelativeResize="0"/>
          <p:nvPr/>
        </p:nvPicPr>
        <p:blipFill>
          <a:blip r:embed="rId4">
            <a:alphaModFix/>
          </a:blip>
          <a:stretch>
            <a:fillRect/>
          </a:stretch>
        </p:blipFill>
        <p:spPr>
          <a:xfrm>
            <a:off x="1405275" y="2182775"/>
            <a:ext cx="618450" cy="618450"/>
          </a:xfrm>
          <a:prstGeom prst="rect">
            <a:avLst/>
          </a:prstGeom>
          <a:noFill/>
          <a:ln>
            <a:noFill/>
          </a:ln>
        </p:spPr>
      </p:pic>
      <p:pic>
        <p:nvPicPr>
          <p:cNvPr id="280" name="Google Shape;280;p30"/>
          <p:cNvPicPr preferRelativeResize="0"/>
          <p:nvPr/>
        </p:nvPicPr>
        <p:blipFill>
          <a:blip r:embed="rId5">
            <a:alphaModFix/>
          </a:blip>
          <a:stretch>
            <a:fillRect/>
          </a:stretch>
        </p:blipFill>
        <p:spPr>
          <a:xfrm>
            <a:off x="1438500" y="2920425"/>
            <a:ext cx="552000" cy="552000"/>
          </a:xfrm>
          <a:prstGeom prst="rect">
            <a:avLst/>
          </a:prstGeom>
          <a:noFill/>
          <a:ln>
            <a:noFill/>
          </a:ln>
        </p:spPr>
      </p:pic>
      <p:sp>
        <p:nvSpPr>
          <p:cNvPr id="281" name="Google Shape;281;p30"/>
          <p:cNvSpPr txBox="1"/>
          <p:nvPr>
            <p:ph idx="1" type="body"/>
          </p:nvPr>
        </p:nvSpPr>
        <p:spPr>
          <a:xfrm>
            <a:off x="418425" y="46743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900"/>
              <a:t>Image by Andrea De Santis on Unsplash; icons from iconpacks.net</a:t>
            </a:r>
            <a:endParaRPr sz="900"/>
          </a:p>
        </p:txBody>
      </p:sp>
      <p:pic>
        <p:nvPicPr>
          <p:cNvPr id="282" name="Google Shape;282;p30"/>
          <p:cNvPicPr preferRelativeResize="0"/>
          <p:nvPr/>
        </p:nvPicPr>
        <p:blipFill>
          <a:blip r:embed="rId6">
            <a:alphaModFix/>
          </a:blip>
          <a:stretch>
            <a:fillRect/>
          </a:stretch>
        </p:blipFill>
        <p:spPr>
          <a:xfrm>
            <a:off x="5666399" y="1044675"/>
            <a:ext cx="2922784" cy="365215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by Artem Maltsev on Unsplash</a:t>
            </a:r>
            <a:endParaRPr/>
          </a:p>
        </p:txBody>
      </p:sp>
      <p:sp>
        <p:nvSpPr>
          <p:cNvPr id="288" name="Google Shape;288;p31"/>
          <p:cNvSpPr txBox="1"/>
          <p:nvPr>
            <p:ph idx="4294967295" type="title"/>
          </p:nvPr>
        </p:nvSpPr>
        <p:spPr>
          <a:xfrm>
            <a:off x="3835675" y="1271825"/>
            <a:ext cx="5215200" cy="914100"/>
          </a:xfrm>
          <a:prstGeom prst="rect">
            <a:avLst/>
          </a:prstGeom>
        </p:spPr>
        <p:txBody>
          <a:bodyPr anchorCtr="0" anchor="t" bIns="91425" lIns="91425" spcFirstLastPara="1" rIns="91425" wrap="square" tIns="91425">
            <a:normAutofit fontScale="90000"/>
          </a:bodyPr>
          <a:lstStyle/>
          <a:p>
            <a:pPr indent="-428053" lvl="0" marL="457200" rtl="0" algn="l">
              <a:spcBef>
                <a:spcPts val="0"/>
              </a:spcBef>
              <a:spcAft>
                <a:spcPts val="0"/>
              </a:spcAft>
              <a:buClr>
                <a:schemeClr val="dk1"/>
              </a:buClr>
              <a:buSzPct val="100000"/>
              <a:buChar char="●"/>
            </a:pPr>
            <a:r>
              <a:rPr lang="en" sz="3490">
                <a:solidFill>
                  <a:schemeClr val="dk1"/>
                </a:solidFill>
              </a:rPr>
              <a:t>Focus on major points</a:t>
            </a:r>
            <a:endParaRPr/>
          </a:p>
        </p:txBody>
      </p:sp>
      <p:pic>
        <p:nvPicPr>
          <p:cNvPr id="289" name="Google Shape;289;p31"/>
          <p:cNvPicPr preferRelativeResize="0"/>
          <p:nvPr/>
        </p:nvPicPr>
        <p:blipFill>
          <a:blip r:embed="rId3">
            <a:alphaModFix/>
          </a:blip>
          <a:stretch>
            <a:fillRect/>
          </a:stretch>
        </p:blipFill>
        <p:spPr>
          <a:xfrm>
            <a:off x="591000" y="278925"/>
            <a:ext cx="2824700" cy="4238075"/>
          </a:xfrm>
          <a:prstGeom prst="rect">
            <a:avLst/>
          </a:prstGeom>
          <a:noFill/>
          <a:ln>
            <a:noFill/>
          </a:ln>
        </p:spPr>
      </p:pic>
      <p:sp>
        <p:nvSpPr>
          <p:cNvPr id="290" name="Google Shape;290;p31"/>
          <p:cNvSpPr txBox="1"/>
          <p:nvPr>
            <p:ph idx="4294967295" type="title"/>
          </p:nvPr>
        </p:nvSpPr>
        <p:spPr>
          <a:xfrm>
            <a:off x="3835675" y="2110025"/>
            <a:ext cx="5215200" cy="914100"/>
          </a:xfrm>
          <a:prstGeom prst="rect">
            <a:avLst/>
          </a:prstGeom>
        </p:spPr>
        <p:txBody>
          <a:bodyPr anchorCtr="0" anchor="t" bIns="91425" lIns="91425" spcFirstLastPara="1" rIns="91425" wrap="square" tIns="91425">
            <a:normAutofit fontScale="90000"/>
          </a:bodyPr>
          <a:lstStyle/>
          <a:p>
            <a:pPr indent="-428053" lvl="0" marL="457200" rtl="0" algn="l">
              <a:spcBef>
                <a:spcPts val="0"/>
              </a:spcBef>
              <a:spcAft>
                <a:spcPts val="0"/>
              </a:spcAft>
              <a:buClr>
                <a:schemeClr val="dk1"/>
              </a:buClr>
              <a:buSzPct val="100000"/>
              <a:buChar char="●"/>
            </a:pPr>
            <a:r>
              <a:rPr lang="en" sz="3490">
                <a:solidFill>
                  <a:schemeClr val="dk1"/>
                </a:solidFill>
              </a:rPr>
              <a:t>Outline steps people can take</a:t>
            </a:r>
            <a:endParaRPr/>
          </a:p>
        </p:txBody>
      </p:sp>
      <p:sp>
        <p:nvSpPr>
          <p:cNvPr id="291" name="Google Shape;291;p31"/>
          <p:cNvSpPr txBox="1"/>
          <p:nvPr>
            <p:ph idx="4294967295" type="title"/>
          </p:nvPr>
        </p:nvSpPr>
        <p:spPr>
          <a:xfrm>
            <a:off x="3835675" y="3329225"/>
            <a:ext cx="5215200" cy="914100"/>
          </a:xfrm>
          <a:prstGeom prst="rect">
            <a:avLst/>
          </a:prstGeom>
        </p:spPr>
        <p:txBody>
          <a:bodyPr anchorCtr="0" anchor="t" bIns="91425" lIns="91425" spcFirstLastPara="1" rIns="91425" wrap="square" tIns="91425">
            <a:normAutofit fontScale="90000"/>
          </a:bodyPr>
          <a:lstStyle/>
          <a:p>
            <a:pPr indent="-428053" lvl="0" marL="457200" rtl="0" algn="l">
              <a:spcBef>
                <a:spcPts val="0"/>
              </a:spcBef>
              <a:spcAft>
                <a:spcPts val="0"/>
              </a:spcAft>
              <a:buClr>
                <a:schemeClr val="dk1"/>
              </a:buClr>
              <a:buSzPct val="100000"/>
              <a:buChar char="●"/>
            </a:pPr>
            <a:r>
              <a:rPr lang="en" sz="3490">
                <a:solidFill>
                  <a:schemeClr val="dk1"/>
                </a:solidFill>
              </a:rPr>
              <a:t>Identify people to ask for help</a:t>
            </a:r>
            <a:endParaRPr/>
          </a:p>
        </p:txBody>
      </p:sp>
      <p:sp>
        <p:nvSpPr>
          <p:cNvPr id="292" name="Google Shape;292;p31"/>
          <p:cNvSpPr txBox="1"/>
          <p:nvPr>
            <p:ph idx="4294967295" type="title"/>
          </p:nvPr>
        </p:nvSpPr>
        <p:spPr>
          <a:xfrm>
            <a:off x="3835675" y="433625"/>
            <a:ext cx="52152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90">
                <a:solidFill>
                  <a:schemeClr val="dk1"/>
                </a:solidFill>
              </a:rPr>
              <a:t>With training: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2"/>
          <p:cNvSpPr txBox="1"/>
          <p:nvPr>
            <p:ph type="title"/>
          </p:nvPr>
        </p:nvSpPr>
        <p:spPr>
          <a:xfrm>
            <a:off x="266175" y="1655575"/>
            <a:ext cx="8500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3450">
                <a:highlight>
                  <a:srgbClr val="FFFFFF"/>
                </a:highlight>
              </a:rPr>
              <a:t>Training people how to </a:t>
            </a:r>
            <a:r>
              <a:rPr b="1" lang="en" sz="3450">
                <a:solidFill>
                  <a:schemeClr val="accent2"/>
                </a:solidFill>
                <a:highlight>
                  <a:srgbClr val="FFFFFF"/>
                </a:highlight>
              </a:rPr>
              <a:t>loop in the proper people</a:t>
            </a:r>
            <a:r>
              <a:rPr lang="en" sz="3450">
                <a:highlight>
                  <a:srgbClr val="FFFFFF"/>
                </a:highlight>
              </a:rPr>
              <a:t> might save them stress later.</a:t>
            </a:r>
            <a:endParaRPr sz="3450">
              <a:solidFill>
                <a:schemeClr val="dk1"/>
              </a:solidFill>
              <a:highlight>
                <a:srgbClr val="FFFFFF"/>
              </a:highlight>
            </a:endParaRPr>
          </a:p>
        </p:txBody>
      </p:sp>
      <p:pic>
        <p:nvPicPr>
          <p:cNvPr id="298" name="Google Shape;298;p32"/>
          <p:cNvPicPr preferRelativeResize="0"/>
          <p:nvPr/>
        </p:nvPicPr>
        <p:blipFill>
          <a:blip r:embed="rId3">
            <a:alphaModFix/>
          </a:blip>
          <a:stretch>
            <a:fillRect/>
          </a:stretch>
        </p:blipFill>
        <p:spPr>
          <a:xfrm>
            <a:off x="2837100" y="3355375"/>
            <a:ext cx="914400" cy="914400"/>
          </a:xfrm>
          <a:prstGeom prst="rect">
            <a:avLst/>
          </a:prstGeom>
          <a:noFill/>
          <a:ln>
            <a:noFill/>
          </a:ln>
        </p:spPr>
      </p:pic>
      <p:sp>
        <p:nvSpPr>
          <p:cNvPr id="299" name="Google Shape;299;p32"/>
          <p:cNvSpPr txBox="1"/>
          <p:nvPr>
            <p:ph idx="4294967295" type="body"/>
          </p:nvPr>
        </p:nvSpPr>
        <p:spPr>
          <a:xfrm>
            <a:off x="418425" y="46743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900"/>
              <a:t>Images from iconpacks.net</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