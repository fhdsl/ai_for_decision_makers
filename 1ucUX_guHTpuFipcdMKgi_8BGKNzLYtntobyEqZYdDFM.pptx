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What should you think about when evaluating your eh I tool. In this chapter we will discuss examples of metrics and evaluations you may want to collect about your eh I tool.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page describes the terms of use for this content.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6c15e7d8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6c15e7d8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Evaluating a software tool is critical. This is for multiple reasons that feed into each other.  </a:t>
            </a:r>
            <a:endParaRPr/>
          </a:p>
          <a:p>
            <a:pPr indent="0" lvl="0" marL="0" rtl="0" algn="l">
              <a:spcBef>
                <a:spcPts val="0"/>
              </a:spcBef>
              <a:spcAft>
                <a:spcPts val="0"/>
              </a:spcAft>
              <a:buClr>
                <a:schemeClr val="dk1"/>
              </a:buClr>
              <a:buSzPts val="1100"/>
              <a:buFont typeface="Arial"/>
              <a:buNone/>
            </a:pPr>
            <a:r>
              <a:rPr lang="en"/>
              <a:t>1. Evaluating your eh I tool will help identify areas for improvement</a:t>
            </a:r>
            <a:endParaRPr/>
          </a:p>
          <a:p>
            <a:pPr indent="0" lvl="0" marL="0" rtl="0" algn="l">
              <a:spcBef>
                <a:spcPts val="0"/>
              </a:spcBef>
              <a:spcAft>
                <a:spcPts val="0"/>
              </a:spcAft>
              <a:buClr>
                <a:schemeClr val="dk1"/>
              </a:buClr>
              <a:buSzPts val="1100"/>
              <a:buFont typeface="Arial"/>
              <a:buNone/>
            </a:pPr>
            <a:r>
              <a:rPr lang="en"/>
              <a:t>2. Evaluating your eh I tool will demonstrate value to funders so you can actually make those improvements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ed70280c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ed70280c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It's important to keep the pulse on your project as it is developing. Ideally, you should be monitoring your eh I’s performance when it comes to bias ad performance throughout the project. But once you have a stable ah I tool, it is an especially good time to gather more evaluations.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6c15e7d8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6c15e7d8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reminder, generally a good eh I tool is accurate in that it gives output that is useful. It is also computationally efficient in that we won’t be able to actually deploy the tool if it is computationally costly or takes too long to run a query.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for the purposes of evaluation, we’re going to add one more point of evaluation which is a good eh I tool is usable. Even if you do not have “users” in the traditional sense; you are designing your tool only for within your team or organization, you will still need it to be functionally usable by the individuals you have intended to use it. Otherwise the fact that it is accurate and computationally efficient will be irrelevant if no one can experience that accuracy and </a:t>
            </a:r>
            <a:r>
              <a:rPr lang="en"/>
              <a:t>efficiency</a:t>
            </a:r>
            <a:r>
              <a:rPr lang="en"/>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6c15e7d80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a6c15e7d80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you evaluate the accuracy of your eh I model will be highly dependent on what kind of eh I model you have -- text to speech, text to image, large language model chatbot, a classifier, etc. This will determine what kinds of “ground truth” you have available. For a speech to text model for example, what was the speaker actually saying? What percentage of the words did the  eh I tool translate correctly to text?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Secondly your evaluation strategies will dependent on what your goals are – how do you define success for your eh I tool? What was your original goals for this eh I tool? Are they meeting those goals?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a6c15e7d80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a6c15e7d80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 L M chatbots can be a bit tricky to evaluate accuracy -- how do you know if the response it gave a user was what the user was looking for? But there's a number of options and groups who are working on establishing methods and standards for L L M evaluation. MOdel kNowledge relIabiliTy scORe (MONITOR), google/BIG-bench, GLUE Benchmark, and Measuring Massive Multitask Language Understanding.</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a6c15e7d80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a6c15e7d80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Evaluating computational efficiency is important not only for the amount of time it takes to get useful output from your AI tool, but also will influence your computing bills each month. As mentioned previously, you'll want to strike a balance between having an efficient but also accurate eh I tool.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Besides being shocked by your computing bill each month, there's more fore thinking ways you can keep tabs on your computational efficiency.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Examples of metrics you may consider collecting:  Average time per job - How much time, Capacity - Total jobs that can be run at once, FLOPs (Floating Point Operations) - measure the computational cost or complexity of a model or calculation</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6c15e7d80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6c15e7d80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Usability and user experience (U X) experts are highly valuable to have on staff. But whether or not you have the funds for an expert is U X to be on staff, more informal user testing is more helpful than no testing at all! Here's a very quick overview of what a usability testing workflow might look like: </a:t>
            </a:r>
            <a:endParaRPr/>
          </a:p>
          <a:p>
            <a:pPr indent="0" lvl="0" marL="0" rtl="0" algn="l">
              <a:spcBef>
                <a:spcPts val="0"/>
              </a:spcBef>
              <a:spcAft>
                <a:spcPts val="0"/>
              </a:spcAft>
              <a:buClr>
                <a:schemeClr val="dk1"/>
              </a:buClr>
              <a:buSzPts val="1100"/>
              <a:buFont typeface="Arial"/>
              <a:buNone/>
            </a:pPr>
            <a:r>
              <a:rPr lang="en"/>
              <a:t>- Decide what features of your eh I tool you’d like to get feedback on </a:t>
            </a:r>
            <a:endParaRPr/>
          </a:p>
          <a:p>
            <a:pPr indent="0" lvl="0" marL="0" rtl="0" algn="l">
              <a:spcBef>
                <a:spcPts val="0"/>
              </a:spcBef>
              <a:spcAft>
                <a:spcPts val="0"/>
              </a:spcAft>
              <a:buClr>
                <a:schemeClr val="dk1"/>
              </a:buClr>
              <a:buSzPts val="1100"/>
              <a:buFont typeface="Arial"/>
              <a:buNone/>
            </a:pPr>
            <a:r>
              <a:rPr lang="en"/>
              <a:t>- Recruit and compensate participants</a:t>
            </a:r>
            <a:endParaRPr/>
          </a:p>
          <a:p>
            <a:pPr indent="0" lvl="0" marL="0" rtl="0" algn="l">
              <a:spcBef>
                <a:spcPts val="0"/>
              </a:spcBef>
              <a:spcAft>
                <a:spcPts val="0"/>
              </a:spcAft>
              <a:buClr>
                <a:schemeClr val="dk1"/>
              </a:buClr>
              <a:buSzPts val="1100"/>
              <a:buFont typeface="Arial"/>
              <a:buNone/>
            </a:pPr>
            <a:r>
              <a:rPr lang="en"/>
              <a:t>- Write a script for usability testing - always need to emphasize that if they the participant doesn’t know how to do something it is not their fault, it’s something that needs to be fixed with the tool!</a:t>
            </a:r>
            <a:endParaRPr/>
          </a:p>
          <a:p>
            <a:pPr indent="0" lvl="0" marL="0" rtl="0" algn="l">
              <a:spcBef>
                <a:spcPts val="0"/>
              </a:spcBef>
              <a:spcAft>
                <a:spcPts val="0"/>
              </a:spcAft>
              <a:buClr>
                <a:schemeClr val="dk1"/>
              </a:buClr>
              <a:buSzPts val="1100"/>
              <a:buFont typeface="Arial"/>
              <a:buNone/>
            </a:pPr>
            <a:r>
              <a:rPr lang="en"/>
              <a:t>- Watch 3 - 5 people try to do the task – often 3 is enough to illuminate a lot of problems to be fixed! </a:t>
            </a:r>
            <a:endParaRPr/>
          </a:p>
          <a:p>
            <a:pPr indent="0" lvl="0" marL="0" rtl="0" algn="l">
              <a:spcBef>
                <a:spcPts val="0"/>
              </a:spcBef>
              <a:spcAft>
                <a:spcPts val="0"/>
              </a:spcAft>
              <a:buClr>
                <a:schemeClr val="dk1"/>
              </a:buClr>
              <a:buSzPts val="1100"/>
              <a:buFont typeface="Arial"/>
              <a:buNone/>
            </a:pPr>
            <a:r>
              <a:rPr lang="en"/>
              <a:t>- Observe and take notes on what was tricky</a:t>
            </a:r>
            <a:endParaRPr/>
          </a:p>
          <a:p>
            <a:pPr indent="0" lvl="0" marL="0" rtl="0" algn="l">
              <a:spcBef>
                <a:spcPts val="0"/>
              </a:spcBef>
              <a:spcAft>
                <a:spcPts val="0"/>
              </a:spcAft>
              <a:buClr>
                <a:schemeClr val="dk1"/>
              </a:buClr>
              <a:buSzPts val="1100"/>
              <a:buFont typeface="Arial"/>
              <a:buNone/>
            </a:pPr>
            <a:r>
              <a:rPr lang="en"/>
              <a:t>- Ask participants questions!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a6c15e7d8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a6c15e7d8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There's many ways to obtain user feedback, and surveys, and interface analytics.Some examples of metrics you may want to collect: Success rate - how many users were able to successfully complete the task? Task time - how long does it take them to do. Net Promoter Score (N P S) - scale of 0 - 10 summarized stat to understand what percentage of users would actively recommend your tool to others. Qualitative data and surveys - don’t underestimate the power of asking people their thoughts!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s://medium.com/@kanikaadik07/generative-ai-project-life-cycle-55ce9092e24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hyperlink" Target="https://sloanreview.mit.edu/article/the-no-1-question-to-ask-when-evaluating-ai-tool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hyperlink" Target="https://arxiv.org/pdf/2310.09820.pdf" TargetMode="External"/><Relationship Id="rId4" Type="http://schemas.openxmlformats.org/officeDocument/2006/relationships/hyperlink" Target="https://github.com/google/BIG-bench" TargetMode="External"/><Relationship Id="rId5" Type="http://schemas.openxmlformats.org/officeDocument/2006/relationships/hyperlink" Target="https://gluebenchmark.com/" TargetMode="External"/><Relationship Id="rId6" Type="http://schemas.openxmlformats.org/officeDocument/2006/relationships/hyperlink" Target="https://github.com/hendrycks/test" TargetMode="External"/><Relationship Id="rId7" Type="http://schemas.openxmlformats.org/officeDocument/2006/relationships/hyperlink" Target="https://www.analyticsvidhya.com/blog/2023/05/how-to-evaluate-a-large-language-model-ll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hyperlink" Target="https://www.kdnuggets.com/2023/06/calculate-computational-efficiency-deep-learning-models-flops-macs.html" TargetMode="External"/><Relationship Id="rId4" Type="http://schemas.openxmlformats.org/officeDocument/2006/relationships/hyperlink" Target="https://www.cs.umd.edu/~meesh/411/CA-online/chapter/performance-metric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hyperlink" Target="https://www.nngroup.com/articles/why-you-only-need-to-test-with-5-user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www.linkedin.com/advice/3/how-do-you-measure-your-ai-systems-effectiveness#:~:text=The%20first%20step%20to%20measure,%2Dsquared%2C%20and%20so%20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Evaluating your customized AI tool</a:t>
            </a:r>
            <a:endParaRPr sz="3988"/>
          </a:p>
        </p:txBody>
      </p:sp>
      <p:pic>
        <p:nvPicPr>
          <p:cNvPr id="159" name="Google Shape;159;p15"/>
          <p:cNvPicPr preferRelativeResize="0"/>
          <p:nvPr/>
        </p:nvPicPr>
        <p:blipFill>
          <a:blip r:embed="rId3">
            <a:alphaModFix/>
          </a:blip>
          <a:stretch>
            <a:fillRect/>
          </a:stretch>
        </p:blipFill>
        <p:spPr>
          <a:xfrm>
            <a:off x="5605212" y="3074050"/>
            <a:ext cx="1067825" cy="1067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5" name="Google Shape;165;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266175" y="583125"/>
            <a:ext cx="8331300" cy="388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highlight>
                  <a:srgbClr val="FFFFFF"/>
                </a:highlight>
              </a:rPr>
              <a:t>Evaluating a software tool is critical: </a:t>
            </a:r>
            <a:endParaRPr sz="3490">
              <a:solidFill>
                <a:schemeClr val="dk1"/>
              </a:solidFill>
              <a:highlight>
                <a:srgbClr val="FFFFFF"/>
              </a:highlight>
            </a:endParaRPr>
          </a:p>
          <a:p>
            <a:pPr indent="0" lvl="0" marL="0" rtl="0" algn="l">
              <a:spcBef>
                <a:spcPts val="0"/>
              </a:spcBef>
              <a:spcAft>
                <a:spcPts val="0"/>
              </a:spcAft>
              <a:buSzPts val="990"/>
              <a:buNone/>
            </a:pPr>
            <a:r>
              <a:t/>
            </a:r>
            <a:endParaRPr sz="3490">
              <a:solidFill>
                <a:schemeClr val="dk1"/>
              </a:solidFill>
              <a:highlight>
                <a:srgbClr val="FFFFFF"/>
              </a:highlight>
            </a:endParaRPr>
          </a:p>
          <a:p>
            <a:pPr indent="-374650" lvl="0" marL="457200" rtl="0" algn="l">
              <a:lnSpc>
                <a:spcPct val="115000"/>
              </a:lnSpc>
              <a:spcBef>
                <a:spcPts val="0"/>
              </a:spcBef>
              <a:spcAft>
                <a:spcPts val="0"/>
              </a:spcAft>
              <a:buSzPts val="2300"/>
              <a:buFont typeface="Lato"/>
              <a:buAutoNum type="arabicPeriod"/>
            </a:pPr>
            <a:r>
              <a:rPr lang="en" sz="2300">
                <a:highlight>
                  <a:srgbClr val="FFFFFF"/>
                </a:highlight>
                <a:latin typeface="Lato"/>
                <a:ea typeface="Lato"/>
                <a:cs typeface="Lato"/>
                <a:sym typeface="Lato"/>
              </a:rPr>
              <a:t>Help identify areas for </a:t>
            </a:r>
            <a:r>
              <a:rPr b="1" lang="en" sz="2300">
                <a:highlight>
                  <a:srgbClr val="FFFFFF"/>
                </a:highlight>
                <a:latin typeface="Lato"/>
                <a:ea typeface="Lato"/>
                <a:cs typeface="Lato"/>
                <a:sym typeface="Lato"/>
              </a:rPr>
              <a:t>improvement</a:t>
            </a:r>
            <a:r>
              <a:rPr lang="en" sz="2300">
                <a:highlight>
                  <a:srgbClr val="FFFFFF"/>
                </a:highlight>
                <a:latin typeface="Lato"/>
                <a:ea typeface="Lato"/>
                <a:cs typeface="Lato"/>
                <a:sym typeface="Lato"/>
              </a:rPr>
              <a:t> for a software</a:t>
            </a:r>
            <a:endParaRPr sz="2300">
              <a:highlight>
                <a:srgbClr val="FFFFFF"/>
              </a:highlight>
              <a:latin typeface="Lato"/>
              <a:ea typeface="Lato"/>
              <a:cs typeface="Lato"/>
              <a:sym typeface="Lato"/>
            </a:endParaRPr>
          </a:p>
          <a:p>
            <a:pPr indent="0" lvl="0" marL="457200" rtl="0" algn="l">
              <a:lnSpc>
                <a:spcPct val="115000"/>
              </a:lnSpc>
              <a:spcBef>
                <a:spcPts val="900"/>
              </a:spcBef>
              <a:spcAft>
                <a:spcPts val="0"/>
              </a:spcAft>
              <a:buSzPts val="1100"/>
              <a:buNone/>
            </a:pPr>
            <a:r>
              <a:t/>
            </a:r>
            <a:endParaRPr sz="2300">
              <a:highlight>
                <a:srgbClr val="FFFFFF"/>
              </a:highlight>
              <a:latin typeface="Lato"/>
              <a:ea typeface="Lato"/>
              <a:cs typeface="Lato"/>
              <a:sym typeface="Lato"/>
            </a:endParaRPr>
          </a:p>
          <a:p>
            <a:pPr indent="-374650" lvl="0" marL="457200" rtl="0" algn="l">
              <a:lnSpc>
                <a:spcPct val="115000"/>
              </a:lnSpc>
              <a:spcBef>
                <a:spcPts val="900"/>
              </a:spcBef>
              <a:spcAft>
                <a:spcPts val="0"/>
              </a:spcAft>
              <a:buSzPts val="2300"/>
              <a:buFont typeface="Lato"/>
              <a:buAutoNum type="arabicPeriod"/>
            </a:pPr>
            <a:r>
              <a:rPr lang="en" sz="2300">
                <a:highlight>
                  <a:srgbClr val="FFFFFF"/>
                </a:highlight>
                <a:latin typeface="Lato"/>
                <a:ea typeface="Lato"/>
                <a:cs typeface="Lato"/>
                <a:sym typeface="Lato"/>
              </a:rPr>
              <a:t>Demonstrate </a:t>
            </a:r>
            <a:r>
              <a:rPr b="1" lang="en" sz="2300">
                <a:highlight>
                  <a:srgbClr val="FFFFFF"/>
                </a:highlight>
                <a:latin typeface="Lato"/>
                <a:ea typeface="Lato"/>
                <a:cs typeface="Lato"/>
                <a:sym typeface="Lato"/>
              </a:rPr>
              <a:t>value</a:t>
            </a:r>
            <a:r>
              <a:rPr lang="en" sz="2300">
                <a:highlight>
                  <a:srgbClr val="FFFFFF"/>
                </a:highlight>
                <a:latin typeface="Lato"/>
                <a:ea typeface="Lato"/>
                <a:cs typeface="Lato"/>
                <a:sym typeface="Lato"/>
              </a:rPr>
              <a:t> to funders so you can actually make those improvements</a:t>
            </a:r>
            <a:endParaRPr sz="3490">
              <a:solidFill>
                <a:schemeClr val="dk1"/>
              </a:solidFill>
              <a:highlight>
                <a:srgbClr val="FFFFFF"/>
              </a:highlight>
            </a:endParaRPr>
          </a:p>
          <a:p>
            <a:pPr indent="0" lvl="0" marL="0" rtl="0" algn="l">
              <a:spcBef>
                <a:spcPts val="900"/>
              </a:spcBef>
              <a:spcAft>
                <a:spcPts val="0"/>
              </a:spcAft>
              <a:buSzPts val="990"/>
              <a:buNone/>
            </a:pPr>
            <a:r>
              <a:t/>
            </a:r>
            <a:endParaRPr sz="3490">
              <a:solidFill>
                <a:schemeClr val="dk1"/>
              </a:solidFill>
            </a:endParaRPr>
          </a:p>
        </p:txBody>
      </p:sp>
      <p:sp>
        <p:nvSpPr>
          <p:cNvPr id="171" name="Google Shape;171;p17"/>
          <p:cNvSpPr txBox="1"/>
          <p:nvPr/>
        </p:nvSpPr>
        <p:spPr>
          <a:xfrm>
            <a:off x="139300" y="4661275"/>
            <a:ext cx="503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Afiaz et al, 2023 https://arxiv.org/pdf/2306.03255.pdf</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18"/>
          <p:cNvPicPr preferRelativeResize="0"/>
          <p:nvPr/>
        </p:nvPicPr>
        <p:blipFill rotWithShape="1">
          <a:blip r:embed="rId3">
            <a:alphaModFix/>
          </a:blip>
          <a:srcRect b="16737" l="6268" r="5943" t="8372"/>
          <a:stretch/>
        </p:blipFill>
        <p:spPr>
          <a:xfrm>
            <a:off x="618875" y="811400"/>
            <a:ext cx="7935301" cy="3167076"/>
          </a:xfrm>
          <a:prstGeom prst="rect">
            <a:avLst/>
          </a:prstGeom>
          <a:noFill/>
          <a:ln>
            <a:noFill/>
          </a:ln>
        </p:spPr>
      </p:pic>
      <p:sp>
        <p:nvSpPr>
          <p:cNvPr id="177" name="Google Shape;177;p18"/>
          <p:cNvSpPr txBox="1"/>
          <p:nvPr/>
        </p:nvSpPr>
        <p:spPr>
          <a:xfrm>
            <a:off x="398825" y="4743300"/>
            <a:ext cx="897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https://medium.com/@kanikaadik07/generative-ai-project-life-cycle-55ce9092e24a</a:t>
            </a:r>
            <a:r>
              <a:rPr lang="en"/>
              <a:t> </a:t>
            </a:r>
            <a:endParaRPr/>
          </a:p>
        </p:txBody>
      </p:sp>
      <p:sp>
        <p:nvSpPr>
          <p:cNvPr id="178" name="Google Shape;178;p18"/>
          <p:cNvSpPr/>
          <p:nvPr/>
        </p:nvSpPr>
        <p:spPr>
          <a:xfrm>
            <a:off x="3590750" y="533750"/>
            <a:ext cx="679200" cy="6309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9" name="Google Shape;179;p18"/>
          <p:cNvSpPr txBox="1"/>
          <p:nvPr/>
        </p:nvSpPr>
        <p:spPr>
          <a:xfrm>
            <a:off x="3321350" y="64950"/>
            <a:ext cx="2089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Lato"/>
                <a:ea typeface="Lato"/>
                <a:cs typeface="Lato"/>
                <a:sym typeface="Lato"/>
              </a:rPr>
              <a:t>You are here</a:t>
            </a:r>
            <a:endParaRPr sz="1700">
              <a:solidFill>
                <a:schemeClr val="lt1"/>
              </a:solidFill>
              <a:latin typeface="Lato"/>
              <a:ea typeface="Lato"/>
              <a:cs typeface="Lato"/>
              <a:sym typeface="Lato"/>
            </a:endParaRPr>
          </a:p>
        </p:txBody>
      </p:sp>
      <p:sp>
        <p:nvSpPr>
          <p:cNvPr id="180" name="Google Shape;180;p18"/>
          <p:cNvSpPr/>
          <p:nvPr/>
        </p:nvSpPr>
        <p:spPr>
          <a:xfrm>
            <a:off x="1045200" y="3809500"/>
            <a:ext cx="6862500" cy="878400"/>
          </a:xfrm>
          <a:prstGeom prst="leftRightArrow">
            <a:avLst>
              <a:gd fmla="val 50000" name="adj1"/>
              <a:gd fmla="val 50000" name="adj2"/>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Lato"/>
                <a:ea typeface="Lato"/>
                <a:cs typeface="Lato"/>
                <a:sym typeface="Lato"/>
              </a:rPr>
              <a:t>Ongoing monitoring throughout the project</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823850" y="866775"/>
            <a:ext cx="76263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a:t>
            </a:r>
            <a:r>
              <a:rPr b="1" lang="en"/>
              <a:t>good</a:t>
            </a:r>
            <a:r>
              <a:rPr lang="en"/>
              <a:t> AI tool is…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AutoNum type="arabicParenR"/>
            </a:pPr>
            <a:r>
              <a:rPr lang="en"/>
              <a:t>Accurate</a:t>
            </a:r>
            <a:endParaRPr/>
          </a:p>
          <a:p>
            <a:pPr indent="-406400" lvl="0" marL="457200" rtl="0" algn="l">
              <a:spcBef>
                <a:spcPts val="0"/>
              </a:spcBef>
              <a:spcAft>
                <a:spcPts val="0"/>
              </a:spcAft>
              <a:buSzPts val="2800"/>
              <a:buAutoNum type="arabicParenR"/>
            </a:pPr>
            <a:r>
              <a:rPr lang="en"/>
              <a:t>Computationally efficient</a:t>
            </a:r>
            <a:endParaRPr/>
          </a:p>
          <a:p>
            <a:pPr indent="-406400" lvl="0" marL="457200" rtl="0" algn="l">
              <a:spcBef>
                <a:spcPts val="0"/>
              </a:spcBef>
              <a:spcAft>
                <a:spcPts val="0"/>
              </a:spcAft>
              <a:buSzPts val="2800"/>
              <a:buAutoNum type="arabicParenR"/>
            </a:pPr>
            <a:r>
              <a:rPr i="1" lang="en"/>
              <a:t>Usable</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type="title"/>
          </p:nvPr>
        </p:nvSpPr>
        <p:spPr>
          <a:xfrm>
            <a:off x="294800" y="717625"/>
            <a:ext cx="7925100" cy="3543600"/>
          </a:xfrm>
          <a:prstGeom prst="rect">
            <a:avLst/>
          </a:prstGeom>
        </p:spPr>
        <p:txBody>
          <a:bodyPr anchorCtr="0" anchor="ctr" bIns="91425" lIns="91425" spcFirstLastPara="1" rIns="91425" wrap="square" tIns="91425">
            <a:normAutofit/>
          </a:bodyPr>
          <a:lstStyle/>
          <a:p>
            <a:pPr indent="457200" lvl="0" marL="0" rtl="0" algn="l">
              <a:spcBef>
                <a:spcPts val="0"/>
              </a:spcBef>
              <a:spcAft>
                <a:spcPts val="0"/>
              </a:spcAft>
              <a:buNone/>
            </a:pPr>
            <a:r>
              <a:rPr lang="en" sz="2100">
                <a:highlight>
                  <a:srgbClr val="FFFFFF"/>
                </a:highlight>
                <a:latin typeface="Lato"/>
                <a:ea typeface="Lato"/>
                <a:cs typeface="Lato"/>
                <a:sym typeface="Lato"/>
              </a:rPr>
              <a:t>Will depend on: </a:t>
            </a:r>
            <a:endParaRPr sz="2100">
              <a:highlight>
                <a:srgbClr val="FFFFFF"/>
              </a:highlight>
              <a:latin typeface="Lato"/>
              <a:ea typeface="Lato"/>
              <a:cs typeface="Lato"/>
              <a:sym typeface="Lato"/>
            </a:endParaRPr>
          </a:p>
          <a:p>
            <a:pPr indent="0" lvl="0" marL="0" rtl="0" algn="l">
              <a:spcBef>
                <a:spcPts val="0"/>
              </a:spcBef>
              <a:spcAft>
                <a:spcPts val="0"/>
              </a:spcAft>
              <a:buNone/>
            </a:pPr>
            <a:r>
              <a:t/>
            </a:r>
            <a:endParaRPr sz="2100">
              <a:highlight>
                <a:srgbClr val="FFFFFF"/>
              </a:highlight>
              <a:latin typeface="Lato"/>
              <a:ea typeface="Lato"/>
              <a:cs typeface="Lato"/>
              <a:sym typeface="Lato"/>
            </a:endParaRPr>
          </a:p>
          <a:p>
            <a:pPr indent="-355600" lvl="1" marL="914400" rtl="0" algn="l">
              <a:spcBef>
                <a:spcPts val="0"/>
              </a:spcBef>
              <a:spcAft>
                <a:spcPts val="0"/>
              </a:spcAft>
              <a:buSzPts val="2000"/>
              <a:buFont typeface="Lato"/>
              <a:buChar char="○"/>
            </a:pPr>
            <a:r>
              <a:rPr lang="en" sz="2100">
                <a:highlight>
                  <a:srgbClr val="FFFFFF"/>
                </a:highlight>
                <a:latin typeface="Lato"/>
                <a:ea typeface="Lato"/>
                <a:cs typeface="Lato"/>
                <a:sym typeface="Lato"/>
              </a:rPr>
              <a:t>What </a:t>
            </a:r>
            <a:r>
              <a:rPr b="1" lang="en" sz="2100">
                <a:highlight>
                  <a:srgbClr val="FFFFFF"/>
                </a:highlight>
                <a:latin typeface="Lato"/>
                <a:ea typeface="Lato"/>
                <a:cs typeface="Lato"/>
                <a:sym typeface="Lato"/>
              </a:rPr>
              <a:t>k</a:t>
            </a:r>
            <a:r>
              <a:rPr b="1" lang="en" sz="2100">
                <a:highlight>
                  <a:srgbClr val="FFFFFF"/>
                </a:highlight>
                <a:latin typeface="Lato"/>
                <a:ea typeface="Lato"/>
                <a:cs typeface="Lato"/>
                <a:sym typeface="Lato"/>
              </a:rPr>
              <a:t>ind of AI model </a:t>
            </a:r>
            <a:r>
              <a:rPr lang="en" sz="2100">
                <a:highlight>
                  <a:srgbClr val="FFFFFF"/>
                </a:highlight>
                <a:latin typeface="Lato"/>
                <a:ea typeface="Lato"/>
                <a:cs typeface="Lato"/>
                <a:sym typeface="Lato"/>
              </a:rPr>
              <a:t>you </a:t>
            </a:r>
            <a:r>
              <a:rPr lang="en" sz="2100">
                <a:highlight>
                  <a:srgbClr val="FFFFFF"/>
                </a:highlight>
                <a:latin typeface="Lato"/>
                <a:ea typeface="Lato"/>
                <a:cs typeface="Lato"/>
                <a:sym typeface="Lato"/>
              </a:rPr>
              <a:t>have</a:t>
            </a:r>
            <a:r>
              <a:rPr lang="en" sz="2100">
                <a:highlight>
                  <a:srgbClr val="FFFFFF"/>
                </a:highlight>
                <a:latin typeface="Lato"/>
                <a:ea typeface="Lato"/>
                <a:cs typeface="Lato"/>
                <a:sym typeface="Lato"/>
              </a:rPr>
              <a:t> – w</a:t>
            </a:r>
            <a:r>
              <a:rPr lang="en" sz="2100">
                <a:highlight>
                  <a:srgbClr val="FFFFFF"/>
                </a:highlight>
                <a:latin typeface="Lato"/>
                <a:ea typeface="Lato"/>
                <a:cs typeface="Lato"/>
                <a:sym typeface="Lato"/>
              </a:rPr>
              <a:t>hat kinds of “ground truth” you have available?</a:t>
            </a:r>
            <a:endParaRPr sz="2100">
              <a:highlight>
                <a:srgbClr val="FFFFFF"/>
              </a:highlight>
              <a:latin typeface="Lato"/>
              <a:ea typeface="Lato"/>
              <a:cs typeface="Lato"/>
              <a:sym typeface="Lato"/>
            </a:endParaRPr>
          </a:p>
          <a:p>
            <a:pPr indent="0" lvl="0" marL="914400" rtl="0" algn="l">
              <a:spcBef>
                <a:spcPts val="0"/>
              </a:spcBef>
              <a:spcAft>
                <a:spcPts val="0"/>
              </a:spcAft>
              <a:buNone/>
            </a:pPr>
            <a:r>
              <a:t/>
            </a:r>
            <a:endParaRPr sz="2100">
              <a:highlight>
                <a:srgbClr val="FFFFFF"/>
              </a:highlight>
              <a:latin typeface="Lato"/>
              <a:ea typeface="Lato"/>
              <a:cs typeface="Lato"/>
              <a:sym typeface="Lato"/>
            </a:endParaRPr>
          </a:p>
          <a:p>
            <a:pPr indent="-361950" lvl="1" marL="914400" rtl="0" algn="l">
              <a:spcBef>
                <a:spcPts val="0"/>
              </a:spcBef>
              <a:spcAft>
                <a:spcPts val="0"/>
              </a:spcAft>
              <a:buSzPts val="2100"/>
              <a:buFont typeface="Lato"/>
              <a:buChar char="○"/>
            </a:pPr>
            <a:r>
              <a:rPr lang="en" sz="2100">
                <a:highlight>
                  <a:srgbClr val="FFFFFF"/>
                </a:highlight>
                <a:latin typeface="Lato"/>
                <a:ea typeface="Lato"/>
                <a:cs typeface="Lato"/>
                <a:sym typeface="Lato"/>
              </a:rPr>
              <a:t>What your </a:t>
            </a:r>
            <a:r>
              <a:rPr b="1" lang="en" sz="2100">
                <a:highlight>
                  <a:srgbClr val="FFFFFF"/>
                </a:highlight>
                <a:latin typeface="Lato"/>
                <a:ea typeface="Lato"/>
                <a:cs typeface="Lato"/>
                <a:sym typeface="Lato"/>
              </a:rPr>
              <a:t>goals</a:t>
            </a:r>
            <a:r>
              <a:rPr lang="en" sz="2100">
                <a:highlight>
                  <a:srgbClr val="FFFFFF"/>
                </a:highlight>
                <a:latin typeface="Lato"/>
                <a:ea typeface="Lato"/>
                <a:cs typeface="Lato"/>
                <a:sym typeface="Lato"/>
              </a:rPr>
              <a:t> are – how do you define success for your AI tool?</a:t>
            </a:r>
            <a:endParaRPr sz="2100">
              <a:highlight>
                <a:srgbClr val="FFFFFF"/>
              </a:highlight>
              <a:latin typeface="Lato"/>
              <a:ea typeface="Lato"/>
              <a:cs typeface="Lato"/>
              <a:sym typeface="Lato"/>
            </a:endParaRPr>
          </a:p>
        </p:txBody>
      </p:sp>
      <p:sp>
        <p:nvSpPr>
          <p:cNvPr id="191" name="Google Shape;191;p20"/>
          <p:cNvSpPr txBox="1"/>
          <p:nvPr/>
        </p:nvSpPr>
        <p:spPr>
          <a:xfrm>
            <a:off x="0" y="4312200"/>
            <a:ext cx="914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endParaRPr/>
          </a:p>
          <a:p>
            <a:pPr indent="0" lvl="0" marL="0" rtl="0" algn="l">
              <a:spcBef>
                <a:spcPts val="0"/>
              </a:spcBef>
              <a:spcAft>
                <a:spcPts val="0"/>
              </a:spcAft>
              <a:buNone/>
            </a:pPr>
            <a:r>
              <a:rPr lang="en" u="sng">
                <a:solidFill>
                  <a:schemeClr val="hlink"/>
                </a:solidFill>
                <a:hlinkClick r:id="rId3"/>
              </a:rPr>
              <a:t>https://sloanreview.mit.edu/article/the-no-1-question-to-ask-when-evaluating-ai-tools/</a:t>
            </a:r>
            <a:r>
              <a:rPr lang="en"/>
              <a:t> </a:t>
            </a:r>
            <a:endParaRPr/>
          </a:p>
        </p:txBody>
      </p:sp>
      <p:sp>
        <p:nvSpPr>
          <p:cNvPr id="192" name="Google Shape;192;p20"/>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Metrics for AI models</a:t>
            </a:r>
            <a:endParaRPr sz="2800">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327200" y="539425"/>
            <a:ext cx="7925100" cy="354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100">
                <a:highlight>
                  <a:srgbClr val="FFFFFF"/>
                </a:highlight>
                <a:latin typeface="Lato"/>
                <a:ea typeface="Lato"/>
                <a:cs typeface="Lato"/>
                <a:sym typeface="Lato"/>
              </a:rPr>
              <a:t>There’s isn’t an agreed upon standard </a:t>
            </a:r>
            <a:r>
              <a:rPr i="1" lang="en" sz="2100">
                <a:highlight>
                  <a:srgbClr val="FFFFFF"/>
                </a:highlight>
                <a:latin typeface="Lato"/>
                <a:ea typeface="Lato"/>
                <a:cs typeface="Lato"/>
                <a:sym typeface="Lato"/>
              </a:rPr>
              <a:t>YET</a:t>
            </a:r>
            <a:endParaRPr i="1" sz="2100">
              <a:highlight>
                <a:srgbClr val="FFFFFF"/>
              </a:highlight>
              <a:latin typeface="Lato"/>
              <a:ea typeface="Lato"/>
              <a:cs typeface="Lato"/>
              <a:sym typeface="Lato"/>
            </a:endParaRPr>
          </a:p>
          <a:p>
            <a:pPr indent="0" lvl="0" marL="0" rtl="0" algn="l">
              <a:spcBef>
                <a:spcPts val="0"/>
              </a:spcBef>
              <a:spcAft>
                <a:spcPts val="0"/>
              </a:spcAft>
              <a:buNone/>
            </a:pPr>
            <a:r>
              <a:t/>
            </a:r>
            <a:endParaRPr i="1" sz="2100">
              <a:highlight>
                <a:srgbClr val="FFFFFF"/>
              </a:highlight>
              <a:latin typeface="Lato"/>
              <a:ea typeface="Lato"/>
              <a:cs typeface="Lato"/>
              <a:sym typeface="Lato"/>
            </a:endParaRPr>
          </a:p>
          <a:p>
            <a:pPr indent="0" lvl="0" marL="0" rtl="0" algn="l">
              <a:spcBef>
                <a:spcPts val="0"/>
              </a:spcBef>
              <a:spcAft>
                <a:spcPts val="0"/>
              </a:spcAft>
              <a:buNone/>
            </a:pPr>
            <a:r>
              <a:rPr lang="en" sz="2100">
                <a:highlight>
                  <a:srgbClr val="FFFFFF"/>
                </a:highlight>
                <a:latin typeface="Lato"/>
                <a:ea typeface="Lato"/>
                <a:cs typeface="Lato"/>
                <a:sym typeface="Lato"/>
              </a:rPr>
              <a:t>Example LLM metrics: </a:t>
            </a:r>
            <a:endParaRPr sz="2100">
              <a:highlight>
                <a:srgbClr val="FFFFFF"/>
              </a:highlight>
              <a:latin typeface="Lato"/>
              <a:ea typeface="Lato"/>
              <a:cs typeface="Lato"/>
              <a:sym typeface="Lato"/>
            </a:endParaRPr>
          </a:p>
          <a:p>
            <a:pPr indent="-355600" lvl="1" marL="914400" rtl="0" algn="l">
              <a:spcBef>
                <a:spcPts val="0"/>
              </a:spcBef>
              <a:spcAft>
                <a:spcPts val="0"/>
              </a:spcAft>
              <a:buSzPts val="2000"/>
              <a:buFont typeface="Lato"/>
              <a:buChar char="○"/>
            </a:pPr>
            <a:r>
              <a:rPr lang="en" sz="2000" u="sng">
                <a:solidFill>
                  <a:schemeClr val="hlink"/>
                </a:solidFill>
                <a:highlight>
                  <a:srgbClr val="FFFFFF"/>
                </a:highlight>
                <a:latin typeface="Lato"/>
                <a:ea typeface="Lato"/>
                <a:cs typeface="Lato"/>
                <a:sym typeface="Lato"/>
                <a:hlinkClick r:id="rId3"/>
              </a:rPr>
              <a:t>MOdel kNowledge relIabiliTy scORe (MONITOR)</a:t>
            </a:r>
            <a:endParaRPr sz="2000">
              <a:highlight>
                <a:srgbClr val="FFFFFF"/>
              </a:highlight>
              <a:latin typeface="Lato"/>
              <a:ea typeface="Lato"/>
              <a:cs typeface="Lato"/>
              <a:sym typeface="Lato"/>
            </a:endParaRPr>
          </a:p>
          <a:p>
            <a:pPr indent="-355600" lvl="1" marL="914400" rtl="0" algn="l">
              <a:spcBef>
                <a:spcPts val="0"/>
              </a:spcBef>
              <a:spcAft>
                <a:spcPts val="0"/>
              </a:spcAft>
              <a:buSzPts val="2000"/>
              <a:buFont typeface="Lato"/>
              <a:buChar char="○"/>
            </a:pPr>
            <a:r>
              <a:rPr lang="en" sz="2000" u="sng">
                <a:solidFill>
                  <a:schemeClr val="hlink"/>
                </a:solidFill>
                <a:highlight>
                  <a:srgbClr val="FFFFFF"/>
                </a:highlight>
                <a:latin typeface="Lato"/>
                <a:ea typeface="Lato"/>
                <a:cs typeface="Lato"/>
                <a:sym typeface="Lato"/>
                <a:hlinkClick r:id="rId4"/>
              </a:rPr>
              <a:t>google/BIG-bench</a:t>
            </a:r>
            <a:endParaRPr sz="2000">
              <a:highlight>
                <a:srgbClr val="FFFFFF"/>
              </a:highlight>
              <a:latin typeface="Lato"/>
              <a:ea typeface="Lato"/>
              <a:cs typeface="Lato"/>
              <a:sym typeface="Lato"/>
            </a:endParaRPr>
          </a:p>
          <a:p>
            <a:pPr indent="-355600" lvl="1" marL="914400" rtl="0" algn="l">
              <a:spcBef>
                <a:spcPts val="0"/>
              </a:spcBef>
              <a:spcAft>
                <a:spcPts val="0"/>
              </a:spcAft>
              <a:buSzPts val="2000"/>
              <a:buFont typeface="Lato"/>
              <a:buChar char="○"/>
            </a:pPr>
            <a:r>
              <a:rPr lang="en" sz="2000" u="sng">
                <a:solidFill>
                  <a:schemeClr val="hlink"/>
                </a:solidFill>
                <a:latin typeface="Lato"/>
                <a:ea typeface="Lato"/>
                <a:cs typeface="Lato"/>
                <a:sym typeface="Lato"/>
                <a:hlinkClick r:id="rId5"/>
              </a:rPr>
              <a:t>GLUE Benchmark</a:t>
            </a:r>
            <a:r>
              <a:rPr lang="en" sz="2000">
                <a:latin typeface="Lato"/>
                <a:ea typeface="Lato"/>
                <a:cs typeface="Lato"/>
                <a:sym typeface="Lato"/>
              </a:rPr>
              <a:t> </a:t>
            </a:r>
            <a:endParaRPr sz="2000">
              <a:latin typeface="Lato"/>
              <a:ea typeface="Lato"/>
              <a:cs typeface="Lato"/>
              <a:sym typeface="Lato"/>
            </a:endParaRPr>
          </a:p>
          <a:p>
            <a:pPr indent="-355600" lvl="1" marL="914400" rtl="0" algn="l">
              <a:spcBef>
                <a:spcPts val="0"/>
              </a:spcBef>
              <a:spcAft>
                <a:spcPts val="0"/>
              </a:spcAft>
              <a:buSzPts val="2000"/>
              <a:buFont typeface="Lato"/>
              <a:buChar char="○"/>
            </a:pPr>
            <a:r>
              <a:rPr lang="en" sz="2000" u="sng">
                <a:solidFill>
                  <a:schemeClr val="hlink"/>
                </a:solidFill>
                <a:highlight>
                  <a:srgbClr val="FFFFFF"/>
                </a:highlight>
                <a:latin typeface="Lato"/>
                <a:ea typeface="Lato"/>
                <a:cs typeface="Lato"/>
                <a:sym typeface="Lato"/>
                <a:hlinkClick r:id="rId6"/>
              </a:rPr>
              <a:t>Measuring Massive Multitask Language Understanding </a:t>
            </a:r>
            <a:r>
              <a:rPr lang="en" sz="2000">
                <a:highlight>
                  <a:srgbClr val="FFFFFF"/>
                </a:highlight>
                <a:latin typeface="Lato"/>
                <a:ea typeface="Lato"/>
                <a:cs typeface="Lato"/>
                <a:sym typeface="Lato"/>
              </a:rPr>
              <a:t> </a:t>
            </a:r>
            <a:endParaRPr sz="2000">
              <a:highlight>
                <a:srgbClr val="FFFFFF"/>
              </a:highlight>
              <a:latin typeface="Lato"/>
              <a:ea typeface="Lato"/>
              <a:cs typeface="Lato"/>
              <a:sym typeface="Lato"/>
            </a:endParaRPr>
          </a:p>
        </p:txBody>
      </p:sp>
      <p:sp>
        <p:nvSpPr>
          <p:cNvPr id="198" name="Google Shape;198;p21"/>
          <p:cNvSpPr txBox="1"/>
          <p:nvPr/>
        </p:nvSpPr>
        <p:spPr>
          <a:xfrm>
            <a:off x="0" y="4312200"/>
            <a:ext cx="914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endParaRPr/>
          </a:p>
          <a:p>
            <a:pPr indent="0" lvl="0" marL="0" rtl="0" algn="l">
              <a:spcBef>
                <a:spcPts val="0"/>
              </a:spcBef>
              <a:spcAft>
                <a:spcPts val="0"/>
              </a:spcAft>
              <a:buNone/>
            </a:pPr>
            <a:r>
              <a:rPr lang="en" u="sng">
                <a:solidFill>
                  <a:schemeClr val="hlink"/>
                </a:solidFill>
                <a:hlinkClick r:id="rId7"/>
              </a:rPr>
              <a:t>https://www.analyticsvidhya.com/blog/2023/05/how-to-evaluate-a-large-language-model-llm/</a:t>
            </a:r>
            <a:r>
              <a:rPr lang="en"/>
              <a:t> </a:t>
            </a:r>
            <a:endParaRPr/>
          </a:p>
        </p:txBody>
      </p:sp>
      <p:sp>
        <p:nvSpPr>
          <p:cNvPr id="199" name="Google Shape;199;p21"/>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Metrics for </a:t>
            </a:r>
            <a:r>
              <a:rPr b="1" lang="en" sz="2800">
                <a:latin typeface="Montserrat"/>
                <a:ea typeface="Montserrat"/>
                <a:cs typeface="Montserrat"/>
                <a:sym typeface="Montserrat"/>
              </a:rPr>
              <a:t>LLM </a:t>
            </a:r>
            <a:r>
              <a:rPr lang="en" sz="2800">
                <a:latin typeface="Montserrat"/>
                <a:ea typeface="Montserrat"/>
                <a:cs typeface="Montserrat"/>
                <a:sym typeface="Montserrat"/>
              </a:rPr>
              <a:t>accuracy</a:t>
            </a:r>
            <a:endParaRPr sz="2800">
              <a:solidFill>
                <a:srgbClr val="000000"/>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823850" y="1001775"/>
            <a:ext cx="7709400" cy="3543600"/>
          </a:xfrm>
          <a:prstGeom prst="rect">
            <a:avLst/>
          </a:prstGeom>
        </p:spPr>
        <p:txBody>
          <a:bodyPr anchorCtr="0" anchor="ctr" bIns="91425" lIns="91425" spcFirstLastPara="1" rIns="91425" wrap="square" tIns="91425">
            <a:normAutofit/>
          </a:bodyPr>
          <a:lstStyle/>
          <a:p>
            <a:pPr indent="-361950" lvl="0" marL="457200" rtl="0" algn="l">
              <a:lnSpc>
                <a:spcPct val="115000"/>
              </a:lnSpc>
              <a:spcBef>
                <a:spcPts val="0"/>
              </a:spcBef>
              <a:spcAft>
                <a:spcPts val="0"/>
              </a:spcAft>
              <a:buSzPts val="2100"/>
              <a:buFont typeface="Lato"/>
              <a:buChar char="●"/>
            </a:pPr>
            <a:r>
              <a:rPr lang="en" sz="2100">
                <a:solidFill>
                  <a:srgbClr val="111111"/>
                </a:solidFill>
                <a:highlight>
                  <a:srgbClr val="FFFFFF"/>
                </a:highlight>
                <a:latin typeface="Lato"/>
                <a:ea typeface="Lato"/>
                <a:cs typeface="Lato"/>
                <a:sym typeface="Lato"/>
              </a:rPr>
              <a:t>Average time per job - How much time </a:t>
            </a:r>
            <a:endParaRPr sz="2100">
              <a:solidFill>
                <a:srgbClr val="111111"/>
              </a:solidFill>
              <a:highlight>
                <a:srgbClr val="FFFFFF"/>
              </a:highlight>
              <a:latin typeface="Lato"/>
              <a:ea typeface="Lato"/>
              <a:cs typeface="Lato"/>
              <a:sym typeface="Lato"/>
            </a:endParaRPr>
          </a:p>
          <a:p>
            <a:pPr indent="-361950" lvl="0" marL="457200" rtl="0" algn="l">
              <a:lnSpc>
                <a:spcPct val="115000"/>
              </a:lnSpc>
              <a:spcBef>
                <a:spcPts val="0"/>
              </a:spcBef>
              <a:spcAft>
                <a:spcPts val="0"/>
              </a:spcAft>
              <a:buClr>
                <a:srgbClr val="111111"/>
              </a:buClr>
              <a:buSzPts val="2100"/>
              <a:buFont typeface="Lato"/>
              <a:buChar char="●"/>
            </a:pPr>
            <a:r>
              <a:rPr lang="en" sz="2100">
                <a:solidFill>
                  <a:srgbClr val="111111"/>
                </a:solidFill>
                <a:highlight>
                  <a:srgbClr val="FFFFFF"/>
                </a:highlight>
                <a:latin typeface="Lato"/>
                <a:ea typeface="Lato"/>
                <a:cs typeface="Lato"/>
                <a:sym typeface="Lato"/>
              </a:rPr>
              <a:t>Capacity - Total jobs that can be run at once</a:t>
            </a:r>
            <a:endParaRPr sz="2100">
              <a:solidFill>
                <a:srgbClr val="111111"/>
              </a:solidFill>
              <a:highlight>
                <a:srgbClr val="FFFFFF"/>
              </a:highlight>
              <a:latin typeface="Lato"/>
              <a:ea typeface="Lato"/>
              <a:cs typeface="Lato"/>
              <a:sym typeface="Lato"/>
            </a:endParaRPr>
          </a:p>
          <a:p>
            <a:pPr indent="-361950" lvl="0" marL="457200" rtl="0" algn="l">
              <a:lnSpc>
                <a:spcPct val="115000"/>
              </a:lnSpc>
              <a:spcBef>
                <a:spcPts val="0"/>
              </a:spcBef>
              <a:spcAft>
                <a:spcPts val="0"/>
              </a:spcAft>
              <a:buSzPts val="2100"/>
              <a:buFont typeface="Lato"/>
              <a:buChar char="●"/>
            </a:pPr>
            <a:r>
              <a:rPr lang="en" sz="2100">
                <a:solidFill>
                  <a:srgbClr val="111111"/>
                </a:solidFill>
                <a:highlight>
                  <a:srgbClr val="FFFFFF"/>
                </a:highlight>
                <a:latin typeface="Lato"/>
                <a:ea typeface="Lato"/>
                <a:cs typeface="Lato"/>
                <a:sym typeface="Lato"/>
              </a:rPr>
              <a:t>FLOPs (Floating Point Operations) - </a:t>
            </a:r>
            <a:r>
              <a:rPr lang="en" sz="1350">
                <a:solidFill>
                  <a:srgbClr val="111111"/>
                </a:solidFill>
                <a:highlight>
                  <a:srgbClr val="FFFFFF"/>
                </a:highlight>
                <a:latin typeface="Open Sans"/>
                <a:ea typeface="Open Sans"/>
                <a:cs typeface="Open Sans"/>
                <a:sym typeface="Open Sans"/>
              </a:rPr>
              <a:t>measure the computational cost or complexity of a model or calculation</a:t>
            </a:r>
            <a:endParaRPr sz="2100">
              <a:latin typeface="Lato"/>
              <a:ea typeface="Lato"/>
              <a:cs typeface="Lato"/>
              <a:sym typeface="Lato"/>
            </a:endParaRPr>
          </a:p>
        </p:txBody>
      </p:sp>
      <p:sp>
        <p:nvSpPr>
          <p:cNvPr id="205" name="Google Shape;205;p22"/>
          <p:cNvSpPr txBox="1"/>
          <p:nvPr/>
        </p:nvSpPr>
        <p:spPr>
          <a:xfrm>
            <a:off x="0" y="431220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Sources:</a:t>
            </a:r>
            <a:endParaRPr/>
          </a:p>
          <a:p>
            <a:pPr indent="0" lvl="0" marL="0" rtl="0" algn="l">
              <a:spcBef>
                <a:spcPts val="0"/>
              </a:spcBef>
              <a:spcAft>
                <a:spcPts val="0"/>
              </a:spcAft>
              <a:buNone/>
            </a:pPr>
            <a:r>
              <a:rPr lang="en" u="sng">
                <a:solidFill>
                  <a:schemeClr val="hlink"/>
                </a:solidFill>
                <a:hlinkClick r:id="rId3"/>
              </a:rPr>
              <a:t>https://www.kdnuggets.com/2023/06/calculate-computational-efficiency-deep-learning-models-flops-macs.html</a:t>
            </a:r>
            <a:endParaRPr/>
          </a:p>
          <a:p>
            <a:pPr indent="0" lvl="0" marL="0" rtl="0" algn="l">
              <a:spcBef>
                <a:spcPts val="0"/>
              </a:spcBef>
              <a:spcAft>
                <a:spcPts val="0"/>
              </a:spcAft>
              <a:buNone/>
            </a:pPr>
            <a:r>
              <a:rPr lang="en" u="sng">
                <a:solidFill>
                  <a:schemeClr val="hlink"/>
                </a:solidFill>
                <a:hlinkClick r:id="rId4"/>
              </a:rPr>
              <a:t>https://www.cs.umd.edu/~meesh/411/CA-online/chapter/performance-metrics/index.html</a:t>
            </a:r>
            <a:r>
              <a:rPr lang="en"/>
              <a:t> </a:t>
            </a:r>
            <a:endParaRPr/>
          </a:p>
        </p:txBody>
      </p:sp>
      <p:sp>
        <p:nvSpPr>
          <p:cNvPr id="206" name="Google Shape;206;p22"/>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Metrics for </a:t>
            </a:r>
            <a:r>
              <a:rPr b="1" lang="en" sz="2800">
                <a:latin typeface="Montserrat"/>
                <a:ea typeface="Montserrat"/>
                <a:cs typeface="Montserrat"/>
                <a:sym typeface="Montserrat"/>
              </a:rPr>
              <a:t>computational</a:t>
            </a:r>
            <a:r>
              <a:rPr b="1" lang="en" sz="2800">
                <a:latin typeface="Montserrat"/>
                <a:ea typeface="Montserrat"/>
                <a:cs typeface="Montserrat"/>
                <a:sym typeface="Montserrat"/>
              </a:rPr>
              <a:t> efficiency</a:t>
            </a:r>
            <a:endParaRPr b="1" sz="2800">
              <a:solidFill>
                <a:srgbClr val="000000"/>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823850" y="866775"/>
            <a:ext cx="7699800" cy="3521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a:p>
            <a:pPr indent="-375920" lvl="0" marL="457200" rtl="0" algn="l">
              <a:spcBef>
                <a:spcPts val="0"/>
              </a:spcBef>
              <a:spcAft>
                <a:spcPts val="0"/>
              </a:spcAft>
              <a:buSzPct val="100000"/>
              <a:buFont typeface="Lato"/>
              <a:buChar char="●"/>
            </a:pPr>
            <a:r>
              <a:rPr lang="en" sz="2577">
                <a:latin typeface="Lato"/>
                <a:ea typeface="Lato"/>
                <a:cs typeface="Lato"/>
                <a:sym typeface="Lato"/>
              </a:rPr>
              <a:t>Decide what features of your AI tool you’d like to get feedback on </a:t>
            </a:r>
            <a:endParaRPr sz="2577">
              <a:latin typeface="Lato"/>
              <a:ea typeface="Lato"/>
              <a:cs typeface="Lato"/>
              <a:sym typeface="Lato"/>
            </a:endParaRPr>
          </a:p>
          <a:p>
            <a:pPr indent="-375920" lvl="0" marL="457200" rtl="0" algn="l">
              <a:spcBef>
                <a:spcPts val="0"/>
              </a:spcBef>
              <a:spcAft>
                <a:spcPts val="0"/>
              </a:spcAft>
              <a:buSzPct val="100000"/>
              <a:buFont typeface="Lato"/>
              <a:buChar char="●"/>
            </a:pPr>
            <a:r>
              <a:rPr lang="en" sz="2577">
                <a:latin typeface="Lato"/>
                <a:ea typeface="Lato"/>
                <a:cs typeface="Lato"/>
                <a:sym typeface="Lato"/>
              </a:rPr>
              <a:t>Write a script for usability testing </a:t>
            </a:r>
            <a:endParaRPr sz="2577">
              <a:latin typeface="Lato"/>
              <a:ea typeface="Lato"/>
              <a:cs typeface="Lato"/>
              <a:sym typeface="Lato"/>
            </a:endParaRPr>
          </a:p>
          <a:p>
            <a:pPr indent="-375920" lvl="0" marL="457200" rtl="0" algn="l">
              <a:spcBef>
                <a:spcPts val="0"/>
              </a:spcBef>
              <a:spcAft>
                <a:spcPts val="0"/>
              </a:spcAft>
              <a:buSzPct val="100000"/>
              <a:buFont typeface="Lato"/>
              <a:buChar char="●"/>
            </a:pPr>
            <a:r>
              <a:rPr lang="en" sz="2577">
                <a:latin typeface="Lato"/>
                <a:ea typeface="Lato"/>
                <a:cs typeface="Lato"/>
                <a:sym typeface="Lato"/>
              </a:rPr>
              <a:t>Watch </a:t>
            </a:r>
            <a:r>
              <a:rPr lang="en" sz="2577" u="sng">
                <a:solidFill>
                  <a:schemeClr val="hlink"/>
                </a:solidFill>
                <a:latin typeface="Lato"/>
                <a:ea typeface="Lato"/>
                <a:cs typeface="Lato"/>
                <a:sym typeface="Lato"/>
                <a:hlinkClick r:id="rId3"/>
              </a:rPr>
              <a:t>3 - 5 people</a:t>
            </a:r>
            <a:r>
              <a:rPr lang="en" sz="2577">
                <a:latin typeface="Lato"/>
                <a:ea typeface="Lato"/>
                <a:cs typeface="Lato"/>
                <a:sym typeface="Lato"/>
              </a:rPr>
              <a:t> try to do the task </a:t>
            </a:r>
            <a:endParaRPr sz="2577">
              <a:latin typeface="Lato"/>
              <a:ea typeface="Lato"/>
              <a:cs typeface="Lato"/>
              <a:sym typeface="Lato"/>
            </a:endParaRPr>
          </a:p>
          <a:p>
            <a:pPr indent="-375920" lvl="0" marL="457200" rtl="0" algn="l">
              <a:spcBef>
                <a:spcPts val="0"/>
              </a:spcBef>
              <a:spcAft>
                <a:spcPts val="0"/>
              </a:spcAft>
              <a:buSzPct val="100000"/>
              <a:buFont typeface="Lato"/>
              <a:buChar char="●"/>
            </a:pPr>
            <a:r>
              <a:rPr lang="en" sz="2577">
                <a:latin typeface="Lato"/>
                <a:ea typeface="Lato"/>
                <a:cs typeface="Lato"/>
                <a:sym typeface="Lato"/>
              </a:rPr>
              <a:t>Observe and take notes on what was tricky</a:t>
            </a:r>
            <a:endParaRPr sz="2577">
              <a:latin typeface="Lato"/>
              <a:ea typeface="Lato"/>
              <a:cs typeface="Lato"/>
              <a:sym typeface="Lato"/>
            </a:endParaRPr>
          </a:p>
          <a:p>
            <a:pPr indent="-375920" lvl="0" marL="457200" rtl="0" algn="l">
              <a:spcBef>
                <a:spcPts val="0"/>
              </a:spcBef>
              <a:spcAft>
                <a:spcPts val="0"/>
              </a:spcAft>
              <a:buSzPct val="100000"/>
              <a:buFont typeface="Lato"/>
              <a:buChar char="●"/>
            </a:pPr>
            <a:r>
              <a:rPr lang="en" sz="2577">
                <a:latin typeface="Lato"/>
                <a:ea typeface="Lato"/>
                <a:cs typeface="Lato"/>
                <a:sym typeface="Lato"/>
              </a:rPr>
              <a:t>Ask questions!</a:t>
            </a:r>
            <a:endParaRPr sz="2577">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2" name="Google Shape;212;p23"/>
          <p:cNvSpPr txBox="1"/>
          <p:nvPr/>
        </p:nvSpPr>
        <p:spPr>
          <a:xfrm>
            <a:off x="0" y="4702625"/>
            <a:ext cx="85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a:t>https://uxstudioteam.com/ux-blog/usability-testing/</a:t>
            </a:r>
            <a:endParaRPr/>
          </a:p>
        </p:txBody>
      </p:sp>
      <p:sp>
        <p:nvSpPr>
          <p:cNvPr id="213" name="Google Shape;213;p23"/>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Usability testing 101</a:t>
            </a:r>
            <a:endParaRPr sz="2800">
              <a:solidFill>
                <a:srgbClr val="00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94850" y="692100"/>
            <a:ext cx="9049200" cy="3543600"/>
          </a:xfrm>
          <a:prstGeom prst="rect">
            <a:avLst/>
          </a:prstGeom>
        </p:spPr>
        <p:txBody>
          <a:bodyPr anchorCtr="0" anchor="ctr" bIns="91425" lIns="91425" spcFirstLastPara="1" rIns="91425" wrap="square" tIns="91425">
            <a:normAutofit/>
          </a:bodyPr>
          <a:lstStyle/>
          <a:p>
            <a:pPr indent="-355600" lvl="0" marL="457200" rtl="0" algn="l">
              <a:spcBef>
                <a:spcPts val="0"/>
              </a:spcBef>
              <a:spcAft>
                <a:spcPts val="0"/>
              </a:spcAft>
              <a:buSzPts val="2000"/>
              <a:buFont typeface="Lato"/>
              <a:buChar char="●"/>
            </a:pPr>
            <a:r>
              <a:rPr b="1" lang="en" sz="2000">
                <a:highlight>
                  <a:srgbClr val="FFFFFF"/>
                </a:highlight>
                <a:latin typeface="Lato"/>
                <a:ea typeface="Lato"/>
                <a:cs typeface="Lato"/>
                <a:sym typeface="Lato"/>
              </a:rPr>
              <a:t>Success rate </a:t>
            </a:r>
            <a:r>
              <a:rPr lang="en" sz="2000">
                <a:highlight>
                  <a:srgbClr val="FFFFFF"/>
                </a:highlight>
                <a:latin typeface="Lato"/>
                <a:ea typeface="Lato"/>
                <a:cs typeface="Lato"/>
                <a:sym typeface="Lato"/>
              </a:rPr>
              <a:t>- how many users were able to successfully </a:t>
            </a:r>
            <a:r>
              <a:rPr lang="en" sz="2000">
                <a:highlight>
                  <a:srgbClr val="FFFFFF"/>
                </a:highlight>
                <a:latin typeface="Lato"/>
                <a:ea typeface="Lato"/>
                <a:cs typeface="Lato"/>
                <a:sym typeface="Lato"/>
              </a:rPr>
              <a:t>complete</a:t>
            </a:r>
            <a:r>
              <a:rPr lang="en" sz="2000">
                <a:highlight>
                  <a:srgbClr val="FFFFFF"/>
                </a:highlight>
                <a:latin typeface="Lato"/>
                <a:ea typeface="Lato"/>
                <a:cs typeface="Lato"/>
                <a:sym typeface="Lato"/>
              </a:rPr>
              <a:t> the task?</a:t>
            </a:r>
            <a:endParaRPr sz="2000">
              <a:highlight>
                <a:srgbClr val="FFFFFF"/>
              </a:highlight>
              <a:latin typeface="Lato"/>
              <a:ea typeface="Lato"/>
              <a:cs typeface="Lato"/>
              <a:sym typeface="Lato"/>
            </a:endParaRPr>
          </a:p>
          <a:p>
            <a:pPr indent="0" lvl="0" marL="457200" rtl="0" algn="l">
              <a:spcBef>
                <a:spcPts val="0"/>
              </a:spcBef>
              <a:spcAft>
                <a:spcPts val="0"/>
              </a:spcAft>
              <a:buNone/>
            </a:pPr>
            <a:r>
              <a:t/>
            </a:r>
            <a:endParaRPr sz="2000">
              <a:highlight>
                <a:srgbClr val="FFFFFF"/>
              </a:highlight>
              <a:latin typeface="Lato"/>
              <a:ea typeface="Lato"/>
              <a:cs typeface="Lato"/>
              <a:sym typeface="Lato"/>
            </a:endParaRPr>
          </a:p>
          <a:p>
            <a:pPr indent="-355600" lvl="0" marL="457200" rtl="0" algn="l">
              <a:spcBef>
                <a:spcPts val="0"/>
              </a:spcBef>
              <a:spcAft>
                <a:spcPts val="0"/>
              </a:spcAft>
              <a:buSzPts val="2000"/>
              <a:buFont typeface="Lato"/>
              <a:buChar char="●"/>
            </a:pPr>
            <a:r>
              <a:rPr b="1" lang="en" sz="2000">
                <a:highlight>
                  <a:srgbClr val="FFFFFF"/>
                </a:highlight>
                <a:latin typeface="Lato"/>
                <a:ea typeface="Lato"/>
                <a:cs typeface="Lato"/>
                <a:sym typeface="Lato"/>
              </a:rPr>
              <a:t>Task time</a:t>
            </a:r>
            <a:r>
              <a:rPr lang="en" sz="2000">
                <a:highlight>
                  <a:srgbClr val="FFFFFF"/>
                </a:highlight>
                <a:latin typeface="Lato"/>
                <a:ea typeface="Lato"/>
                <a:cs typeface="Lato"/>
                <a:sym typeface="Lato"/>
              </a:rPr>
              <a:t> - how long does it take them to do </a:t>
            </a:r>
            <a:endParaRPr sz="2000">
              <a:highlight>
                <a:srgbClr val="FFFFFF"/>
              </a:highlight>
              <a:latin typeface="Lato"/>
              <a:ea typeface="Lato"/>
              <a:cs typeface="Lato"/>
              <a:sym typeface="Lato"/>
            </a:endParaRPr>
          </a:p>
          <a:p>
            <a:pPr indent="0" lvl="0" marL="457200" rtl="0" algn="l">
              <a:spcBef>
                <a:spcPts val="0"/>
              </a:spcBef>
              <a:spcAft>
                <a:spcPts val="0"/>
              </a:spcAft>
              <a:buNone/>
            </a:pPr>
            <a:r>
              <a:t/>
            </a:r>
            <a:endParaRPr sz="2000">
              <a:highlight>
                <a:srgbClr val="FFFFFF"/>
              </a:highlight>
              <a:latin typeface="Lato"/>
              <a:ea typeface="Lato"/>
              <a:cs typeface="Lato"/>
              <a:sym typeface="Lato"/>
            </a:endParaRPr>
          </a:p>
          <a:p>
            <a:pPr indent="-355600" lvl="0" marL="457200" rtl="0" algn="l">
              <a:spcBef>
                <a:spcPts val="0"/>
              </a:spcBef>
              <a:spcAft>
                <a:spcPts val="0"/>
              </a:spcAft>
              <a:buSzPts val="2000"/>
              <a:buFont typeface="Lato"/>
              <a:buChar char="●"/>
            </a:pPr>
            <a:r>
              <a:rPr b="1" lang="en" sz="2000">
                <a:highlight>
                  <a:srgbClr val="FFFFFF"/>
                </a:highlight>
                <a:latin typeface="Lato"/>
                <a:ea typeface="Lato"/>
                <a:cs typeface="Lato"/>
                <a:sym typeface="Lato"/>
              </a:rPr>
              <a:t>Net Promoter Score (NPS) </a:t>
            </a:r>
            <a:r>
              <a:rPr lang="en" sz="2000">
                <a:highlight>
                  <a:srgbClr val="FFFFFF"/>
                </a:highlight>
                <a:latin typeface="Lato"/>
                <a:ea typeface="Lato"/>
                <a:cs typeface="Lato"/>
                <a:sym typeface="Lato"/>
              </a:rPr>
              <a:t>- scale of 0 - 10 summarized stat to understand what percentage of users would actively recommend your tool to others. </a:t>
            </a:r>
            <a:endParaRPr sz="2000">
              <a:highlight>
                <a:srgbClr val="FFFFFF"/>
              </a:highlight>
              <a:latin typeface="Lato"/>
              <a:ea typeface="Lato"/>
              <a:cs typeface="Lato"/>
              <a:sym typeface="Lato"/>
            </a:endParaRPr>
          </a:p>
          <a:p>
            <a:pPr indent="0" lvl="0" marL="457200" rtl="0" algn="l">
              <a:spcBef>
                <a:spcPts val="0"/>
              </a:spcBef>
              <a:spcAft>
                <a:spcPts val="0"/>
              </a:spcAft>
              <a:buNone/>
            </a:pPr>
            <a:r>
              <a:t/>
            </a:r>
            <a:endParaRPr sz="2000">
              <a:highlight>
                <a:srgbClr val="FFFFFF"/>
              </a:highlight>
              <a:latin typeface="Lato"/>
              <a:ea typeface="Lato"/>
              <a:cs typeface="Lato"/>
              <a:sym typeface="Lato"/>
            </a:endParaRPr>
          </a:p>
          <a:p>
            <a:pPr indent="-355600" lvl="0" marL="457200" rtl="0" algn="l">
              <a:spcBef>
                <a:spcPts val="0"/>
              </a:spcBef>
              <a:spcAft>
                <a:spcPts val="0"/>
              </a:spcAft>
              <a:buSzPts val="2000"/>
              <a:buFont typeface="Lato"/>
              <a:buChar char="●"/>
            </a:pPr>
            <a:r>
              <a:rPr b="1" lang="en" sz="2000">
                <a:highlight>
                  <a:srgbClr val="FFFFFF"/>
                </a:highlight>
                <a:latin typeface="Lato"/>
                <a:ea typeface="Lato"/>
                <a:cs typeface="Lato"/>
                <a:sym typeface="Lato"/>
              </a:rPr>
              <a:t>Qualitative data and surveys</a:t>
            </a:r>
            <a:r>
              <a:rPr lang="en" sz="2000">
                <a:highlight>
                  <a:srgbClr val="FFFFFF"/>
                </a:highlight>
                <a:latin typeface="Lato"/>
                <a:ea typeface="Lato"/>
                <a:cs typeface="Lato"/>
                <a:sym typeface="Lato"/>
              </a:rPr>
              <a:t> - don’t underestimate the power of asking people their thoughts!</a:t>
            </a:r>
            <a:endParaRPr sz="2000">
              <a:highlight>
                <a:srgbClr val="FFFFFF"/>
              </a:highlight>
              <a:latin typeface="Lato"/>
              <a:ea typeface="Lato"/>
              <a:cs typeface="Lato"/>
              <a:sym typeface="Lato"/>
            </a:endParaRPr>
          </a:p>
        </p:txBody>
      </p:sp>
      <p:sp>
        <p:nvSpPr>
          <p:cNvPr id="219" name="Google Shape;219;p24"/>
          <p:cNvSpPr txBox="1"/>
          <p:nvPr/>
        </p:nvSpPr>
        <p:spPr>
          <a:xfrm>
            <a:off x="0" y="431220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3"/>
              </a:rPr>
              <a:t>https://www.linkedin.com/advice/3/how-do-you-measure-your-ai-systems-effectiveness#:~:text=The%20first%20step%20to%20measure,%2Dsquared%2C%20and%20so%20on</a:t>
            </a:r>
            <a:r>
              <a:rPr lang="en"/>
              <a:t>. </a:t>
            </a:r>
            <a:endParaRPr/>
          </a:p>
        </p:txBody>
      </p:sp>
      <p:sp>
        <p:nvSpPr>
          <p:cNvPr id="220" name="Google Shape;220;p24"/>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Examples of metrics for usability</a:t>
            </a:r>
            <a:endParaRPr sz="2800">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