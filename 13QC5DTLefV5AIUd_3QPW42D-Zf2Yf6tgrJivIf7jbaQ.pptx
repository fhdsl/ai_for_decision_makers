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965a5f7f0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965a5f7f0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a3e68cb5a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a3e68cb5a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61746" y="4517201"/>
            <a:ext cx="1147827" cy="50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29" name="Google Shape;29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" name="Google Shape;30;p3"/>
          <p:cNvPicPr preferRelativeResize="0"/>
          <p:nvPr/>
        </p:nvPicPr>
        <p:blipFill rotWithShape="1">
          <a:blip r:embed="rId2">
            <a:alphaModFix/>
          </a:blip>
          <a:srcRect b="0" l="22785" r="21708" t="0"/>
          <a:stretch/>
        </p:blipFill>
        <p:spPr>
          <a:xfrm>
            <a:off x="6786250" y="4589350"/>
            <a:ext cx="2040327" cy="46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33" name="Google Shape;33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" name="Google Shape;51;p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6" name="Google Shape;56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" name="Google Shape;58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60" name="Google Shape;6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4" name="Google Shape;64;p6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2"/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Fred Hutchinson Cancer Center Data Science Lab. </a:t>
            </a:r>
            <a:r>
              <a:rPr lang="en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5" name="Google Shape;6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67" name="Google Shape;6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8" name="Google Shape;6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72" name="Google Shape;72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7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74" name="Google Shape;74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5" name="Google Shape;75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9" name="Google Shape;79;p8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" name="Google Shape;81;p8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2" name="Google Shape;82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3" name="Google Shape;83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9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87" name="Google Shape;87;p9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9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9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9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9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9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9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9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9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9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9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9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9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9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0" name="Google Shape;110;p10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11" name="Google Shape;111;p10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grpSp>
        <p:nvGrpSpPr>
          <p:cNvPr id="112" name="Google Shape;112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13" name="Google Shape;113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11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17" name="Google Shape;117;p11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idx="1" type="body"/>
          </p:nvPr>
        </p:nvSpPr>
        <p:spPr>
          <a:xfrm>
            <a:off x="418425" y="46743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2">
  <p:cSld name="CAPTION_ONLY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418425" y="467432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24" name="Google Shape;124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" name="Google Shape;125;p12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6" name="Google Shape;12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2450" y="4791197"/>
            <a:ext cx="295975" cy="290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1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29" name="Google Shape;129;p1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1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1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1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1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1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" name="Google Shape;147;p13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48" name="Google Shape;148;p13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49" name="Google Shape;149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0" name="Google Shape;150;p13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6994000" y="4766875"/>
            <a:ext cx="192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hutchdatascience.org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pixabay.com/" TargetMode="External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/>
          <p:nvPr/>
        </p:nvSpPr>
        <p:spPr>
          <a:xfrm>
            <a:off x="478200" y="3739425"/>
            <a:ext cx="31071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478300" y="3739425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Data-Driven Decision Culture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5918300" y="1745050"/>
            <a:ext cx="22395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5"/>
          <p:cNvSpPr txBox="1"/>
          <p:nvPr/>
        </p:nvSpPr>
        <p:spPr>
          <a:xfrm>
            <a:off x="5918300" y="1745050"/>
            <a:ext cx="223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Innovation Leadership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5"/>
          <p:cNvSpPr txBox="1"/>
          <p:nvPr>
            <p:ph idx="1" type="body"/>
          </p:nvPr>
        </p:nvSpPr>
        <p:spPr>
          <a:xfrm>
            <a:off x="424750" y="4787275"/>
            <a:ext cx="6936000" cy="31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/>
              <a:t>Images from </a:t>
            </a:r>
            <a:r>
              <a:rPr lang="en" sz="1900" u="sng">
                <a:solidFill>
                  <a:schemeClr val="hlink"/>
                </a:solidFill>
                <a:hlinkClick r:id="rId3"/>
              </a:rPr>
              <a:t>https://pixabay.com/</a:t>
            </a:r>
            <a:r>
              <a:rPr lang="en" sz="1900"/>
              <a:t> </a:t>
            </a:r>
            <a:endParaRPr/>
          </a:p>
        </p:txBody>
      </p:sp>
      <p:pic>
        <p:nvPicPr>
          <p:cNvPr id="163" name="Google Shape;16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8338" y="2299926"/>
            <a:ext cx="1227325" cy="2027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5"/>
          <p:cNvSpPr txBox="1"/>
          <p:nvPr>
            <p:ph idx="4294967295" type="title"/>
          </p:nvPr>
        </p:nvSpPr>
        <p:spPr>
          <a:xfrm>
            <a:off x="243425" y="269900"/>
            <a:ext cx="44736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Motivation</a:t>
            </a:r>
            <a:endParaRPr sz="3400"/>
          </a:p>
        </p:txBody>
      </p:sp>
      <p:sp>
        <p:nvSpPr>
          <p:cNvPr id="165" name="Google Shape;165;p15"/>
          <p:cNvSpPr/>
          <p:nvPr/>
        </p:nvSpPr>
        <p:spPr>
          <a:xfrm>
            <a:off x="3225700" y="972150"/>
            <a:ext cx="26925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15"/>
          <p:cNvSpPr txBox="1"/>
          <p:nvPr/>
        </p:nvSpPr>
        <p:spPr>
          <a:xfrm>
            <a:off x="3225800" y="972150"/>
            <a:ext cx="26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Strategic Decision-Making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174100" y="2742225"/>
            <a:ext cx="17154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174200" y="2742225"/>
            <a:ext cx="1715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Risk Mitigation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85600" y="1745025"/>
            <a:ext cx="26925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685700" y="1745025"/>
            <a:ext cx="269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Efficiency and Experience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5959800" y="2742238"/>
            <a:ext cx="21564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2" name="Google Shape;172;p15"/>
          <p:cNvSpPr txBox="1"/>
          <p:nvPr/>
        </p:nvSpPr>
        <p:spPr>
          <a:xfrm>
            <a:off x="5959900" y="2742238"/>
            <a:ext cx="2156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Resource Allocation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5484450" y="3739413"/>
            <a:ext cx="3107100" cy="431100"/>
          </a:xfrm>
          <a:prstGeom prst="roundRect">
            <a:avLst>
              <a:gd fmla="val 16667" name="adj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5484450" y="3739413"/>
            <a:ext cx="3107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B212C"/>
                </a:solidFill>
                <a:latin typeface="Lato"/>
                <a:ea typeface="Lato"/>
                <a:cs typeface="Lato"/>
                <a:sym typeface="Lato"/>
              </a:rPr>
              <a:t>Communication with Tech Teams</a:t>
            </a:r>
            <a:endParaRPr sz="1600">
              <a:solidFill>
                <a:srgbClr val="1B212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>
            <a:off x="654350" y="781575"/>
            <a:ext cx="4923000" cy="2634600"/>
          </a:xfrm>
          <a:prstGeom prst="wedgeRoundRectCallout">
            <a:avLst>
              <a:gd fmla="val -19474" name="adj1"/>
              <a:gd fmla="val 63804" name="adj2"/>
              <a:gd fmla="val 0" name="adj3"/>
            </a:avLst>
          </a:prstGeom>
          <a:solidFill>
            <a:srgbClr val="FFB500">
              <a:alpha val="50000"/>
            </a:srgbClr>
          </a:solidFill>
          <a:ln cap="flat" cmpd="sng" w="38100">
            <a:solidFill>
              <a:srgbClr val="FFB5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0" name="Google Shape;180;p16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177"/>
              <a:t>I want to do the best work possible in today’s AI landscape!</a:t>
            </a:r>
            <a:endParaRPr sz="4177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1" name="Google Shape;1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8400" y="2899750"/>
            <a:ext cx="2146326" cy="182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1B365D"/>
      </a:accent1>
      <a:accent2>
        <a:srgbClr val="00C1D5"/>
      </a:accent2>
      <a:accent3>
        <a:srgbClr val="FFB500"/>
      </a:accent3>
      <a:accent4>
        <a:srgbClr val="AA4AC4"/>
      </a:accent4>
      <a:accent5>
        <a:srgbClr val="0A799A"/>
      </a:accent5>
      <a:accent6>
        <a:srgbClr val="F4F4F4"/>
      </a:accent6>
      <a:hlink>
        <a:srgbClr val="00C1D5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