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this video, we will examine what </a:t>
            </a:r>
            <a:r>
              <a:rPr lang="en">
                <a:solidFill>
                  <a:schemeClr val="dk1"/>
                </a:solidFill>
              </a:rPr>
              <a:t>Artificial Intelligence is, and what artificial intelligence is not. We will spend time developing a more careful definition of Artificial Intelligence that is realistic and captures what it is capable of.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cf1264c749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cf1264c749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Please feel free to use these resources as long as you credit us.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a68fa11a9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a68fa11a9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When people think about artificial intelligence, they often imagine robots acting just like humans. We worry about robots being smarter than us, or passing tests that make them seem just like people. In the film Two Thousand and One A Space Odyssey, a story warns us about a ship computer going rogue for its own interests.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cf1264c749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cf1264c749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Computers with human-like thinking are called artificial general intelligence, but we haven’t achieved that yet. Right now, our </a:t>
            </a:r>
            <a:r>
              <a:rPr lang="en">
                <a:solidFill>
                  <a:srgbClr val="333333"/>
                </a:solidFill>
              </a:rPr>
              <a:t>EHY EYE</a:t>
            </a:r>
            <a:r>
              <a:rPr lang="en"/>
              <a:t> works well for specific jobs, like recognizing voices or driving cars. But, it's not good at doing lots of different things at once. For example, an </a:t>
            </a:r>
            <a:r>
              <a:rPr lang="en">
                <a:solidFill>
                  <a:srgbClr val="333333"/>
                </a:solidFill>
              </a:rPr>
              <a:t>EHY EYE</a:t>
            </a:r>
            <a:r>
              <a:rPr lang="en"/>
              <a:t> that recognizes and responds to voice commands can't understand self driving car sensor data, and vice versa.</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a06e08bc6e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2a06e08bc6e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In the world of artificial intelligence, we often think about machines mimicking tasks like recognizing, learning, or solving. However, what's tricky is that once a task works well, it no longer feels like </a:t>
            </a:r>
            <a:r>
              <a:rPr lang="en">
                <a:solidFill>
                  <a:srgbClr val="333333"/>
                </a:solidFill>
              </a:rPr>
              <a:t>EHY EYE</a:t>
            </a:r>
            <a:r>
              <a:rPr lang="en"/>
              <a:t>. As John McCarthy, a pioneer in </a:t>
            </a:r>
            <a:r>
              <a:rPr lang="en">
                <a:solidFill>
                  <a:srgbClr val="333333"/>
                </a:solidFill>
              </a:rPr>
              <a:t>EHY EYE</a:t>
            </a:r>
            <a:r>
              <a:rPr lang="en"/>
              <a:t>, put it: "As soon as it works, no one calls it artificial intelligence anymore." So, our idea of what's considered </a:t>
            </a:r>
            <a:r>
              <a:rPr lang="en">
                <a:solidFill>
                  <a:srgbClr val="333333"/>
                </a:solidFill>
              </a:rPr>
              <a:t>EHY EYE</a:t>
            </a:r>
            <a:r>
              <a:rPr lang="en"/>
              <a:t> keeps changing as we make technology better.</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a162964683_1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2a162964683_1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instance, 20 years ago, the idea of an email spam checker was new. People were surprised that a computer could identify junk email accurately, and people called it “artificial intelligence”. Now that these kind of tools are commonplace, we no longer see them as</a:t>
            </a:r>
            <a:r>
              <a:rPr lang="en">
                <a:solidFill>
                  <a:schemeClr val="dk1"/>
                </a:solidFill>
              </a:rPr>
              <a:t> </a:t>
            </a:r>
            <a:r>
              <a:rPr lang="en">
                <a:solidFill>
                  <a:srgbClr val="333333"/>
                </a:solidFill>
              </a:rPr>
              <a:t>EHY EYE</a:t>
            </a:r>
            <a:r>
              <a:rPr lang="en"/>
              <a:t>. It's not considered intelligent as it's not learning something new and surprising.</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63dd3c9316_3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263dd3c9316_3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It is clear that we need a definition or EHY EYE that is concrete, specific, and doesn’t change with societal expectations. We believe that a sound Artificial Intelligence system is made out of three parts.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63dd3c9316_3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63dd3c9316_3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The first part is the </a:t>
            </a:r>
            <a:r>
              <a:rPr lang="en">
                <a:solidFill>
                  <a:schemeClr val="dk1"/>
                </a:solidFill>
              </a:rPr>
              <a:t>data set. We need data examples that can be used to train a statistical or machine learning model to make predictions.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63dd3c9316_3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263dd3c9316_3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The second part is the algorithm. We</a:t>
            </a:r>
            <a:r>
              <a:rPr lang="en">
                <a:solidFill>
                  <a:schemeClr val="dk1"/>
                </a:solidFill>
              </a:rPr>
              <a:t> need an algorithm that can be trained based on the data examples to take a new example and execute a human-like task. For instance, the algorithm learns which images has a cat from pre-labeled images. When given a new image from the user, it decides whether the image has a cat in it.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63dd3c9316_3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263dd3c9316_3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Lastly, we have the interface. We need a physical interface or software for the trained algorithm to receive a data input and execute the human-like task in the real world.</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263dd3c9316_3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263dd3c9316_3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As an example, consider Amazon Echo’s voice control device.</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263dd3c9316_3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263dd3c9316_3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 data set consists of customer voices talking to Amazon Echo or other devices.</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263dd3c9316_3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263dd3c9316_3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 algorithm is a machine learning algorithm that predicts what a new customer voice is asking it to do. Given human voice’s request, it may set a kitchen timer.</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63dd3c9316_3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263dd3c9316_3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Lastly, the interface, is a physical device with a microphone, speaker, and computer software running the algorithm and accessing the data. It is the part that will interact with humans.</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263dd3c9316_3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263dd3c9316_3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When the data, algorithm, and interface are put together and work well, we have an artificial intelligence system. This definition encompass artificial intelligence systems from email spam checkers to self-driving cars independently of societal expectations, and is specific enough that it captures realistic products we are inventing.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2a7d55680d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2a7d55680d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definition of artificial intelligence has shifted over time. We use the three part framework of data, algorithms, and interfaces to describe EHY EYE applications. You will need to consider specific technologies and whether they meet the criteria for being classified as EHY EYE using this framework. Adaptability and training with new data are key factors to keep in mind as we move further in the course.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creativecommons.org/licenses/by/4.0/" TargetMode="External"/><Relationship Id="rId3" Type="http://schemas.openxmlformats.org/officeDocument/2006/relationships/hyperlink" Target="https://creativecommons.org/licenses/by/4.0/" TargetMode="External"/><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0" y="490"/>
            <a:ext cx="5153705" cy="5134399"/>
            <a:chOff x="0" y="75"/>
            <a:chExt cx="5153705" cy="5152950"/>
          </a:xfrm>
        </p:grpSpPr>
        <p:sp>
          <p:nvSpPr>
            <p:cNvPr id="11" name="Google Shape;11;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646" y="-75"/>
              <a:ext cx="2299800" cy="23001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flipH="1">
              <a:off x="652821" y="590035"/>
              <a:ext cx="2300100" cy="2299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 name="Google Shape;15;p2"/>
          <p:cNvSpPr/>
          <p:nvPr/>
        </p:nvSpPr>
        <p:spPr>
          <a:xfrm rot="5400000">
            <a:off x="7500300" y="5"/>
            <a:ext cx="1643700" cy="1643700"/>
          </a:xfrm>
          <a:prstGeom prst="diagStripe">
            <a:avLst>
              <a:gd fmla="val 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4100"/>
              <a:buNone/>
              <a:defRPr sz="41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17" name="Google Shape;17;p2"/>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434343"/>
              </a:buClr>
              <a:buSzPts val="2800"/>
              <a:buNone/>
              <a:defRPr sz="2800">
                <a:solidFill>
                  <a:srgbClr val="434343"/>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9" name="Google Shape;19;p2"/>
          <p:cNvPicPr preferRelativeResize="0"/>
          <p:nvPr/>
        </p:nvPicPr>
        <p:blipFill>
          <a:blip r:embed="rId2">
            <a:alphaModFix/>
          </a:blip>
          <a:stretch>
            <a:fillRect/>
          </a:stretch>
        </p:blipFill>
        <p:spPr>
          <a:xfrm>
            <a:off x="7561746" y="4517201"/>
            <a:ext cx="1147827" cy="5061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1">
    <p:spTree>
      <p:nvGrpSpPr>
        <p:cNvPr id="20" name="Shape 20"/>
        <p:cNvGrpSpPr/>
        <p:nvPr/>
      </p:nvGrpSpPr>
      <p:grpSpPr>
        <a:xfrm>
          <a:off x="0" y="0"/>
          <a:ext cx="0" cy="0"/>
          <a:chOff x="0" y="0"/>
          <a:chExt cx="0" cy="0"/>
        </a:xfrm>
      </p:grpSpPr>
      <p:grpSp>
        <p:nvGrpSpPr>
          <p:cNvPr id="21" name="Google Shape;21;p3"/>
          <p:cNvGrpSpPr/>
          <p:nvPr/>
        </p:nvGrpSpPr>
        <p:grpSpPr>
          <a:xfrm>
            <a:off x="0" y="490"/>
            <a:ext cx="5153705" cy="5134399"/>
            <a:chOff x="0" y="75"/>
            <a:chExt cx="5153705" cy="5152950"/>
          </a:xfrm>
        </p:grpSpPr>
        <p:sp>
          <p:nvSpPr>
            <p:cNvPr id="22" name="Google Shape;22;p3"/>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5400000">
              <a:off x="1646" y="-75"/>
              <a:ext cx="2299800" cy="23001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flipH="1">
              <a:off x="652821" y="590035"/>
              <a:ext cx="2300100" cy="2299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p:nvPr/>
        </p:nvSpPr>
        <p:spPr>
          <a:xfrm rot="5400000">
            <a:off x="7500300" y="5"/>
            <a:ext cx="1643700" cy="1643700"/>
          </a:xfrm>
          <a:prstGeom prst="diagStripe">
            <a:avLst>
              <a:gd fmla="val 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4100"/>
              <a:buNone/>
              <a:defRPr sz="41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28" name="Google Shape;28;p3"/>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434343"/>
              </a:buClr>
              <a:buSzPts val="2800"/>
              <a:buNone/>
              <a:defRPr sz="2800">
                <a:solidFill>
                  <a:srgbClr val="434343"/>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29" name="Google Shape;29;p3"/>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30" name="Google Shape;30;p3"/>
          <p:cNvPicPr preferRelativeResize="0"/>
          <p:nvPr/>
        </p:nvPicPr>
        <p:blipFill rotWithShape="1">
          <a:blip r:embed="rId2">
            <a:alphaModFix/>
          </a:blip>
          <a:srcRect b="0" l="22785" r="21708" t="0"/>
          <a:stretch/>
        </p:blipFill>
        <p:spPr>
          <a:xfrm>
            <a:off x="6786250" y="4589350"/>
            <a:ext cx="2040327" cy="4615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grpSp>
        <p:nvGrpSpPr>
          <p:cNvPr id="32" name="Google Shape;32;p4"/>
          <p:cNvGrpSpPr/>
          <p:nvPr/>
        </p:nvGrpSpPr>
        <p:grpSpPr>
          <a:xfrm>
            <a:off x="4406400" y="0"/>
            <a:ext cx="4737600" cy="5143065"/>
            <a:chOff x="4406400" y="0"/>
            <a:chExt cx="4737600" cy="5143065"/>
          </a:xfrm>
        </p:grpSpPr>
        <p:sp>
          <p:nvSpPr>
            <p:cNvPr id="33" name="Google Shape;33;p4"/>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flipH="1">
              <a:off x="6908099" y="2069505"/>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rot="-5400000">
              <a:off x="7227414" y="3710807"/>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 name="Google Shape;51;p4"/>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 name="Google Shape;52;p4"/>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3" name="Google Shape;53;p4"/>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4" name="Shape 54"/>
        <p:cNvGrpSpPr/>
        <p:nvPr/>
      </p:nvGrpSpPr>
      <p:grpSpPr>
        <a:xfrm>
          <a:off x="0" y="0"/>
          <a:ext cx="0" cy="0"/>
          <a:chOff x="0" y="0"/>
          <a:chExt cx="0" cy="0"/>
        </a:xfrm>
      </p:grpSpPr>
      <p:grpSp>
        <p:nvGrpSpPr>
          <p:cNvPr id="55" name="Google Shape;55;p5"/>
          <p:cNvGrpSpPr/>
          <p:nvPr/>
        </p:nvGrpSpPr>
        <p:grpSpPr>
          <a:xfrm>
            <a:off x="0" y="381001"/>
            <a:ext cx="1037850" cy="1016287"/>
            <a:chOff x="0" y="381001"/>
            <a:chExt cx="1037850" cy="1016287"/>
          </a:xfrm>
        </p:grpSpPr>
        <p:sp>
          <p:nvSpPr>
            <p:cNvPr id="56" name="Google Shape;56;p5"/>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 name="Google Shape;58;p5"/>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900"/>
              <a:buNone/>
              <a:defRPr sz="2900"/>
            </a:lvl2pPr>
            <a:lvl3pPr lvl="2" rtl="0">
              <a:spcBef>
                <a:spcPts val="0"/>
              </a:spcBef>
              <a:spcAft>
                <a:spcPts val="0"/>
              </a:spcAft>
              <a:buSzPts val="2900"/>
              <a:buNone/>
              <a:defRPr sz="2900"/>
            </a:lvl3pPr>
            <a:lvl4pPr lvl="3" rtl="0">
              <a:spcBef>
                <a:spcPts val="0"/>
              </a:spcBef>
              <a:spcAft>
                <a:spcPts val="0"/>
              </a:spcAft>
              <a:buSzPts val="2900"/>
              <a:buNone/>
              <a:defRPr sz="2900"/>
            </a:lvl4pPr>
            <a:lvl5pPr lvl="4" rtl="0">
              <a:spcBef>
                <a:spcPts val="0"/>
              </a:spcBef>
              <a:spcAft>
                <a:spcPts val="0"/>
              </a:spcAft>
              <a:buSzPts val="2900"/>
              <a:buNone/>
              <a:defRPr sz="2900"/>
            </a:lvl5pPr>
            <a:lvl6pPr lvl="5" rtl="0">
              <a:spcBef>
                <a:spcPts val="0"/>
              </a:spcBef>
              <a:spcAft>
                <a:spcPts val="0"/>
              </a:spcAft>
              <a:buSzPts val="2900"/>
              <a:buNone/>
              <a:defRPr sz="2900"/>
            </a:lvl6pPr>
            <a:lvl7pPr lvl="6" rtl="0">
              <a:spcBef>
                <a:spcPts val="0"/>
              </a:spcBef>
              <a:spcAft>
                <a:spcPts val="0"/>
              </a:spcAft>
              <a:buSzPts val="2900"/>
              <a:buNone/>
              <a:defRPr sz="2900"/>
            </a:lvl7pPr>
            <a:lvl8pPr lvl="7" rtl="0">
              <a:spcBef>
                <a:spcPts val="0"/>
              </a:spcBef>
              <a:spcAft>
                <a:spcPts val="0"/>
              </a:spcAft>
              <a:buSzPts val="2900"/>
              <a:buNone/>
              <a:defRPr sz="2900"/>
            </a:lvl8pPr>
            <a:lvl9pPr lvl="8" rtl="0">
              <a:spcBef>
                <a:spcPts val="0"/>
              </a:spcBef>
              <a:spcAft>
                <a:spcPts val="0"/>
              </a:spcAft>
              <a:buSzPts val="2900"/>
              <a:buNone/>
              <a:defRPr sz="2900"/>
            </a:lvl9pPr>
          </a:lstStyle>
          <a:p/>
        </p:txBody>
      </p:sp>
      <p:sp>
        <p:nvSpPr>
          <p:cNvPr id="59" name="Google Shape;59;p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49250" lvl="0" marL="457200" rtl="0">
              <a:spcBef>
                <a:spcPts val="0"/>
              </a:spcBef>
              <a:spcAft>
                <a:spcPts val="0"/>
              </a:spcAft>
              <a:buSzPts val="1900"/>
              <a:buChar char="●"/>
              <a:defRPr sz="1900"/>
            </a:lvl1pPr>
            <a:lvl2pPr indent="-336550" lvl="1" marL="914400" rtl="0">
              <a:spcBef>
                <a:spcPts val="0"/>
              </a:spcBef>
              <a:spcAft>
                <a:spcPts val="0"/>
              </a:spcAft>
              <a:buSzPts val="1700"/>
              <a:buChar char="○"/>
              <a:defRPr sz="1700"/>
            </a:lvl2pPr>
            <a:lvl3pPr indent="-336550" lvl="2" marL="1371600" rtl="0">
              <a:spcBef>
                <a:spcPts val="0"/>
              </a:spcBef>
              <a:spcAft>
                <a:spcPts val="0"/>
              </a:spcAft>
              <a:buSzPts val="1700"/>
              <a:buChar char="■"/>
              <a:defRPr sz="1700"/>
            </a:lvl3pPr>
            <a:lvl4pPr indent="-336550" lvl="3" marL="1828800" rtl="0">
              <a:spcBef>
                <a:spcPts val="0"/>
              </a:spcBef>
              <a:spcAft>
                <a:spcPts val="0"/>
              </a:spcAft>
              <a:buSzPts val="1700"/>
              <a:buChar char="●"/>
              <a:defRPr sz="1700"/>
            </a:lvl4pPr>
            <a:lvl5pPr indent="-336550" lvl="4" marL="2286000" rtl="0">
              <a:spcBef>
                <a:spcPts val="0"/>
              </a:spcBef>
              <a:spcAft>
                <a:spcPts val="0"/>
              </a:spcAft>
              <a:buSzPts val="1700"/>
              <a:buChar char="○"/>
              <a:defRPr sz="1700"/>
            </a:lvl5pPr>
            <a:lvl6pPr indent="-336550" lvl="5" marL="2743200" rtl="0">
              <a:spcBef>
                <a:spcPts val="0"/>
              </a:spcBef>
              <a:spcAft>
                <a:spcPts val="0"/>
              </a:spcAft>
              <a:buSzPts val="1700"/>
              <a:buChar char="■"/>
              <a:defRPr sz="1700"/>
            </a:lvl6pPr>
            <a:lvl7pPr indent="-336550" lvl="6" marL="3200400" rtl="0">
              <a:spcBef>
                <a:spcPts val="0"/>
              </a:spcBef>
              <a:spcAft>
                <a:spcPts val="0"/>
              </a:spcAft>
              <a:buSzPts val="1700"/>
              <a:buChar char="●"/>
              <a:defRPr sz="1700"/>
            </a:lvl7pPr>
            <a:lvl8pPr indent="-336550" lvl="7" marL="3657600" rtl="0">
              <a:spcBef>
                <a:spcPts val="0"/>
              </a:spcBef>
              <a:spcAft>
                <a:spcPts val="0"/>
              </a:spcAft>
              <a:buSzPts val="1700"/>
              <a:buChar char="○"/>
              <a:defRPr sz="1700"/>
            </a:lvl8pPr>
            <a:lvl9pPr indent="-336550" lvl="8" marL="4114800" rtl="0">
              <a:spcBef>
                <a:spcPts val="0"/>
              </a:spcBef>
              <a:spcAft>
                <a:spcPts val="0"/>
              </a:spcAft>
              <a:buSzPts val="1700"/>
              <a:buChar char="■"/>
              <a:defRPr sz="1700"/>
            </a:lvl9pPr>
          </a:lstStyle>
          <a:p/>
        </p:txBody>
      </p:sp>
      <p:sp>
        <p:nvSpPr>
          <p:cNvPr id="60" name="Google Shape;60;p5"/>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1" name="Google Shape;61;p5"/>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2" name="Shape 62"/>
        <p:cNvGrpSpPr/>
        <p:nvPr/>
      </p:nvGrpSpPr>
      <p:grpSpPr>
        <a:xfrm>
          <a:off x="0" y="0"/>
          <a:ext cx="0" cy="0"/>
          <a:chOff x="0" y="0"/>
          <a:chExt cx="0" cy="0"/>
        </a:xfrm>
      </p:grpSpPr>
      <p:sp>
        <p:nvSpPr>
          <p:cNvPr id="63" name="Google Shape;63;p6"/>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64" name="Google Shape;64;p6"/>
          <p:cNvSpPr txBox="1"/>
          <p:nvPr/>
        </p:nvSpPr>
        <p:spPr>
          <a:xfrm>
            <a:off x="1409625" y="1455425"/>
            <a:ext cx="3739500" cy="291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Except where otherwise indicated, The contents of this slide presentation are available for use under the </a:t>
            </a:r>
            <a:r>
              <a:rPr lang="en" u="sng">
                <a:solidFill>
                  <a:schemeClr val="hlink"/>
                </a:solidFill>
                <a:latin typeface="Lato"/>
                <a:ea typeface="Lato"/>
                <a:cs typeface="Lato"/>
                <a:sym typeface="Lato"/>
                <a:hlinkClick r:id="rId2"/>
              </a:rPr>
              <a:t>Creative Commons Attribution 4.0 license</a:t>
            </a:r>
            <a:r>
              <a:rPr lang="en">
                <a:latin typeface="Lato"/>
                <a:ea typeface="Lato"/>
                <a:cs typeface="Lato"/>
                <a:sym typeface="Lato"/>
              </a:rPr>
              <a:t>.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You are free to adapt and share the work, but you must give appropriate credit, provide a link to the license, and indicate if changes were made.</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b="1" lang="en">
                <a:latin typeface="Lato"/>
                <a:ea typeface="Lato"/>
                <a:cs typeface="Lato"/>
                <a:sym typeface="Lato"/>
              </a:rPr>
              <a:t>Sample attribution: </a:t>
            </a:r>
            <a:r>
              <a:rPr lang="en">
                <a:latin typeface="Lato"/>
                <a:ea typeface="Lato"/>
                <a:cs typeface="Lato"/>
                <a:sym typeface="Lato"/>
              </a:rPr>
              <a:t>[Title of work] by Fred Hutchinson Cancer Center Data Science Lab. </a:t>
            </a:r>
            <a:r>
              <a:rPr lang="en" u="sng">
                <a:solidFill>
                  <a:schemeClr val="hlink"/>
                </a:solidFill>
                <a:latin typeface="Lato"/>
                <a:ea typeface="Lato"/>
                <a:cs typeface="Lato"/>
                <a:sym typeface="Lato"/>
                <a:hlinkClick r:id="rId3"/>
              </a:rPr>
              <a:t>CC-BY 4.0</a:t>
            </a:r>
            <a:endParaRPr>
              <a:latin typeface="Lato"/>
              <a:ea typeface="Lato"/>
              <a:cs typeface="Lato"/>
              <a:sym typeface="Lato"/>
            </a:endParaRPr>
          </a:p>
        </p:txBody>
      </p:sp>
      <p:pic>
        <p:nvPicPr>
          <p:cNvPr id="65" name="Google Shape;65;p6"/>
          <p:cNvPicPr preferRelativeResize="0"/>
          <p:nvPr/>
        </p:nvPicPr>
        <p:blipFill>
          <a:blip r:embed="rId4">
            <a:alphaModFix/>
          </a:blip>
          <a:stretch>
            <a:fillRect/>
          </a:stretch>
        </p:blipFill>
        <p:spPr>
          <a:xfrm>
            <a:off x="5981726" y="2173675"/>
            <a:ext cx="2275450" cy="796150"/>
          </a:xfrm>
          <a:prstGeom prst="rect">
            <a:avLst/>
          </a:prstGeom>
          <a:noFill/>
          <a:ln>
            <a:noFill/>
          </a:ln>
        </p:spPr>
      </p:pic>
      <p:sp>
        <p:nvSpPr>
          <p:cNvPr id="66" name="Google Shape;66;p6"/>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67" name="Google Shape;67;p6"/>
          <p:cNvGrpSpPr/>
          <p:nvPr/>
        </p:nvGrpSpPr>
        <p:grpSpPr>
          <a:xfrm>
            <a:off x="0" y="381001"/>
            <a:ext cx="1037850" cy="1016287"/>
            <a:chOff x="0" y="381001"/>
            <a:chExt cx="1037850" cy="1016287"/>
          </a:xfrm>
        </p:grpSpPr>
        <p:sp>
          <p:nvSpPr>
            <p:cNvPr id="68" name="Google Shape;68;p6"/>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6"/>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7"/>
          <p:cNvSpPr txBox="1"/>
          <p:nvPr>
            <p:ph type="title"/>
          </p:nvPr>
        </p:nvSpPr>
        <p:spPr>
          <a:xfrm>
            <a:off x="1297500" y="393750"/>
            <a:ext cx="78072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p:txBody>
      </p:sp>
      <p:sp>
        <p:nvSpPr>
          <p:cNvPr id="72" name="Google Shape;72;p7"/>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7"/>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grpSp>
        <p:nvGrpSpPr>
          <p:cNvPr id="74" name="Google Shape;74;p7"/>
          <p:cNvGrpSpPr/>
          <p:nvPr/>
        </p:nvGrpSpPr>
        <p:grpSpPr>
          <a:xfrm>
            <a:off x="0" y="381001"/>
            <a:ext cx="1037850" cy="1016287"/>
            <a:chOff x="0" y="381001"/>
            <a:chExt cx="1037850" cy="1016287"/>
          </a:xfrm>
        </p:grpSpPr>
        <p:sp>
          <p:nvSpPr>
            <p:cNvPr id="75" name="Google Shape;75;p7"/>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7"/>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7" name="Shape 77"/>
        <p:cNvGrpSpPr/>
        <p:nvPr/>
      </p:nvGrpSpPr>
      <p:grpSpPr>
        <a:xfrm>
          <a:off x="0" y="0"/>
          <a:ext cx="0" cy="0"/>
          <a:chOff x="0" y="0"/>
          <a:chExt cx="0" cy="0"/>
        </a:xfrm>
      </p:grpSpPr>
      <p:sp>
        <p:nvSpPr>
          <p:cNvPr id="78" name="Google Shape;78;p8"/>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rtl="0">
              <a:spcBef>
                <a:spcPts val="0"/>
              </a:spcBef>
              <a:spcAft>
                <a:spcPts val="0"/>
              </a:spcAft>
              <a:buSzPts val="3300"/>
              <a:buNone/>
              <a:defRPr sz="33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9" name="Google Shape;79;p8"/>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80" name="Google Shape;80;p8"/>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1" name="Google Shape;81;p8"/>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grpSp>
        <p:nvGrpSpPr>
          <p:cNvPr id="82" name="Google Shape;82;p8"/>
          <p:cNvGrpSpPr/>
          <p:nvPr/>
        </p:nvGrpSpPr>
        <p:grpSpPr>
          <a:xfrm>
            <a:off x="0" y="381001"/>
            <a:ext cx="1037850" cy="1016287"/>
            <a:chOff x="0" y="381001"/>
            <a:chExt cx="1037850" cy="1016287"/>
          </a:xfrm>
        </p:grpSpPr>
        <p:sp>
          <p:nvSpPr>
            <p:cNvPr id="83" name="Google Shape;83;p8"/>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5" name="Shape 85"/>
        <p:cNvGrpSpPr/>
        <p:nvPr/>
      </p:nvGrpSpPr>
      <p:grpSpPr>
        <a:xfrm>
          <a:off x="0" y="0"/>
          <a:ext cx="0" cy="0"/>
          <a:chOff x="0" y="0"/>
          <a:chExt cx="0" cy="0"/>
        </a:xfrm>
      </p:grpSpPr>
      <p:grpSp>
        <p:nvGrpSpPr>
          <p:cNvPr id="86" name="Google Shape;86;p9"/>
          <p:cNvGrpSpPr/>
          <p:nvPr/>
        </p:nvGrpSpPr>
        <p:grpSpPr>
          <a:xfrm>
            <a:off x="4406400" y="0"/>
            <a:ext cx="4737600" cy="5143500"/>
            <a:chOff x="4406400" y="0"/>
            <a:chExt cx="4737600" cy="5143500"/>
          </a:xfrm>
        </p:grpSpPr>
        <p:sp>
          <p:nvSpPr>
            <p:cNvPr id="87" name="Google Shape;87;p9"/>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9"/>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9"/>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9"/>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9"/>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9"/>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9"/>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6908099" y="2069680"/>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9"/>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9"/>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9"/>
            <p:cNvSpPr/>
            <p:nvPr/>
          </p:nvSpPr>
          <p:spPr>
            <a:xfrm rot="-5400000">
              <a:off x="7227414" y="3711189"/>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9"/>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9"/>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9"/>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9"/>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9"/>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6" name="Google Shape;106;p9"/>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7" name="Google Shape;107;p9"/>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8" name="Shape 108"/>
        <p:cNvGrpSpPr/>
        <p:nvPr/>
      </p:nvGrpSpPr>
      <p:grpSpPr>
        <a:xfrm>
          <a:off x="0" y="0"/>
          <a:ext cx="0" cy="0"/>
          <a:chOff x="0" y="0"/>
          <a:chExt cx="0" cy="0"/>
        </a:xfrm>
      </p:grpSpPr>
      <p:sp>
        <p:nvSpPr>
          <p:cNvPr id="109" name="Google Shape;109;p10"/>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rtl="0">
              <a:spcBef>
                <a:spcPts val="0"/>
              </a:spcBef>
              <a:spcAft>
                <a:spcPts val="0"/>
              </a:spcAft>
              <a:buSzPts val="2900"/>
              <a:buNone/>
              <a:defRPr sz="29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10" name="Google Shape;110;p10"/>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666666"/>
              </a:buClr>
              <a:buSzPts val="1800"/>
              <a:buNone/>
              <a:defRPr sz="1800">
                <a:solidFill>
                  <a:srgbClr val="666666"/>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11" name="Google Shape;111;p10"/>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36550" lvl="0" marL="457200" rtl="0">
              <a:spcBef>
                <a:spcPts val="0"/>
              </a:spcBef>
              <a:spcAft>
                <a:spcPts val="0"/>
              </a:spcAft>
              <a:buSzPts val="1700"/>
              <a:buChar char="●"/>
              <a:defRPr sz="1700"/>
            </a:lvl1pPr>
            <a:lvl2pPr indent="-323850" lvl="1" marL="914400" rtl="0">
              <a:spcBef>
                <a:spcPts val="0"/>
              </a:spcBef>
              <a:spcAft>
                <a:spcPts val="0"/>
              </a:spcAft>
              <a:buSzPts val="1500"/>
              <a:buChar char="○"/>
              <a:defRPr sz="1500"/>
            </a:lvl2pPr>
            <a:lvl3pPr indent="-323850" lvl="2" marL="1371600" rtl="0">
              <a:spcBef>
                <a:spcPts val="0"/>
              </a:spcBef>
              <a:spcAft>
                <a:spcPts val="0"/>
              </a:spcAft>
              <a:buSzPts val="1500"/>
              <a:buChar char="■"/>
              <a:defRPr sz="1500"/>
            </a:lvl3pPr>
            <a:lvl4pPr indent="-323850" lvl="3" marL="1828800" rtl="0">
              <a:spcBef>
                <a:spcPts val="0"/>
              </a:spcBef>
              <a:spcAft>
                <a:spcPts val="0"/>
              </a:spcAft>
              <a:buSzPts val="1500"/>
              <a:buChar char="●"/>
              <a:defRPr sz="1500"/>
            </a:lvl4pPr>
            <a:lvl5pPr indent="-323850" lvl="4" marL="2286000" rtl="0">
              <a:spcBef>
                <a:spcPts val="0"/>
              </a:spcBef>
              <a:spcAft>
                <a:spcPts val="0"/>
              </a:spcAft>
              <a:buSzPts val="1500"/>
              <a:buChar char="○"/>
              <a:defRPr sz="1500"/>
            </a:lvl5pPr>
            <a:lvl6pPr indent="-323850" lvl="5" marL="2743200" rtl="0">
              <a:spcBef>
                <a:spcPts val="0"/>
              </a:spcBef>
              <a:spcAft>
                <a:spcPts val="0"/>
              </a:spcAft>
              <a:buSzPts val="1500"/>
              <a:buChar char="■"/>
              <a:defRPr sz="1500"/>
            </a:lvl6pPr>
            <a:lvl7pPr indent="-323850" lvl="6" marL="3200400" rtl="0">
              <a:spcBef>
                <a:spcPts val="0"/>
              </a:spcBef>
              <a:spcAft>
                <a:spcPts val="0"/>
              </a:spcAft>
              <a:buSzPts val="1500"/>
              <a:buChar char="●"/>
              <a:defRPr sz="1500"/>
            </a:lvl7pPr>
            <a:lvl8pPr indent="-323850" lvl="7" marL="3657600" rtl="0">
              <a:spcBef>
                <a:spcPts val="0"/>
              </a:spcBef>
              <a:spcAft>
                <a:spcPts val="0"/>
              </a:spcAft>
              <a:buSzPts val="1500"/>
              <a:buChar char="○"/>
              <a:defRPr sz="1500"/>
            </a:lvl8pPr>
            <a:lvl9pPr indent="-323850" lvl="8" marL="4114800" rtl="0">
              <a:spcBef>
                <a:spcPts val="0"/>
              </a:spcBef>
              <a:spcAft>
                <a:spcPts val="0"/>
              </a:spcAft>
              <a:buSzPts val="1500"/>
              <a:buChar char="■"/>
              <a:defRPr sz="1500"/>
            </a:lvl9pPr>
          </a:lstStyle>
          <a:p/>
        </p:txBody>
      </p:sp>
      <p:grpSp>
        <p:nvGrpSpPr>
          <p:cNvPr id="112" name="Google Shape;112;p10"/>
          <p:cNvGrpSpPr/>
          <p:nvPr/>
        </p:nvGrpSpPr>
        <p:grpSpPr>
          <a:xfrm>
            <a:off x="0" y="381001"/>
            <a:ext cx="1037850" cy="1016287"/>
            <a:chOff x="0" y="381001"/>
            <a:chExt cx="1037850" cy="1016287"/>
          </a:xfrm>
        </p:grpSpPr>
        <p:sp>
          <p:nvSpPr>
            <p:cNvPr id="113" name="Google Shape;113;p10"/>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0"/>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1">
  <p:cSld name="CAPTION_ONLY">
    <p:spTree>
      <p:nvGrpSpPr>
        <p:cNvPr id="115" name="Shape 115"/>
        <p:cNvGrpSpPr/>
        <p:nvPr/>
      </p:nvGrpSpPr>
      <p:grpSpPr>
        <a:xfrm>
          <a:off x="0" y="0"/>
          <a:ext cx="0" cy="0"/>
          <a:chOff x="0" y="0"/>
          <a:chExt cx="0" cy="0"/>
        </a:xfrm>
      </p:grpSpPr>
      <p:grpSp>
        <p:nvGrpSpPr>
          <p:cNvPr id="116" name="Google Shape;116;p11"/>
          <p:cNvGrpSpPr/>
          <p:nvPr/>
        </p:nvGrpSpPr>
        <p:grpSpPr>
          <a:xfrm>
            <a:off x="43237" y="4724428"/>
            <a:ext cx="428721" cy="393609"/>
            <a:chOff x="0" y="3785672"/>
            <a:chExt cx="698925" cy="684657"/>
          </a:xfrm>
        </p:grpSpPr>
        <p:sp>
          <p:nvSpPr>
            <p:cNvPr id="117" name="Google Shape;117;p11"/>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900"/>
              <a:buNone/>
              <a:defRPr sz="900"/>
            </a:lvl1pPr>
          </a:lstStyle>
          <a:p/>
        </p:txBody>
      </p:sp>
      <p:sp>
        <p:nvSpPr>
          <p:cNvPr id="120" name="Google Shape;120;p11"/>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11"/>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2">
  <p:cSld name="CAPTION_ONLY_1">
    <p:spTree>
      <p:nvGrpSpPr>
        <p:cNvPr id="122" name="Shape 122"/>
        <p:cNvGrpSpPr/>
        <p:nvPr/>
      </p:nvGrpSpPr>
      <p:grpSpPr>
        <a:xfrm>
          <a:off x="0" y="0"/>
          <a:ext cx="0" cy="0"/>
          <a:chOff x="0" y="0"/>
          <a:chExt cx="0" cy="0"/>
        </a:xfrm>
      </p:grpSpPr>
      <p:sp>
        <p:nvSpPr>
          <p:cNvPr id="123" name="Google Shape;123;p12"/>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900"/>
              <a:buNone/>
              <a:defRPr sz="900"/>
            </a:lvl1pPr>
          </a:lstStyle>
          <a:p/>
        </p:txBody>
      </p:sp>
      <p:sp>
        <p:nvSpPr>
          <p:cNvPr id="124" name="Google Shape;124;p12"/>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5" name="Google Shape;125;p12"/>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pic>
        <p:nvPicPr>
          <p:cNvPr id="126" name="Google Shape;126;p12"/>
          <p:cNvPicPr preferRelativeResize="0"/>
          <p:nvPr/>
        </p:nvPicPr>
        <p:blipFill>
          <a:blip r:embed="rId2">
            <a:alphaModFix/>
          </a:blip>
          <a:stretch>
            <a:fillRect/>
          </a:stretch>
        </p:blipFill>
        <p:spPr>
          <a:xfrm>
            <a:off x="122450" y="4791197"/>
            <a:ext cx="295975" cy="290066"/>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7" name="Shape 127"/>
        <p:cNvGrpSpPr/>
        <p:nvPr/>
      </p:nvGrpSpPr>
      <p:grpSpPr>
        <a:xfrm>
          <a:off x="0" y="0"/>
          <a:ext cx="0" cy="0"/>
          <a:chOff x="0" y="0"/>
          <a:chExt cx="0" cy="0"/>
        </a:xfrm>
      </p:grpSpPr>
      <p:grpSp>
        <p:nvGrpSpPr>
          <p:cNvPr id="128" name="Google Shape;128;p13"/>
          <p:cNvGrpSpPr/>
          <p:nvPr/>
        </p:nvGrpSpPr>
        <p:grpSpPr>
          <a:xfrm>
            <a:off x="4406400" y="0"/>
            <a:ext cx="4737600" cy="5143065"/>
            <a:chOff x="4406400" y="0"/>
            <a:chExt cx="4737600" cy="5143065"/>
          </a:xfrm>
        </p:grpSpPr>
        <p:sp>
          <p:nvSpPr>
            <p:cNvPr id="129" name="Google Shape;129;p1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3"/>
            <p:cNvSpPr/>
            <p:nvPr/>
          </p:nvSpPr>
          <p:spPr>
            <a:xfrm flipH="1">
              <a:off x="6908099" y="2069505"/>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3"/>
            <p:cNvSpPr/>
            <p:nvPr/>
          </p:nvSpPr>
          <p:spPr>
            <a:xfrm rot="-5400000">
              <a:off x="7227414" y="3710807"/>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7" name="Google Shape;147;p13"/>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rtl="0">
              <a:spcBef>
                <a:spcPts val="0"/>
              </a:spcBef>
              <a:spcAft>
                <a:spcPts val="0"/>
              </a:spcAft>
              <a:buSzPts val="8000"/>
              <a:buNone/>
              <a:defRPr sz="8000"/>
            </a:lvl1pPr>
            <a:lvl2pPr lvl="1" rtl="0">
              <a:spcBef>
                <a:spcPts val="0"/>
              </a:spcBef>
              <a:spcAft>
                <a:spcPts val="0"/>
              </a:spcAft>
              <a:buSzPts val="8000"/>
              <a:buNone/>
              <a:defRPr sz="8000"/>
            </a:lvl2pPr>
            <a:lvl3pPr lvl="2" rtl="0">
              <a:spcBef>
                <a:spcPts val="0"/>
              </a:spcBef>
              <a:spcAft>
                <a:spcPts val="0"/>
              </a:spcAft>
              <a:buSzPts val="8000"/>
              <a:buNone/>
              <a:defRPr sz="8000"/>
            </a:lvl3pPr>
            <a:lvl4pPr lvl="3" rtl="0">
              <a:spcBef>
                <a:spcPts val="0"/>
              </a:spcBef>
              <a:spcAft>
                <a:spcPts val="0"/>
              </a:spcAft>
              <a:buSzPts val="8000"/>
              <a:buNone/>
              <a:defRPr sz="8000"/>
            </a:lvl4pPr>
            <a:lvl5pPr lvl="4" rtl="0">
              <a:spcBef>
                <a:spcPts val="0"/>
              </a:spcBef>
              <a:spcAft>
                <a:spcPts val="0"/>
              </a:spcAft>
              <a:buSzPts val="8000"/>
              <a:buNone/>
              <a:defRPr sz="8000"/>
            </a:lvl5pPr>
            <a:lvl6pPr lvl="5" rtl="0">
              <a:spcBef>
                <a:spcPts val="0"/>
              </a:spcBef>
              <a:spcAft>
                <a:spcPts val="0"/>
              </a:spcAft>
              <a:buSzPts val="8000"/>
              <a:buNone/>
              <a:defRPr sz="8000"/>
            </a:lvl6pPr>
            <a:lvl7pPr lvl="6" rtl="0">
              <a:spcBef>
                <a:spcPts val="0"/>
              </a:spcBef>
              <a:spcAft>
                <a:spcPts val="0"/>
              </a:spcAft>
              <a:buSzPts val="8000"/>
              <a:buNone/>
              <a:defRPr sz="8000"/>
            </a:lvl7pPr>
            <a:lvl8pPr lvl="7" rtl="0">
              <a:spcBef>
                <a:spcPts val="0"/>
              </a:spcBef>
              <a:spcAft>
                <a:spcPts val="0"/>
              </a:spcAft>
              <a:buSzPts val="8000"/>
              <a:buNone/>
              <a:defRPr sz="8000"/>
            </a:lvl8pPr>
            <a:lvl9pPr lvl="8" rtl="0">
              <a:spcBef>
                <a:spcPts val="0"/>
              </a:spcBef>
              <a:spcAft>
                <a:spcPts val="0"/>
              </a:spcAft>
              <a:buSzPts val="8000"/>
              <a:buNone/>
              <a:defRPr sz="8000"/>
            </a:lvl9pPr>
          </a:lstStyle>
          <a:p>
            <a:r>
              <a:t>xx%</a:t>
            </a:r>
          </a:p>
        </p:txBody>
      </p:sp>
      <p:sp>
        <p:nvSpPr>
          <p:cNvPr id="148" name="Google Shape;148;p13"/>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149" name="Google Shape;149;p13"/>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50" name="Google Shape;150;p13"/>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1" name="Shape 151"/>
        <p:cNvGrpSpPr/>
        <p:nvPr/>
      </p:nvGrpSpPr>
      <p:grpSpPr>
        <a:xfrm>
          <a:off x="0" y="0"/>
          <a:ext cx="0" cy="0"/>
          <a:chOff x="0" y="0"/>
          <a:chExt cx="0" cy="0"/>
        </a:xfrm>
      </p:grpSpPr>
      <p:sp>
        <p:nvSpPr>
          <p:cNvPr id="152" name="Google Shape;152;p14"/>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53" name="Google Shape;153;p14"/>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rtl="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lt1"/>
                </a:solidFill>
                <a:latin typeface="Lato"/>
                <a:ea typeface="Lato"/>
                <a:cs typeface="Lato"/>
                <a:sym typeface="Lato"/>
              </a:defRPr>
            </a:lvl1pPr>
            <a:lvl2pPr lvl="1" rtl="0" algn="r">
              <a:buNone/>
              <a:defRPr sz="1000">
                <a:solidFill>
                  <a:schemeClr val="lt1"/>
                </a:solidFill>
                <a:latin typeface="Lato"/>
                <a:ea typeface="Lato"/>
                <a:cs typeface="Lato"/>
                <a:sym typeface="Lato"/>
              </a:defRPr>
            </a:lvl2pPr>
            <a:lvl3pPr lvl="2" rtl="0" algn="r">
              <a:buNone/>
              <a:defRPr sz="1000">
                <a:solidFill>
                  <a:schemeClr val="lt1"/>
                </a:solidFill>
                <a:latin typeface="Lato"/>
                <a:ea typeface="Lato"/>
                <a:cs typeface="Lato"/>
                <a:sym typeface="Lato"/>
              </a:defRPr>
            </a:lvl3pPr>
            <a:lvl4pPr lvl="3" rtl="0" algn="r">
              <a:buNone/>
              <a:defRPr sz="1000">
                <a:solidFill>
                  <a:schemeClr val="lt1"/>
                </a:solidFill>
                <a:latin typeface="Lato"/>
                <a:ea typeface="Lato"/>
                <a:cs typeface="Lato"/>
                <a:sym typeface="Lato"/>
              </a:defRPr>
            </a:lvl4pPr>
            <a:lvl5pPr lvl="4" rtl="0" algn="r">
              <a:buNone/>
              <a:defRPr sz="1000">
                <a:solidFill>
                  <a:schemeClr val="lt1"/>
                </a:solidFill>
                <a:latin typeface="Lato"/>
                <a:ea typeface="Lato"/>
                <a:cs typeface="Lato"/>
                <a:sym typeface="Lato"/>
              </a:defRPr>
            </a:lvl5pPr>
            <a:lvl6pPr lvl="5" rtl="0" algn="r">
              <a:buNone/>
              <a:defRPr sz="1000">
                <a:solidFill>
                  <a:schemeClr val="lt1"/>
                </a:solidFill>
                <a:latin typeface="Lato"/>
                <a:ea typeface="Lato"/>
                <a:cs typeface="Lato"/>
                <a:sym typeface="Lato"/>
              </a:defRPr>
            </a:lvl6pPr>
            <a:lvl7pPr lvl="6" rtl="0" algn="r">
              <a:buNone/>
              <a:defRPr sz="1000">
                <a:solidFill>
                  <a:schemeClr val="lt1"/>
                </a:solidFill>
                <a:latin typeface="Lato"/>
                <a:ea typeface="Lato"/>
                <a:cs typeface="Lato"/>
                <a:sym typeface="Lato"/>
              </a:defRPr>
            </a:lvl7pPr>
            <a:lvl8pPr lvl="7" rtl="0" algn="r">
              <a:buNone/>
              <a:defRPr sz="1000">
                <a:solidFill>
                  <a:schemeClr val="lt1"/>
                </a:solidFill>
                <a:latin typeface="Lato"/>
                <a:ea typeface="Lato"/>
                <a:cs typeface="Lato"/>
                <a:sym typeface="Lato"/>
              </a:defRPr>
            </a:lvl8pPr>
            <a:lvl9pPr lvl="8" rtl="0"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11.jpg"/><Relationship Id="rId5" Type="http://schemas.openxmlformats.org/officeDocument/2006/relationships/hyperlink" Target="https://creativecommons.org/licenses/by-sa/4.0" TargetMode="External"/><Relationship Id="rId6" Type="http://schemas.openxmlformats.org/officeDocument/2006/relationships/hyperlink" Target="https://pixabay.com/" TargetMode="External"/><Relationship Id="rId7" Type="http://schemas.openxmlformats.org/officeDocument/2006/relationships/image" Target="../media/image8.png"/><Relationship Id="rId8"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hyperlink" Target="https://creativecommons.org/licenses/by-sa/4.0" TargetMode="External"/><Relationship Id="rId4" Type="http://schemas.openxmlformats.org/officeDocument/2006/relationships/image" Target="../media/image7.jpg"/><Relationship Id="rId5"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hyperlink" Target="https://simplystatistics.org/posts/2017-01-19-what-is-artificial-intelligence/"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hyperlink" Target="https://simplystatistics.org/posts/2017-01-19-what-is-artificial-intelligence/"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hyperlink" Target="https://simplystatistics.org/posts/2017-01-19-what-is-artificial-intelligence/"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hyperlink" Target="https://simplystatistics.org/posts/2017-01-19-what-is-artificial-intelligenc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hyperlink" Target="https://simplystatistics.org/posts/2017-01-19-what-is-artificial-intelligence/"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hyperlink" Target="https://simplystatistics.org/posts/2017-01-19-what-is-artificial-intelligence/"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hyperlink" Target="https://simplystatistics.org/posts/2017-01-19-what-is-artificial-intelligence/"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hyperlink" Target="https://simplystatistics.org/posts/2017-01-19-what-is-artificial-intelligence/"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hyperlink" Target="https://simplystatistics.org/posts/2017-01-19-what-is-artificial-intelligence/"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nvSpPr>
        <p:spPr>
          <a:xfrm>
            <a:off x="3537150" y="2187975"/>
            <a:ext cx="5017500" cy="15789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lang="en" sz="6500">
                <a:latin typeface="Montserrat"/>
                <a:ea typeface="Montserrat"/>
                <a:cs typeface="Montserrat"/>
                <a:sym typeface="Montserrat"/>
              </a:rPr>
              <a:t>What is AI?</a:t>
            </a:r>
            <a:endParaRPr sz="6500">
              <a:solidFill>
                <a:srgbClr val="000000"/>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Terms of Use</a:t>
            </a:r>
            <a:endParaRPr/>
          </a:p>
        </p:txBody>
      </p:sp>
      <p:pic>
        <p:nvPicPr>
          <p:cNvPr id="164" name="Google Shape;164;p16"/>
          <p:cNvPicPr preferRelativeResize="0"/>
          <p:nvPr/>
        </p:nvPicPr>
        <p:blipFill>
          <a:blip r:embed="rId3">
            <a:alphaModFix/>
          </a:blip>
          <a:stretch>
            <a:fillRect/>
          </a:stretch>
        </p:blipFill>
        <p:spPr>
          <a:xfrm>
            <a:off x="5981726" y="2173675"/>
            <a:ext cx="2275450" cy="796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7"/>
          <p:cNvSpPr txBox="1"/>
          <p:nvPr>
            <p:ph type="title"/>
          </p:nvPr>
        </p:nvSpPr>
        <p:spPr>
          <a:xfrm>
            <a:off x="360850" y="180300"/>
            <a:ext cx="6496500" cy="11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n" sz="4190">
                <a:solidFill>
                  <a:schemeClr val="accent2"/>
                </a:solidFill>
              </a:rPr>
              <a:t>We worry about AI…</a:t>
            </a:r>
            <a:endParaRPr sz="3390">
              <a:solidFill>
                <a:schemeClr val="dk1"/>
              </a:solidFill>
            </a:endParaRPr>
          </a:p>
        </p:txBody>
      </p:sp>
      <p:sp>
        <p:nvSpPr>
          <p:cNvPr id="170" name="Google Shape;170;p17"/>
          <p:cNvSpPr txBox="1"/>
          <p:nvPr/>
        </p:nvSpPr>
        <p:spPr>
          <a:xfrm>
            <a:off x="22451" y="4373475"/>
            <a:ext cx="6885900" cy="34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lt1"/>
              </a:solidFill>
              <a:latin typeface="Lato"/>
              <a:ea typeface="Lato"/>
              <a:cs typeface="Lato"/>
              <a:sym typeface="Lato"/>
            </a:endParaRPr>
          </a:p>
        </p:txBody>
      </p:sp>
      <p:pic>
        <p:nvPicPr>
          <p:cNvPr id="171" name="Google Shape;171;p17"/>
          <p:cNvPicPr preferRelativeResize="0"/>
          <p:nvPr/>
        </p:nvPicPr>
        <p:blipFill>
          <a:blip r:embed="rId3">
            <a:alphaModFix/>
          </a:blip>
          <a:stretch>
            <a:fillRect/>
          </a:stretch>
        </p:blipFill>
        <p:spPr>
          <a:xfrm>
            <a:off x="6964425" y="142275"/>
            <a:ext cx="1556875" cy="4552673"/>
          </a:xfrm>
          <a:prstGeom prst="rect">
            <a:avLst/>
          </a:prstGeom>
          <a:noFill/>
          <a:ln>
            <a:noFill/>
          </a:ln>
        </p:spPr>
      </p:pic>
      <p:pic>
        <p:nvPicPr>
          <p:cNvPr id="172" name="Google Shape;172;p17"/>
          <p:cNvPicPr preferRelativeResize="0"/>
          <p:nvPr/>
        </p:nvPicPr>
        <p:blipFill>
          <a:blip r:embed="rId4">
            <a:alphaModFix/>
          </a:blip>
          <a:stretch>
            <a:fillRect/>
          </a:stretch>
        </p:blipFill>
        <p:spPr>
          <a:xfrm>
            <a:off x="513975" y="1474550"/>
            <a:ext cx="2334663" cy="2587275"/>
          </a:xfrm>
          <a:prstGeom prst="rect">
            <a:avLst/>
          </a:prstGeom>
          <a:noFill/>
          <a:ln>
            <a:noFill/>
          </a:ln>
        </p:spPr>
      </p:pic>
      <p:sp>
        <p:nvSpPr>
          <p:cNvPr id="173" name="Google Shape;173;p17"/>
          <p:cNvSpPr txBox="1"/>
          <p:nvPr/>
        </p:nvSpPr>
        <p:spPr>
          <a:xfrm>
            <a:off x="142400" y="4774525"/>
            <a:ext cx="6936000" cy="333600"/>
          </a:xfrm>
          <a:prstGeom prst="rect">
            <a:avLst/>
          </a:prstGeom>
          <a:noFill/>
          <a:ln>
            <a:noFill/>
          </a:ln>
        </p:spPr>
        <p:txBody>
          <a:bodyPr anchorCtr="0" anchor="t" bIns="91425" lIns="91425" spcFirstLastPara="1" rIns="91425" wrap="square" tIns="91425">
            <a:normAutofit fontScale="47500"/>
          </a:bodyPr>
          <a:lstStyle/>
          <a:p>
            <a:pPr indent="0" lvl="0" marL="0" rtl="0" algn="l">
              <a:lnSpc>
                <a:spcPct val="115000"/>
              </a:lnSpc>
              <a:spcBef>
                <a:spcPts val="0"/>
              </a:spcBef>
              <a:spcAft>
                <a:spcPts val="1200"/>
              </a:spcAft>
              <a:buNone/>
            </a:pPr>
            <a:r>
              <a:rPr lang="en" sz="1900">
                <a:latin typeface="Lato"/>
                <a:ea typeface="Lato"/>
                <a:cs typeface="Lato"/>
                <a:sym typeface="Lato"/>
              </a:rPr>
              <a:t>Image credits: Tom Cowap and Willy Jackson, </a:t>
            </a:r>
            <a:r>
              <a:rPr lang="en" sz="1900" u="sng">
                <a:solidFill>
                  <a:schemeClr val="hlink"/>
                </a:solidFill>
                <a:latin typeface="Lato"/>
                <a:ea typeface="Lato"/>
                <a:cs typeface="Lato"/>
                <a:sym typeface="Lato"/>
                <a:hlinkClick r:id="rId5"/>
              </a:rPr>
              <a:t>CC BY-SA 4.0</a:t>
            </a:r>
            <a:r>
              <a:rPr lang="en" sz="1900">
                <a:latin typeface="Lato"/>
                <a:ea typeface="Lato"/>
                <a:cs typeface="Lato"/>
                <a:sym typeface="Lato"/>
              </a:rPr>
              <a:t>, via Wikimedia Commons; </a:t>
            </a:r>
            <a:r>
              <a:rPr lang="en" sz="1900" u="sng">
                <a:solidFill>
                  <a:schemeClr val="accent2"/>
                </a:solidFill>
                <a:latin typeface="Lato"/>
                <a:ea typeface="Lato"/>
                <a:cs typeface="Lato"/>
                <a:sym typeface="Lato"/>
                <a:hlinkClick r:id="rId6">
                  <a:extLst>
                    <a:ext uri="{A12FA001-AC4F-418D-AE19-62706E023703}">
                      <ahyp:hlinkClr val="tx"/>
                    </a:ext>
                  </a:extLst>
                </a:hlinkClick>
              </a:rPr>
              <a:t>https://pixabay.com/</a:t>
            </a:r>
            <a:endParaRPr sz="1900">
              <a:latin typeface="Lato"/>
              <a:ea typeface="Lato"/>
              <a:cs typeface="Lato"/>
              <a:sym typeface="Lato"/>
            </a:endParaRPr>
          </a:p>
        </p:txBody>
      </p:sp>
      <p:pic>
        <p:nvPicPr>
          <p:cNvPr id="174" name="Google Shape;174;p17"/>
          <p:cNvPicPr preferRelativeResize="0"/>
          <p:nvPr/>
        </p:nvPicPr>
        <p:blipFill>
          <a:blip r:embed="rId7">
            <a:alphaModFix/>
          </a:blip>
          <a:stretch>
            <a:fillRect/>
          </a:stretch>
        </p:blipFill>
        <p:spPr>
          <a:xfrm>
            <a:off x="2721425" y="1329000"/>
            <a:ext cx="2065200" cy="1644126"/>
          </a:xfrm>
          <a:prstGeom prst="rect">
            <a:avLst/>
          </a:prstGeom>
          <a:noFill/>
          <a:ln>
            <a:noFill/>
          </a:ln>
        </p:spPr>
      </p:pic>
      <p:pic>
        <p:nvPicPr>
          <p:cNvPr id="175" name="Google Shape;175;p17"/>
          <p:cNvPicPr preferRelativeResize="0"/>
          <p:nvPr/>
        </p:nvPicPr>
        <p:blipFill>
          <a:blip r:embed="rId8">
            <a:alphaModFix/>
          </a:blip>
          <a:stretch>
            <a:fillRect/>
          </a:stretch>
        </p:blipFill>
        <p:spPr>
          <a:xfrm>
            <a:off x="4226349" y="2437825"/>
            <a:ext cx="2224451" cy="20332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8"/>
          <p:cNvSpPr txBox="1"/>
          <p:nvPr/>
        </p:nvSpPr>
        <p:spPr>
          <a:xfrm>
            <a:off x="142400" y="4774525"/>
            <a:ext cx="6936000" cy="33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358"/>
              <a:buNone/>
            </a:pPr>
            <a:r>
              <a:rPr lang="en" sz="917">
                <a:latin typeface="Lato"/>
                <a:ea typeface="Lato"/>
                <a:cs typeface="Lato"/>
                <a:sym typeface="Lato"/>
              </a:rPr>
              <a:t>Image credits: Alena Nesterova, </a:t>
            </a:r>
            <a:r>
              <a:rPr lang="en" sz="917" u="sng">
                <a:solidFill>
                  <a:schemeClr val="hlink"/>
                </a:solidFill>
                <a:latin typeface="Lato"/>
                <a:ea typeface="Lato"/>
                <a:cs typeface="Lato"/>
                <a:sym typeface="Lato"/>
                <a:hlinkClick r:id="rId3"/>
              </a:rPr>
              <a:t>CC BY-SA 4.0</a:t>
            </a:r>
            <a:r>
              <a:rPr lang="en" sz="917">
                <a:latin typeface="Lato"/>
                <a:ea typeface="Lato"/>
                <a:cs typeface="Lato"/>
                <a:sym typeface="Lato"/>
              </a:rPr>
              <a:t>, via Wikimedia Commons; Samuel Wiki, CC0, via Wikimedia Commons</a:t>
            </a:r>
            <a:endParaRPr sz="917">
              <a:latin typeface="Lato"/>
              <a:ea typeface="Lato"/>
              <a:cs typeface="Lato"/>
              <a:sym typeface="Lato"/>
            </a:endParaRPr>
          </a:p>
        </p:txBody>
      </p:sp>
      <p:sp>
        <p:nvSpPr>
          <p:cNvPr id="181" name="Google Shape;181;p18"/>
          <p:cNvSpPr txBox="1"/>
          <p:nvPr>
            <p:ph idx="4294967295" type="title"/>
          </p:nvPr>
        </p:nvSpPr>
        <p:spPr>
          <a:xfrm>
            <a:off x="415800" y="332700"/>
            <a:ext cx="6496500" cy="11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890">
                <a:solidFill>
                  <a:schemeClr val="accent2"/>
                </a:solidFill>
              </a:rPr>
              <a:t>Current AI systems are limited to specific tasks</a:t>
            </a:r>
            <a:endParaRPr sz="3090">
              <a:solidFill>
                <a:schemeClr val="dk1"/>
              </a:solidFill>
            </a:endParaRPr>
          </a:p>
        </p:txBody>
      </p:sp>
      <p:cxnSp>
        <p:nvCxnSpPr>
          <p:cNvPr id="182" name="Google Shape;182;p18"/>
          <p:cNvCxnSpPr/>
          <p:nvPr/>
        </p:nvCxnSpPr>
        <p:spPr>
          <a:xfrm>
            <a:off x="3214375" y="2962675"/>
            <a:ext cx="1279800" cy="0"/>
          </a:xfrm>
          <a:prstGeom prst="straightConnector1">
            <a:avLst/>
          </a:prstGeom>
          <a:noFill/>
          <a:ln cap="flat" cmpd="sng" w="38100">
            <a:solidFill>
              <a:schemeClr val="dk2"/>
            </a:solidFill>
            <a:prstDash val="solid"/>
            <a:round/>
            <a:headEnd len="med" w="med" type="none"/>
            <a:tailEnd len="med" w="med" type="triangle"/>
          </a:ln>
        </p:spPr>
      </p:cxnSp>
      <p:cxnSp>
        <p:nvCxnSpPr>
          <p:cNvPr id="183" name="Google Shape;183;p18"/>
          <p:cNvCxnSpPr/>
          <p:nvPr/>
        </p:nvCxnSpPr>
        <p:spPr>
          <a:xfrm>
            <a:off x="3214375" y="3419875"/>
            <a:ext cx="1279800" cy="0"/>
          </a:xfrm>
          <a:prstGeom prst="straightConnector1">
            <a:avLst/>
          </a:prstGeom>
          <a:noFill/>
          <a:ln cap="flat" cmpd="sng" w="38100">
            <a:solidFill>
              <a:schemeClr val="dk2"/>
            </a:solidFill>
            <a:prstDash val="solid"/>
            <a:round/>
            <a:headEnd len="med" w="med" type="triangle"/>
            <a:tailEnd len="med" w="med" type="none"/>
          </a:ln>
        </p:spPr>
      </p:cxnSp>
      <p:cxnSp>
        <p:nvCxnSpPr>
          <p:cNvPr id="184" name="Google Shape;184;p18"/>
          <p:cNvCxnSpPr/>
          <p:nvPr/>
        </p:nvCxnSpPr>
        <p:spPr>
          <a:xfrm flipH="1">
            <a:off x="3583405" y="2568925"/>
            <a:ext cx="406200" cy="1218300"/>
          </a:xfrm>
          <a:prstGeom prst="straightConnector1">
            <a:avLst/>
          </a:prstGeom>
          <a:noFill/>
          <a:ln cap="flat" cmpd="sng" w="76200">
            <a:solidFill>
              <a:srgbClr val="FF0000"/>
            </a:solidFill>
            <a:prstDash val="solid"/>
            <a:round/>
            <a:headEnd len="med" w="med" type="none"/>
            <a:tailEnd len="med" w="med" type="none"/>
          </a:ln>
        </p:spPr>
      </p:cxnSp>
      <p:pic>
        <p:nvPicPr>
          <p:cNvPr id="185" name="Google Shape;185;p18"/>
          <p:cNvPicPr preferRelativeResize="0"/>
          <p:nvPr/>
        </p:nvPicPr>
        <p:blipFill>
          <a:blip r:embed="rId4">
            <a:alphaModFix/>
          </a:blip>
          <a:stretch>
            <a:fillRect/>
          </a:stretch>
        </p:blipFill>
        <p:spPr>
          <a:xfrm>
            <a:off x="4753175" y="1998163"/>
            <a:ext cx="4017024" cy="2259576"/>
          </a:xfrm>
          <a:prstGeom prst="rect">
            <a:avLst/>
          </a:prstGeom>
          <a:noFill/>
          <a:ln>
            <a:noFill/>
          </a:ln>
        </p:spPr>
      </p:pic>
      <p:pic>
        <p:nvPicPr>
          <p:cNvPr id="186" name="Google Shape;186;p18"/>
          <p:cNvPicPr preferRelativeResize="0"/>
          <p:nvPr/>
        </p:nvPicPr>
        <p:blipFill>
          <a:blip r:embed="rId5">
            <a:alphaModFix/>
          </a:blip>
          <a:stretch>
            <a:fillRect/>
          </a:stretch>
        </p:blipFill>
        <p:spPr>
          <a:xfrm>
            <a:off x="152400" y="2159575"/>
            <a:ext cx="2907366" cy="2180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9"/>
          <p:cNvSpPr txBox="1"/>
          <p:nvPr/>
        </p:nvSpPr>
        <p:spPr>
          <a:xfrm>
            <a:off x="189975" y="120925"/>
            <a:ext cx="5454600" cy="179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490">
                <a:solidFill>
                  <a:schemeClr val="accent2"/>
                </a:solidFill>
                <a:latin typeface="Montserrat"/>
                <a:ea typeface="Montserrat"/>
                <a:cs typeface="Montserrat"/>
                <a:sym typeface="Montserrat"/>
              </a:rPr>
              <a:t>Artificial Intelligence: recognizing, learning, solving a task?</a:t>
            </a:r>
            <a:endParaRPr sz="2690">
              <a:solidFill>
                <a:schemeClr val="dk1"/>
              </a:solidFill>
              <a:latin typeface="Montserrat"/>
              <a:ea typeface="Montserrat"/>
              <a:cs typeface="Montserrat"/>
              <a:sym typeface="Montserrat"/>
            </a:endParaRPr>
          </a:p>
        </p:txBody>
      </p:sp>
      <p:sp>
        <p:nvSpPr>
          <p:cNvPr id="192" name="Google Shape;192;p19"/>
          <p:cNvSpPr txBox="1"/>
          <p:nvPr/>
        </p:nvSpPr>
        <p:spPr>
          <a:xfrm>
            <a:off x="273675" y="2213625"/>
            <a:ext cx="5714100" cy="2232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i="1" lang="en" sz="2990">
                <a:solidFill>
                  <a:srgbClr val="1B212C"/>
                </a:solidFill>
                <a:latin typeface="Montserrat"/>
                <a:ea typeface="Montserrat"/>
                <a:cs typeface="Montserrat"/>
                <a:sym typeface="Montserrat"/>
              </a:rPr>
              <a:t>“As soon as it works, no one calls it </a:t>
            </a:r>
            <a:r>
              <a:rPr i="1" lang="en" sz="2990">
                <a:solidFill>
                  <a:srgbClr val="1B212C"/>
                </a:solidFill>
                <a:latin typeface="Montserrat"/>
                <a:ea typeface="Montserrat"/>
                <a:cs typeface="Montserrat"/>
                <a:sym typeface="Montserrat"/>
              </a:rPr>
              <a:t>artificial</a:t>
            </a:r>
            <a:r>
              <a:rPr i="1" lang="en" sz="2990">
                <a:solidFill>
                  <a:srgbClr val="1B212C"/>
                </a:solidFill>
                <a:latin typeface="Montserrat"/>
                <a:ea typeface="Montserrat"/>
                <a:cs typeface="Montserrat"/>
                <a:sym typeface="Montserrat"/>
              </a:rPr>
              <a:t> intelligence anymore…”</a:t>
            </a:r>
            <a:endParaRPr i="1" sz="2990">
              <a:solidFill>
                <a:srgbClr val="1B212C"/>
              </a:solidFill>
              <a:latin typeface="Montserrat"/>
              <a:ea typeface="Montserrat"/>
              <a:cs typeface="Montserrat"/>
              <a:sym typeface="Montserrat"/>
            </a:endParaRPr>
          </a:p>
          <a:p>
            <a:pPr indent="0" lvl="0" marL="0" rtl="0" algn="r">
              <a:spcBef>
                <a:spcPts val="0"/>
              </a:spcBef>
              <a:spcAft>
                <a:spcPts val="0"/>
              </a:spcAft>
              <a:buClr>
                <a:srgbClr val="000000"/>
              </a:buClr>
              <a:buSzPts val="1100"/>
              <a:buFont typeface="Arial"/>
              <a:buNone/>
            </a:pPr>
            <a:r>
              <a:rPr lang="en" sz="2290">
                <a:solidFill>
                  <a:srgbClr val="1B212C"/>
                </a:solidFill>
                <a:latin typeface="Montserrat"/>
                <a:ea typeface="Montserrat"/>
                <a:cs typeface="Montserrat"/>
                <a:sym typeface="Montserrat"/>
              </a:rPr>
              <a:t>John McCarthy</a:t>
            </a:r>
            <a:endParaRPr sz="1490">
              <a:solidFill>
                <a:srgbClr val="1B212C"/>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0"/>
          <p:cNvSpPr txBox="1"/>
          <p:nvPr/>
        </p:nvSpPr>
        <p:spPr>
          <a:xfrm>
            <a:off x="142400" y="4774525"/>
            <a:ext cx="6936000" cy="33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100"/>
              <a:buNone/>
            </a:pPr>
            <a:r>
              <a:rPr lang="en" sz="917">
                <a:latin typeface="Lato"/>
                <a:ea typeface="Lato"/>
                <a:cs typeface="Lato"/>
                <a:sym typeface="Lato"/>
              </a:rPr>
              <a:t>Image adapted from </a:t>
            </a:r>
            <a:r>
              <a:rPr lang="en" sz="917" u="sng">
                <a:solidFill>
                  <a:schemeClr val="hlink"/>
                </a:solidFill>
                <a:latin typeface="Lato"/>
                <a:ea typeface="Lato"/>
                <a:cs typeface="Lato"/>
                <a:sym typeface="Lato"/>
                <a:hlinkClick r:id="rId3"/>
              </a:rPr>
              <a:t>https://simplystatistics.org/posts/2017-01-19-what-is-artificial-intelligence/</a:t>
            </a:r>
            <a:r>
              <a:rPr lang="en" sz="917">
                <a:latin typeface="Lato"/>
                <a:ea typeface="Lato"/>
                <a:cs typeface="Lato"/>
                <a:sym typeface="Lato"/>
              </a:rPr>
              <a:t> </a:t>
            </a:r>
            <a:endParaRPr sz="917">
              <a:latin typeface="Lato"/>
              <a:ea typeface="Lato"/>
              <a:cs typeface="Lato"/>
              <a:sym typeface="Lato"/>
            </a:endParaRPr>
          </a:p>
        </p:txBody>
      </p:sp>
      <p:sp>
        <p:nvSpPr>
          <p:cNvPr id="198" name="Google Shape;198;p20"/>
          <p:cNvSpPr/>
          <p:nvPr/>
        </p:nvSpPr>
        <p:spPr>
          <a:xfrm>
            <a:off x="5849775" y="3977159"/>
            <a:ext cx="1464900" cy="381600"/>
          </a:xfrm>
          <a:prstGeom prst="roundRect">
            <a:avLst>
              <a:gd fmla="val 16667" name="adj"/>
            </a:avLst>
          </a:prstGeom>
          <a:solidFill>
            <a:srgbClr val="03C1D5">
              <a:alpha val="30000"/>
            </a:srgbClr>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9" name="Google Shape;199;p20"/>
          <p:cNvSpPr/>
          <p:nvPr/>
        </p:nvSpPr>
        <p:spPr>
          <a:xfrm>
            <a:off x="5653525" y="3427510"/>
            <a:ext cx="1853400" cy="407100"/>
          </a:xfrm>
          <a:prstGeom prst="roundRect">
            <a:avLst>
              <a:gd fmla="val 16667" name="adj"/>
            </a:avLst>
          </a:prstGeom>
          <a:solidFill>
            <a:srgbClr val="03C1D5">
              <a:alpha val="30000"/>
            </a:srgbClr>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0" name="Google Shape;200;p20"/>
          <p:cNvSpPr/>
          <p:nvPr/>
        </p:nvSpPr>
        <p:spPr>
          <a:xfrm>
            <a:off x="3428363" y="3359550"/>
            <a:ext cx="1199100" cy="918900"/>
          </a:xfrm>
          <a:prstGeom prst="roundRect">
            <a:avLst>
              <a:gd fmla="val 16667" name="adj"/>
            </a:avLst>
          </a:prstGeom>
          <a:solidFill>
            <a:srgbClr val="03C1D5">
              <a:alpha val="30000"/>
            </a:srgbClr>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700">
              <a:latin typeface="Lato"/>
              <a:ea typeface="Lato"/>
              <a:cs typeface="Lato"/>
              <a:sym typeface="Lato"/>
            </a:endParaRPr>
          </a:p>
        </p:txBody>
      </p:sp>
      <p:sp>
        <p:nvSpPr>
          <p:cNvPr id="201" name="Google Shape;201;p20"/>
          <p:cNvSpPr/>
          <p:nvPr/>
        </p:nvSpPr>
        <p:spPr>
          <a:xfrm>
            <a:off x="1537025" y="3356650"/>
            <a:ext cx="1666800" cy="1241100"/>
          </a:xfrm>
          <a:prstGeom prst="roundRect">
            <a:avLst>
              <a:gd fmla="val 16667" name="adj"/>
            </a:avLst>
          </a:prstGeom>
          <a:solidFill>
            <a:srgbClr val="03C1D5">
              <a:alpha val="30000"/>
            </a:srgbClr>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2" name="Google Shape;202;p20"/>
          <p:cNvSpPr/>
          <p:nvPr/>
        </p:nvSpPr>
        <p:spPr>
          <a:xfrm>
            <a:off x="3107075" y="1993100"/>
            <a:ext cx="774300" cy="407100"/>
          </a:xfrm>
          <a:prstGeom prst="roundRect">
            <a:avLst>
              <a:gd fmla="val 16667" name="adj"/>
            </a:avLst>
          </a:prstGeom>
          <a:solidFill>
            <a:srgbClr val="03C1D5">
              <a:alpha val="30000"/>
            </a:srgbClr>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3" name="Google Shape;203;p20"/>
          <p:cNvSpPr/>
          <p:nvPr/>
        </p:nvSpPr>
        <p:spPr>
          <a:xfrm>
            <a:off x="4136525" y="1872300"/>
            <a:ext cx="1970400" cy="681600"/>
          </a:xfrm>
          <a:prstGeom prst="roundRect">
            <a:avLst>
              <a:gd fmla="val 16667" name="adj"/>
            </a:avLst>
          </a:prstGeom>
          <a:solidFill>
            <a:srgbClr val="03C1D5">
              <a:alpha val="30000"/>
            </a:srgbClr>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4" name="Google Shape;204;p20"/>
          <p:cNvSpPr txBox="1"/>
          <p:nvPr/>
        </p:nvSpPr>
        <p:spPr>
          <a:xfrm>
            <a:off x="152400" y="152400"/>
            <a:ext cx="7740000" cy="1443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090">
                <a:solidFill>
                  <a:schemeClr val="accent2"/>
                </a:solidFill>
                <a:latin typeface="Montserrat"/>
                <a:ea typeface="Montserrat"/>
                <a:cs typeface="Montserrat"/>
                <a:sym typeface="Montserrat"/>
              </a:rPr>
              <a:t>Defining </a:t>
            </a:r>
            <a:r>
              <a:rPr lang="en" sz="4090">
                <a:solidFill>
                  <a:schemeClr val="accent2"/>
                </a:solidFill>
                <a:latin typeface="Montserrat"/>
                <a:ea typeface="Montserrat"/>
                <a:cs typeface="Montserrat"/>
                <a:sym typeface="Montserrat"/>
              </a:rPr>
              <a:t>Intelligence: Shifting Benchmarks</a:t>
            </a:r>
            <a:endParaRPr sz="4490">
              <a:solidFill>
                <a:schemeClr val="dk1"/>
              </a:solidFill>
              <a:latin typeface="Montserrat"/>
              <a:ea typeface="Montserrat"/>
              <a:cs typeface="Montserrat"/>
              <a:sym typeface="Montserrat"/>
            </a:endParaRPr>
          </a:p>
        </p:txBody>
      </p:sp>
      <p:cxnSp>
        <p:nvCxnSpPr>
          <p:cNvPr id="205" name="Google Shape;205;p20"/>
          <p:cNvCxnSpPr/>
          <p:nvPr/>
        </p:nvCxnSpPr>
        <p:spPr>
          <a:xfrm>
            <a:off x="305325" y="2827150"/>
            <a:ext cx="8665200" cy="18300"/>
          </a:xfrm>
          <a:prstGeom prst="straightConnector1">
            <a:avLst/>
          </a:prstGeom>
          <a:noFill/>
          <a:ln cap="flat" cmpd="sng" w="38100">
            <a:solidFill>
              <a:schemeClr val="dk2"/>
            </a:solidFill>
            <a:prstDash val="solid"/>
            <a:round/>
            <a:headEnd len="med" w="med" type="none"/>
            <a:tailEnd len="med" w="med" type="stealth"/>
          </a:ln>
        </p:spPr>
      </p:cxnSp>
      <p:sp>
        <p:nvSpPr>
          <p:cNvPr id="206" name="Google Shape;206;p20"/>
          <p:cNvSpPr txBox="1"/>
          <p:nvPr/>
        </p:nvSpPr>
        <p:spPr>
          <a:xfrm>
            <a:off x="268100" y="2882675"/>
            <a:ext cx="8349000" cy="38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lt1"/>
                </a:solidFill>
                <a:latin typeface="Lato"/>
                <a:ea typeface="Lato"/>
                <a:cs typeface="Lato"/>
                <a:sym typeface="Lato"/>
              </a:rPr>
              <a:t>1980                             1990                               2000                               2010                               2020</a:t>
            </a:r>
            <a:endParaRPr sz="1700">
              <a:solidFill>
                <a:schemeClr val="lt1"/>
              </a:solidFill>
              <a:latin typeface="Lato"/>
              <a:ea typeface="Lato"/>
              <a:cs typeface="Lato"/>
              <a:sym typeface="Lato"/>
            </a:endParaRPr>
          </a:p>
        </p:txBody>
      </p:sp>
      <p:sp>
        <p:nvSpPr>
          <p:cNvPr id="207" name="Google Shape;207;p20"/>
          <p:cNvSpPr txBox="1"/>
          <p:nvPr/>
        </p:nvSpPr>
        <p:spPr>
          <a:xfrm>
            <a:off x="1537025" y="3343775"/>
            <a:ext cx="1666800" cy="1241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solidFill>
                  <a:schemeClr val="lt1"/>
                </a:solidFill>
                <a:latin typeface="Lato"/>
                <a:ea typeface="Lato"/>
                <a:cs typeface="Lato"/>
                <a:sym typeface="Lato"/>
              </a:rPr>
              <a:t>Optical character r</a:t>
            </a:r>
            <a:r>
              <a:rPr lang="en" sz="1700">
                <a:solidFill>
                  <a:schemeClr val="lt1"/>
                </a:solidFill>
                <a:latin typeface="Lato"/>
                <a:ea typeface="Lato"/>
                <a:cs typeface="Lato"/>
                <a:sym typeface="Lato"/>
              </a:rPr>
              <a:t>ecognition in newspapers</a:t>
            </a:r>
            <a:endParaRPr sz="1700">
              <a:solidFill>
                <a:schemeClr val="lt1"/>
              </a:solidFill>
              <a:latin typeface="Lato"/>
              <a:ea typeface="Lato"/>
              <a:cs typeface="Lato"/>
              <a:sym typeface="Lato"/>
            </a:endParaRPr>
          </a:p>
        </p:txBody>
      </p:sp>
      <p:sp>
        <p:nvSpPr>
          <p:cNvPr id="208" name="Google Shape;208;p20"/>
          <p:cNvSpPr txBox="1"/>
          <p:nvPr/>
        </p:nvSpPr>
        <p:spPr>
          <a:xfrm>
            <a:off x="3428363" y="3331800"/>
            <a:ext cx="1199100" cy="974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solidFill>
                  <a:schemeClr val="lt1"/>
                </a:solidFill>
                <a:latin typeface="Lato"/>
                <a:ea typeface="Lato"/>
                <a:cs typeface="Lato"/>
                <a:sym typeface="Lato"/>
              </a:rPr>
              <a:t>Email spam checker</a:t>
            </a:r>
            <a:endParaRPr sz="1700">
              <a:solidFill>
                <a:schemeClr val="lt1"/>
              </a:solidFill>
              <a:latin typeface="Lato"/>
              <a:ea typeface="Lato"/>
              <a:cs typeface="Lato"/>
              <a:sym typeface="Lato"/>
            </a:endParaRPr>
          </a:p>
        </p:txBody>
      </p:sp>
      <p:sp>
        <p:nvSpPr>
          <p:cNvPr id="209" name="Google Shape;209;p20"/>
          <p:cNvSpPr txBox="1"/>
          <p:nvPr/>
        </p:nvSpPr>
        <p:spPr>
          <a:xfrm>
            <a:off x="3107075" y="1993100"/>
            <a:ext cx="774300" cy="40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700">
                <a:solidFill>
                  <a:schemeClr val="lt1"/>
                </a:solidFill>
                <a:latin typeface="Lato"/>
                <a:ea typeface="Lato"/>
                <a:cs typeface="Lato"/>
                <a:sym typeface="Lato"/>
              </a:rPr>
              <a:t>Chess</a:t>
            </a:r>
            <a:endParaRPr sz="1700">
              <a:solidFill>
                <a:schemeClr val="lt1"/>
              </a:solidFill>
              <a:latin typeface="Lato"/>
              <a:ea typeface="Lato"/>
              <a:cs typeface="Lato"/>
              <a:sym typeface="Lato"/>
            </a:endParaRPr>
          </a:p>
        </p:txBody>
      </p:sp>
      <p:sp>
        <p:nvSpPr>
          <p:cNvPr id="210" name="Google Shape;210;p20"/>
          <p:cNvSpPr txBox="1"/>
          <p:nvPr/>
        </p:nvSpPr>
        <p:spPr>
          <a:xfrm>
            <a:off x="4136525" y="1872300"/>
            <a:ext cx="1970400" cy="681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solidFill>
                  <a:schemeClr val="lt1"/>
                </a:solidFill>
                <a:latin typeface="Lato"/>
                <a:ea typeface="Lato"/>
                <a:cs typeface="Lato"/>
                <a:sym typeface="Lato"/>
              </a:rPr>
              <a:t>Movie </a:t>
            </a:r>
            <a:r>
              <a:rPr lang="en" sz="1700">
                <a:solidFill>
                  <a:schemeClr val="lt1"/>
                </a:solidFill>
                <a:latin typeface="Lato"/>
                <a:ea typeface="Lato"/>
                <a:cs typeface="Lato"/>
                <a:sym typeface="Lato"/>
              </a:rPr>
              <a:t>r</a:t>
            </a:r>
            <a:r>
              <a:rPr lang="en" sz="1700">
                <a:solidFill>
                  <a:schemeClr val="lt1"/>
                </a:solidFill>
                <a:latin typeface="Lato"/>
                <a:ea typeface="Lato"/>
                <a:cs typeface="Lato"/>
                <a:sym typeface="Lato"/>
              </a:rPr>
              <a:t>ecommendations</a:t>
            </a:r>
            <a:endParaRPr sz="1700">
              <a:solidFill>
                <a:schemeClr val="lt1"/>
              </a:solidFill>
              <a:latin typeface="Lato"/>
              <a:ea typeface="Lato"/>
              <a:cs typeface="Lato"/>
              <a:sym typeface="Lato"/>
            </a:endParaRPr>
          </a:p>
        </p:txBody>
      </p:sp>
      <p:sp>
        <p:nvSpPr>
          <p:cNvPr id="211" name="Google Shape;211;p20"/>
          <p:cNvSpPr txBox="1"/>
          <p:nvPr/>
        </p:nvSpPr>
        <p:spPr>
          <a:xfrm>
            <a:off x="5622025" y="3440250"/>
            <a:ext cx="1916400" cy="40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solidFill>
                  <a:schemeClr val="lt1"/>
                </a:solidFill>
                <a:latin typeface="Lato"/>
                <a:ea typeface="Lato"/>
                <a:cs typeface="Lato"/>
                <a:sym typeface="Lato"/>
              </a:rPr>
              <a:t>Facial </a:t>
            </a:r>
            <a:r>
              <a:rPr lang="en" sz="1700">
                <a:solidFill>
                  <a:schemeClr val="lt1"/>
                </a:solidFill>
                <a:latin typeface="Lato"/>
                <a:ea typeface="Lato"/>
                <a:cs typeface="Lato"/>
                <a:sym typeface="Lato"/>
              </a:rPr>
              <a:t>r</a:t>
            </a:r>
            <a:r>
              <a:rPr lang="en" sz="1700">
                <a:solidFill>
                  <a:schemeClr val="lt1"/>
                </a:solidFill>
                <a:latin typeface="Lato"/>
                <a:ea typeface="Lato"/>
                <a:cs typeface="Lato"/>
                <a:sym typeface="Lato"/>
              </a:rPr>
              <a:t>ecognition</a:t>
            </a:r>
            <a:endParaRPr sz="1700">
              <a:solidFill>
                <a:schemeClr val="lt1"/>
              </a:solidFill>
              <a:latin typeface="Lato"/>
              <a:ea typeface="Lato"/>
              <a:cs typeface="Lato"/>
              <a:sym typeface="Lato"/>
            </a:endParaRPr>
          </a:p>
        </p:txBody>
      </p:sp>
      <p:sp>
        <p:nvSpPr>
          <p:cNvPr id="212" name="Google Shape;212;p20"/>
          <p:cNvSpPr txBox="1"/>
          <p:nvPr/>
        </p:nvSpPr>
        <p:spPr>
          <a:xfrm>
            <a:off x="5849775" y="3951750"/>
            <a:ext cx="1464900" cy="40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700">
                <a:solidFill>
                  <a:schemeClr val="lt1"/>
                </a:solidFill>
                <a:latin typeface="Lato"/>
                <a:ea typeface="Lato"/>
                <a:cs typeface="Lato"/>
                <a:sym typeface="Lato"/>
              </a:rPr>
              <a:t>Voice </a:t>
            </a:r>
            <a:r>
              <a:rPr lang="en" sz="1700">
                <a:solidFill>
                  <a:schemeClr val="lt1"/>
                </a:solidFill>
                <a:latin typeface="Lato"/>
                <a:ea typeface="Lato"/>
                <a:cs typeface="Lato"/>
                <a:sym typeface="Lato"/>
              </a:rPr>
              <a:t>c</a:t>
            </a:r>
            <a:r>
              <a:rPr lang="en" sz="1700">
                <a:solidFill>
                  <a:schemeClr val="lt1"/>
                </a:solidFill>
                <a:latin typeface="Lato"/>
                <a:ea typeface="Lato"/>
                <a:cs typeface="Lato"/>
                <a:sym typeface="Lato"/>
              </a:rPr>
              <a:t>ontrol</a:t>
            </a:r>
            <a:endParaRPr sz="1700">
              <a:solidFill>
                <a:schemeClr val="lt1"/>
              </a:solidFill>
              <a:latin typeface="Lato"/>
              <a:ea typeface="Lato"/>
              <a:cs typeface="Lato"/>
              <a:sym typeface="Lato"/>
            </a:endParaRPr>
          </a:p>
        </p:txBody>
      </p:sp>
      <p:sp>
        <p:nvSpPr>
          <p:cNvPr id="213" name="Google Shape;213;p20"/>
          <p:cNvSpPr txBox="1"/>
          <p:nvPr/>
        </p:nvSpPr>
        <p:spPr>
          <a:xfrm>
            <a:off x="7538400" y="3490675"/>
            <a:ext cx="1605600" cy="381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700">
                <a:solidFill>
                  <a:schemeClr val="lt1"/>
                </a:solidFill>
                <a:latin typeface="Lato"/>
                <a:ea typeface="Lato"/>
                <a:cs typeface="Lato"/>
                <a:sym typeface="Lato"/>
              </a:rPr>
              <a:t>Self-driving cars</a:t>
            </a:r>
            <a:endParaRPr sz="1700">
              <a:solidFill>
                <a:schemeClr val="lt1"/>
              </a:solidFill>
              <a:latin typeface="Lato"/>
              <a:ea typeface="Lato"/>
              <a:cs typeface="Lato"/>
              <a:sym typeface="Lato"/>
            </a:endParaRPr>
          </a:p>
        </p:txBody>
      </p:sp>
      <p:sp>
        <p:nvSpPr>
          <p:cNvPr id="214" name="Google Shape;214;p20"/>
          <p:cNvSpPr/>
          <p:nvPr/>
        </p:nvSpPr>
        <p:spPr>
          <a:xfrm>
            <a:off x="7687725" y="3490675"/>
            <a:ext cx="1347900" cy="681600"/>
          </a:xfrm>
          <a:prstGeom prst="roundRect">
            <a:avLst>
              <a:gd fmla="val 16667" name="adj"/>
            </a:avLst>
          </a:prstGeom>
          <a:solidFill>
            <a:srgbClr val="03C1D5">
              <a:alpha val="30000"/>
            </a:srgbClr>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1"/>
          <p:cNvSpPr txBox="1"/>
          <p:nvPr/>
        </p:nvSpPr>
        <p:spPr>
          <a:xfrm>
            <a:off x="246825" y="119425"/>
            <a:ext cx="7740000" cy="72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490">
                <a:solidFill>
                  <a:schemeClr val="accent2"/>
                </a:solidFill>
                <a:latin typeface="Montserrat"/>
                <a:ea typeface="Montserrat"/>
                <a:cs typeface="Montserrat"/>
                <a:sym typeface="Montserrat"/>
              </a:rPr>
              <a:t>Artificial Intelligence, in 3 parts:</a:t>
            </a:r>
            <a:endParaRPr sz="2690">
              <a:solidFill>
                <a:schemeClr val="dk1"/>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2"/>
          <p:cNvSpPr txBox="1"/>
          <p:nvPr/>
        </p:nvSpPr>
        <p:spPr>
          <a:xfrm>
            <a:off x="1131701" y="974950"/>
            <a:ext cx="1688700" cy="66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90">
                <a:solidFill>
                  <a:schemeClr val="accent2"/>
                </a:solidFill>
                <a:latin typeface="Lato"/>
                <a:ea typeface="Lato"/>
                <a:cs typeface="Lato"/>
                <a:sym typeface="Lato"/>
              </a:rPr>
              <a:t>Data</a:t>
            </a:r>
            <a:endParaRPr sz="2290">
              <a:solidFill>
                <a:schemeClr val="dk1"/>
              </a:solidFill>
              <a:latin typeface="Lato"/>
              <a:ea typeface="Lato"/>
              <a:cs typeface="Lato"/>
              <a:sym typeface="Lato"/>
            </a:endParaRPr>
          </a:p>
        </p:txBody>
      </p:sp>
      <p:pic>
        <p:nvPicPr>
          <p:cNvPr id="225" name="Google Shape;225;p22"/>
          <p:cNvPicPr preferRelativeResize="0"/>
          <p:nvPr/>
        </p:nvPicPr>
        <p:blipFill rotWithShape="1">
          <a:blip r:embed="rId3">
            <a:alphaModFix/>
          </a:blip>
          <a:srcRect b="36461" l="2233" r="64526" t="23584"/>
          <a:stretch/>
        </p:blipFill>
        <p:spPr>
          <a:xfrm>
            <a:off x="686200" y="1932787"/>
            <a:ext cx="2579700" cy="1648150"/>
          </a:xfrm>
          <a:prstGeom prst="rect">
            <a:avLst/>
          </a:prstGeom>
          <a:noFill/>
          <a:ln>
            <a:noFill/>
          </a:ln>
        </p:spPr>
      </p:pic>
      <p:sp>
        <p:nvSpPr>
          <p:cNvPr id="226" name="Google Shape;226;p22"/>
          <p:cNvSpPr txBox="1"/>
          <p:nvPr/>
        </p:nvSpPr>
        <p:spPr>
          <a:xfrm>
            <a:off x="142400" y="4774525"/>
            <a:ext cx="6936000" cy="333600"/>
          </a:xfrm>
          <a:prstGeom prst="rect">
            <a:avLst/>
          </a:prstGeom>
          <a:noFill/>
          <a:ln>
            <a:noFill/>
          </a:ln>
        </p:spPr>
        <p:txBody>
          <a:bodyPr anchorCtr="0" anchor="t" bIns="91425" lIns="91425" spcFirstLastPara="1" rIns="91425" wrap="square" tIns="91425">
            <a:normAutofit fontScale="47500"/>
          </a:bodyPr>
          <a:lstStyle/>
          <a:p>
            <a:pPr indent="0" lvl="0" marL="0" rtl="0" algn="l">
              <a:lnSpc>
                <a:spcPct val="115000"/>
              </a:lnSpc>
              <a:spcBef>
                <a:spcPts val="0"/>
              </a:spcBef>
              <a:spcAft>
                <a:spcPts val="1200"/>
              </a:spcAft>
              <a:buNone/>
            </a:pPr>
            <a:r>
              <a:rPr lang="en" sz="1900">
                <a:latin typeface="Lato"/>
                <a:ea typeface="Lato"/>
                <a:cs typeface="Lato"/>
                <a:sym typeface="Lato"/>
              </a:rPr>
              <a:t>Image credit: </a:t>
            </a:r>
            <a:r>
              <a:rPr lang="en" sz="1900" u="sng">
                <a:solidFill>
                  <a:schemeClr val="hlink"/>
                </a:solidFill>
                <a:latin typeface="Lato"/>
                <a:ea typeface="Lato"/>
                <a:cs typeface="Lato"/>
                <a:sym typeface="Lato"/>
                <a:hlinkClick r:id="rId4"/>
              </a:rPr>
              <a:t>https://simplystatistics.org/posts/2017-01-19-what-is-artificial-intelligence/</a:t>
            </a:r>
            <a:r>
              <a:rPr lang="en" sz="1900">
                <a:latin typeface="Lato"/>
                <a:ea typeface="Lato"/>
                <a:cs typeface="Lato"/>
                <a:sym typeface="Lato"/>
              </a:rPr>
              <a:t> </a:t>
            </a:r>
            <a:endParaRPr sz="1900">
              <a:latin typeface="Lato"/>
              <a:ea typeface="Lato"/>
              <a:cs typeface="Lato"/>
              <a:sym typeface="Lato"/>
            </a:endParaRPr>
          </a:p>
        </p:txBody>
      </p:sp>
      <p:sp>
        <p:nvSpPr>
          <p:cNvPr id="227" name="Google Shape;227;p22"/>
          <p:cNvSpPr txBox="1"/>
          <p:nvPr/>
        </p:nvSpPr>
        <p:spPr>
          <a:xfrm>
            <a:off x="246825" y="119425"/>
            <a:ext cx="7740000" cy="72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490">
                <a:solidFill>
                  <a:schemeClr val="accent2"/>
                </a:solidFill>
                <a:latin typeface="Montserrat"/>
                <a:ea typeface="Montserrat"/>
                <a:cs typeface="Montserrat"/>
                <a:sym typeface="Montserrat"/>
              </a:rPr>
              <a:t>Artificial Intelligence, in 3 parts:</a:t>
            </a:r>
            <a:endParaRPr sz="2690">
              <a:solidFill>
                <a:schemeClr val="dk1"/>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3"/>
          <p:cNvSpPr txBox="1"/>
          <p:nvPr/>
        </p:nvSpPr>
        <p:spPr>
          <a:xfrm>
            <a:off x="1131701" y="974950"/>
            <a:ext cx="1688700" cy="66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90">
                <a:solidFill>
                  <a:schemeClr val="accent2"/>
                </a:solidFill>
                <a:latin typeface="Lato"/>
                <a:ea typeface="Lato"/>
                <a:cs typeface="Lato"/>
                <a:sym typeface="Lato"/>
              </a:rPr>
              <a:t>Data</a:t>
            </a:r>
            <a:endParaRPr sz="2290">
              <a:solidFill>
                <a:schemeClr val="dk1"/>
              </a:solidFill>
              <a:latin typeface="Lato"/>
              <a:ea typeface="Lato"/>
              <a:cs typeface="Lato"/>
              <a:sym typeface="Lato"/>
            </a:endParaRPr>
          </a:p>
        </p:txBody>
      </p:sp>
      <p:pic>
        <p:nvPicPr>
          <p:cNvPr id="233" name="Google Shape;233;p23"/>
          <p:cNvPicPr preferRelativeResize="0"/>
          <p:nvPr/>
        </p:nvPicPr>
        <p:blipFill rotWithShape="1">
          <a:blip r:embed="rId3">
            <a:alphaModFix/>
          </a:blip>
          <a:srcRect b="36461" l="2233" r="64526" t="23584"/>
          <a:stretch/>
        </p:blipFill>
        <p:spPr>
          <a:xfrm>
            <a:off x="686200" y="1932787"/>
            <a:ext cx="2579700" cy="1648150"/>
          </a:xfrm>
          <a:prstGeom prst="rect">
            <a:avLst/>
          </a:prstGeom>
          <a:noFill/>
          <a:ln>
            <a:noFill/>
          </a:ln>
        </p:spPr>
      </p:pic>
      <p:sp>
        <p:nvSpPr>
          <p:cNvPr id="234" name="Google Shape;234;p23"/>
          <p:cNvSpPr txBox="1"/>
          <p:nvPr/>
        </p:nvSpPr>
        <p:spPr>
          <a:xfrm>
            <a:off x="142400" y="4774525"/>
            <a:ext cx="6936000" cy="333600"/>
          </a:xfrm>
          <a:prstGeom prst="rect">
            <a:avLst/>
          </a:prstGeom>
          <a:noFill/>
          <a:ln>
            <a:noFill/>
          </a:ln>
        </p:spPr>
        <p:txBody>
          <a:bodyPr anchorCtr="0" anchor="t" bIns="91425" lIns="91425" spcFirstLastPara="1" rIns="91425" wrap="square" tIns="91425">
            <a:normAutofit fontScale="47500"/>
          </a:bodyPr>
          <a:lstStyle/>
          <a:p>
            <a:pPr indent="0" lvl="0" marL="0" rtl="0" algn="l">
              <a:lnSpc>
                <a:spcPct val="115000"/>
              </a:lnSpc>
              <a:spcBef>
                <a:spcPts val="0"/>
              </a:spcBef>
              <a:spcAft>
                <a:spcPts val="1200"/>
              </a:spcAft>
              <a:buNone/>
            </a:pPr>
            <a:r>
              <a:rPr lang="en" sz="1900">
                <a:latin typeface="Lato"/>
                <a:ea typeface="Lato"/>
                <a:cs typeface="Lato"/>
                <a:sym typeface="Lato"/>
              </a:rPr>
              <a:t>Image credit: </a:t>
            </a:r>
            <a:r>
              <a:rPr lang="en" sz="1900" u="sng">
                <a:solidFill>
                  <a:schemeClr val="hlink"/>
                </a:solidFill>
                <a:latin typeface="Lato"/>
                <a:ea typeface="Lato"/>
                <a:cs typeface="Lato"/>
                <a:sym typeface="Lato"/>
                <a:hlinkClick r:id="rId4"/>
              </a:rPr>
              <a:t>https://simplystatistics.org/posts/2017-01-19-what-is-artificial-intelligence/</a:t>
            </a:r>
            <a:r>
              <a:rPr lang="en" sz="1900">
                <a:latin typeface="Lato"/>
                <a:ea typeface="Lato"/>
                <a:cs typeface="Lato"/>
                <a:sym typeface="Lato"/>
              </a:rPr>
              <a:t> </a:t>
            </a:r>
            <a:endParaRPr sz="1900">
              <a:latin typeface="Lato"/>
              <a:ea typeface="Lato"/>
              <a:cs typeface="Lato"/>
              <a:sym typeface="Lato"/>
            </a:endParaRPr>
          </a:p>
        </p:txBody>
      </p:sp>
      <p:pic>
        <p:nvPicPr>
          <p:cNvPr id="235" name="Google Shape;235;p23"/>
          <p:cNvPicPr preferRelativeResize="0"/>
          <p:nvPr/>
        </p:nvPicPr>
        <p:blipFill rotWithShape="1">
          <a:blip r:embed="rId3">
            <a:alphaModFix/>
          </a:blip>
          <a:srcRect b="30514" l="38432" r="22121" t="26879"/>
          <a:stretch/>
        </p:blipFill>
        <p:spPr>
          <a:xfrm>
            <a:off x="4126125" y="2105650"/>
            <a:ext cx="2643399" cy="1509426"/>
          </a:xfrm>
          <a:prstGeom prst="rect">
            <a:avLst/>
          </a:prstGeom>
          <a:noFill/>
          <a:ln>
            <a:noFill/>
          </a:ln>
        </p:spPr>
      </p:pic>
      <p:sp>
        <p:nvSpPr>
          <p:cNvPr id="236" name="Google Shape;236;p23"/>
          <p:cNvSpPr txBox="1"/>
          <p:nvPr/>
        </p:nvSpPr>
        <p:spPr>
          <a:xfrm>
            <a:off x="4074575" y="974950"/>
            <a:ext cx="2746500" cy="66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90">
                <a:solidFill>
                  <a:schemeClr val="accent2"/>
                </a:solidFill>
                <a:latin typeface="Lato"/>
                <a:ea typeface="Lato"/>
                <a:cs typeface="Lato"/>
                <a:sym typeface="Lato"/>
              </a:rPr>
              <a:t>Algorithm</a:t>
            </a:r>
            <a:endParaRPr sz="2290">
              <a:solidFill>
                <a:schemeClr val="dk1"/>
              </a:solidFill>
              <a:latin typeface="Lato"/>
              <a:ea typeface="Lato"/>
              <a:cs typeface="Lato"/>
              <a:sym typeface="Lato"/>
            </a:endParaRPr>
          </a:p>
        </p:txBody>
      </p:sp>
      <p:sp>
        <p:nvSpPr>
          <p:cNvPr id="237" name="Google Shape;237;p23"/>
          <p:cNvSpPr txBox="1"/>
          <p:nvPr/>
        </p:nvSpPr>
        <p:spPr>
          <a:xfrm>
            <a:off x="246825" y="119425"/>
            <a:ext cx="7740000" cy="72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490">
                <a:solidFill>
                  <a:schemeClr val="accent2"/>
                </a:solidFill>
                <a:latin typeface="Montserrat"/>
                <a:ea typeface="Montserrat"/>
                <a:cs typeface="Montserrat"/>
                <a:sym typeface="Montserrat"/>
              </a:rPr>
              <a:t>Artificial Intelligence, in 3 parts:</a:t>
            </a:r>
            <a:endParaRPr sz="2690">
              <a:solidFill>
                <a:schemeClr val="dk1"/>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4"/>
          <p:cNvSpPr txBox="1"/>
          <p:nvPr/>
        </p:nvSpPr>
        <p:spPr>
          <a:xfrm>
            <a:off x="1131701" y="974950"/>
            <a:ext cx="1688700" cy="66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90">
                <a:solidFill>
                  <a:schemeClr val="accent2"/>
                </a:solidFill>
                <a:latin typeface="Lato"/>
                <a:ea typeface="Lato"/>
                <a:cs typeface="Lato"/>
                <a:sym typeface="Lato"/>
              </a:rPr>
              <a:t>Data</a:t>
            </a:r>
            <a:endParaRPr sz="2290">
              <a:solidFill>
                <a:schemeClr val="dk1"/>
              </a:solidFill>
              <a:latin typeface="Lato"/>
              <a:ea typeface="Lato"/>
              <a:cs typeface="Lato"/>
              <a:sym typeface="Lato"/>
            </a:endParaRPr>
          </a:p>
        </p:txBody>
      </p:sp>
      <p:pic>
        <p:nvPicPr>
          <p:cNvPr id="243" name="Google Shape;243;p24"/>
          <p:cNvPicPr preferRelativeResize="0"/>
          <p:nvPr/>
        </p:nvPicPr>
        <p:blipFill rotWithShape="1">
          <a:blip r:embed="rId3">
            <a:alphaModFix/>
          </a:blip>
          <a:srcRect b="36461" l="2233" r="64526" t="23584"/>
          <a:stretch/>
        </p:blipFill>
        <p:spPr>
          <a:xfrm>
            <a:off x="686200" y="1932787"/>
            <a:ext cx="2579700" cy="1648150"/>
          </a:xfrm>
          <a:prstGeom prst="rect">
            <a:avLst/>
          </a:prstGeom>
          <a:noFill/>
          <a:ln>
            <a:noFill/>
          </a:ln>
        </p:spPr>
      </p:pic>
      <p:sp>
        <p:nvSpPr>
          <p:cNvPr id="244" name="Google Shape;244;p24"/>
          <p:cNvSpPr txBox="1"/>
          <p:nvPr/>
        </p:nvSpPr>
        <p:spPr>
          <a:xfrm>
            <a:off x="142400" y="4774525"/>
            <a:ext cx="6936000" cy="333600"/>
          </a:xfrm>
          <a:prstGeom prst="rect">
            <a:avLst/>
          </a:prstGeom>
          <a:noFill/>
          <a:ln>
            <a:noFill/>
          </a:ln>
        </p:spPr>
        <p:txBody>
          <a:bodyPr anchorCtr="0" anchor="t" bIns="91425" lIns="91425" spcFirstLastPara="1" rIns="91425" wrap="square" tIns="91425">
            <a:normAutofit fontScale="47500"/>
          </a:bodyPr>
          <a:lstStyle/>
          <a:p>
            <a:pPr indent="0" lvl="0" marL="0" rtl="0" algn="l">
              <a:lnSpc>
                <a:spcPct val="115000"/>
              </a:lnSpc>
              <a:spcBef>
                <a:spcPts val="0"/>
              </a:spcBef>
              <a:spcAft>
                <a:spcPts val="1200"/>
              </a:spcAft>
              <a:buNone/>
            </a:pPr>
            <a:r>
              <a:rPr lang="en" sz="1900">
                <a:latin typeface="Lato"/>
                <a:ea typeface="Lato"/>
                <a:cs typeface="Lato"/>
                <a:sym typeface="Lato"/>
              </a:rPr>
              <a:t>Image credit: </a:t>
            </a:r>
            <a:r>
              <a:rPr lang="en" sz="1900" u="sng">
                <a:solidFill>
                  <a:schemeClr val="hlink"/>
                </a:solidFill>
                <a:latin typeface="Lato"/>
                <a:ea typeface="Lato"/>
                <a:cs typeface="Lato"/>
                <a:sym typeface="Lato"/>
                <a:hlinkClick r:id="rId4"/>
              </a:rPr>
              <a:t>https://simplystatistics.org/posts/2017-01-19-what-is-artificial-intelligence/</a:t>
            </a:r>
            <a:r>
              <a:rPr lang="en" sz="1900">
                <a:latin typeface="Lato"/>
                <a:ea typeface="Lato"/>
                <a:cs typeface="Lato"/>
                <a:sym typeface="Lato"/>
              </a:rPr>
              <a:t> </a:t>
            </a:r>
            <a:endParaRPr sz="1900">
              <a:latin typeface="Lato"/>
              <a:ea typeface="Lato"/>
              <a:cs typeface="Lato"/>
              <a:sym typeface="Lato"/>
            </a:endParaRPr>
          </a:p>
        </p:txBody>
      </p:sp>
      <p:pic>
        <p:nvPicPr>
          <p:cNvPr id="245" name="Google Shape;245;p24"/>
          <p:cNvPicPr preferRelativeResize="0"/>
          <p:nvPr/>
        </p:nvPicPr>
        <p:blipFill rotWithShape="1">
          <a:blip r:embed="rId3">
            <a:alphaModFix/>
          </a:blip>
          <a:srcRect b="30514" l="38432" r="22121" t="26879"/>
          <a:stretch/>
        </p:blipFill>
        <p:spPr>
          <a:xfrm>
            <a:off x="4126125" y="2105650"/>
            <a:ext cx="2643399" cy="1509426"/>
          </a:xfrm>
          <a:prstGeom prst="rect">
            <a:avLst/>
          </a:prstGeom>
          <a:noFill/>
          <a:ln>
            <a:noFill/>
          </a:ln>
        </p:spPr>
      </p:pic>
      <p:pic>
        <p:nvPicPr>
          <p:cNvPr id="246" name="Google Shape;246;p24"/>
          <p:cNvPicPr preferRelativeResize="0"/>
          <p:nvPr/>
        </p:nvPicPr>
        <p:blipFill rotWithShape="1">
          <a:blip r:embed="rId3">
            <a:alphaModFix/>
          </a:blip>
          <a:srcRect b="17385" l="84175" r="3468" t="20809"/>
          <a:stretch/>
        </p:blipFill>
        <p:spPr>
          <a:xfrm>
            <a:off x="7629750" y="1765575"/>
            <a:ext cx="828051" cy="2189576"/>
          </a:xfrm>
          <a:prstGeom prst="rect">
            <a:avLst/>
          </a:prstGeom>
          <a:noFill/>
          <a:ln>
            <a:noFill/>
          </a:ln>
        </p:spPr>
      </p:pic>
      <p:sp>
        <p:nvSpPr>
          <p:cNvPr id="247" name="Google Shape;247;p24"/>
          <p:cNvSpPr txBox="1"/>
          <p:nvPr/>
        </p:nvSpPr>
        <p:spPr>
          <a:xfrm>
            <a:off x="4074575" y="974950"/>
            <a:ext cx="2746500" cy="66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90">
                <a:solidFill>
                  <a:schemeClr val="accent2"/>
                </a:solidFill>
                <a:latin typeface="Lato"/>
                <a:ea typeface="Lato"/>
                <a:cs typeface="Lato"/>
                <a:sym typeface="Lato"/>
              </a:rPr>
              <a:t>Algorithm</a:t>
            </a:r>
            <a:endParaRPr sz="2290">
              <a:solidFill>
                <a:schemeClr val="dk1"/>
              </a:solidFill>
              <a:latin typeface="Lato"/>
              <a:ea typeface="Lato"/>
              <a:cs typeface="Lato"/>
              <a:sym typeface="Lato"/>
            </a:endParaRPr>
          </a:p>
        </p:txBody>
      </p:sp>
      <p:sp>
        <p:nvSpPr>
          <p:cNvPr id="248" name="Google Shape;248;p24"/>
          <p:cNvSpPr txBox="1"/>
          <p:nvPr/>
        </p:nvSpPr>
        <p:spPr>
          <a:xfrm>
            <a:off x="6670525" y="974950"/>
            <a:ext cx="2746500" cy="660300"/>
          </a:xfrm>
          <a:prstGeom prst="rect">
            <a:avLst/>
          </a:prstGeom>
          <a:noFill/>
          <a:ln>
            <a:noFill/>
          </a:ln>
        </p:spPr>
        <p:txBody>
          <a:bodyPr anchorCtr="0" anchor="t" bIns="91425" lIns="91425" spcFirstLastPara="1" rIns="79900" wrap="square" tIns="91425">
            <a:spAutoFit/>
          </a:bodyPr>
          <a:lstStyle/>
          <a:p>
            <a:pPr indent="0" lvl="0" marL="0" rtl="0" algn="ctr">
              <a:spcBef>
                <a:spcPts val="0"/>
              </a:spcBef>
              <a:spcAft>
                <a:spcPts val="0"/>
              </a:spcAft>
              <a:buNone/>
            </a:pPr>
            <a:r>
              <a:rPr lang="en" sz="3090">
                <a:solidFill>
                  <a:schemeClr val="accent2"/>
                </a:solidFill>
                <a:latin typeface="Lato"/>
                <a:ea typeface="Lato"/>
                <a:cs typeface="Lato"/>
                <a:sym typeface="Lato"/>
              </a:rPr>
              <a:t>Interface</a:t>
            </a:r>
            <a:endParaRPr sz="3090">
              <a:solidFill>
                <a:schemeClr val="accent2"/>
              </a:solidFill>
              <a:latin typeface="Lato"/>
              <a:ea typeface="Lato"/>
              <a:cs typeface="Lato"/>
              <a:sym typeface="Lato"/>
            </a:endParaRPr>
          </a:p>
        </p:txBody>
      </p:sp>
      <p:sp>
        <p:nvSpPr>
          <p:cNvPr id="249" name="Google Shape;249;p24"/>
          <p:cNvSpPr txBox="1"/>
          <p:nvPr/>
        </p:nvSpPr>
        <p:spPr>
          <a:xfrm>
            <a:off x="246825" y="119425"/>
            <a:ext cx="7740000" cy="72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490">
                <a:solidFill>
                  <a:schemeClr val="accent2"/>
                </a:solidFill>
                <a:latin typeface="Montserrat"/>
                <a:ea typeface="Montserrat"/>
                <a:cs typeface="Montserrat"/>
                <a:sym typeface="Montserrat"/>
              </a:rPr>
              <a:t>Artificial Intelligence, in 3 parts:</a:t>
            </a:r>
            <a:endParaRPr sz="2690">
              <a:solidFill>
                <a:schemeClr val="dk1"/>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5"/>
          <p:cNvSpPr txBox="1"/>
          <p:nvPr/>
        </p:nvSpPr>
        <p:spPr>
          <a:xfrm>
            <a:off x="1131701" y="974950"/>
            <a:ext cx="1688700" cy="66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90">
                <a:solidFill>
                  <a:schemeClr val="accent2"/>
                </a:solidFill>
                <a:latin typeface="Lato"/>
                <a:ea typeface="Lato"/>
                <a:cs typeface="Lato"/>
                <a:sym typeface="Lato"/>
              </a:rPr>
              <a:t>Data</a:t>
            </a:r>
            <a:endParaRPr sz="2290">
              <a:solidFill>
                <a:schemeClr val="dk1"/>
              </a:solidFill>
              <a:latin typeface="Lato"/>
              <a:ea typeface="Lato"/>
              <a:cs typeface="Lato"/>
              <a:sym typeface="Lato"/>
            </a:endParaRPr>
          </a:p>
        </p:txBody>
      </p:sp>
      <p:pic>
        <p:nvPicPr>
          <p:cNvPr id="255" name="Google Shape;255;p25"/>
          <p:cNvPicPr preferRelativeResize="0"/>
          <p:nvPr/>
        </p:nvPicPr>
        <p:blipFill rotWithShape="1">
          <a:blip r:embed="rId3">
            <a:alphaModFix/>
          </a:blip>
          <a:srcRect b="36461" l="2233" r="64526" t="23584"/>
          <a:stretch/>
        </p:blipFill>
        <p:spPr>
          <a:xfrm>
            <a:off x="686200" y="1932787"/>
            <a:ext cx="2579700" cy="1648150"/>
          </a:xfrm>
          <a:prstGeom prst="rect">
            <a:avLst/>
          </a:prstGeom>
          <a:noFill/>
          <a:ln>
            <a:noFill/>
          </a:ln>
        </p:spPr>
      </p:pic>
      <p:sp>
        <p:nvSpPr>
          <p:cNvPr id="256" name="Google Shape;256;p25"/>
          <p:cNvSpPr txBox="1"/>
          <p:nvPr/>
        </p:nvSpPr>
        <p:spPr>
          <a:xfrm>
            <a:off x="142400" y="4774525"/>
            <a:ext cx="6936000" cy="333600"/>
          </a:xfrm>
          <a:prstGeom prst="rect">
            <a:avLst/>
          </a:prstGeom>
          <a:noFill/>
          <a:ln>
            <a:noFill/>
          </a:ln>
        </p:spPr>
        <p:txBody>
          <a:bodyPr anchorCtr="0" anchor="t" bIns="91425" lIns="91425" spcFirstLastPara="1" rIns="91425" wrap="square" tIns="91425">
            <a:normAutofit fontScale="47500"/>
          </a:bodyPr>
          <a:lstStyle/>
          <a:p>
            <a:pPr indent="0" lvl="0" marL="0" rtl="0" algn="l">
              <a:lnSpc>
                <a:spcPct val="115000"/>
              </a:lnSpc>
              <a:spcBef>
                <a:spcPts val="0"/>
              </a:spcBef>
              <a:spcAft>
                <a:spcPts val="1200"/>
              </a:spcAft>
              <a:buNone/>
            </a:pPr>
            <a:r>
              <a:rPr lang="en" sz="1900">
                <a:latin typeface="Lato"/>
                <a:ea typeface="Lato"/>
                <a:cs typeface="Lato"/>
                <a:sym typeface="Lato"/>
              </a:rPr>
              <a:t>Image credit: </a:t>
            </a:r>
            <a:r>
              <a:rPr lang="en" sz="1900" u="sng">
                <a:solidFill>
                  <a:schemeClr val="hlink"/>
                </a:solidFill>
                <a:latin typeface="Lato"/>
                <a:ea typeface="Lato"/>
                <a:cs typeface="Lato"/>
                <a:sym typeface="Lato"/>
                <a:hlinkClick r:id="rId4"/>
              </a:rPr>
              <a:t>https://simplystatistics.org/posts/2017-01-19-what-is-artificial-intelligence/</a:t>
            </a:r>
            <a:r>
              <a:rPr lang="en" sz="1900">
                <a:latin typeface="Lato"/>
                <a:ea typeface="Lato"/>
                <a:cs typeface="Lato"/>
                <a:sym typeface="Lato"/>
              </a:rPr>
              <a:t> </a:t>
            </a:r>
            <a:endParaRPr sz="1900">
              <a:latin typeface="Lato"/>
              <a:ea typeface="Lato"/>
              <a:cs typeface="Lato"/>
              <a:sym typeface="Lato"/>
            </a:endParaRPr>
          </a:p>
        </p:txBody>
      </p:sp>
      <p:sp>
        <p:nvSpPr>
          <p:cNvPr id="257" name="Google Shape;257;p25"/>
          <p:cNvSpPr txBox="1"/>
          <p:nvPr/>
        </p:nvSpPr>
        <p:spPr>
          <a:xfrm>
            <a:off x="825857" y="4059275"/>
            <a:ext cx="2300400" cy="44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90">
                <a:solidFill>
                  <a:schemeClr val="accent2"/>
                </a:solidFill>
                <a:latin typeface="Lato"/>
                <a:ea typeface="Lato"/>
                <a:cs typeface="Lato"/>
                <a:sym typeface="Lato"/>
              </a:rPr>
              <a:t>Customer voices</a:t>
            </a:r>
            <a:endParaRPr b="1" sz="889">
              <a:solidFill>
                <a:schemeClr val="dk1"/>
              </a:solidFill>
              <a:latin typeface="Lato"/>
              <a:ea typeface="Lato"/>
              <a:cs typeface="Lato"/>
              <a:sym typeface="Lato"/>
            </a:endParaRPr>
          </a:p>
        </p:txBody>
      </p:sp>
      <p:pic>
        <p:nvPicPr>
          <p:cNvPr id="258" name="Google Shape;258;p25"/>
          <p:cNvPicPr preferRelativeResize="0"/>
          <p:nvPr/>
        </p:nvPicPr>
        <p:blipFill rotWithShape="1">
          <a:blip r:embed="rId3">
            <a:alphaModFix/>
          </a:blip>
          <a:srcRect b="30514" l="38432" r="22121" t="26879"/>
          <a:stretch/>
        </p:blipFill>
        <p:spPr>
          <a:xfrm>
            <a:off x="4126125" y="2105650"/>
            <a:ext cx="2643399" cy="1509426"/>
          </a:xfrm>
          <a:prstGeom prst="rect">
            <a:avLst/>
          </a:prstGeom>
          <a:noFill/>
          <a:ln>
            <a:noFill/>
          </a:ln>
        </p:spPr>
      </p:pic>
      <p:pic>
        <p:nvPicPr>
          <p:cNvPr id="259" name="Google Shape;259;p25"/>
          <p:cNvPicPr preferRelativeResize="0"/>
          <p:nvPr/>
        </p:nvPicPr>
        <p:blipFill rotWithShape="1">
          <a:blip r:embed="rId3">
            <a:alphaModFix/>
          </a:blip>
          <a:srcRect b="17385" l="84175" r="3468" t="20809"/>
          <a:stretch/>
        </p:blipFill>
        <p:spPr>
          <a:xfrm>
            <a:off x="7629750" y="1765575"/>
            <a:ext cx="828051" cy="2189576"/>
          </a:xfrm>
          <a:prstGeom prst="rect">
            <a:avLst/>
          </a:prstGeom>
          <a:noFill/>
          <a:ln>
            <a:noFill/>
          </a:ln>
        </p:spPr>
      </p:pic>
      <p:sp>
        <p:nvSpPr>
          <p:cNvPr id="260" name="Google Shape;260;p25"/>
          <p:cNvSpPr txBox="1"/>
          <p:nvPr/>
        </p:nvSpPr>
        <p:spPr>
          <a:xfrm>
            <a:off x="4074575" y="974950"/>
            <a:ext cx="2746500" cy="66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90">
                <a:solidFill>
                  <a:schemeClr val="accent2"/>
                </a:solidFill>
                <a:latin typeface="Lato"/>
                <a:ea typeface="Lato"/>
                <a:cs typeface="Lato"/>
                <a:sym typeface="Lato"/>
              </a:rPr>
              <a:t>Algorithm</a:t>
            </a:r>
            <a:endParaRPr sz="2290">
              <a:solidFill>
                <a:schemeClr val="dk1"/>
              </a:solidFill>
              <a:latin typeface="Lato"/>
              <a:ea typeface="Lato"/>
              <a:cs typeface="Lato"/>
              <a:sym typeface="Lato"/>
            </a:endParaRPr>
          </a:p>
        </p:txBody>
      </p:sp>
      <p:sp>
        <p:nvSpPr>
          <p:cNvPr id="261" name="Google Shape;261;p25"/>
          <p:cNvSpPr txBox="1"/>
          <p:nvPr/>
        </p:nvSpPr>
        <p:spPr>
          <a:xfrm>
            <a:off x="6670525" y="974950"/>
            <a:ext cx="2746500" cy="660300"/>
          </a:xfrm>
          <a:prstGeom prst="rect">
            <a:avLst/>
          </a:prstGeom>
          <a:noFill/>
          <a:ln>
            <a:noFill/>
          </a:ln>
        </p:spPr>
        <p:txBody>
          <a:bodyPr anchorCtr="0" anchor="t" bIns="91425" lIns="91425" spcFirstLastPara="1" rIns="79900" wrap="square" tIns="91425">
            <a:spAutoFit/>
          </a:bodyPr>
          <a:lstStyle/>
          <a:p>
            <a:pPr indent="0" lvl="0" marL="0" rtl="0" algn="ctr">
              <a:spcBef>
                <a:spcPts val="0"/>
              </a:spcBef>
              <a:spcAft>
                <a:spcPts val="0"/>
              </a:spcAft>
              <a:buNone/>
            </a:pPr>
            <a:r>
              <a:rPr lang="en" sz="3090">
                <a:solidFill>
                  <a:schemeClr val="accent2"/>
                </a:solidFill>
                <a:latin typeface="Lato"/>
                <a:ea typeface="Lato"/>
                <a:cs typeface="Lato"/>
                <a:sym typeface="Lato"/>
              </a:rPr>
              <a:t>Interface</a:t>
            </a:r>
            <a:endParaRPr sz="3090">
              <a:solidFill>
                <a:schemeClr val="accent2"/>
              </a:solidFill>
              <a:latin typeface="Lato"/>
              <a:ea typeface="Lato"/>
              <a:cs typeface="Lato"/>
              <a:sym typeface="Lato"/>
            </a:endParaRPr>
          </a:p>
        </p:txBody>
      </p:sp>
      <p:sp>
        <p:nvSpPr>
          <p:cNvPr id="262" name="Google Shape;262;p25"/>
          <p:cNvSpPr txBox="1"/>
          <p:nvPr/>
        </p:nvSpPr>
        <p:spPr>
          <a:xfrm>
            <a:off x="4055382" y="4059275"/>
            <a:ext cx="2784900" cy="44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90">
                <a:solidFill>
                  <a:schemeClr val="accent2"/>
                </a:solidFill>
                <a:latin typeface="Lato"/>
                <a:ea typeface="Lato"/>
                <a:cs typeface="Lato"/>
                <a:sym typeface="Lato"/>
              </a:rPr>
              <a:t>Alexa Voice Services</a:t>
            </a:r>
            <a:endParaRPr b="1" sz="889">
              <a:solidFill>
                <a:schemeClr val="dk1"/>
              </a:solidFill>
              <a:latin typeface="Lato"/>
              <a:ea typeface="Lato"/>
              <a:cs typeface="Lato"/>
              <a:sym typeface="Lato"/>
            </a:endParaRPr>
          </a:p>
        </p:txBody>
      </p:sp>
      <p:sp>
        <p:nvSpPr>
          <p:cNvPr id="263" name="Google Shape;263;p25"/>
          <p:cNvSpPr txBox="1"/>
          <p:nvPr/>
        </p:nvSpPr>
        <p:spPr>
          <a:xfrm>
            <a:off x="7264825" y="4059275"/>
            <a:ext cx="1557900" cy="44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90">
                <a:solidFill>
                  <a:schemeClr val="accent2"/>
                </a:solidFill>
                <a:latin typeface="Lato"/>
                <a:ea typeface="Lato"/>
                <a:cs typeface="Lato"/>
                <a:sym typeface="Lato"/>
              </a:rPr>
              <a:t>Amazon Echo</a:t>
            </a:r>
            <a:endParaRPr b="1" sz="889">
              <a:solidFill>
                <a:schemeClr val="dk1"/>
              </a:solidFill>
              <a:latin typeface="Lato"/>
              <a:ea typeface="Lato"/>
              <a:cs typeface="Lato"/>
              <a:sym typeface="Lato"/>
            </a:endParaRPr>
          </a:p>
        </p:txBody>
      </p:sp>
      <p:sp>
        <p:nvSpPr>
          <p:cNvPr id="264" name="Google Shape;264;p25"/>
          <p:cNvSpPr txBox="1"/>
          <p:nvPr/>
        </p:nvSpPr>
        <p:spPr>
          <a:xfrm>
            <a:off x="246825" y="119425"/>
            <a:ext cx="7740000" cy="72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490">
                <a:solidFill>
                  <a:schemeClr val="accent2"/>
                </a:solidFill>
                <a:latin typeface="Montserrat"/>
                <a:ea typeface="Montserrat"/>
                <a:cs typeface="Montserrat"/>
                <a:sym typeface="Montserrat"/>
              </a:rPr>
              <a:t>Example: Amazon Echo</a:t>
            </a:r>
            <a:endParaRPr b="1" sz="3490">
              <a:solidFill>
                <a:schemeClr val="accent2"/>
              </a:solidFill>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6"/>
          <p:cNvSpPr txBox="1"/>
          <p:nvPr/>
        </p:nvSpPr>
        <p:spPr>
          <a:xfrm>
            <a:off x="1131701" y="974950"/>
            <a:ext cx="1688700" cy="66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90">
                <a:solidFill>
                  <a:schemeClr val="accent2"/>
                </a:solidFill>
                <a:latin typeface="Lato"/>
                <a:ea typeface="Lato"/>
                <a:cs typeface="Lato"/>
                <a:sym typeface="Lato"/>
              </a:rPr>
              <a:t>Data</a:t>
            </a:r>
            <a:endParaRPr sz="2290">
              <a:solidFill>
                <a:schemeClr val="dk1"/>
              </a:solidFill>
              <a:latin typeface="Lato"/>
              <a:ea typeface="Lato"/>
              <a:cs typeface="Lato"/>
              <a:sym typeface="Lato"/>
            </a:endParaRPr>
          </a:p>
        </p:txBody>
      </p:sp>
      <p:pic>
        <p:nvPicPr>
          <p:cNvPr id="270" name="Google Shape;270;p26"/>
          <p:cNvPicPr preferRelativeResize="0"/>
          <p:nvPr/>
        </p:nvPicPr>
        <p:blipFill rotWithShape="1">
          <a:blip r:embed="rId3">
            <a:alphaModFix/>
          </a:blip>
          <a:srcRect b="36461" l="2233" r="64526" t="23584"/>
          <a:stretch/>
        </p:blipFill>
        <p:spPr>
          <a:xfrm>
            <a:off x="686200" y="1932787"/>
            <a:ext cx="2579700" cy="1648150"/>
          </a:xfrm>
          <a:prstGeom prst="rect">
            <a:avLst/>
          </a:prstGeom>
          <a:noFill/>
          <a:ln>
            <a:noFill/>
          </a:ln>
        </p:spPr>
      </p:pic>
      <p:sp>
        <p:nvSpPr>
          <p:cNvPr id="271" name="Google Shape;271;p26"/>
          <p:cNvSpPr txBox="1"/>
          <p:nvPr/>
        </p:nvSpPr>
        <p:spPr>
          <a:xfrm>
            <a:off x="142400" y="4774525"/>
            <a:ext cx="6936000" cy="333600"/>
          </a:xfrm>
          <a:prstGeom prst="rect">
            <a:avLst/>
          </a:prstGeom>
          <a:noFill/>
          <a:ln>
            <a:noFill/>
          </a:ln>
        </p:spPr>
        <p:txBody>
          <a:bodyPr anchorCtr="0" anchor="t" bIns="91425" lIns="91425" spcFirstLastPara="1" rIns="91425" wrap="square" tIns="91425">
            <a:normAutofit fontScale="47500"/>
          </a:bodyPr>
          <a:lstStyle/>
          <a:p>
            <a:pPr indent="0" lvl="0" marL="0" rtl="0" algn="l">
              <a:lnSpc>
                <a:spcPct val="115000"/>
              </a:lnSpc>
              <a:spcBef>
                <a:spcPts val="0"/>
              </a:spcBef>
              <a:spcAft>
                <a:spcPts val="1200"/>
              </a:spcAft>
              <a:buNone/>
            </a:pPr>
            <a:r>
              <a:rPr lang="en" sz="1900">
                <a:latin typeface="Lato"/>
                <a:ea typeface="Lato"/>
                <a:cs typeface="Lato"/>
                <a:sym typeface="Lato"/>
              </a:rPr>
              <a:t>Image credit: </a:t>
            </a:r>
            <a:r>
              <a:rPr lang="en" sz="1900" u="sng">
                <a:solidFill>
                  <a:schemeClr val="hlink"/>
                </a:solidFill>
                <a:latin typeface="Lato"/>
                <a:ea typeface="Lato"/>
                <a:cs typeface="Lato"/>
                <a:sym typeface="Lato"/>
                <a:hlinkClick r:id="rId4"/>
              </a:rPr>
              <a:t>https://simplystatistics.org/posts/2017-01-19-what-is-artificial-intelligence/</a:t>
            </a:r>
            <a:r>
              <a:rPr lang="en" sz="1900">
                <a:latin typeface="Lato"/>
                <a:ea typeface="Lato"/>
                <a:cs typeface="Lato"/>
                <a:sym typeface="Lato"/>
              </a:rPr>
              <a:t> </a:t>
            </a:r>
            <a:endParaRPr sz="1900">
              <a:latin typeface="Lato"/>
              <a:ea typeface="Lato"/>
              <a:cs typeface="Lato"/>
              <a:sym typeface="Lato"/>
            </a:endParaRPr>
          </a:p>
        </p:txBody>
      </p:sp>
      <p:sp>
        <p:nvSpPr>
          <p:cNvPr id="272" name="Google Shape;272;p26"/>
          <p:cNvSpPr txBox="1"/>
          <p:nvPr/>
        </p:nvSpPr>
        <p:spPr>
          <a:xfrm>
            <a:off x="825857" y="4059275"/>
            <a:ext cx="2300400" cy="44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90">
                <a:solidFill>
                  <a:schemeClr val="accent2"/>
                </a:solidFill>
                <a:latin typeface="Lato"/>
                <a:ea typeface="Lato"/>
                <a:cs typeface="Lato"/>
                <a:sym typeface="Lato"/>
              </a:rPr>
              <a:t>Customer voices</a:t>
            </a:r>
            <a:endParaRPr b="1" sz="889">
              <a:solidFill>
                <a:schemeClr val="dk1"/>
              </a:solidFill>
              <a:latin typeface="Lato"/>
              <a:ea typeface="Lato"/>
              <a:cs typeface="Lato"/>
              <a:sym typeface="Lato"/>
            </a:endParaRPr>
          </a:p>
        </p:txBody>
      </p:sp>
      <p:pic>
        <p:nvPicPr>
          <p:cNvPr id="273" name="Google Shape;273;p26"/>
          <p:cNvPicPr preferRelativeResize="0"/>
          <p:nvPr/>
        </p:nvPicPr>
        <p:blipFill rotWithShape="1">
          <a:blip r:embed="rId3">
            <a:alphaModFix/>
          </a:blip>
          <a:srcRect b="30514" l="38432" r="22121" t="26879"/>
          <a:stretch/>
        </p:blipFill>
        <p:spPr>
          <a:xfrm>
            <a:off x="4126125" y="2105650"/>
            <a:ext cx="2643399" cy="1509426"/>
          </a:xfrm>
          <a:prstGeom prst="rect">
            <a:avLst/>
          </a:prstGeom>
          <a:noFill/>
          <a:ln>
            <a:noFill/>
          </a:ln>
        </p:spPr>
      </p:pic>
      <p:pic>
        <p:nvPicPr>
          <p:cNvPr id="274" name="Google Shape;274;p26"/>
          <p:cNvPicPr preferRelativeResize="0"/>
          <p:nvPr/>
        </p:nvPicPr>
        <p:blipFill rotWithShape="1">
          <a:blip r:embed="rId3">
            <a:alphaModFix/>
          </a:blip>
          <a:srcRect b="17385" l="84175" r="3468" t="20809"/>
          <a:stretch/>
        </p:blipFill>
        <p:spPr>
          <a:xfrm>
            <a:off x="7629750" y="1765575"/>
            <a:ext cx="828051" cy="2189576"/>
          </a:xfrm>
          <a:prstGeom prst="rect">
            <a:avLst/>
          </a:prstGeom>
          <a:noFill/>
          <a:ln>
            <a:noFill/>
          </a:ln>
        </p:spPr>
      </p:pic>
      <p:sp>
        <p:nvSpPr>
          <p:cNvPr id="275" name="Google Shape;275;p26"/>
          <p:cNvSpPr txBox="1"/>
          <p:nvPr/>
        </p:nvSpPr>
        <p:spPr>
          <a:xfrm>
            <a:off x="4074575" y="974950"/>
            <a:ext cx="2746500" cy="66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90">
                <a:solidFill>
                  <a:schemeClr val="accent2"/>
                </a:solidFill>
                <a:latin typeface="Lato"/>
                <a:ea typeface="Lato"/>
                <a:cs typeface="Lato"/>
                <a:sym typeface="Lato"/>
              </a:rPr>
              <a:t>Algorithm</a:t>
            </a:r>
            <a:endParaRPr sz="2290">
              <a:solidFill>
                <a:schemeClr val="dk1"/>
              </a:solidFill>
              <a:latin typeface="Lato"/>
              <a:ea typeface="Lato"/>
              <a:cs typeface="Lato"/>
              <a:sym typeface="Lato"/>
            </a:endParaRPr>
          </a:p>
        </p:txBody>
      </p:sp>
      <p:sp>
        <p:nvSpPr>
          <p:cNvPr id="276" name="Google Shape;276;p26"/>
          <p:cNvSpPr txBox="1"/>
          <p:nvPr/>
        </p:nvSpPr>
        <p:spPr>
          <a:xfrm>
            <a:off x="6670525" y="974950"/>
            <a:ext cx="2746500" cy="660300"/>
          </a:xfrm>
          <a:prstGeom prst="rect">
            <a:avLst/>
          </a:prstGeom>
          <a:noFill/>
          <a:ln>
            <a:noFill/>
          </a:ln>
        </p:spPr>
        <p:txBody>
          <a:bodyPr anchorCtr="0" anchor="t" bIns="91425" lIns="91425" spcFirstLastPara="1" rIns="79900" wrap="square" tIns="91425">
            <a:spAutoFit/>
          </a:bodyPr>
          <a:lstStyle/>
          <a:p>
            <a:pPr indent="0" lvl="0" marL="0" rtl="0" algn="ctr">
              <a:spcBef>
                <a:spcPts val="0"/>
              </a:spcBef>
              <a:spcAft>
                <a:spcPts val="0"/>
              </a:spcAft>
              <a:buNone/>
            </a:pPr>
            <a:r>
              <a:rPr lang="en" sz="3090">
                <a:solidFill>
                  <a:schemeClr val="accent2"/>
                </a:solidFill>
                <a:latin typeface="Lato"/>
                <a:ea typeface="Lato"/>
                <a:cs typeface="Lato"/>
                <a:sym typeface="Lato"/>
              </a:rPr>
              <a:t>Interface</a:t>
            </a:r>
            <a:endParaRPr sz="3090">
              <a:solidFill>
                <a:schemeClr val="accent2"/>
              </a:solidFill>
              <a:latin typeface="Lato"/>
              <a:ea typeface="Lato"/>
              <a:cs typeface="Lato"/>
              <a:sym typeface="Lato"/>
            </a:endParaRPr>
          </a:p>
        </p:txBody>
      </p:sp>
      <p:sp>
        <p:nvSpPr>
          <p:cNvPr id="277" name="Google Shape;277;p26"/>
          <p:cNvSpPr txBox="1"/>
          <p:nvPr/>
        </p:nvSpPr>
        <p:spPr>
          <a:xfrm>
            <a:off x="4055382" y="4059275"/>
            <a:ext cx="2784900" cy="44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90">
                <a:solidFill>
                  <a:schemeClr val="accent2"/>
                </a:solidFill>
                <a:latin typeface="Lato"/>
                <a:ea typeface="Lato"/>
                <a:cs typeface="Lato"/>
                <a:sym typeface="Lato"/>
              </a:rPr>
              <a:t>Alexa Voice Services</a:t>
            </a:r>
            <a:endParaRPr b="1" sz="889">
              <a:solidFill>
                <a:schemeClr val="dk1"/>
              </a:solidFill>
              <a:latin typeface="Lato"/>
              <a:ea typeface="Lato"/>
              <a:cs typeface="Lato"/>
              <a:sym typeface="Lato"/>
            </a:endParaRPr>
          </a:p>
        </p:txBody>
      </p:sp>
      <p:sp>
        <p:nvSpPr>
          <p:cNvPr id="278" name="Google Shape;278;p26"/>
          <p:cNvSpPr txBox="1"/>
          <p:nvPr/>
        </p:nvSpPr>
        <p:spPr>
          <a:xfrm>
            <a:off x="7264825" y="4059275"/>
            <a:ext cx="1557900" cy="44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90">
                <a:solidFill>
                  <a:schemeClr val="accent2"/>
                </a:solidFill>
                <a:latin typeface="Lato"/>
                <a:ea typeface="Lato"/>
                <a:cs typeface="Lato"/>
                <a:sym typeface="Lato"/>
              </a:rPr>
              <a:t>Amazon Echo</a:t>
            </a:r>
            <a:endParaRPr b="1" sz="889">
              <a:solidFill>
                <a:schemeClr val="dk1"/>
              </a:solidFill>
              <a:latin typeface="Lato"/>
              <a:ea typeface="Lato"/>
              <a:cs typeface="Lato"/>
              <a:sym typeface="Lato"/>
            </a:endParaRPr>
          </a:p>
        </p:txBody>
      </p:sp>
      <p:sp>
        <p:nvSpPr>
          <p:cNvPr id="279" name="Google Shape;279;p26"/>
          <p:cNvSpPr txBox="1"/>
          <p:nvPr/>
        </p:nvSpPr>
        <p:spPr>
          <a:xfrm>
            <a:off x="246825" y="119425"/>
            <a:ext cx="7740000" cy="72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490">
                <a:solidFill>
                  <a:schemeClr val="accent2"/>
                </a:solidFill>
                <a:latin typeface="Montserrat"/>
                <a:ea typeface="Montserrat"/>
                <a:cs typeface="Montserrat"/>
                <a:sym typeface="Montserrat"/>
              </a:rPr>
              <a:t>Example: Amazon Echo</a:t>
            </a:r>
            <a:endParaRPr b="1" sz="3490">
              <a:solidFill>
                <a:schemeClr val="accent2"/>
              </a:solidFill>
              <a:latin typeface="Montserrat"/>
              <a:ea typeface="Montserrat"/>
              <a:cs typeface="Montserrat"/>
              <a:sym typeface="Montserrat"/>
            </a:endParaRPr>
          </a:p>
        </p:txBody>
      </p:sp>
      <p:sp>
        <p:nvSpPr>
          <p:cNvPr id="280" name="Google Shape;280;p26"/>
          <p:cNvSpPr/>
          <p:nvPr/>
        </p:nvSpPr>
        <p:spPr>
          <a:xfrm>
            <a:off x="476875" y="848775"/>
            <a:ext cx="3256500" cy="3798000"/>
          </a:xfrm>
          <a:prstGeom prst="roundRect">
            <a:avLst>
              <a:gd fmla="val 16667" name="adj"/>
            </a:avLst>
          </a:prstGeom>
          <a:noFill/>
          <a:ln cap="flat" cmpd="sng" w="38100">
            <a:solidFill>
              <a:srgbClr val="FFB5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7"/>
          <p:cNvSpPr txBox="1"/>
          <p:nvPr/>
        </p:nvSpPr>
        <p:spPr>
          <a:xfrm>
            <a:off x="1131701" y="974950"/>
            <a:ext cx="1688700" cy="66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90">
                <a:solidFill>
                  <a:schemeClr val="accent2"/>
                </a:solidFill>
                <a:latin typeface="Lato"/>
                <a:ea typeface="Lato"/>
                <a:cs typeface="Lato"/>
                <a:sym typeface="Lato"/>
              </a:rPr>
              <a:t>Data</a:t>
            </a:r>
            <a:endParaRPr sz="2290">
              <a:solidFill>
                <a:schemeClr val="dk1"/>
              </a:solidFill>
              <a:latin typeface="Lato"/>
              <a:ea typeface="Lato"/>
              <a:cs typeface="Lato"/>
              <a:sym typeface="Lato"/>
            </a:endParaRPr>
          </a:p>
        </p:txBody>
      </p:sp>
      <p:pic>
        <p:nvPicPr>
          <p:cNvPr id="286" name="Google Shape;286;p27"/>
          <p:cNvPicPr preferRelativeResize="0"/>
          <p:nvPr/>
        </p:nvPicPr>
        <p:blipFill rotWithShape="1">
          <a:blip r:embed="rId3">
            <a:alphaModFix/>
          </a:blip>
          <a:srcRect b="36461" l="2233" r="64526" t="23584"/>
          <a:stretch/>
        </p:blipFill>
        <p:spPr>
          <a:xfrm>
            <a:off x="686200" y="1932787"/>
            <a:ext cx="2579700" cy="1648150"/>
          </a:xfrm>
          <a:prstGeom prst="rect">
            <a:avLst/>
          </a:prstGeom>
          <a:noFill/>
          <a:ln>
            <a:noFill/>
          </a:ln>
        </p:spPr>
      </p:pic>
      <p:sp>
        <p:nvSpPr>
          <p:cNvPr id="287" name="Google Shape;287;p27"/>
          <p:cNvSpPr txBox="1"/>
          <p:nvPr/>
        </p:nvSpPr>
        <p:spPr>
          <a:xfrm>
            <a:off x="142400" y="4774525"/>
            <a:ext cx="6936000" cy="333600"/>
          </a:xfrm>
          <a:prstGeom prst="rect">
            <a:avLst/>
          </a:prstGeom>
          <a:noFill/>
          <a:ln>
            <a:noFill/>
          </a:ln>
        </p:spPr>
        <p:txBody>
          <a:bodyPr anchorCtr="0" anchor="t" bIns="91425" lIns="91425" spcFirstLastPara="1" rIns="91425" wrap="square" tIns="91425">
            <a:normAutofit fontScale="47500"/>
          </a:bodyPr>
          <a:lstStyle/>
          <a:p>
            <a:pPr indent="0" lvl="0" marL="0" rtl="0" algn="l">
              <a:lnSpc>
                <a:spcPct val="115000"/>
              </a:lnSpc>
              <a:spcBef>
                <a:spcPts val="0"/>
              </a:spcBef>
              <a:spcAft>
                <a:spcPts val="1200"/>
              </a:spcAft>
              <a:buNone/>
            </a:pPr>
            <a:r>
              <a:rPr lang="en" sz="1900">
                <a:latin typeface="Lato"/>
                <a:ea typeface="Lato"/>
                <a:cs typeface="Lato"/>
                <a:sym typeface="Lato"/>
              </a:rPr>
              <a:t>Image credit: </a:t>
            </a:r>
            <a:r>
              <a:rPr lang="en" sz="1900" u="sng">
                <a:solidFill>
                  <a:schemeClr val="hlink"/>
                </a:solidFill>
                <a:latin typeface="Lato"/>
                <a:ea typeface="Lato"/>
                <a:cs typeface="Lato"/>
                <a:sym typeface="Lato"/>
                <a:hlinkClick r:id="rId4"/>
              </a:rPr>
              <a:t>https://simplystatistics.org/posts/2017-01-19-what-is-artificial-intelligence/</a:t>
            </a:r>
            <a:r>
              <a:rPr lang="en" sz="1900">
                <a:latin typeface="Lato"/>
                <a:ea typeface="Lato"/>
                <a:cs typeface="Lato"/>
                <a:sym typeface="Lato"/>
              </a:rPr>
              <a:t> </a:t>
            </a:r>
            <a:endParaRPr sz="1900">
              <a:latin typeface="Lato"/>
              <a:ea typeface="Lato"/>
              <a:cs typeface="Lato"/>
              <a:sym typeface="Lato"/>
            </a:endParaRPr>
          </a:p>
        </p:txBody>
      </p:sp>
      <p:sp>
        <p:nvSpPr>
          <p:cNvPr id="288" name="Google Shape;288;p27"/>
          <p:cNvSpPr txBox="1"/>
          <p:nvPr/>
        </p:nvSpPr>
        <p:spPr>
          <a:xfrm>
            <a:off x="825857" y="4059275"/>
            <a:ext cx="2300400" cy="44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90">
                <a:solidFill>
                  <a:schemeClr val="accent2"/>
                </a:solidFill>
                <a:latin typeface="Lato"/>
                <a:ea typeface="Lato"/>
                <a:cs typeface="Lato"/>
                <a:sym typeface="Lato"/>
              </a:rPr>
              <a:t>Customer voices</a:t>
            </a:r>
            <a:endParaRPr b="1" sz="889">
              <a:solidFill>
                <a:schemeClr val="dk1"/>
              </a:solidFill>
              <a:latin typeface="Lato"/>
              <a:ea typeface="Lato"/>
              <a:cs typeface="Lato"/>
              <a:sym typeface="Lato"/>
            </a:endParaRPr>
          </a:p>
        </p:txBody>
      </p:sp>
      <p:pic>
        <p:nvPicPr>
          <p:cNvPr id="289" name="Google Shape;289;p27"/>
          <p:cNvPicPr preferRelativeResize="0"/>
          <p:nvPr/>
        </p:nvPicPr>
        <p:blipFill rotWithShape="1">
          <a:blip r:embed="rId3">
            <a:alphaModFix/>
          </a:blip>
          <a:srcRect b="30514" l="38432" r="22121" t="26879"/>
          <a:stretch/>
        </p:blipFill>
        <p:spPr>
          <a:xfrm>
            <a:off x="4126125" y="2105650"/>
            <a:ext cx="2643399" cy="1509426"/>
          </a:xfrm>
          <a:prstGeom prst="rect">
            <a:avLst/>
          </a:prstGeom>
          <a:noFill/>
          <a:ln>
            <a:noFill/>
          </a:ln>
        </p:spPr>
      </p:pic>
      <p:pic>
        <p:nvPicPr>
          <p:cNvPr id="290" name="Google Shape;290;p27"/>
          <p:cNvPicPr preferRelativeResize="0"/>
          <p:nvPr/>
        </p:nvPicPr>
        <p:blipFill rotWithShape="1">
          <a:blip r:embed="rId3">
            <a:alphaModFix/>
          </a:blip>
          <a:srcRect b="17385" l="84175" r="3468" t="20809"/>
          <a:stretch/>
        </p:blipFill>
        <p:spPr>
          <a:xfrm>
            <a:off x="7629750" y="1765575"/>
            <a:ext cx="828051" cy="2189576"/>
          </a:xfrm>
          <a:prstGeom prst="rect">
            <a:avLst/>
          </a:prstGeom>
          <a:noFill/>
          <a:ln>
            <a:noFill/>
          </a:ln>
        </p:spPr>
      </p:pic>
      <p:sp>
        <p:nvSpPr>
          <p:cNvPr id="291" name="Google Shape;291;p27"/>
          <p:cNvSpPr txBox="1"/>
          <p:nvPr/>
        </p:nvSpPr>
        <p:spPr>
          <a:xfrm>
            <a:off x="4074575" y="974950"/>
            <a:ext cx="2746500" cy="66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90">
                <a:solidFill>
                  <a:schemeClr val="accent2"/>
                </a:solidFill>
                <a:latin typeface="Lato"/>
                <a:ea typeface="Lato"/>
                <a:cs typeface="Lato"/>
                <a:sym typeface="Lato"/>
              </a:rPr>
              <a:t>Algorithm</a:t>
            </a:r>
            <a:endParaRPr sz="2290">
              <a:solidFill>
                <a:schemeClr val="dk1"/>
              </a:solidFill>
              <a:latin typeface="Lato"/>
              <a:ea typeface="Lato"/>
              <a:cs typeface="Lato"/>
              <a:sym typeface="Lato"/>
            </a:endParaRPr>
          </a:p>
        </p:txBody>
      </p:sp>
      <p:sp>
        <p:nvSpPr>
          <p:cNvPr id="292" name="Google Shape;292;p27"/>
          <p:cNvSpPr txBox="1"/>
          <p:nvPr/>
        </p:nvSpPr>
        <p:spPr>
          <a:xfrm>
            <a:off x="6670525" y="974950"/>
            <a:ext cx="2746500" cy="660300"/>
          </a:xfrm>
          <a:prstGeom prst="rect">
            <a:avLst/>
          </a:prstGeom>
          <a:noFill/>
          <a:ln>
            <a:noFill/>
          </a:ln>
        </p:spPr>
        <p:txBody>
          <a:bodyPr anchorCtr="0" anchor="t" bIns="91425" lIns="91425" spcFirstLastPara="1" rIns="79900" wrap="square" tIns="91425">
            <a:spAutoFit/>
          </a:bodyPr>
          <a:lstStyle/>
          <a:p>
            <a:pPr indent="0" lvl="0" marL="0" rtl="0" algn="ctr">
              <a:spcBef>
                <a:spcPts val="0"/>
              </a:spcBef>
              <a:spcAft>
                <a:spcPts val="0"/>
              </a:spcAft>
              <a:buNone/>
            </a:pPr>
            <a:r>
              <a:rPr lang="en" sz="3090">
                <a:solidFill>
                  <a:schemeClr val="accent2"/>
                </a:solidFill>
                <a:latin typeface="Lato"/>
                <a:ea typeface="Lato"/>
                <a:cs typeface="Lato"/>
                <a:sym typeface="Lato"/>
              </a:rPr>
              <a:t>Interface</a:t>
            </a:r>
            <a:endParaRPr sz="3090">
              <a:solidFill>
                <a:schemeClr val="accent2"/>
              </a:solidFill>
              <a:latin typeface="Lato"/>
              <a:ea typeface="Lato"/>
              <a:cs typeface="Lato"/>
              <a:sym typeface="Lato"/>
            </a:endParaRPr>
          </a:p>
        </p:txBody>
      </p:sp>
      <p:sp>
        <p:nvSpPr>
          <p:cNvPr id="293" name="Google Shape;293;p27"/>
          <p:cNvSpPr txBox="1"/>
          <p:nvPr/>
        </p:nvSpPr>
        <p:spPr>
          <a:xfrm>
            <a:off x="4055382" y="4059275"/>
            <a:ext cx="2784900" cy="44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90">
                <a:solidFill>
                  <a:schemeClr val="accent2"/>
                </a:solidFill>
                <a:latin typeface="Lato"/>
                <a:ea typeface="Lato"/>
                <a:cs typeface="Lato"/>
                <a:sym typeface="Lato"/>
              </a:rPr>
              <a:t>Alexa Voice Services</a:t>
            </a:r>
            <a:endParaRPr b="1" sz="889">
              <a:solidFill>
                <a:schemeClr val="dk1"/>
              </a:solidFill>
              <a:latin typeface="Lato"/>
              <a:ea typeface="Lato"/>
              <a:cs typeface="Lato"/>
              <a:sym typeface="Lato"/>
            </a:endParaRPr>
          </a:p>
        </p:txBody>
      </p:sp>
      <p:sp>
        <p:nvSpPr>
          <p:cNvPr id="294" name="Google Shape;294;p27"/>
          <p:cNvSpPr txBox="1"/>
          <p:nvPr/>
        </p:nvSpPr>
        <p:spPr>
          <a:xfrm>
            <a:off x="7264825" y="4059275"/>
            <a:ext cx="1557900" cy="44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90">
                <a:solidFill>
                  <a:schemeClr val="accent2"/>
                </a:solidFill>
                <a:latin typeface="Lato"/>
                <a:ea typeface="Lato"/>
                <a:cs typeface="Lato"/>
                <a:sym typeface="Lato"/>
              </a:rPr>
              <a:t>Amazon Echo</a:t>
            </a:r>
            <a:endParaRPr b="1" sz="889">
              <a:solidFill>
                <a:schemeClr val="dk1"/>
              </a:solidFill>
              <a:latin typeface="Lato"/>
              <a:ea typeface="Lato"/>
              <a:cs typeface="Lato"/>
              <a:sym typeface="Lato"/>
            </a:endParaRPr>
          </a:p>
        </p:txBody>
      </p:sp>
      <p:sp>
        <p:nvSpPr>
          <p:cNvPr id="295" name="Google Shape;295;p27"/>
          <p:cNvSpPr txBox="1"/>
          <p:nvPr/>
        </p:nvSpPr>
        <p:spPr>
          <a:xfrm>
            <a:off x="246825" y="119425"/>
            <a:ext cx="7740000" cy="72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490">
                <a:solidFill>
                  <a:schemeClr val="accent2"/>
                </a:solidFill>
                <a:latin typeface="Montserrat"/>
                <a:ea typeface="Montserrat"/>
                <a:cs typeface="Montserrat"/>
                <a:sym typeface="Montserrat"/>
              </a:rPr>
              <a:t>Example: Amazon Echo</a:t>
            </a:r>
            <a:endParaRPr b="1" sz="3490">
              <a:solidFill>
                <a:schemeClr val="accent2"/>
              </a:solidFill>
              <a:latin typeface="Montserrat"/>
              <a:ea typeface="Montserrat"/>
              <a:cs typeface="Montserrat"/>
              <a:sym typeface="Montserrat"/>
            </a:endParaRPr>
          </a:p>
        </p:txBody>
      </p:sp>
      <p:sp>
        <p:nvSpPr>
          <p:cNvPr id="296" name="Google Shape;296;p27"/>
          <p:cNvSpPr/>
          <p:nvPr/>
        </p:nvSpPr>
        <p:spPr>
          <a:xfrm>
            <a:off x="3819575" y="857850"/>
            <a:ext cx="3256500" cy="3798000"/>
          </a:xfrm>
          <a:prstGeom prst="roundRect">
            <a:avLst>
              <a:gd fmla="val 16667" name="adj"/>
            </a:avLst>
          </a:prstGeom>
          <a:noFill/>
          <a:ln cap="flat" cmpd="sng" w="38100">
            <a:solidFill>
              <a:srgbClr val="FFB5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8"/>
          <p:cNvSpPr txBox="1"/>
          <p:nvPr/>
        </p:nvSpPr>
        <p:spPr>
          <a:xfrm>
            <a:off x="1131701" y="974950"/>
            <a:ext cx="1688700" cy="66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90">
                <a:solidFill>
                  <a:schemeClr val="accent2"/>
                </a:solidFill>
                <a:latin typeface="Lato"/>
                <a:ea typeface="Lato"/>
                <a:cs typeface="Lato"/>
                <a:sym typeface="Lato"/>
              </a:rPr>
              <a:t>Data</a:t>
            </a:r>
            <a:endParaRPr sz="2290">
              <a:solidFill>
                <a:schemeClr val="dk1"/>
              </a:solidFill>
              <a:latin typeface="Lato"/>
              <a:ea typeface="Lato"/>
              <a:cs typeface="Lato"/>
              <a:sym typeface="Lato"/>
            </a:endParaRPr>
          </a:p>
        </p:txBody>
      </p:sp>
      <p:pic>
        <p:nvPicPr>
          <p:cNvPr id="302" name="Google Shape;302;p28"/>
          <p:cNvPicPr preferRelativeResize="0"/>
          <p:nvPr/>
        </p:nvPicPr>
        <p:blipFill rotWithShape="1">
          <a:blip r:embed="rId3">
            <a:alphaModFix/>
          </a:blip>
          <a:srcRect b="36461" l="2233" r="64526" t="23584"/>
          <a:stretch/>
        </p:blipFill>
        <p:spPr>
          <a:xfrm>
            <a:off x="686200" y="1932787"/>
            <a:ext cx="2579700" cy="1648150"/>
          </a:xfrm>
          <a:prstGeom prst="rect">
            <a:avLst/>
          </a:prstGeom>
          <a:noFill/>
          <a:ln>
            <a:noFill/>
          </a:ln>
        </p:spPr>
      </p:pic>
      <p:sp>
        <p:nvSpPr>
          <p:cNvPr id="303" name="Google Shape;303;p28"/>
          <p:cNvSpPr txBox="1"/>
          <p:nvPr/>
        </p:nvSpPr>
        <p:spPr>
          <a:xfrm>
            <a:off x="142400" y="4774525"/>
            <a:ext cx="6936000" cy="333600"/>
          </a:xfrm>
          <a:prstGeom prst="rect">
            <a:avLst/>
          </a:prstGeom>
          <a:noFill/>
          <a:ln>
            <a:noFill/>
          </a:ln>
        </p:spPr>
        <p:txBody>
          <a:bodyPr anchorCtr="0" anchor="t" bIns="91425" lIns="91425" spcFirstLastPara="1" rIns="91425" wrap="square" tIns="91425">
            <a:normAutofit fontScale="47500"/>
          </a:bodyPr>
          <a:lstStyle/>
          <a:p>
            <a:pPr indent="0" lvl="0" marL="0" rtl="0" algn="l">
              <a:lnSpc>
                <a:spcPct val="115000"/>
              </a:lnSpc>
              <a:spcBef>
                <a:spcPts val="0"/>
              </a:spcBef>
              <a:spcAft>
                <a:spcPts val="1200"/>
              </a:spcAft>
              <a:buNone/>
            </a:pPr>
            <a:r>
              <a:rPr lang="en" sz="1900">
                <a:latin typeface="Lato"/>
                <a:ea typeface="Lato"/>
                <a:cs typeface="Lato"/>
                <a:sym typeface="Lato"/>
              </a:rPr>
              <a:t>Image credit: </a:t>
            </a:r>
            <a:r>
              <a:rPr lang="en" sz="1900" u="sng">
                <a:solidFill>
                  <a:schemeClr val="hlink"/>
                </a:solidFill>
                <a:latin typeface="Lato"/>
                <a:ea typeface="Lato"/>
                <a:cs typeface="Lato"/>
                <a:sym typeface="Lato"/>
                <a:hlinkClick r:id="rId4"/>
              </a:rPr>
              <a:t>https://simplystatistics.org/posts/2017-01-19-what-is-artificial-intelligence/</a:t>
            </a:r>
            <a:r>
              <a:rPr lang="en" sz="1900">
                <a:latin typeface="Lato"/>
                <a:ea typeface="Lato"/>
                <a:cs typeface="Lato"/>
                <a:sym typeface="Lato"/>
              </a:rPr>
              <a:t> </a:t>
            </a:r>
            <a:endParaRPr sz="1900">
              <a:latin typeface="Lato"/>
              <a:ea typeface="Lato"/>
              <a:cs typeface="Lato"/>
              <a:sym typeface="Lato"/>
            </a:endParaRPr>
          </a:p>
        </p:txBody>
      </p:sp>
      <p:sp>
        <p:nvSpPr>
          <p:cNvPr id="304" name="Google Shape;304;p28"/>
          <p:cNvSpPr txBox="1"/>
          <p:nvPr/>
        </p:nvSpPr>
        <p:spPr>
          <a:xfrm>
            <a:off x="825857" y="4059275"/>
            <a:ext cx="2300400" cy="44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90">
                <a:solidFill>
                  <a:schemeClr val="accent2"/>
                </a:solidFill>
                <a:latin typeface="Lato"/>
                <a:ea typeface="Lato"/>
                <a:cs typeface="Lato"/>
                <a:sym typeface="Lato"/>
              </a:rPr>
              <a:t>Customer voices</a:t>
            </a:r>
            <a:endParaRPr b="1" sz="889">
              <a:solidFill>
                <a:schemeClr val="dk1"/>
              </a:solidFill>
              <a:latin typeface="Lato"/>
              <a:ea typeface="Lato"/>
              <a:cs typeface="Lato"/>
              <a:sym typeface="Lato"/>
            </a:endParaRPr>
          </a:p>
        </p:txBody>
      </p:sp>
      <p:pic>
        <p:nvPicPr>
          <p:cNvPr id="305" name="Google Shape;305;p28"/>
          <p:cNvPicPr preferRelativeResize="0"/>
          <p:nvPr/>
        </p:nvPicPr>
        <p:blipFill rotWithShape="1">
          <a:blip r:embed="rId3">
            <a:alphaModFix/>
          </a:blip>
          <a:srcRect b="30514" l="38432" r="22121" t="26879"/>
          <a:stretch/>
        </p:blipFill>
        <p:spPr>
          <a:xfrm>
            <a:off x="4126125" y="2105650"/>
            <a:ext cx="2643399" cy="1509426"/>
          </a:xfrm>
          <a:prstGeom prst="rect">
            <a:avLst/>
          </a:prstGeom>
          <a:noFill/>
          <a:ln>
            <a:noFill/>
          </a:ln>
        </p:spPr>
      </p:pic>
      <p:pic>
        <p:nvPicPr>
          <p:cNvPr id="306" name="Google Shape;306;p28"/>
          <p:cNvPicPr preferRelativeResize="0"/>
          <p:nvPr/>
        </p:nvPicPr>
        <p:blipFill rotWithShape="1">
          <a:blip r:embed="rId3">
            <a:alphaModFix/>
          </a:blip>
          <a:srcRect b="17385" l="84175" r="3468" t="20809"/>
          <a:stretch/>
        </p:blipFill>
        <p:spPr>
          <a:xfrm>
            <a:off x="7629750" y="1765575"/>
            <a:ext cx="828051" cy="2189576"/>
          </a:xfrm>
          <a:prstGeom prst="rect">
            <a:avLst/>
          </a:prstGeom>
          <a:noFill/>
          <a:ln>
            <a:noFill/>
          </a:ln>
        </p:spPr>
      </p:pic>
      <p:sp>
        <p:nvSpPr>
          <p:cNvPr id="307" name="Google Shape;307;p28"/>
          <p:cNvSpPr txBox="1"/>
          <p:nvPr/>
        </p:nvSpPr>
        <p:spPr>
          <a:xfrm>
            <a:off x="4074575" y="974950"/>
            <a:ext cx="2746500" cy="66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90">
                <a:solidFill>
                  <a:schemeClr val="accent2"/>
                </a:solidFill>
                <a:latin typeface="Lato"/>
                <a:ea typeface="Lato"/>
                <a:cs typeface="Lato"/>
                <a:sym typeface="Lato"/>
              </a:rPr>
              <a:t>Algorithm</a:t>
            </a:r>
            <a:endParaRPr sz="2290">
              <a:solidFill>
                <a:schemeClr val="dk1"/>
              </a:solidFill>
              <a:latin typeface="Lato"/>
              <a:ea typeface="Lato"/>
              <a:cs typeface="Lato"/>
              <a:sym typeface="Lato"/>
            </a:endParaRPr>
          </a:p>
        </p:txBody>
      </p:sp>
      <p:sp>
        <p:nvSpPr>
          <p:cNvPr id="308" name="Google Shape;308;p28"/>
          <p:cNvSpPr txBox="1"/>
          <p:nvPr/>
        </p:nvSpPr>
        <p:spPr>
          <a:xfrm>
            <a:off x="6670525" y="974950"/>
            <a:ext cx="2746500" cy="660300"/>
          </a:xfrm>
          <a:prstGeom prst="rect">
            <a:avLst/>
          </a:prstGeom>
          <a:noFill/>
          <a:ln>
            <a:noFill/>
          </a:ln>
        </p:spPr>
        <p:txBody>
          <a:bodyPr anchorCtr="0" anchor="t" bIns="91425" lIns="91425" spcFirstLastPara="1" rIns="79900" wrap="square" tIns="91425">
            <a:spAutoFit/>
          </a:bodyPr>
          <a:lstStyle/>
          <a:p>
            <a:pPr indent="0" lvl="0" marL="0" rtl="0" algn="ctr">
              <a:spcBef>
                <a:spcPts val="0"/>
              </a:spcBef>
              <a:spcAft>
                <a:spcPts val="0"/>
              </a:spcAft>
              <a:buNone/>
            </a:pPr>
            <a:r>
              <a:rPr lang="en" sz="3090">
                <a:solidFill>
                  <a:schemeClr val="accent2"/>
                </a:solidFill>
                <a:latin typeface="Lato"/>
                <a:ea typeface="Lato"/>
                <a:cs typeface="Lato"/>
                <a:sym typeface="Lato"/>
              </a:rPr>
              <a:t>Interface</a:t>
            </a:r>
            <a:endParaRPr sz="3090">
              <a:solidFill>
                <a:schemeClr val="accent2"/>
              </a:solidFill>
              <a:latin typeface="Lato"/>
              <a:ea typeface="Lato"/>
              <a:cs typeface="Lato"/>
              <a:sym typeface="Lato"/>
            </a:endParaRPr>
          </a:p>
        </p:txBody>
      </p:sp>
      <p:sp>
        <p:nvSpPr>
          <p:cNvPr id="309" name="Google Shape;309;p28"/>
          <p:cNvSpPr txBox="1"/>
          <p:nvPr/>
        </p:nvSpPr>
        <p:spPr>
          <a:xfrm>
            <a:off x="4055382" y="4059275"/>
            <a:ext cx="2784900" cy="44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90">
                <a:solidFill>
                  <a:schemeClr val="accent2"/>
                </a:solidFill>
                <a:latin typeface="Lato"/>
                <a:ea typeface="Lato"/>
                <a:cs typeface="Lato"/>
                <a:sym typeface="Lato"/>
              </a:rPr>
              <a:t>Alexa Voice Services</a:t>
            </a:r>
            <a:endParaRPr b="1" sz="889">
              <a:solidFill>
                <a:schemeClr val="dk1"/>
              </a:solidFill>
              <a:latin typeface="Lato"/>
              <a:ea typeface="Lato"/>
              <a:cs typeface="Lato"/>
              <a:sym typeface="Lato"/>
            </a:endParaRPr>
          </a:p>
        </p:txBody>
      </p:sp>
      <p:sp>
        <p:nvSpPr>
          <p:cNvPr id="310" name="Google Shape;310;p28"/>
          <p:cNvSpPr txBox="1"/>
          <p:nvPr/>
        </p:nvSpPr>
        <p:spPr>
          <a:xfrm>
            <a:off x="7264825" y="4059275"/>
            <a:ext cx="1557900" cy="44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90">
                <a:solidFill>
                  <a:schemeClr val="accent2"/>
                </a:solidFill>
                <a:latin typeface="Lato"/>
                <a:ea typeface="Lato"/>
                <a:cs typeface="Lato"/>
                <a:sym typeface="Lato"/>
              </a:rPr>
              <a:t>Amazon Echo</a:t>
            </a:r>
            <a:endParaRPr b="1" sz="889">
              <a:solidFill>
                <a:schemeClr val="dk1"/>
              </a:solidFill>
              <a:latin typeface="Lato"/>
              <a:ea typeface="Lato"/>
              <a:cs typeface="Lato"/>
              <a:sym typeface="Lato"/>
            </a:endParaRPr>
          </a:p>
        </p:txBody>
      </p:sp>
      <p:sp>
        <p:nvSpPr>
          <p:cNvPr id="311" name="Google Shape;311;p28"/>
          <p:cNvSpPr txBox="1"/>
          <p:nvPr/>
        </p:nvSpPr>
        <p:spPr>
          <a:xfrm>
            <a:off x="246825" y="119425"/>
            <a:ext cx="7740000" cy="72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490">
                <a:solidFill>
                  <a:schemeClr val="accent2"/>
                </a:solidFill>
                <a:latin typeface="Montserrat"/>
                <a:ea typeface="Montserrat"/>
                <a:cs typeface="Montserrat"/>
                <a:sym typeface="Montserrat"/>
              </a:rPr>
              <a:t>Example: Amazon Echo</a:t>
            </a:r>
            <a:endParaRPr b="1" sz="3490">
              <a:solidFill>
                <a:schemeClr val="accent2"/>
              </a:solidFill>
              <a:latin typeface="Montserrat"/>
              <a:ea typeface="Montserrat"/>
              <a:cs typeface="Montserrat"/>
              <a:sym typeface="Montserrat"/>
            </a:endParaRPr>
          </a:p>
        </p:txBody>
      </p:sp>
      <p:sp>
        <p:nvSpPr>
          <p:cNvPr id="312" name="Google Shape;312;p28"/>
          <p:cNvSpPr/>
          <p:nvPr/>
        </p:nvSpPr>
        <p:spPr>
          <a:xfrm>
            <a:off x="6942075" y="769175"/>
            <a:ext cx="2141700" cy="3798000"/>
          </a:xfrm>
          <a:prstGeom prst="roundRect">
            <a:avLst>
              <a:gd fmla="val 16667" name="adj"/>
            </a:avLst>
          </a:prstGeom>
          <a:noFill/>
          <a:ln cap="flat" cmpd="sng" w="38100">
            <a:solidFill>
              <a:srgbClr val="FFB5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9"/>
          <p:cNvSpPr txBox="1"/>
          <p:nvPr/>
        </p:nvSpPr>
        <p:spPr>
          <a:xfrm>
            <a:off x="1131701" y="974950"/>
            <a:ext cx="1688700" cy="66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90">
                <a:solidFill>
                  <a:schemeClr val="accent2"/>
                </a:solidFill>
                <a:latin typeface="Lato"/>
                <a:ea typeface="Lato"/>
                <a:cs typeface="Lato"/>
                <a:sym typeface="Lato"/>
              </a:rPr>
              <a:t>Data</a:t>
            </a:r>
            <a:endParaRPr sz="2290">
              <a:solidFill>
                <a:schemeClr val="dk1"/>
              </a:solidFill>
              <a:latin typeface="Lato"/>
              <a:ea typeface="Lato"/>
              <a:cs typeface="Lato"/>
              <a:sym typeface="Lato"/>
            </a:endParaRPr>
          </a:p>
        </p:txBody>
      </p:sp>
      <p:pic>
        <p:nvPicPr>
          <p:cNvPr id="318" name="Google Shape;318;p29"/>
          <p:cNvPicPr preferRelativeResize="0"/>
          <p:nvPr/>
        </p:nvPicPr>
        <p:blipFill rotWithShape="1">
          <a:blip r:embed="rId3">
            <a:alphaModFix/>
          </a:blip>
          <a:srcRect b="36461" l="2233" r="64526" t="23584"/>
          <a:stretch/>
        </p:blipFill>
        <p:spPr>
          <a:xfrm>
            <a:off x="686200" y="1932787"/>
            <a:ext cx="2579700" cy="1648150"/>
          </a:xfrm>
          <a:prstGeom prst="rect">
            <a:avLst/>
          </a:prstGeom>
          <a:noFill/>
          <a:ln>
            <a:noFill/>
          </a:ln>
        </p:spPr>
      </p:pic>
      <p:sp>
        <p:nvSpPr>
          <p:cNvPr id="319" name="Google Shape;319;p29"/>
          <p:cNvSpPr txBox="1"/>
          <p:nvPr/>
        </p:nvSpPr>
        <p:spPr>
          <a:xfrm>
            <a:off x="142400" y="4774525"/>
            <a:ext cx="6936000" cy="333600"/>
          </a:xfrm>
          <a:prstGeom prst="rect">
            <a:avLst/>
          </a:prstGeom>
          <a:noFill/>
          <a:ln>
            <a:noFill/>
          </a:ln>
        </p:spPr>
        <p:txBody>
          <a:bodyPr anchorCtr="0" anchor="t" bIns="91425" lIns="91425" spcFirstLastPara="1" rIns="91425" wrap="square" tIns="91425">
            <a:normAutofit fontScale="47500"/>
          </a:bodyPr>
          <a:lstStyle/>
          <a:p>
            <a:pPr indent="0" lvl="0" marL="0" rtl="0" algn="l">
              <a:lnSpc>
                <a:spcPct val="115000"/>
              </a:lnSpc>
              <a:spcBef>
                <a:spcPts val="0"/>
              </a:spcBef>
              <a:spcAft>
                <a:spcPts val="1200"/>
              </a:spcAft>
              <a:buNone/>
            </a:pPr>
            <a:r>
              <a:rPr lang="en" sz="1900">
                <a:latin typeface="Lato"/>
                <a:ea typeface="Lato"/>
                <a:cs typeface="Lato"/>
                <a:sym typeface="Lato"/>
              </a:rPr>
              <a:t>Image credit: </a:t>
            </a:r>
            <a:r>
              <a:rPr lang="en" sz="1900" u="sng">
                <a:solidFill>
                  <a:schemeClr val="hlink"/>
                </a:solidFill>
                <a:latin typeface="Lato"/>
                <a:ea typeface="Lato"/>
                <a:cs typeface="Lato"/>
                <a:sym typeface="Lato"/>
                <a:hlinkClick r:id="rId4"/>
              </a:rPr>
              <a:t>https://simplystatistics.org/posts/2017-01-19-what-is-artificial-intelligence/</a:t>
            </a:r>
            <a:r>
              <a:rPr lang="en" sz="1900">
                <a:latin typeface="Lato"/>
                <a:ea typeface="Lato"/>
                <a:cs typeface="Lato"/>
                <a:sym typeface="Lato"/>
              </a:rPr>
              <a:t> </a:t>
            </a:r>
            <a:endParaRPr sz="1900">
              <a:latin typeface="Lato"/>
              <a:ea typeface="Lato"/>
              <a:cs typeface="Lato"/>
              <a:sym typeface="Lato"/>
            </a:endParaRPr>
          </a:p>
        </p:txBody>
      </p:sp>
      <p:sp>
        <p:nvSpPr>
          <p:cNvPr id="320" name="Google Shape;320;p29"/>
          <p:cNvSpPr txBox="1"/>
          <p:nvPr/>
        </p:nvSpPr>
        <p:spPr>
          <a:xfrm>
            <a:off x="825857" y="4059275"/>
            <a:ext cx="2300400" cy="44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90">
                <a:solidFill>
                  <a:schemeClr val="accent2"/>
                </a:solidFill>
                <a:latin typeface="Lato"/>
                <a:ea typeface="Lato"/>
                <a:cs typeface="Lato"/>
                <a:sym typeface="Lato"/>
              </a:rPr>
              <a:t>Customer voices</a:t>
            </a:r>
            <a:endParaRPr b="1" sz="889">
              <a:solidFill>
                <a:schemeClr val="dk1"/>
              </a:solidFill>
              <a:latin typeface="Lato"/>
              <a:ea typeface="Lato"/>
              <a:cs typeface="Lato"/>
              <a:sym typeface="Lato"/>
            </a:endParaRPr>
          </a:p>
        </p:txBody>
      </p:sp>
      <p:pic>
        <p:nvPicPr>
          <p:cNvPr id="321" name="Google Shape;321;p29"/>
          <p:cNvPicPr preferRelativeResize="0"/>
          <p:nvPr/>
        </p:nvPicPr>
        <p:blipFill rotWithShape="1">
          <a:blip r:embed="rId3">
            <a:alphaModFix/>
          </a:blip>
          <a:srcRect b="30514" l="38432" r="22121" t="26879"/>
          <a:stretch/>
        </p:blipFill>
        <p:spPr>
          <a:xfrm>
            <a:off x="4126125" y="2105650"/>
            <a:ext cx="2643399" cy="1509426"/>
          </a:xfrm>
          <a:prstGeom prst="rect">
            <a:avLst/>
          </a:prstGeom>
          <a:noFill/>
          <a:ln>
            <a:noFill/>
          </a:ln>
        </p:spPr>
      </p:pic>
      <p:pic>
        <p:nvPicPr>
          <p:cNvPr id="322" name="Google Shape;322;p29"/>
          <p:cNvPicPr preferRelativeResize="0"/>
          <p:nvPr/>
        </p:nvPicPr>
        <p:blipFill rotWithShape="1">
          <a:blip r:embed="rId3">
            <a:alphaModFix/>
          </a:blip>
          <a:srcRect b="17385" l="84175" r="3468" t="20809"/>
          <a:stretch/>
        </p:blipFill>
        <p:spPr>
          <a:xfrm>
            <a:off x="7629750" y="1765575"/>
            <a:ext cx="828051" cy="2189576"/>
          </a:xfrm>
          <a:prstGeom prst="rect">
            <a:avLst/>
          </a:prstGeom>
          <a:noFill/>
          <a:ln>
            <a:noFill/>
          </a:ln>
        </p:spPr>
      </p:pic>
      <p:sp>
        <p:nvSpPr>
          <p:cNvPr id="323" name="Google Shape;323;p29"/>
          <p:cNvSpPr txBox="1"/>
          <p:nvPr/>
        </p:nvSpPr>
        <p:spPr>
          <a:xfrm>
            <a:off x="4074575" y="974950"/>
            <a:ext cx="2746500" cy="66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90">
                <a:solidFill>
                  <a:schemeClr val="accent2"/>
                </a:solidFill>
                <a:latin typeface="Lato"/>
                <a:ea typeface="Lato"/>
                <a:cs typeface="Lato"/>
                <a:sym typeface="Lato"/>
              </a:rPr>
              <a:t>Algorithm</a:t>
            </a:r>
            <a:endParaRPr sz="2290">
              <a:solidFill>
                <a:schemeClr val="dk1"/>
              </a:solidFill>
              <a:latin typeface="Lato"/>
              <a:ea typeface="Lato"/>
              <a:cs typeface="Lato"/>
              <a:sym typeface="Lato"/>
            </a:endParaRPr>
          </a:p>
        </p:txBody>
      </p:sp>
      <p:sp>
        <p:nvSpPr>
          <p:cNvPr id="324" name="Google Shape;324;p29"/>
          <p:cNvSpPr txBox="1"/>
          <p:nvPr/>
        </p:nvSpPr>
        <p:spPr>
          <a:xfrm>
            <a:off x="6670525" y="974950"/>
            <a:ext cx="2746500" cy="660300"/>
          </a:xfrm>
          <a:prstGeom prst="rect">
            <a:avLst/>
          </a:prstGeom>
          <a:noFill/>
          <a:ln>
            <a:noFill/>
          </a:ln>
        </p:spPr>
        <p:txBody>
          <a:bodyPr anchorCtr="0" anchor="t" bIns="91425" lIns="91425" spcFirstLastPara="1" rIns="79900" wrap="square" tIns="91425">
            <a:spAutoFit/>
          </a:bodyPr>
          <a:lstStyle/>
          <a:p>
            <a:pPr indent="0" lvl="0" marL="0" rtl="0" algn="ctr">
              <a:spcBef>
                <a:spcPts val="0"/>
              </a:spcBef>
              <a:spcAft>
                <a:spcPts val="0"/>
              </a:spcAft>
              <a:buNone/>
            </a:pPr>
            <a:r>
              <a:rPr lang="en" sz="3090">
                <a:solidFill>
                  <a:schemeClr val="accent2"/>
                </a:solidFill>
                <a:latin typeface="Lato"/>
                <a:ea typeface="Lato"/>
                <a:cs typeface="Lato"/>
                <a:sym typeface="Lato"/>
              </a:rPr>
              <a:t>Interface</a:t>
            </a:r>
            <a:endParaRPr sz="3090">
              <a:solidFill>
                <a:schemeClr val="accent2"/>
              </a:solidFill>
              <a:latin typeface="Lato"/>
              <a:ea typeface="Lato"/>
              <a:cs typeface="Lato"/>
              <a:sym typeface="Lato"/>
            </a:endParaRPr>
          </a:p>
        </p:txBody>
      </p:sp>
      <p:sp>
        <p:nvSpPr>
          <p:cNvPr id="325" name="Google Shape;325;p29"/>
          <p:cNvSpPr txBox="1"/>
          <p:nvPr/>
        </p:nvSpPr>
        <p:spPr>
          <a:xfrm>
            <a:off x="4055382" y="4059275"/>
            <a:ext cx="2784900" cy="44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90">
                <a:solidFill>
                  <a:schemeClr val="accent2"/>
                </a:solidFill>
                <a:latin typeface="Lato"/>
                <a:ea typeface="Lato"/>
                <a:cs typeface="Lato"/>
                <a:sym typeface="Lato"/>
              </a:rPr>
              <a:t>Alexa Voice Services</a:t>
            </a:r>
            <a:endParaRPr b="1" sz="889">
              <a:solidFill>
                <a:schemeClr val="dk1"/>
              </a:solidFill>
              <a:latin typeface="Lato"/>
              <a:ea typeface="Lato"/>
              <a:cs typeface="Lato"/>
              <a:sym typeface="Lato"/>
            </a:endParaRPr>
          </a:p>
        </p:txBody>
      </p:sp>
      <p:sp>
        <p:nvSpPr>
          <p:cNvPr id="326" name="Google Shape;326;p29"/>
          <p:cNvSpPr txBox="1"/>
          <p:nvPr/>
        </p:nvSpPr>
        <p:spPr>
          <a:xfrm>
            <a:off x="7264825" y="4059275"/>
            <a:ext cx="1557900" cy="44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90">
                <a:solidFill>
                  <a:schemeClr val="accent2"/>
                </a:solidFill>
                <a:latin typeface="Lato"/>
                <a:ea typeface="Lato"/>
                <a:cs typeface="Lato"/>
                <a:sym typeface="Lato"/>
              </a:rPr>
              <a:t>Amazon Echo</a:t>
            </a:r>
            <a:endParaRPr b="1" sz="889">
              <a:solidFill>
                <a:schemeClr val="dk1"/>
              </a:solidFill>
              <a:latin typeface="Lato"/>
              <a:ea typeface="Lato"/>
              <a:cs typeface="Lato"/>
              <a:sym typeface="Lato"/>
            </a:endParaRPr>
          </a:p>
        </p:txBody>
      </p:sp>
      <p:sp>
        <p:nvSpPr>
          <p:cNvPr id="327" name="Google Shape;327;p29"/>
          <p:cNvSpPr txBox="1"/>
          <p:nvPr/>
        </p:nvSpPr>
        <p:spPr>
          <a:xfrm>
            <a:off x="246825" y="119425"/>
            <a:ext cx="7740000" cy="72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490">
                <a:solidFill>
                  <a:schemeClr val="accent2"/>
                </a:solidFill>
                <a:latin typeface="Montserrat"/>
                <a:ea typeface="Montserrat"/>
                <a:cs typeface="Montserrat"/>
                <a:sym typeface="Montserrat"/>
              </a:rPr>
              <a:t>Example: Amazon Echo</a:t>
            </a:r>
            <a:endParaRPr b="1" sz="3490">
              <a:solidFill>
                <a:schemeClr val="accent2"/>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0"/>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en"/>
              <a:t>Summary</a:t>
            </a:r>
            <a:r>
              <a:rPr lang="en"/>
              <a:t> </a:t>
            </a:r>
            <a:r>
              <a:rPr lang="en"/>
              <a:t>What is AI?</a:t>
            </a:r>
            <a:endParaRPr/>
          </a:p>
        </p:txBody>
      </p:sp>
      <p:sp>
        <p:nvSpPr>
          <p:cNvPr id="333" name="Google Shape;333;p30"/>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a:t>
            </a:r>
            <a:r>
              <a:rPr lang="en"/>
              <a:t>hree part framework of data, algorithms, and interfaces</a:t>
            </a:r>
            <a:endParaRPr/>
          </a:p>
          <a:p>
            <a:pPr indent="0" lvl="0" marL="0" rtl="0" algn="l">
              <a:spcBef>
                <a:spcPts val="1200"/>
              </a:spcBef>
              <a:spcAft>
                <a:spcPts val="0"/>
              </a:spcAft>
              <a:buNone/>
            </a:pPr>
            <a:r>
              <a:rPr lang="en"/>
              <a:t>Do specific technologies meet the criteria for being classified as AI using this framework? </a:t>
            </a:r>
            <a:endParaRPr/>
          </a:p>
          <a:p>
            <a:pPr indent="0" lvl="0" marL="0" rtl="0" algn="l">
              <a:spcBef>
                <a:spcPts val="1200"/>
              </a:spcBef>
              <a:spcAft>
                <a:spcPts val="1200"/>
              </a:spcAft>
              <a:buNone/>
            </a:pPr>
            <a:r>
              <a:rPr lang="en"/>
              <a:t>Keep adaptability and training with new data in mind as we move further!</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000000"/>
      </a:lt1>
      <a:dk2>
        <a:srgbClr val="000000"/>
      </a:dk2>
      <a:lt2>
        <a:srgbClr val="000000"/>
      </a:lt2>
      <a:accent1>
        <a:srgbClr val="1B365D"/>
      </a:accent1>
      <a:accent2>
        <a:srgbClr val="00C1D5"/>
      </a:accent2>
      <a:accent3>
        <a:srgbClr val="FFB500"/>
      </a:accent3>
      <a:accent4>
        <a:srgbClr val="AA4AC4"/>
      </a:accent4>
      <a:accent5>
        <a:srgbClr val="0A799A"/>
      </a:accent5>
      <a:accent6>
        <a:srgbClr val="F4F4F4"/>
      </a:accent6>
      <a:hlink>
        <a:srgbClr val="00C1D5"/>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