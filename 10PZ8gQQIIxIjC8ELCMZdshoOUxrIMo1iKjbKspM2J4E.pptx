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71fa91c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71fa91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71fa91c8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a71fa91c8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a97217610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a97217610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a97217610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a97217610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97217610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a97217610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972176106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a97217610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a9721761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a9721761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18425" y="46743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2450" y="4791197"/>
            <a:ext cx="295975" cy="29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5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61" name="Google Shape;61;p15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5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1746" y="4517201"/>
            <a:ext cx="1147827" cy="5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6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72" name="Google Shape;72;p16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6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6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22785" r="21708" t="0"/>
          <a:stretch/>
        </p:blipFill>
        <p:spPr>
          <a:xfrm>
            <a:off x="6786250" y="4589350"/>
            <a:ext cx="2040327" cy="4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83" name="Google Shape;83;p1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6" name="Google Shape;106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19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Fred Hutchinson Cancer Center Data Science Lab.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7" name="Google Shape;117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18" name="Google Shape;118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4" name="Google Shape;124;p2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5" name="Google Shape;125;p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2" name="Google Shape;132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3" name="Google Shape;133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37" name="Google Shape;137;p22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2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2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2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2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2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2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2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" name="Google Shape;160;p23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61" name="Google Shape;161;p23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grpSp>
        <p:nvGrpSpPr>
          <p:cNvPr id="162" name="Google Shape;162;p2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3" name="Google Shape;163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4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67" name="Google Shape;167;p24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4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418425" y="46743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418425" y="46743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2450" y="4791197"/>
            <a:ext cx="295975" cy="29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79" name="Google Shape;179;p2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26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conpacks.net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ixabay.com/" TargetMode="External"/><Relationship Id="rId4" Type="http://schemas.openxmlformats.org/officeDocument/2006/relationships/hyperlink" Target="https://www.iconpacks.net/" TargetMode="External"/><Relationship Id="rId9" Type="http://schemas.openxmlformats.org/officeDocument/2006/relationships/image" Target="../media/image14.png"/><Relationship Id="rId5" Type="http://schemas.openxmlformats.org/officeDocument/2006/relationships/hyperlink" Target="https://pixabay.com/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hyperlink" Target="https://simplystatistics.org/posts/2017-01-19-what-is-artificial-intelligenc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hyperlink" Target="https://pixabay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ixabay.com/" TargetMode="External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ixabay.com/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hyperlink" Target="https://www.iconpacks.net/" TargetMode="External"/><Relationship Id="rId6" Type="http://schemas.openxmlformats.org/officeDocument/2006/relationships/hyperlink" Target="https://pixabay.com/" TargetMode="External"/><Relationship Id="rId7" Type="http://schemas.openxmlformats.org/officeDocument/2006/relationships/hyperlink" Target="https://chat.opena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/>
          <p:nvPr/>
        </p:nvSpPr>
        <p:spPr>
          <a:xfrm>
            <a:off x="6344375" y="1817800"/>
            <a:ext cx="2179800" cy="12447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</a:t>
            </a:r>
            <a:endParaRPr/>
          </a:p>
        </p:txBody>
      </p:sp>
      <p:cxnSp>
        <p:nvCxnSpPr>
          <p:cNvPr id="210" name="Google Shape;210;p28"/>
          <p:cNvCxnSpPr/>
          <p:nvPr/>
        </p:nvCxnSpPr>
        <p:spPr>
          <a:xfrm>
            <a:off x="2563725" y="1874263"/>
            <a:ext cx="948300" cy="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2563625" y="3721375"/>
            <a:ext cx="948300" cy="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8"/>
          <p:cNvSpPr txBox="1"/>
          <p:nvPr/>
        </p:nvSpPr>
        <p:spPr>
          <a:xfrm>
            <a:off x="6386825" y="1892675"/>
            <a:ext cx="2258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might notice a pattern between amount of traffic and time of day.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142400" y="4774525"/>
            <a:ext cx="69360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Images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https://www.iconpacks.net/</a:t>
            </a:r>
            <a:r>
              <a:rPr lang="en"/>
              <a:t> </a:t>
            </a:r>
            <a:endParaRPr/>
          </a:p>
        </p:txBody>
      </p:sp>
      <p:pic>
        <p:nvPicPr>
          <p:cNvPr id="214" name="Google Shape;21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1443213"/>
            <a:ext cx="869325" cy="8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500" y="1658940"/>
            <a:ext cx="450476" cy="450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/>
          <p:nvPr/>
        </p:nvSpPr>
        <p:spPr>
          <a:xfrm>
            <a:off x="733100" y="2103125"/>
            <a:ext cx="917700" cy="6042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775550" y="2103125"/>
            <a:ext cx="86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3am</a:t>
            </a:r>
            <a:endParaRPr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092912"/>
            <a:ext cx="869325" cy="8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/>
          <p:nvPr/>
        </p:nvSpPr>
        <p:spPr>
          <a:xfrm>
            <a:off x="733100" y="3752825"/>
            <a:ext cx="917700" cy="6042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775550" y="3752825"/>
            <a:ext cx="86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4pm</a:t>
            </a:r>
            <a:endParaRPr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8788" y="2773118"/>
            <a:ext cx="1916325" cy="19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Images from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https://pixabay.com/</a:t>
            </a:r>
            <a:r>
              <a:rPr lang="en" sz="1900"/>
              <a:t> and </a:t>
            </a:r>
            <a:r>
              <a:rPr lang="en" sz="19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https://www.iconpacks.net</a:t>
            </a:r>
            <a:r>
              <a:rPr lang="en" sz="19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</a:t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150" y="2647251"/>
            <a:ext cx="1227325" cy="202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29"/>
          <p:cNvCxnSpPr/>
          <p:nvPr/>
        </p:nvCxnSpPr>
        <p:spPr>
          <a:xfrm>
            <a:off x="5825987" y="818410"/>
            <a:ext cx="551700" cy="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5825928" y="1893085"/>
            <a:ext cx="551700" cy="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0" name="Google Shape;23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9277" y="567620"/>
            <a:ext cx="505787" cy="505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1669" y="693133"/>
            <a:ext cx="262094" cy="26209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/>
          <p:nvPr/>
        </p:nvSpPr>
        <p:spPr>
          <a:xfrm>
            <a:off x="4760900" y="951566"/>
            <a:ext cx="5340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4785598" y="951566"/>
            <a:ext cx="5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3am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9277" y="1527437"/>
            <a:ext cx="505787" cy="5057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/>
          <p:nvPr/>
        </p:nvSpPr>
        <p:spPr>
          <a:xfrm>
            <a:off x="4760900" y="1911383"/>
            <a:ext cx="5340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4785598" y="1911383"/>
            <a:ext cx="5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4pm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6202" y="1341377"/>
            <a:ext cx="1114948" cy="111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>
            <a:off x="530325" y="1213000"/>
            <a:ext cx="3212700" cy="1144200"/>
          </a:xfrm>
          <a:prstGeom prst="wedgeRoundRectCallout">
            <a:avLst>
              <a:gd fmla="val -20624" name="adj1"/>
              <a:gd fmla="val 70370" name="adj2"/>
              <a:gd fmla="val 0" name="adj3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579375" y="1203450"/>
            <a:ext cx="3114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 to know my score for next time! It helps me improve my accuracy.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0" name="Google Shape;240;p29"/>
          <p:cNvCxnSpPr/>
          <p:nvPr/>
        </p:nvCxnSpPr>
        <p:spPr>
          <a:xfrm>
            <a:off x="5850628" y="2957485"/>
            <a:ext cx="551700" cy="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1" name="Google Shape;241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977" y="2591837"/>
            <a:ext cx="505787" cy="50578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/>
          <p:nvPr/>
        </p:nvSpPr>
        <p:spPr>
          <a:xfrm>
            <a:off x="4785600" y="2975783"/>
            <a:ext cx="5340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4810298" y="2975783"/>
            <a:ext cx="5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4pm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4" name="Google Shape;244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0902" y="2405777"/>
            <a:ext cx="1114948" cy="111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/>
          <p:nvPr/>
        </p:nvSpPr>
        <p:spPr>
          <a:xfrm>
            <a:off x="5291400" y="3118650"/>
            <a:ext cx="6903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5316100" y="3118650"/>
            <a:ext cx="6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holiday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7" name="Google Shape;247;p29"/>
          <p:cNvCxnSpPr/>
          <p:nvPr/>
        </p:nvCxnSpPr>
        <p:spPr>
          <a:xfrm>
            <a:off x="5850628" y="4178935"/>
            <a:ext cx="551700" cy="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8" name="Google Shape;248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977" y="3813287"/>
            <a:ext cx="505787" cy="50578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/>
          <p:nvPr/>
        </p:nvSpPr>
        <p:spPr>
          <a:xfrm>
            <a:off x="4785600" y="4197233"/>
            <a:ext cx="5340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4810298" y="4197233"/>
            <a:ext cx="5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4pm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0902" y="3627227"/>
            <a:ext cx="1114948" cy="111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/>
          <p:nvPr/>
        </p:nvSpPr>
        <p:spPr>
          <a:xfrm>
            <a:off x="5291400" y="4340100"/>
            <a:ext cx="690300" cy="3516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5316100" y="4340100"/>
            <a:ext cx="6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Sunday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9"/>
          <p:cNvSpPr txBox="1"/>
          <p:nvPr>
            <p:ph idx="4294967295" type="title"/>
          </p:nvPr>
        </p:nvSpPr>
        <p:spPr>
          <a:xfrm>
            <a:off x="243425" y="26990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Machine Learning</a:t>
            </a:r>
            <a:endParaRPr sz="3400"/>
          </a:p>
        </p:txBody>
      </p:sp>
      <p:pic>
        <p:nvPicPr>
          <p:cNvPr id="255" name="Google Shape;255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6475" y="2641375"/>
            <a:ext cx="505800" cy="5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6475" y="3813275"/>
            <a:ext cx="505800" cy="5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40775" y="1618475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40775" y="595575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/>
        </p:nvSpPr>
        <p:spPr>
          <a:xfrm>
            <a:off x="1034425" y="206850"/>
            <a:ext cx="77400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9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Data			     Algorithm	     Interface</a:t>
            </a:r>
            <a:endParaRPr sz="31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13579" l="0" r="0" t="16387"/>
          <a:stretch/>
        </p:blipFill>
        <p:spPr>
          <a:xfrm>
            <a:off x="419438" y="884750"/>
            <a:ext cx="8361523" cy="30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 txBox="1"/>
          <p:nvPr/>
        </p:nvSpPr>
        <p:spPr>
          <a:xfrm>
            <a:off x="142400" y="4774525"/>
            <a:ext cx="6936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Image credit: </a:t>
            </a:r>
            <a:r>
              <a:rPr lang="en" sz="1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https://simplystatistics.org/posts/2017-01-19-what-is-artificial-intelligence/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 </a:t>
            </a:r>
            <a:endParaRPr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564000" y="3886300"/>
            <a:ext cx="8298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Customer voices			       Alexa Voice Services	                            Amazon Echo</a:t>
            </a:r>
            <a:endParaRPr b="1" sz="88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/>
          <p:nvPr/>
        </p:nvSpPr>
        <p:spPr>
          <a:xfrm flipH="1">
            <a:off x="575175" y="987125"/>
            <a:ext cx="5168700" cy="2571900"/>
          </a:xfrm>
          <a:prstGeom prst="cloudCallout">
            <a:avLst>
              <a:gd fmla="val -38031" name="adj1"/>
              <a:gd fmla="val 60066" name="adj2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1"/>
          <p:cNvSpPr txBox="1"/>
          <p:nvPr>
            <p:ph type="title"/>
          </p:nvPr>
        </p:nvSpPr>
        <p:spPr>
          <a:xfrm>
            <a:off x="866025" y="1433475"/>
            <a:ext cx="4587000" cy="18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Smartphones</a:t>
            </a:r>
            <a:endParaRPr sz="4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=</a:t>
            </a:r>
            <a:endParaRPr sz="4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AI ?</a:t>
            </a:r>
            <a:endParaRPr/>
          </a:p>
        </p:txBody>
      </p:sp>
      <p:pic>
        <p:nvPicPr>
          <p:cNvPr id="273" name="Google Shape;2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1150" y="356825"/>
            <a:ext cx="1429333" cy="22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125" y="2252101"/>
            <a:ext cx="2328876" cy="23771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>
            <p:ph idx="4294967295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Images from </a:t>
            </a:r>
            <a:r>
              <a:rPr lang="en" sz="1900" u="sng">
                <a:solidFill>
                  <a:schemeClr val="hlink"/>
                </a:solidFill>
                <a:hlinkClick r:id="rId5"/>
              </a:rPr>
              <a:t>https://pixabay.com/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/>
          <p:nvPr/>
        </p:nvSpPr>
        <p:spPr>
          <a:xfrm flipH="1">
            <a:off x="575175" y="987125"/>
            <a:ext cx="5168700" cy="2571900"/>
          </a:xfrm>
          <a:prstGeom prst="cloudCallout">
            <a:avLst>
              <a:gd fmla="val -38031" name="adj1"/>
              <a:gd fmla="val 60066" name="adj2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32"/>
          <p:cNvSpPr txBox="1"/>
          <p:nvPr>
            <p:ph type="title"/>
          </p:nvPr>
        </p:nvSpPr>
        <p:spPr>
          <a:xfrm>
            <a:off x="866025" y="1433475"/>
            <a:ext cx="4587000" cy="18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Calculators</a:t>
            </a:r>
            <a:endParaRPr sz="4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=</a:t>
            </a:r>
            <a:endParaRPr sz="4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AI ?</a:t>
            </a:r>
            <a:endParaRPr/>
          </a:p>
        </p:txBody>
      </p:sp>
      <p:sp>
        <p:nvSpPr>
          <p:cNvPr id="282" name="Google Shape;282;p32"/>
          <p:cNvSpPr txBox="1"/>
          <p:nvPr>
            <p:ph idx="4294967295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 from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https://pixabay.com/</a:t>
            </a:r>
            <a:endParaRPr/>
          </a:p>
        </p:txBody>
      </p:sp>
      <p:pic>
        <p:nvPicPr>
          <p:cNvPr id="283" name="Google Shape;2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0433">
            <a:off x="6413150" y="628188"/>
            <a:ext cx="1720574" cy="3414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/>
          <p:nvPr/>
        </p:nvSpPr>
        <p:spPr>
          <a:xfrm flipH="1">
            <a:off x="422775" y="987125"/>
            <a:ext cx="5168700" cy="2571900"/>
          </a:xfrm>
          <a:prstGeom prst="cloudCallout">
            <a:avLst>
              <a:gd fmla="val -38031" name="adj1"/>
              <a:gd fmla="val 60066" name="adj2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33"/>
          <p:cNvSpPr txBox="1"/>
          <p:nvPr>
            <p:ph type="title"/>
          </p:nvPr>
        </p:nvSpPr>
        <p:spPr>
          <a:xfrm>
            <a:off x="713625" y="1433475"/>
            <a:ext cx="4587000" cy="18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Computer Programs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=</a:t>
            </a:r>
            <a:endParaRPr sz="4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AI ?</a:t>
            </a:r>
            <a:endParaRPr/>
          </a:p>
        </p:txBody>
      </p:sp>
      <p:sp>
        <p:nvSpPr>
          <p:cNvPr id="290" name="Google Shape;290;p33"/>
          <p:cNvSpPr txBox="1"/>
          <p:nvPr>
            <p:ph idx="4294967295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 from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https://pixabay.com/</a:t>
            </a:r>
            <a:endParaRPr/>
          </a:p>
        </p:txBody>
      </p:sp>
      <p:pic>
        <p:nvPicPr>
          <p:cNvPr id="291" name="Google Shape;2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775" y="1041675"/>
            <a:ext cx="3095325" cy="2587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Patterns in Text Data</a:t>
            </a:r>
            <a:endParaRPr/>
          </a:p>
        </p:txBody>
      </p:sp>
      <p:pic>
        <p:nvPicPr>
          <p:cNvPr id="297" name="Google Shape;29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150" y="1541875"/>
            <a:ext cx="7310601" cy="3024775"/>
          </a:xfrm>
          <a:prstGeom prst="rect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8" name="Google Shape;29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683" y="1805808"/>
            <a:ext cx="248749" cy="24874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4"/>
          <p:cNvSpPr txBox="1"/>
          <p:nvPr>
            <p:ph idx="1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Images from </a:t>
            </a:r>
            <a:r>
              <a:rPr lang="en" sz="19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https://www.iconpacks.net</a:t>
            </a:r>
            <a:r>
              <a:rPr lang="en" sz="1900" u="sng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https://chat.openai.com/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1B365D"/>
      </a:accent1>
      <a:accent2>
        <a:srgbClr val="00C1D5"/>
      </a:accent2>
      <a:accent3>
        <a:srgbClr val="FFB500"/>
      </a:accent3>
      <a:accent4>
        <a:srgbClr val="AA4AC4"/>
      </a:accent4>
      <a:accent5>
        <a:srgbClr val="0A799A"/>
      </a:accent5>
      <a:accent6>
        <a:srgbClr val="F4F4F4"/>
      </a:accent6>
      <a:hlink>
        <a:srgbClr val="00C1D5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