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20FEC6-ACC1-4219-AB90-733E940CAB2F}">
  <a:tblStyle styleId="{4120FEC6-ACC1-4219-AB90-733E940CAB2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Determining your eh I needs. In this chapter we will describe the questions and considerations you should contemplate while planning for an eh I project. </a:t>
            </a:r>
            <a:r>
              <a:rPr lang="en">
                <a:solidFill>
                  <a:schemeClr val="dk1"/>
                </a:solidFill>
              </a:rPr>
              <a:t>What are the components of an eh I tool?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describes the terms of use for this content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ed2b5c8ee1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ed2b5c8ee1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project that is ill defined is doomed to fail or worse be a chronic headache and source of stress before it fails. </a:t>
            </a:r>
            <a:endParaRPr/>
          </a:p>
          <a:p>
            <a:pPr indent="0" lvl="0" marL="0" rtl="0" algn="l">
              <a:spcBef>
                <a:spcPts val="0"/>
              </a:spcBef>
              <a:spcAft>
                <a:spcPts val="0"/>
              </a:spcAft>
              <a:buNone/>
            </a:pPr>
            <a:r>
              <a:rPr lang="en"/>
              <a:t>In this chapter we will describe the questions and considerations you should contemplate while planning for an eh I project. The first of such considerations is basic: What are your goals and uses cases and how are these use cases something that is not currently achievable by currently existing other products? Please take a moment now to jot down answers to the above questions for your project's goals.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ed2b5c8ee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ed2b5c8ee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return to our oversimplified machine learning machine to discuss our possible case categories. Recall that we've described eh I tools as having the following: *input* what is the user of the tool providing? *processing (including algorithms)* -- what are we going to do with that input? *training data* - how was the mode trained? what information was it trained on? *output* - what are we returning to the user of this eh I tool? Please take a moment now to jot down the answers of what these items are for your impending eh I tool project.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d2b5c8ee1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d2b5c8ee1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Perhaps the most common eh I need is customized knowledge. This means that existing eh I tools are not properly trained for the use case. Perhaps the input is domain specific and the training data or training methods have not adequately prepared existing models to provide useful output.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ed2b5c8ee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ed2b5c8ee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field have data that could benefit from eh I tools but may be dealing with data that is private and needs protection. It is highly dangerous and probably illegal in many cases to share protected data with commercial AI platforms. So customized security solutions for eh I tools is not an uncommon use case. This doesn't mean protected data can't be used with eh I tools, but it does mean the eh I solutions involved with projects with protected data need to be very carefully planned and constructed. And respective experts should be consulted about these solutions to make sure patients or customer's data is being kept safe!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a6104c5b4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a6104c5b4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Perhaps your project could benefit from the power of eh I but you need to do this automatically or you need your users to access eh I tools from a customized interface. This *may* be the most straightforward of the eh I needs. An increasing number of eh I tools have APIs available that can be used underneath the hood of your eh I project.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a6104c5b4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a6104c5b4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Take a moment to categories which of these eh I needs are the largest priorities for your eh I project. Note that the more customized needs you have the more work you will have that will be required by your team. And if you don't have a large amount of technical expertise on your team, this will be required if you have a lot of custom eh I needs.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Carefully consider what the project truly needs. Which of these needs are non negotiable versus "nice to have"? Note that if you are working with protected data, protecting this data is never negotiable, but other customized needs may be.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ed2b5c8ee1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ed2b5c8ee1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very general breakdown of what types of solutions will likely be a part of your eh I project based on what needs you've identified. For each type of need there is often a continuum of solutions that require less to more investment. For **customized knowledge** needs, you will likely be needing to train a model for your domain specific knowledge. For **customized security** needs, you may need to deploy an eh I tool on a secure server or use some other type of security layering tool. For **customized interface** needs, you may need to use an API of an existing AI tool or use prepackaged eh I tools that you can embed in your website/app. For **customized handling** needs, you will likely need to build and deploy a custom eh I model.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ed2b5c8ee1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ed2b5c8ee1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as with most management decisions, it’s never as simple as deciding what the project needs, it’s also necessary to evaluate what expertise, resources, and time you have available to you and your team. </a:t>
            </a:r>
            <a:r>
              <a:rPr lang="en">
                <a:solidFill>
                  <a:schemeClr val="dk1"/>
                </a:solidFill>
              </a:rPr>
              <a:t>Besides your project’s  customization needs you also need to consider: </a:t>
            </a:r>
            <a:r>
              <a:rPr lang="en">
                <a:solidFill>
                  <a:schemeClr val="dk1"/>
                </a:solidFill>
                <a:highlight>
                  <a:schemeClr val="lt1"/>
                </a:highlight>
              </a:rPr>
              <a:t>The technical expertise available on your team. </a:t>
            </a:r>
            <a:r>
              <a:rPr lang="en">
                <a:solidFill>
                  <a:schemeClr val="dk1"/>
                </a:solidFill>
              </a:rPr>
              <a:t>Your funding situation. The quickness of the deadlines</a:t>
            </a:r>
            <a:endParaRPr>
              <a:solidFill>
                <a:schemeClr val="dk1"/>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a6104c5b4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a6104c5b4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more customization needs your project will need, the more you will need more technical expertise support on your team. Lone developer situations are not ideal; teamwork is better for development.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What technical expertise you have available on your team? </a:t>
            </a:r>
            <a:endParaRPr/>
          </a:p>
          <a:p>
            <a:pPr indent="0" lvl="0" marL="0" rtl="0" algn="l">
              <a:spcBef>
                <a:spcPts val="0"/>
              </a:spcBef>
              <a:spcAft>
                <a:spcPts val="0"/>
              </a:spcAft>
              <a:buClr>
                <a:schemeClr val="dk1"/>
              </a:buClr>
              <a:buSzPts val="1100"/>
              <a:buFont typeface="Arial"/>
              <a:buNone/>
            </a:pPr>
            <a:r>
              <a:rPr lang="en"/>
              <a:t>If you do not have the expertise needed for your strategy, will you be able to use funds to hire someone who does? Can you involve a collaborator who has a team with complementary technical expertise to what your team provides? You also need to consider possible staff turnover if you are in an academic institution or other system where this is expected. Staff turnovers will make software development projects take longer even if the knowledge transfer between staff is optimized.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a6104c5b4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a6104c5b4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table we describe what kinds of technical expertise you will likely need on your team based on what kinds of customization eh I needs your project entails. Keep in mind you can likely minimize these staffing needs if you pay for products that are prepackaged. Prepackaged products (which we will discuss in future </a:t>
            </a:r>
            <a:r>
              <a:rPr lang="en"/>
              <a:t>chapters) generally require less expertise but will not allow you the same freedom for more granular customization. </a:t>
            </a:r>
            <a:r>
              <a:rPr lang="en"/>
              <a:t>For knowledge needs, you will likely require a team who is comfortable with data handling techniques. It will also be ideal if they have a certain knowledge of machine learning algorithms. For Security needs, it’s </a:t>
            </a:r>
            <a:r>
              <a:rPr lang="en"/>
              <a:t>likely</a:t>
            </a:r>
            <a:r>
              <a:rPr lang="en"/>
              <a:t> you will need someone comfortable with back end development and secure computing. Depending on your strategies with this need, it would also be good if you have a front end developer’s help. For customized interfaces, you’ll likely need a front end developer, likely someone who is comfortable with API handling, which also means potentially a back end developer.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ed2b5c8ee1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ed2b5c8ee1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Eh </a:t>
            </a:r>
            <a:r>
              <a:rPr lang="en"/>
              <a:t>I projects can be costly. And this is true whether you use a "prepackaged" eh I solution or build one from scratch. </a:t>
            </a:r>
            <a:endParaRPr/>
          </a:p>
          <a:p>
            <a:pPr indent="0" lvl="0" marL="0" rtl="0" algn="l">
              <a:spcBef>
                <a:spcPts val="0"/>
              </a:spcBef>
              <a:spcAft>
                <a:spcPts val="0"/>
              </a:spcAft>
              <a:buClr>
                <a:schemeClr val="dk1"/>
              </a:buClr>
              <a:buSzPts val="1100"/>
              <a:buFont typeface="Arial"/>
              <a:buNone/>
            </a:pPr>
            <a:r>
              <a:rPr lang="en"/>
              <a:t>It is a good idea to estimate your computing costs before you begin your project.  How big are the data the users would be inputting? How much would your eh I tool cost per query (on average)? How many queries might a users submit? Given the answers to the above, how many users would you be able to accommodate for a given for a given day/month/year? -- expect the best/worst case scenario of your tool being massively popular! Will users being paying for this service? Will the rate at which they pay cover your computing and staffing costs?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ed2b5c8ee1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ed2b5c8ee1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Whether you build "from scratch" or borrow commercial eh I tools, you will likely not be able to avoid computing costs. Keep in mind that for certain levels of usage it may not actually be more cost effective to run your own computing infrastructure. In this computing cost analysis graph from La Javaness R&amp;D, they demonstrated how after a certain level of usage it is actually more cost effective to outsource infrastructure to ChatGPT's API instead of building their own model and hosting it themselves.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a6801b3884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a6801b3884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Custom deployments will require more technical expertises on hand as we discussed in the previous section – think salary costs. You will need to estimate whether it is more cost efficient for you to have in house developers work on this or use borrow commercial computing infrastructure.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It's not just about developers. Ideally you would also have:  A user experience designer to help you make sure the AI tool you build is actually useable by human beings! A project manager that will help everyone save time and meet deadlines. Administration to actually help you hire the individuals you need, negotiate data use agreements, and all the other behinds the scenes paperwork necessary to keep the ship sailing smoothly.</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a6104c5b4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a6104c5b4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Time is a resource. For the purposes of your eh I tool project goals, you should assess how much time you have. When determining how you will meet your eh I strategy needs is how quickly you need these eh I needs to be met. How quickly does this need to be ready? And what is determining that deadline? Can these deadlines be pushed? How long does this AI tool need to be maintained? Note that more customized deployments will require more development time as compared to "prepackaged" eh I tools. If you rush development [technical debt](https://www.productplan.com/glossary/technical-debt/) *will* be incurred. Technical debt will need to be paid at some point for this project to be sustainable.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a6104c5b4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a6104c5b4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Up until this point we've been discuss strategies in very vague terms. To bring this discussion to specifics, we will discuss some example AI tool project strategies you may employ based on what combination of customization AI needs you have.</a:t>
            </a:r>
            <a:endParaRPr/>
          </a:p>
          <a:p>
            <a:pPr indent="0" lvl="0" marL="0" rtl="0" algn="l">
              <a:spcBef>
                <a:spcPts val="0"/>
              </a:spcBef>
              <a:spcAft>
                <a:spcPts val="0"/>
              </a:spcAft>
              <a:buClr>
                <a:schemeClr val="dk1"/>
              </a:buClr>
              <a:buSzPts val="1100"/>
              <a:buFont typeface="Arial"/>
              <a:buNone/>
            </a:pPr>
            <a:r>
              <a:rPr lang="en"/>
              <a:t>These example project strategies are in the order of least to most resource and time investment.</a:t>
            </a:r>
            <a:endParaRPr/>
          </a:p>
          <a:p>
            <a:pPr indent="0" lvl="0" marL="0" rtl="0" algn="l">
              <a:spcBef>
                <a:spcPts val="0"/>
              </a:spcBef>
              <a:spcAft>
                <a:spcPts val="0"/>
              </a:spcAft>
              <a:buClr>
                <a:schemeClr val="dk1"/>
              </a:buClr>
              <a:buSzPts val="1100"/>
              <a:buFont typeface="Arial"/>
              <a:buNone/>
            </a:pPr>
            <a:r>
              <a:rPr lang="en"/>
              <a:t>In the </a:t>
            </a:r>
            <a:r>
              <a:rPr lang="en"/>
              <a:t>leftmost</a:t>
            </a:r>
            <a:r>
              <a:rPr lang="en"/>
              <a:t> column is described what kinds of customizations are able to be made given the described strategy. In the example column we have links to resources and platforms that would be a central point or product for this strategy.The technical expertise column describes vaguely how much technical expertise in house you would need to deploy the example strategy. The funding column describes approximately the funding costs that would be associated with the strategy (but not this is highly variable given specifics of a project).The time column describes how long it would take to deploy this solution.</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a6801b3884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a6801b3884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Cogniflow is example of an AI tool that meets customized interface needs. It is a service that does not require code but has prepackaged AI tool solutions like chatbots and receipt digesters that can be readily deployed to a website. It is a subscription service but does not take much time to set up or maintain. This would not allow for much customization but it is a ready to go solution that would not necessitate hiring more staff.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a6801b3884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a6801b3884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PrivateAI is an example of an AI tool that meets customized security needs but not really other customizations. This services has security layers that allows you to use other commercial AI platforms with PII and PHI. It is HIPAA compliant and is a pay-by-use service. It also would not take much time to use and would not require additional time to use. Of course, due to the importance of keeping protected data protected, it should be confirmed that PrivateAI is an acceptable use based on any legal agreements.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a6801b3884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a6801b3884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ChatGPT's API services are an example of an AI tool that meets a customized interface and knowledge needs. Using an API would allow you to use the power of chatGPT but from underneath the hood of a custom made app or website. Additionally chatGPT's API does allow for training models which means you could make it domain specific. Using an API would require more technical expertise than the previous two example strategies, but would not require building from scratch. This strategy can be a very customizable but not entirely from the ground strategy. It does of course, involve paying chatGPT for computing costs, so that as well as the staffing needs should be considered when employing this strategy.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a6801b3884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a6801b3884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Hugging Face is a community and repository of open source AI and machine learning models of all kinds of varieties. The resources available on Hugging Face would allow you to customize an AI tool to meet all the needs you might have. The open source nature of the AI models, datasets, and examples available on Hugging Face means that this not completely from scratch either but would require more technical expertise to utilize the resources here. The tutorials and resources on hugging face would allow you to control and build a AI model that fits every need you might have. But remember computing and staffing are always costs, hence why we have not said that this is *necessarily* a less expensive strategy. Depending on the size and technical expertise of your team it will likely take more time than the other strategies.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1.png"/><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hyperlink" Target="https://docs.google.com/presentation/d/1GgsDe7dYA91RY_xCbcDRzSPGuxIMXnyHPbzL1h57pE4/edit#slide=id.g1ed2b5c8ee1_0_37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www.cogniflow.ai/ai-playground" TargetMode="External"/><Relationship Id="rId4" Type="http://schemas.openxmlformats.org/officeDocument/2006/relationships/hyperlink" Target="https://www.private-ai.com/pricing/#privategpt" TargetMode="External"/><Relationship Id="rId9" Type="http://schemas.openxmlformats.org/officeDocument/2006/relationships/image" Target="../media/image19.png"/><Relationship Id="rId5" Type="http://schemas.openxmlformats.org/officeDocument/2006/relationships/hyperlink" Target="https://openai.com/product" TargetMode="External"/><Relationship Id="rId6" Type="http://schemas.openxmlformats.org/officeDocument/2006/relationships/hyperlink" Target="https://huggingface.co/models" TargetMode="External"/><Relationship Id="rId7" Type="http://schemas.openxmlformats.org/officeDocument/2006/relationships/image" Target="../media/image12.png"/><Relationship Id="rId8"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www.cogniflow.ai/ai-playground" TargetMode="External"/><Relationship Id="rId4" Type="http://schemas.openxmlformats.org/officeDocument/2006/relationships/hyperlink" Target="https://www.private-ai.com/pricing/#privategpt" TargetMode="External"/><Relationship Id="rId9" Type="http://schemas.openxmlformats.org/officeDocument/2006/relationships/image" Target="../media/image19.png"/><Relationship Id="rId5" Type="http://schemas.openxmlformats.org/officeDocument/2006/relationships/hyperlink" Target="https://openai.com/product" TargetMode="External"/><Relationship Id="rId6" Type="http://schemas.openxmlformats.org/officeDocument/2006/relationships/hyperlink" Target="https://huggingface.co/models" TargetMode="External"/><Relationship Id="rId7" Type="http://schemas.openxmlformats.org/officeDocument/2006/relationships/image" Target="../media/image12.png"/><Relationship Id="rId8"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s://www.cogniflow.ai/ai-playground" TargetMode="External"/><Relationship Id="rId4" Type="http://schemas.openxmlformats.org/officeDocument/2006/relationships/hyperlink" Target="https://www.private-ai.com/pricing/#privategpt" TargetMode="External"/><Relationship Id="rId9" Type="http://schemas.openxmlformats.org/officeDocument/2006/relationships/image" Target="../media/image19.png"/><Relationship Id="rId5" Type="http://schemas.openxmlformats.org/officeDocument/2006/relationships/hyperlink" Target="https://openai.com/product" TargetMode="External"/><Relationship Id="rId6" Type="http://schemas.openxmlformats.org/officeDocument/2006/relationships/hyperlink" Target="https://huggingface.co/models" TargetMode="External"/><Relationship Id="rId7" Type="http://schemas.openxmlformats.org/officeDocument/2006/relationships/image" Target="../media/image12.png"/><Relationship Id="rId8"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www.cogniflow.ai/ai-playground" TargetMode="External"/><Relationship Id="rId4" Type="http://schemas.openxmlformats.org/officeDocument/2006/relationships/hyperlink" Target="https://www.private-ai.com/pricing/#privategpt" TargetMode="External"/><Relationship Id="rId9" Type="http://schemas.openxmlformats.org/officeDocument/2006/relationships/image" Target="../media/image19.png"/><Relationship Id="rId5" Type="http://schemas.openxmlformats.org/officeDocument/2006/relationships/hyperlink" Target="https://openai.com/product" TargetMode="External"/><Relationship Id="rId6" Type="http://schemas.openxmlformats.org/officeDocument/2006/relationships/hyperlink" Target="https://huggingface.co/models" TargetMode="External"/><Relationship Id="rId7" Type="http://schemas.openxmlformats.org/officeDocument/2006/relationships/image" Target="../media/image12.png"/><Relationship Id="rId8"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hyperlink" Target="https://www.cogniflow.ai/ai-playground" TargetMode="External"/><Relationship Id="rId4" Type="http://schemas.openxmlformats.org/officeDocument/2006/relationships/hyperlink" Target="https://www.private-ai.com/pricing/#privategpt" TargetMode="External"/><Relationship Id="rId9" Type="http://schemas.openxmlformats.org/officeDocument/2006/relationships/image" Target="../media/image19.png"/><Relationship Id="rId5" Type="http://schemas.openxmlformats.org/officeDocument/2006/relationships/hyperlink" Target="https://openai.com/product" TargetMode="External"/><Relationship Id="rId6" Type="http://schemas.openxmlformats.org/officeDocument/2006/relationships/hyperlink" Target="https://huggingface.co/models" TargetMode="External"/><Relationship Id="rId7" Type="http://schemas.openxmlformats.org/officeDocument/2006/relationships/image" Target="../media/image12.png"/><Relationship Id="rId8"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Determining</a:t>
            </a:r>
            <a:r>
              <a:rPr lang="en"/>
              <a:t> your AI needs</a:t>
            </a:r>
            <a:endParaRPr sz="398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791650" y="576850"/>
            <a:ext cx="77808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highlight>
                  <a:srgbClr val="FFFFFF"/>
                </a:highlight>
              </a:rPr>
              <a:t>What do you need to use </a:t>
            </a:r>
            <a:r>
              <a:rPr b="1" lang="en">
                <a:highlight>
                  <a:srgbClr val="FFFFFF"/>
                </a:highlight>
              </a:rPr>
              <a:t>AI </a:t>
            </a:r>
            <a:r>
              <a:rPr lang="en">
                <a:highlight>
                  <a:srgbClr val="FFFFFF"/>
                </a:highlight>
              </a:rPr>
              <a:t>for?</a:t>
            </a:r>
            <a:endParaRPr>
              <a:highlight>
                <a:srgbClr val="FFFFFF"/>
              </a:highlight>
            </a:endParaRPr>
          </a:p>
          <a:p>
            <a:pPr indent="0" lvl="0" marL="0" rtl="0" algn="l">
              <a:spcBef>
                <a:spcPts val="0"/>
              </a:spcBef>
              <a:spcAft>
                <a:spcPts val="0"/>
              </a:spcAft>
              <a:buNone/>
            </a:pPr>
            <a:r>
              <a:t/>
            </a:r>
            <a:endParaRPr sz="2000">
              <a:highlight>
                <a:srgbClr val="FFFFFF"/>
              </a:highlight>
            </a:endParaRPr>
          </a:p>
          <a:p>
            <a:pPr indent="-387350" lvl="0" marL="457200" rtl="0" algn="l">
              <a:spcBef>
                <a:spcPts val="0"/>
              </a:spcBef>
              <a:spcAft>
                <a:spcPts val="0"/>
              </a:spcAft>
              <a:buSzPts val="2500"/>
              <a:buAutoNum type="arabicPeriod"/>
            </a:pPr>
            <a:r>
              <a:rPr lang="en" sz="2500">
                <a:highlight>
                  <a:srgbClr val="FFFFFF"/>
                </a:highlight>
              </a:rPr>
              <a:t>What are your </a:t>
            </a:r>
            <a:r>
              <a:rPr b="1" lang="en" sz="2500">
                <a:highlight>
                  <a:srgbClr val="FFFFFF"/>
                </a:highlight>
              </a:rPr>
              <a:t>use cases</a:t>
            </a:r>
            <a:r>
              <a:rPr lang="en" sz="2500">
                <a:highlight>
                  <a:srgbClr val="FFFFFF"/>
                </a:highlight>
              </a:rPr>
              <a:t>?</a:t>
            </a:r>
            <a:endParaRPr sz="2500">
              <a:highlight>
                <a:srgbClr val="FFFFFF"/>
              </a:highlight>
            </a:endParaRPr>
          </a:p>
          <a:p>
            <a:pPr indent="0" lvl="0" marL="457200" rtl="0" algn="l">
              <a:spcBef>
                <a:spcPts val="0"/>
              </a:spcBef>
              <a:spcAft>
                <a:spcPts val="0"/>
              </a:spcAft>
              <a:buNone/>
            </a:pPr>
            <a:r>
              <a:t/>
            </a:r>
            <a:endParaRPr i="1" sz="2500">
              <a:highlight>
                <a:srgbClr val="FFFFFF"/>
              </a:highlight>
            </a:endParaRPr>
          </a:p>
          <a:p>
            <a:pPr indent="0" lvl="0" marL="0" rtl="0" algn="l">
              <a:spcBef>
                <a:spcPts val="0"/>
              </a:spcBef>
              <a:spcAft>
                <a:spcPts val="0"/>
              </a:spcAft>
              <a:buNone/>
            </a:pPr>
            <a:r>
              <a:t/>
            </a:r>
            <a:endParaRPr sz="2500">
              <a:highlight>
                <a:srgbClr val="FFFFFF"/>
              </a:highlight>
            </a:endParaRPr>
          </a:p>
          <a:p>
            <a:pPr indent="-387350" lvl="0" marL="457200" rtl="0" algn="l">
              <a:spcBef>
                <a:spcPts val="0"/>
              </a:spcBef>
              <a:spcAft>
                <a:spcPts val="0"/>
              </a:spcAft>
              <a:buSzPts val="2500"/>
              <a:buAutoNum type="arabicPeriod"/>
            </a:pPr>
            <a:r>
              <a:rPr lang="en" sz="2500">
                <a:highlight>
                  <a:srgbClr val="FFFFFF"/>
                </a:highlight>
              </a:rPr>
              <a:t>Why do you need a </a:t>
            </a:r>
            <a:r>
              <a:rPr b="1" lang="en" sz="2500">
                <a:highlight>
                  <a:srgbClr val="FFFFFF"/>
                </a:highlight>
              </a:rPr>
              <a:t>custom AI tool</a:t>
            </a:r>
            <a:r>
              <a:rPr lang="en" sz="2500">
                <a:highlight>
                  <a:srgbClr val="FFFFFF"/>
                </a:highlight>
              </a:rPr>
              <a:t>? </a:t>
            </a:r>
            <a:endParaRPr sz="2500">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8"/>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5" name="Google Shape;175;p18"/>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76" name="Google Shape;176;p18"/>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177" name="Google Shape;177;p18"/>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178" name="Google Shape;178;p18"/>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179" name="Google Shape;179;p18"/>
          <p:cNvSpPr txBox="1"/>
          <p:nvPr/>
        </p:nvSpPr>
        <p:spPr>
          <a:xfrm>
            <a:off x="1068075" y="6091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180" name="Google Shape;180;p18"/>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a:t>
            </a:r>
            <a:r>
              <a:rPr b="1" lang="en" sz="2200" u="sng">
                <a:solidFill>
                  <a:schemeClr val="lt1"/>
                </a:solidFill>
                <a:latin typeface="Lato"/>
                <a:ea typeface="Lato"/>
                <a:cs typeface="Lato"/>
                <a:sym typeface="Lato"/>
              </a:rPr>
              <a:t>p</a:t>
            </a:r>
            <a:r>
              <a:rPr b="1" lang="en" sz="2200" u="sng">
                <a:solidFill>
                  <a:schemeClr val="lt1"/>
                </a:solidFill>
                <a:latin typeface="Lato"/>
                <a:ea typeface="Lato"/>
                <a:cs typeface="Lato"/>
                <a:sym typeface="Lato"/>
              </a:rPr>
              <a:t>ut</a:t>
            </a:r>
            <a:endParaRPr b="1" sz="2200" u="sng">
              <a:solidFill>
                <a:schemeClr val="lt1"/>
              </a:solidFill>
              <a:latin typeface="Lato"/>
              <a:ea typeface="Lato"/>
              <a:cs typeface="Lato"/>
              <a:sym typeface="Lato"/>
            </a:endParaRPr>
          </a:p>
        </p:txBody>
      </p:sp>
      <p:sp>
        <p:nvSpPr>
          <p:cNvPr id="181" name="Google Shape;181;p18"/>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a:t>
            </a:r>
            <a:r>
              <a:rPr b="1" lang="en" sz="2000" u="sng">
                <a:latin typeface="Lato"/>
                <a:ea typeface="Lato"/>
                <a:cs typeface="Lato"/>
                <a:sym typeface="Lato"/>
              </a:rPr>
              <a:t>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182" name="Google Shape;182;p18"/>
          <p:cNvSpPr/>
          <p:nvPr/>
        </p:nvSpPr>
        <p:spPr>
          <a:xfrm rot="2370681">
            <a:off x="1989292" y="2018770"/>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3" name="Google Shape;183;p18"/>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84" name="Google Shape;184;p18"/>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185" name="Google Shape;185;p18"/>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186" name="Google Shape;186;p18"/>
          <p:cNvSpPr/>
          <p:nvPr/>
        </p:nvSpPr>
        <p:spPr>
          <a:xfrm>
            <a:off x="492700" y="1069525"/>
            <a:ext cx="2376900" cy="741900"/>
          </a:xfrm>
          <a:prstGeom prst="wedgeRoundRectCallout">
            <a:avLst>
              <a:gd fmla="val -4885" name="adj1"/>
              <a:gd fmla="val 104691"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What is this?</a:t>
            </a:r>
            <a:endParaRPr>
              <a:latin typeface="Lato"/>
              <a:ea typeface="Lato"/>
              <a:cs typeface="Lato"/>
              <a:sym typeface="Lato"/>
            </a:endParaRPr>
          </a:p>
        </p:txBody>
      </p:sp>
      <p:pic>
        <p:nvPicPr>
          <p:cNvPr id="187" name="Google Shape;187;p18"/>
          <p:cNvPicPr preferRelativeResize="0"/>
          <p:nvPr/>
        </p:nvPicPr>
        <p:blipFill>
          <a:blip r:embed="rId6">
            <a:alphaModFix/>
          </a:blip>
          <a:stretch>
            <a:fillRect/>
          </a:stretch>
        </p:blipFill>
        <p:spPr>
          <a:xfrm>
            <a:off x="1783750" y="1132342"/>
            <a:ext cx="616274" cy="616259"/>
          </a:xfrm>
          <a:prstGeom prst="rect">
            <a:avLst/>
          </a:prstGeom>
          <a:noFill/>
          <a:ln>
            <a:noFill/>
          </a:ln>
        </p:spPr>
      </p:pic>
      <p:sp>
        <p:nvSpPr>
          <p:cNvPr id="188" name="Google Shape;188;p18"/>
          <p:cNvSpPr/>
          <p:nvPr/>
        </p:nvSpPr>
        <p:spPr>
          <a:xfrm>
            <a:off x="6585650" y="3150825"/>
            <a:ext cx="12960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an apple.</a:t>
            </a:r>
            <a:endParaRPr>
              <a:latin typeface="Lato"/>
              <a:ea typeface="Lato"/>
              <a:cs typeface="Lato"/>
              <a:sym typeface="Lato"/>
            </a:endParaRPr>
          </a:p>
        </p:txBody>
      </p:sp>
      <p:sp>
        <p:nvSpPr>
          <p:cNvPr id="189" name="Google Shape;189;p18"/>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190" name="Google Shape;190;p18"/>
          <p:cNvSpPr txBox="1"/>
          <p:nvPr/>
        </p:nvSpPr>
        <p:spPr>
          <a:xfrm>
            <a:off x="0" y="17180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p:nvPr/>
        </p:nvSpPr>
        <p:spPr>
          <a:xfrm>
            <a:off x="236225" y="882575"/>
            <a:ext cx="2748900" cy="1224300"/>
          </a:xfrm>
          <a:prstGeom prst="rect">
            <a:avLst/>
          </a:prstGeom>
          <a:noFill/>
          <a:ln cap="flat" cmpd="sng" w="381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6" name="Google Shape;196;p19"/>
          <p:cNvSpPr/>
          <p:nvPr/>
        </p:nvSpPr>
        <p:spPr>
          <a:xfrm rot="7592644">
            <a:off x="2639133" y="24108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7" name="Google Shape;197;p19"/>
          <p:cNvSpPr/>
          <p:nvPr/>
        </p:nvSpPr>
        <p:spPr>
          <a:xfrm>
            <a:off x="3676000" y="29715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98" name="Google Shape;198;p19"/>
          <p:cNvPicPr preferRelativeResize="0"/>
          <p:nvPr/>
        </p:nvPicPr>
        <p:blipFill>
          <a:blip r:embed="rId3">
            <a:alphaModFix/>
          </a:blip>
          <a:stretch>
            <a:fillRect/>
          </a:stretch>
        </p:blipFill>
        <p:spPr>
          <a:xfrm>
            <a:off x="3610775" y="2931025"/>
            <a:ext cx="1796649" cy="1796649"/>
          </a:xfrm>
          <a:prstGeom prst="rect">
            <a:avLst/>
          </a:prstGeom>
          <a:noFill/>
          <a:ln>
            <a:noFill/>
          </a:ln>
        </p:spPr>
      </p:pic>
      <p:sp>
        <p:nvSpPr>
          <p:cNvPr id="199" name="Google Shape;199;p19"/>
          <p:cNvSpPr/>
          <p:nvPr/>
        </p:nvSpPr>
        <p:spPr>
          <a:xfrm>
            <a:off x="5407425" y="40825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200" name="Google Shape;200;p19"/>
          <p:cNvPicPr preferRelativeResize="0"/>
          <p:nvPr/>
        </p:nvPicPr>
        <p:blipFill>
          <a:blip r:embed="rId4">
            <a:alphaModFix/>
          </a:blip>
          <a:stretch>
            <a:fillRect/>
          </a:stretch>
        </p:blipFill>
        <p:spPr>
          <a:xfrm>
            <a:off x="5407424" y="3086500"/>
            <a:ext cx="2376906" cy="2376906"/>
          </a:xfrm>
          <a:prstGeom prst="rect">
            <a:avLst/>
          </a:prstGeom>
          <a:noFill/>
          <a:ln>
            <a:noFill/>
          </a:ln>
        </p:spPr>
      </p:pic>
      <p:sp>
        <p:nvSpPr>
          <p:cNvPr id="201" name="Google Shape;201;p19"/>
          <p:cNvSpPr txBox="1"/>
          <p:nvPr/>
        </p:nvSpPr>
        <p:spPr>
          <a:xfrm>
            <a:off x="1068075" y="7615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202" name="Google Shape;202;p19"/>
          <p:cNvSpPr txBox="1"/>
          <p:nvPr/>
        </p:nvSpPr>
        <p:spPr>
          <a:xfrm>
            <a:off x="6100450" y="27016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203" name="Google Shape;203;p19"/>
          <p:cNvSpPr/>
          <p:nvPr/>
        </p:nvSpPr>
        <p:spPr>
          <a:xfrm>
            <a:off x="3081800" y="44674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204" name="Google Shape;204;p19"/>
          <p:cNvSpPr/>
          <p:nvPr/>
        </p:nvSpPr>
        <p:spPr>
          <a:xfrm rot="2370681">
            <a:off x="1989292" y="2171170"/>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5" name="Google Shape;205;p19"/>
          <p:cNvSpPr/>
          <p:nvPr/>
        </p:nvSpPr>
        <p:spPr>
          <a:xfrm>
            <a:off x="5487090" y="34610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06" name="Google Shape;206;p19"/>
          <p:cNvPicPr preferRelativeResize="0"/>
          <p:nvPr/>
        </p:nvPicPr>
        <p:blipFill>
          <a:blip r:embed="rId5">
            <a:alphaModFix/>
          </a:blip>
          <a:stretch>
            <a:fillRect/>
          </a:stretch>
        </p:blipFill>
        <p:spPr>
          <a:xfrm>
            <a:off x="3081825" y="4467400"/>
            <a:ext cx="560100" cy="560100"/>
          </a:xfrm>
          <a:prstGeom prst="rect">
            <a:avLst/>
          </a:prstGeom>
          <a:noFill/>
          <a:ln>
            <a:noFill/>
          </a:ln>
        </p:spPr>
      </p:pic>
      <p:pic>
        <p:nvPicPr>
          <p:cNvPr id="207" name="Google Shape;207;p19"/>
          <p:cNvPicPr preferRelativeResize="0"/>
          <p:nvPr/>
        </p:nvPicPr>
        <p:blipFill>
          <a:blip r:embed="rId5">
            <a:alphaModFix/>
          </a:blip>
          <a:stretch>
            <a:fillRect/>
          </a:stretch>
        </p:blipFill>
        <p:spPr>
          <a:xfrm>
            <a:off x="5270600" y="4467400"/>
            <a:ext cx="560100" cy="560100"/>
          </a:xfrm>
          <a:prstGeom prst="rect">
            <a:avLst/>
          </a:prstGeom>
          <a:noFill/>
          <a:ln>
            <a:noFill/>
          </a:ln>
        </p:spPr>
      </p:pic>
      <p:sp>
        <p:nvSpPr>
          <p:cNvPr id="208" name="Google Shape;208;p19"/>
          <p:cNvSpPr/>
          <p:nvPr/>
        </p:nvSpPr>
        <p:spPr>
          <a:xfrm>
            <a:off x="492700" y="1221925"/>
            <a:ext cx="2376900" cy="741900"/>
          </a:xfrm>
          <a:prstGeom prst="wedgeRoundRectCallout">
            <a:avLst>
              <a:gd fmla="val -4885" name="adj1"/>
              <a:gd fmla="val 104691"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What is this?</a:t>
            </a:r>
            <a:endParaRPr>
              <a:latin typeface="Lato"/>
              <a:ea typeface="Lato"/>
              <a:cs typeface="Lato"/>
              <a:sym typeface="Lato"/>
            </a:endParaRPr>
          </a:p>
        </p:txBody>
      </p:sp>
      <p:sp>
        <p:nvSpPr>
          <p:cNvPr id="209" name="Google Shape;209;p19"/>
          <p:cNvSpPr/>
          <p:nvPr/>
        </p:nvSpPr>
        <p:spPr>
          <a:xfrm>
            <a:off x="6507225" y="3303225"/>
            <a:ext cx="12123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an apple.</a:t>
            </a:r>
            <a:endParaRPr>
              <a:latin typeface="Lato"/>
              <a:ea typeface="Lato"/>
              <a:cs typeface="Lato"/>
              <a:sym typeface="Lato"/>
            </a:endParaRPr>
          </a:p>
        </p:txBody>
      </p:sp>
      <p:sp>
        <p:nvSpPr>
          <p:cNvPr id="210" name="Google Shape;210;p19"/>
          <p:cNvSpPr txBox="1"/>
          <p:nvPr/>
        </p:nvSpPr>
        <p:spPr>
          <a:xfrm>
            <a:off x="3676000" y="24625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211" name="Google Shape;211;p19"/>
          <p:cNvSpPr txBox="1"/>
          <p:nvPr/>
        </p:nvSpPr>
        <p:spPr>
          <a:xfrm>
            <a:off x="0" y="92275"/>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rgbClr val="FF9900"/>
                </a:solidFill>
                <a:latin typeface="Montserrat"/>
                <a:ea typeface="Montserrat"/>
                <a:cs typeface="Montserrat"/>
                <a:sym typeface="Montserrat"/>
              </a:rPr>
              <a:t>Customized Knowledge</a:t>
            </a:r>
            <a:r>
              <a:rPr lang="en" sz="2000">
                <a:solidFill>
                  <a:srgbClr val="F27F0B"/>
                </a:solidFill>
                <a:latin typeface="Montserrat"/>
                <a:ea typeface="Montserrat"/>
                <a:cs typeface="Montserrat"/>
                <a:sym typeface="Montserrat"/>
              </a:rPr>
              <a:t> </a:t>
            </a:r>
            <a:endParaRPr sz="2000">
              <a:solidFill>
                <a:srgbClr val="F27F0B"/>
              </a:solidFill>
              <a:latin typeface="Montserrat"/>
              <a:ea typeface="Montserrat"/>
              <a:cs typeface="Montserrat"/>
              <a:sym typeface="Montserrat"/>
            </a:endParaRPr>
          </a:p>
        </p:txBody>
      </p:sp>
      <p:sp>
        <p:nvSpPr>
          <p:cNvPr id="212" name="Google Shape;212;p19"/>
          <p:cNvSpPr txBox="1"/>
          <p:nvPr/>
        </p:nvSpPr>
        <p:spPr>
          <a:xfrm>
            <a:off x="3156975" y="1245050"/>
            <a:ext cx="5474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9900"/>
                </a:solidFill>
                <a:latin typeface="Montserrat"/>
                <a:ea typeface="Montserrat"/>
                <a:cs typeface="Montserrat"/>
                <a:sym typeface="Montserrat"/>
              </a:rPr>
              <a:t>My input questions are domain specific. </a:t>
            </a:r>
            <a:endParaRPr b="1" sz="1900">
              <a:solidFill>
                <a:srgbClr val="FF9900"/>
              </a:solidFill>
              <a:latin typeface="Montserrat"/>
              <a:ea typeface="Montserrat"/>
              <a:cs typeface="Montserrat"/>
              <a:sym typeface="Montserrat"/>
            </a:endParaRPr>
          </a:p>
        </p:txBody>
      </p:sp>
      <p:pic>
        <p:nvPicPr>
          <p:cNvPr id="213" name="Google Shape;213;p19"/>
          <p:cNvPicPr preferRelativeResize="0"/>
          <p:nvPr/>
        </p:nvPicPr>
        <p:blipFill>
          <a:blip r:embed="rId6">
            <a:alphaModFix/>
          </a:blip>
          <a:stretch>
            <a:fillRect/>
          </a:stretch>
        </p:blipFill>
        <p:spPr>
          <a:xfrm>
            <a:off x="1816200" y="1221924"/>
            <a:ext cx="853186" cy="74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p:nvPr/>
        </p:nvSpPr>
        <p:spPr>
          <a:xfrm>
            <a:off x="236225" y="730175"/>
            <a:ext cx="2748900" cy="1224300"/>
          </a:xfrm>
          <a:prstGeom prst="rect">
            <a:avLst/>
          </a:prstGeom>
          <a:noFill/>
          <a:ln cap="flat" cmpd="sng" w="381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9" name="Google Shape;219;p20"/>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0" name="Google Shape;220;p20"/>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221" name="Google Shape;221;p20"/>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222" name="Google Shape;222;p20"/>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223" name="Google Shape;223;p20"/>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224" name="Google Shape;224;p20"/>
          <p:cNvSpPr txBox="1"/>
          <p:nvPr/>
        </p:nvSpPr>
        <p:spPr>
          <a:xfrm>
            <a:off x="1068075" y="6091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225" name="Google Shape;225;p20"/>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226" name="Google Shape;226;p20"/>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227" name="Google Shape;227;p20"/>
          <p:cNvSpPr/>
          <p:nvPr/>
        </p:nvSpPr>
        <p:spPr>
          <a:xfrm rot="2370681">
            <a:off x="1989292" y="2018770"/>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20"/>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9" name="Google Shape;229;p20"/>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230" name="Google Shape;230;p20"/>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231" name="Google Shape;231;p20"/>
          <p:cNvSpPr/>
          <p:nvPr/>
        </p:nvSpPr>
        <p:spPr>
          <a:xfrm>
            <a:off x="492700" y="1069525"/>
            <a:ext cx="2376900" cy="741900"/>
          </a:xfrm>
          <a:prstGeom prst="wedgeRoundRectCallout">
            <a:avLst>
              <a:gd fmla="val -4885" name="adj1"/>
              <a:gd fmla="val 104691"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Can you do math on my social security number ***-**-**** ? </a:t>
            </a:r>
            <a:endParaRPr>
              <a:latin typeface="Lato"/>
              <a:ea typeface="Lato"/>
              <a:cs typeface="Lato"/>
              <a:sym typeface="Lato"/>
            </a:endParaRPr>
          </a:p>
        </p:txBody>
      </p:sp>
      <p:sp>
        <p:nvSpPr>
          <p:cNvPr id="232" name="Google Shape;232;p20"/>
          <p:cNvSpPr/>
          <p:nvPr/>
        </p:nvSpPr>
        <p:spPr>
          <a:xfrm>
            <a:off x="6585650" y="3150825"/>
            <a:ext cx="10656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 pear.</a:t>
            </a:r>
            <a:endParaRPr>
              <a:latin typeface="Lato"/>
              <a:ea typeface="Lato"/>
              <a:cs typeface="Lato"/>
              <a:sym typeface="Lato"/>
            </a:endParaRPr>
          </a:p>
        </p:txBody>
      </p:sp>
      <p:sp>
        <p:nvSpPr>
          <p:cNvPr id="233" name="Google Shape;233;p20"/>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234" name="Google Shape;234;p20"/>
          <p:cNvSpPr txBox="1"/>
          <p:nvPr/>
        </p:nvSpPr>
        <p:spPr>
          <a:xfrm>
            <a:off x="0" y="9560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rgbClr val="FF9900"/>
                </a:solidFill>
                <a:latin typeface="Montserrat"/>
                <a:ea typeface="Montserrat"/>
                <a:cs typeface="Montserrat"/>
                <a:sym typeface="Montserrat"/>
              </a:rPr>
              <a:t>Customized Security</a:t>
            </a:r>
            <a:endParaRPr sz="2000">
              <a:solidFill>
                <a:srgbClr val="FF9900"/>
              </a:solidFill>
              <a:latin typeface="Montserrat"/>
              <a:ea typeface="Montserrat"/>
              <a:cs typeface="Montserrat"/>
              <a:sym typeface="Montserrat"/>
            </a:endParaRPr>
          </a:p>
        </p:txBody>
      </p:sp>
      <p:sp>
        <p:nvSpPr>
          <p:cNvPr id="235" name="Google Shape;235;p20"/>
          <p:cNvSpPr txBox="1"/>
          <p:nvPr/>
        </p:nvSpPr>
        <p:spPr>
          <a:xfrm>
            <a:off x="3500575" y="1069525"/>
            <a:ext cx="5159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9900"/>
                </a:solidFill>
                <a:latin typeface="Montserrat"/>
                <a:ea typeface="Montserrat"/>
                <a:cs typeface="Montserrat"/>
                <a:sym typeface="Montserrat"/>
              </a:rPr>
              <a:t>There is </a:t>
            </a:r>
            <a:r>
              <a:rPr b="1" lang="en" sz="1900">
                <a:solidFill>
                  <a:srgbClr val="FF9900"/>
                </a:solidFill>
                <a:latin typeface="Montserrat"/>
                <a:ea typeface="Montserrat"/>
                <a:cs typeface="Montserrat"/>
                <a:sym typeface="Montserrat"/>
              </a:rPr>
              <a:t>protected data involved</a:t>
            </a:r>
            <a:endParaRPr b="1" sz="1900">
              <a:solidFill>
                <a:srgbClr val="FF99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21"/>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242" name="Google Shape;242;p21"/>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243" name="Google Shape;243;p21"/>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244" name="Google Shape;244;p21"/>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245" name="Google Shape;245;p21"/>
          <p:cNvSpPr txBox="1"/>
          <p:nvPr/>
        </p:nvSpPr>
        <p:spPr>
          <a:xfrm>
            <a:off x="1068075" y="6853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246" name="Google Shape;246;p21"/>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247" name="Google Shape;247;p21"/>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248" name="Google Shape;248;p21"/>
          <p:cNvSpPr/>
          <p:nvPr/>
        </p:nvSpPr>
        <p:spPr>
          <a:xfrm rot="2370681">
            <a:off x="2221267" y="1626495"/>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9" name="Google Shape;249;p21"/>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50" name="Google Shape;250;p21"/>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251" name="Google Shape;251;p21"/>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252" name="Google Shape;252;p21"/>
          <p:cNvSpPr/>
          <p:nvPr/>
        </p:nvSpPr>
        <p:spPr>
          <a:xfrm>
            <a:off x="6585650" y="3150825"/>
            <a:ext cx="12960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an apple.</a:t>
            </a:r>
            <a:endParaRPr>
              <a:latin typeface="Lato"/>
              <a:ea typeface="Lato"/>
              <a:cs typeface="Lato"/>
              <a:sym typeface="Lato"/>
            </a:endParaRPr>
          </a:p>
        </p:txBody>
      </p:sp>
      <p:sp>
        <p:nvSpPr>
          <p:cNvPr id="253" name="Google Shape;253;p21"/>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254" name="Google Shape;254;p21"/>
          <p:cNvSpPr txBox="1"/>
          <p:nvPr/>
        </p:nvSpPr>
        <p:spPr>
          <a:xfrm>
            <a:off x="47750" y="6975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rgbClr val="FF9900"/>
                </a:solidFill>
                <a:latin typeface="Montserrat"/>
                <a:ea typeface="Montserrat"/>
                <a:cs typeface="Montserrat"/>
                <a:sym typeface="Montserrat"/>
              </a:rPr>
              <a:t>Customized Interface</a:t>
            </a:r>
            <a:r>
              <a:rPr lang="en" sz="2000">
                <a:solidFill>
                  <a:schemeClr val="lt1"/>
                </a:solidFill>
                <a:latin typeface="Montserrat"/>
                <a:ea typeface="Montserrat"/>
                <a:cs typeface="Montserrat"/>
                <a:sym typeface="Montserrat"/>
              </a:rPr>
              <a:t> </a:t>
            </a:r>
            <a:endParaRPr sz="2000">
              <a:solidFill>
                <a:schemeClr val="lt1"/>
              </a:solidFill>
              <a:latin typeface="Montserrat"/>
              <a:ea typeface="Montserrat"/>
              <a:cs typeface="Montserrat"/>
              <a:sym typeface="Montserrat"/>
            </a:endParaRPr>
          </a:p>
        </p:txBody>
      </p:sp>
      <p:sp>
        <p:nvSpPr>
          <p:cNvPr id="255" name="Google Shape;255;p21"/>
          <p:cNvSpPr txBox="1"/>
          <p:nvPr/>
        </p:nvSpPr>
        <p:spPr>
          <a:xfrm>
            <a:off x="3368875" y="993150"/>
            <a:ext cx="5159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9900"/>
                </a:solidFill>
                <a:latin typeface="Montserrat"/>
                <a:ea typeface="Montserrat"/>
                <a:cs typeface="Montserrat"/>
                <a:sym typeface="Montserrat"/>
              </a:rPr>
              <a:t>I need users to access an AI model but from our own website/app</a:t>
            </a:r>
            <a:endParaRPr b="1" sz="1900">
              <a:solidFill>
                <a:srgbClr val="FF9900"/>
              </a:solidFill>
              <a:latin typeface="Montserrat"/>
              <a:ea typeface="Montserrat"/>
              <a:cs typeface="Montserrat"/>
              <a:sym typeface="Montserrat"/>
            </a:endParaRPr>
          </a:p>
        </p:txBody>
      </p:sp>
      <p:grpSp>
        <p:nvGrpSpPr>
          <p:cNvPr id="256" name="Google Shape;256;p21"/>
          <p:cNvGrpSpPr/>
          <p:nvPr/>
        </p:nvGrpSpPr>
        <p:grpSpPr>
          <a:xfrm>
            <a:off x="283169" y="1160645"/>
            <a:ext cx="2149389" cy="2376587"/>
            <a:chOff x="10877550" y="3067050"/>
            <a:chExt cx="6400801" cy="7353300"/>
          </a:xfrm>
        </p:grpSpPr>
        <p:sp>
          <p:nvSpPr>
            <p:cNvPr id="257" name="Google Shape;257;p21"/>
            <p:cNvSpPr/>
            <p:nvPr/>
          </p:nvSpPr>
          <p:spPr>
            <a:xfrm>
              <a:off x="11372850" y="3067050"/>
              <a:ext cx="5448300" cy="3695700"/>
            </a:xfrm>
            <a:prstGeom prst="roundRect">
              <a:avLst>
                <a:gd fmla="val 16667" name="adj"/>
              </a:avLst>
            </a:prstGeom>
            <a:solidFill>
              <a:srgbClr val="D9D9D9"/>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11563350" y="3314700"/>
              <a:ext cx="5029200" cy="3238500"/>
            </a:xfrm>
            <a:prstGeom prst="roundRect">
              <a:avLst>
                <a:gd fmla="val 16667" name="adj"/>
              </a:avLst>
            </a:prstGeom>
            <a:solidFill>
              <a:srgbClr val="FFFFFF"/>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 name="Google Shape;259;p21"/>
            <p:cNvPicPr preferRelativeResize="0"/>
            <p:nvPr/>
          </p:nvPicPr>
          <p:blipFill>
            <a:blip r:embed="rId6">
              <a:alphaModFix/>
            </a:blip>
            <a:stretch>
              <a:fillRect/>
            </a:stretch>
          </p:blipFill>
          <p:spPr>
            <a:xfrm>
              <a:off x="10877550" y="5562600"/>
              <a:ext cx="6400801" cy="4857750"/>
            </a:xfrm>
            <a:prstGeom prst="rect">
              <a:avLst/>
            </a:prstGeom>
            <a:noFill/>
            <a:ln>
              <a:noFill/>
            </a:ln>
          </p:spPr>
        </p:pic>
      </p:grpSp>
      <p:sp>
        <p:nvSpPr>
          <p:cNvPr id="260" name="Google Shape;260;p21"/>
          <p:cNvSpPr/>
          <p:nvPr/>
        </p:nvSpPr>
        <p:spPr>
          <a:xfrm>
            <a:off x="638313" y="1392388"/>
            <a:ext cx="1439100" cy="616200"/>
          </a:xfrm>
          <a:prstGeom prst="wedgeRoundRectCallout">
            <a:avLst>
              <a:gd fmla="val -3324" name="adj1"/>
              <a:gd fmla="val 81777"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Lato"/>
                <a:ea typeface="Lato"/>
                <a:cs typeface="Lato"/>
                <a:sym typeface="Lato"/>
              </a:rPr>
              <a:t>What is this?</a:t>
            </a:r>
            <a:endParaRPr sz="1100">
              <a:latin typeface="Lato"/>
              <a:ea typeface="Lato"/>
              <a:cs typeface="Lato"/>
              <a:sym typeface="Lato"/>
            </a:endParaRPr>
          </a:p>
        </p:txBody>
      </p:sp>
      <p:pic>
        <p:nvPicPr>
          <p:cNvPr id="261" name="Google Shape;261;p21"/>
          <p:cNvPicPr preferRelativeResize="0"/>
          <p:nvPr/>
        </p:nvPicPr>
        <p:blipFill>
          <a:blip r:embed="rId7">
            <a:alphaModFix/>
          </a:blip>
          <a:stretch>
            <a:fillRect/>
          </a:stretch>
        </p:blipFill>
        <p:spPr>
          <a:xfrm>
            <a:off x="1547500" y="1392354"/>
            <a:ext cx="616274" cy="6162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ph type="title"/>
          </p:nvPr>
        </p:nvSpPr>
        <p:spPr>
          <a:xfrm>
            <a:off x="591325" y="475950"/>
            <a:ext cx="8396400" cy="4463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highlight>
                  <a:srgbClr val="FFFFFF"/>
                </a:highlight>
              </a:rPr>
              <a:t>The </a:t>
            </a:r>
            <a:r>
              <a:rPr b="1" lang="en">
                <a:highlight>
                  <a:srgbClr val="FFFFFF"/>
                </a:highlight>
              </a:rPr>
              <a:t>more customization</a:t>
            </a:r>
            <a:r>
              <a:rPr lang="en">
                <a:highlight>
                  <a:srgbClr val="FFFFFF"/>
                </a:highlight>
              </a:rPr>
              <a:t> you need,</a:t>
            </a:r>
            <a:endParaRPr>
              <a:highlight>
                <a:srgbClr val="FFFFFF"/>
              </a:highlight>
            </a:endParaRPr>
          </a:p>
          <a:p>
            <a:pPr indent="0" lvl="0" marL="0" rtl="0" algn="l">
              <a:spcBef>
                <a:spcPts val="0"/>
              </a:spcBef>
              <a:spcAft>
                <a:spcPts val="0"/>
              </a:spcAft>
              <a:buNone/>
            </a:pPr>
            <a:r>
              <a:rPr lang="en">
                <a:highlight>
                  <a:srgbClr val="FFFFFF"/>
                </a:highlight>
              </a:rPr>
              <a:t>the </a:t>
            </a:r>
            <a:r>
              <a:rPr b="1" lang="en">
                <a:highlight>
                  <a:srgbClr val="FFFFFF"/>
                </a:highlight>
              </a:rPr>
              <a:t>more work</a:t>
            </a:r>
            <a:r>
              <a:rPr lang="en">
                <a:highlight>
                  <a:srgbClr val="FFFFFF"/>
                </a:highlight>
              </a:rPr>
              <a:t> that will be required by your team</a:t>
            </a:r>
            <a:endParaRPr>
              <a:highlight>
                <a:srgbClr val="FFFFFF"/>
              </a:highlight>
            </a:endParaRPr>
          </a:p>
          <a:p>
            <a:pPr indent="0" lvl="0" marL="0" rtl="0" algn="l">
              <a:spcBef>
                <a:spcPts val="0"/>
              </a:spcBef>
              <a:spcAft>
                <a:spcPts val="0"/>
              </a:spcAft>
              <a:buNone/>
            </a:pPr>
            <a:r>
              <a:t/>
            </a:r>
            <a:endParaRPr>
              <a:highlight>
                <a:srgbClr val="FFFFFF"/>
              </a:highlight>
            </a:endParaRPr>
          </a:p>
          <a:p>
            <a:pPr indent="0" lvl="0" marL="0" rtl="0" algn="l">
              <a:spcBef>
                <a:spcPts val="0"/>
              </a:spcBef>
              <a:spcAft>
                <a:spcPts val="0"/>
              </a:spcAft>
              <a:buNone/>
            </a:pPr>
            <a:r>
              <a:t/>
            </a:r>
            <a:endParaRPr>
              <a:highlight>
                <a:srgbClr val="FFFFFF"/>
              </a:highlight>
            </a:endParaRPr>
          </a:p>
          <a:p>
            <a:pPr indent="0" lvl="0" marL="0" rtl="0" algn="l">
              <a:spcBef>
                <a:spcPts val="0"/>
              </a:spcBef>
              <a:spcAft>
                <a:spcPts val="0"/>
              </a:spcAft>
              <a:buNone/>
            </a:pPr>
            <a:r>
              <a:rPr i="1" lang="en">
                <a:highlight>
                  <a:srgbClr val="FFFFFF"/>
                </a:highlight>
              </a:rPr>
              <a:t>Carefully consider</a:t>
            </a:r>
            <a:r>
              <a:rPr lang="en">
                <a:highlight>
                  <a:srgbClr val="FFFFFF"/>
                </a:highlight>
              </a:rPr>
              <a:t> what the project truly requires!</a:t>
            </a:r>
            <a:endParaRPr>
              <a:highlight>
                <a:srgbClr val="FFFFFF"/>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933">
                <a:solidFill>
                  <a:srgbClr val="FF0000"/>
                </a:solidFill>
                <a:highlight>
                  <a:srgbClr val="FFFFFF"/>
                </a:highlight>
              </a:rPr>
              <a:t>*But protected </a:t>
            </a:r>
            <a:r>
              <a:rPr b="1" lang="en" sz="1933">
                <a:solidFill>
                  <a:srgbClr val="FF0000"/>
                </a:solidFill>
                <a:highlight>
                  <a:srgbClr val="FFFFFF"/>
                </a:highlight>
              </a:rPr>
              <a:t>data needs should always be taken seriously! Before deploying any AI solutions that involve protected data consult your legal and IRB experts</a:t>
            </a:r>
            <a:endParaRPr b="1" sz="1933">
              <a:solidFill>
                <a:srgbClr val="FF0000"/>
              </a:solidFill>
              <a:highlight>
                <a:srgbClr val="FFFFFF"/>
              </a:highlight>
            </a:endParaRPr>
          </a:p>
        </p:txBody>
      </p:sp>
      <p:sp>
        <p:nvSpPr>
          <p:cNvPr id="267" name="Google Shape;267;p22"/>
          <p:cNvSpPr txBox="1"/>
          <p:nvPr/>
        </p:nvSpPr>
        <p:spPr>
          <a:xfrm>
            <a:off x="47750" y="6975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Identify what is important</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sz="2000">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3"/>
          <p:cNvSpPr txBox="1"/>
          <p:nvPr/>
        </p:nvSpPr>
        <p:spPr>
          <a:xfrm>
            <a:off x="0" y="171800"/>
            <a:ext cx="9144000" cy="90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 do you </a:t>
            </a:r>
            <a:r>
              <a:rPr b="1" lang="en" sz="2800">
                <a:solidFill>
                  <a:schemeClr val="lt1"/>
                </a:solidFill>
                <a:latin typeface="Montserrat"/>
                <a:ea typeface="Montserrat"/>
                <a:cs typeface="Montserrat"/>
                <a:sym typeface="Montserrat"/>
              </a:rPr>
              <a:t>need</a:t>
            </a:r>
            <a:r>
              <a:rPr lang="en" sz="2800">
                <a:solidFill>
                  <a:schemeClr val="lt1"/>
                </a:solidFill>
                <a:latin typeface="Montserrat"/>
                <a:ea typeface="Montserrat"/>
                <a:cs typeface="Montserrat"/>
                <a:sym typeface="Montserrat"/>
              </a:rPr>
              <a:t> from this AI project?</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lang="en" sz="1900">
                <a:solidFill>
                  <a:schemeClr val="lt1"/>
                </a:solidFill>
                <a:latin typeface="Montserrat"/>
                <a:ea typeface="Montserrat"/>
                <a:cs typeface="Montserrat"/>
                <a:sym typeface="Montserrat"/>
              </a:rPr>
              <a:t>– you may need a combination of these items!</a:t>
            </a:r>
            <a:endParaRPr sz="1900">
              <a:solidFill>
                <a:schemeClr val="lt1"/>
              </a:solidFill>
              <a:latin typeface="Montserrat"/>
              <a:ea typeface="Montserrat"/>
              <a:cs typeface="Montserrat"/>
              <a:sym typeface="Montserrat"/>
            </a:endParaRPr>
          </a:p>
        </p:txBody>
      </p:sp>
      <p:sp>
        <p:nvSpPr>
          <p:cNvPr id="273" name="Google Shape;273;p23"/>
          <p:cNvSpPr txBox="1"/>
          <p:nvPr/>
        </p:nvSpPr>
        <p:spPr>
          <a:xfrm>
            <a:off x="4621350" y="1529375"/>
            <a:ext cx="4393800" cy="22626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b="1" lang="en" sz="1700">
                <a:solidFill>
                  <a:schemeClr val="dk1"/>
                </a:solidFill>
                <a:latin typeface="Lato"/>
                <a:ea typeface="Lato"/>
                <a:cs typeface="Lato"/>
                <a:sym typeface="Lato"/>
              </a:rPr>
              <a:t>Your solution may  include:</a:t>
            </a:r>
            <a:endParaRPr b="1" sz="1700">
              <a:solidFill>
                <a:schemeClr val="dk1"/>
              </a:solidFill>
              <a:latin typeface="Lato"/>
              <a:ea typeface="Lato"/>
              <a:cs typeface="Lato"/>
              <a:sym typeface="Lato"/>
            </a:endParaRPr>
          </a:p>
          <a:p>
            <a:pPr indent="0" lvl="0" marL="0" rtl="0" algn="l">
              <a:spcBef>
                <a:spcPts val="0"/>
              </a:spcBef>
              <a:spcAft>
                <a:spcPts val="0"/>
              </a:spcAft>
              <a:buNone/>
            </a:pPr>
            <a:r>
              <a:t/>
            </a:r>
            <a:endParaRPr b="1" sz="1700">
              <a:solidFill>
                <a:schemeClr val="dk1"/>
              </a:solidFill>
              <a:latin typeface="Lato"/>
              <a:ea typeface="Lato"/>
              <a:cs typeface="Lato"/>
              <a:sym typeface="Lato"/>
            </a:endParaRPr>
          </a:p>
          <a:p>
            <a:pPr indent="457200" lvl="0" marL="0" rtl="0" algn="l">
              <a:spcBef>
                <a:spcPts val="0"/>
              </a:spcBef>
              <a:spcAft>
                <a:spcPts val="0"/>
              </a:spcAft>
              <a:buNone/>
            </a:pPr>
            <a:r>
              <a:rPr lang="en" sz="1700">
                <a:solidFill>
                  <a:schemeClr val="dk1"/>
                </a:solidFill>
                <a:latin typeface="Lato"/>
                <a:ea typeface="Lato"/>
                <a:cs typeface="Lato"/>
                <a:sym typeface="Lato"/>
              </a:rPr>
              <a:t>Training an AI model</a:t>
            </a:r>
            <a:endParaRPr sz="1700">
              <a:solidFill>
                <a:schemeClr val="dk1"/>
              </a:solidFill>
              <a:latin typeface="Lato"/>
              <a:ea typeface="Lato"/>
              <a:cs typeface="Lato"/>
              <a:sym typeface="Lato"/>
            </a:endParaRPr>
          </a:p>
          <a:p>
            <a:pPr indent="0" lvl="0" marL="914400" rtl="0" algn="l">
              <a:spcBef>
                <a:spcPts val="0"/>
              </a:spcBef>
              <a:spcAft>
                <a:spcPts val="0"/>
              </a:spcAft>
              <a:buNone/>
            </a:pPr>
            <a:r>
              <a:t/>
            </a:r>
            <a:endParaRPr sz="1700">
              <a:solidFill>
                <a:schemeClr val="dk1"/>
              </a:solidFill>
              <a:latin typeface="Lato"/>
              <a:ea typeface="Lato"/>
              <a:cs typeface="Lato"/>
              <a:sym typeface="Lato"/>
            </a:endParaRPr>
          </a:p>
          <a:p>
            <a:pPr indent="457200" lvl="0" marL="0" rtl="0" algn="l">
              <a:spcBef>
                <a:spcPts val="0"/>
              </a:spcBef>
              <a:spcAft>
                <a:spcPts val="0"/>
              </a:spcAft>
              <a:buNone/>
            </a:pPr>
            <a:r>
              <a:rPr lang="en" sz="1700">
                <a:solidFill>
                  <a:schemeClr val="dk1"/>
                </a:solidFill>
                <a:latin typeface="Lato"/>
                <a:ea typeface="Lato"/>
                <a:cs typeface="Lato"/>
                <a:sym typeface="Lato"/>
              </a:rPr>
              <a:t>Deploying on secure server</a:t>
            </a:r>
            <a:endParaRPr sz="1700">
              <a:solidFill>
                <a:schemeClr val="dk1"/>
              </a:solidFill>
              <a:latin typeface="Lato"/>
              <a:ea typeface="Lato"/>
              <a:cs typeface="Lato"/>
              <a:sym typeface="Lato"/>
            </a:endParaRPr>
          </a:p>
          <a:p>
            <a:pPr indent="0" lvl="0" marL="914400" rtl="0" algn="l">
              <a:spcBef>
                <a:spcPts val="0"/>
              </a:spcBef>
              <a:spcAft>
                <a:spcPts val="0"/>
              </a:spcAft>
              <a:buNone/>
            </a:pPr>
            <a:r>
              <a:t/>
            </a:r>
            <a:endParaRPr sz="1700">
              <a:solidFill>
                <a:schemeClr val="dk1"/>
              </a:solidFill>
              <a:latin typeface="Lato"/>
              <a:ea typeface="Lato"/>
              <a:cs typeface="Lato"/>
              <a:sym typeface="Lato"/>
            </a:endParaRPr>
          </a:p>
          <a:p>
            <a:pPr indent="457200" lvl="0" marL="0" rtl="0" algn="l">
              <a:spcBef>
                <a:spcPts val="0"/>
              </a:spcBef>
              <a:spcAft>
                <a:spcPts val="0"/>
              </a:spcAft>
              <a:buNone/>
            </a:pPr>
            <a:r>
              <a:rPr lang="en" sz="1700">
                <a:solidFill>
                  <a:schemeClr val="dk1"/>
                </a:solidFill>
                <a:latin typeface="Lato"/>
                <a:ea typeface="Lato"/>
                <a:cs typeface="Lato"/>
                <a:sym typeface="Lato"/>
              </a:rPr>
              <a:t>Using an API of an existing AI platform</a:t>
            </a:r>
            <a:endParaRPr sz="1700">
              <a:solidFill>
                <a:schemeClr val="dk1"/>
              </a:solidFill>
              <a:latin typeface="Lato"/>
              <a:ea typeface="Lato"/>
              <a:cs typeface="Lato"/>
              <a:sym typeface="Lato"/>
            </a:endParaRPr>
          </a:p>
          <a:p>
            <a:pPr indent="0" lvl="0" marL="457200" rtl="0" algn="l">
              <a:spcBef>
                <a:spcPts val="0"/>
              </a:spcBef>
              <a:spcAft>
                <a:spcPts val="0"/>
              </a:spcAft>
              <a:buNone/>
            </a:pPr>
            <a:r>
              <a:t/>
            </a:r>
            <a:endParaRPr sz="1700">
              <a:solidFill>
                <a:schemeClr val="dk1"/>
              </a:solidFill>
              <a:latin typeface="Lato"/>
              <a:ea typeface="Lato"/>
              <a:cs typeface="Lato"/>
              <a:sym typeface="Lato"/>
            </a:endParaRPr>
          </a:p>
        </p:txBody>
      </p:sp>
      <p:sp>
        <p:nvSpPr>
          <p:cNvPr id="274" name="Google Shape;274;p23"/>
          <p:cNvSpPr/>
          <p:nvPr/>
        </p:nvSpPr>
        <p:spPr>
          <a:xfrm>
            <a:off x="3740650" y="2094925"/>
            <a:ext cx="962700" cy="3543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5" name="Google Shape;275;p23"/>
          <p:cNvSpPr txBox="1"/>
          <p:nvPr/>
        </p:nvSpPr>
        <p:spPr>
          <a:xfrm>
            <a:off x="573750" y="1529375"/>
            <a:ext cx="28839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Lato"/>
                <a:ea typeface="Lato"/>
                <a:cs typeface="Lato"/>
                <a:sym typeface="Lato"/>
              </a:rPr>
              <a:t>Needs:</a:t>
            </a:r>
            <a:endParaRPr b="1" sz="1700">
              <a:solidFill>
                <a:schemeClr val="dk1"/>
              </a:solidFill>
              <a:latin typeface="Lato"/>
              <a:ea typeface="Lato"/>
              <a:cs typeface="Lato"/>
              <a:sym typeface="Lato"/>
            </a:endParaRPr>
          </a:p>
          <a:p>
            <a:pPr indent="0" lvl="0" marL="0" rtl="0" algn="l">
              <a:spcBef>
                <a:spcPts val="0"/>
              </a:spcBef>
              <a:spcAft>
                <a:spcPts val="0"/>
              </a:spcAft>
              <a:buNone/>
            </a:pPr>
            <a:r>
              <a:t/>
            </a:r>
            <a:endParaRPr b="1" sz="1700">
              <a:solidFill>
                <a:schemeClr val="dk1"/>
              </a:solidFill>
              <a:latin typeface="Lato"/>
              <a:ea typeface="Lato"/>
              <a:cs typeface="Lato"/>
              <a:sym typeface="Lato"/>
            </a:endParaRPr>
          </a:p>
          <a:p>
            <a:pPr indent="-336550" lvl="0" marL="457200" rtl="0" algn="l">
              <a:spcBef>
                <a:spcPts val="0"/>
              </a:spcBef>
              <a:spcAft>
                <a:spcPts val="0"/>
              </a:spcAft>
              <a:buClr>
                <a:schemeClr val="dk1"/>
              </a:buClr>
              <a:buSzPts val="1700"/>
              <a:buFont typeface="Lato"/>
              <a:buChar char="❏"/>
            </a:pPr>
            <a:r>
              <a:rPr lang="en" sz="1700">
                <a:solidFill>
                  <a:schemeClr val="dk1"/>
                </a:solidFill>
                <a:latin typeface="Lato"/>
                <a:ea typeface="Lato"/>
                <a:cs typeface="Lato"/>
                <a:sym typeface="Lato"/>
              </a:rPr>
              <a:t>Customized knowledge</a:t>
            </a:r>
            <a:endParaRPr sz="1700">
              <a:solidFill>
                <a:schemeClr val="dk1"/>
              </a:solidFill>
              <a:latin typeface="Lato"/>
              <a:ea typeface="Lato"/>
              <a:cs typeface="Lato"/>
              <a:sym typeface="Lato"/>
            </a:endParaRPr>
          </a:p>
          <a:p>
            <a:pPr indent="0" lvl="0" marL="457200" rtl="0" algn="l">
              <a:spcBef>
                <a:spcPts val="0"/>
              </a:spcBef>
              <a:spcAft>
                <a:spcPts val="0"/>
              </a:spcAft>
              <a:buNone/>
            </a:pPr>
            <a:r>
              <a:t/>
            </a:r>
            <a:endParaRPr sz="1700">
              <a:solidFill>
                <a:schemeClr val="dk1"/>
              </a:solidFill>
              <a:latin typeface="Lato"/>
              <a:ea typeface="Lato"/>
              <a:cs typeface="Lato"/>
              <a:sym typeface="Lato"/>
            </a:endParaRPr>
          </a:p>
          <a:p>
            <a:pPr indent="-336550" lvl="0" marL="457200" rtl="0" algn="l">
              <a:spcBef>
                <a:spcPts val="0"/>
              </a:spcBef>
              <a:spcAft>
                <a:spcPts val="0"/>
              </a:spcAft>
              <a:buClr>
                <a:schemeClr val="dk1"/>
              </a:buClr>
              <a:buSzPts val="1700"/>
              <a:buFont typeface="Lato"/>
              <a:buChar char="❏"/>
            </a:pPr>
            <a:r>
              <a:rPr lang="en" sz="1700">
                <a:solidFill>
                  <a:schemeClr val="dk1"/>
                </a:solidFill>
                <a:latin typeface="Lato"/>
                <a:ea typeface="Lato"/>
                <a:cs typeface="Lato"/>
                <a:sym typeface="Lato"/>
              </a:rPr>
              <a:t>Customized security</a:t>
            </a:r>
            <a:endParaRPr sz="1700">
              <a:solidFill>
                <a:schemeClr val="dk1"/>
              </a:solidFill>
              <a:latin typeface="Lato"/>
              <a:ea typeface="Lato"/>
              <a:cs typeface="Lato"/>
              <a:sym typeface="Lato"/>
            </a:endParaRPr>
          </a:p>
          <a:p>
            <a:pPr indent="0" lvl="0" marL="457200" rtl="0" algn="l">
              <a:spcBef>
                <a:spcPts val="0"/>
              </a:spcBef>
              <a:spcAft>
                <a:spcPts val="0"/>
              </a:spcAft>
              <a:buNone/>
            </a:pPr>
            <a:r>
              <a:t/>
            </a:r>
            <a:endParaRPr sz="1700">
              <a:latin typeface="Lato"/>
              <a:ea typeface="Lato"/>
              <a:cs typeface="Lato"/>
              <a:sym typeface="Lato"/>
            </a:endParaRPr>
          </a:p>
          <a:p>
            <a:pPr indent="-336550" lvl="0" marL="457200" rtl="0" algn="l">
              <a:spcBef>
                <a:spcPts val="0"/>
              </a:spcBef>
              <a:spcAft>
                <a:spcPts val="0"/>
              </a:spcAft>
              <a:buSzPts val="1700"/>
              <a:buFont typeface="Lato"/>
              <a:buChar char="❏"/>
            </a:pPr>
            <a:r>
              <a:rPr lang="en" sz="1700">
                <a:latin typeface="Lato"/>
                <a:ea typeface="Lato"/>
                <a:cs typeface="Lato"/>
                <a:sym typeface="Lato"/>
              </a:rPr>
              <a:t>Customized interface</a:t>
            </a:r>
            <a:endParaRPr sz="1700">
              <a:latin typeface="Lato"/>
              <a:ea typeface="Lato"/>
              <a:cs typeface="Lato"/>
              <a:sym typeface="Lato"/>
            </a:endParaRPr>
          </a:p>
          <a:p>
            <a:pPr indent="0" lvl="0" marL="457200" rtl="0" algn="l">
              <a:spcBef>
                <a:spcPts val="0"/>
              </a:spcBef>
              <a:spcAft>
                <a:spcPts val="0"/>
              </a:spcAft>
              <a:buNone/>
            </a:pPr>
            <a:r>
              <a:t/>
            </a:r>
            <a:endParaRPr sz="1700">
              <a:latin typeface="Lato"/>
              <a:ea typeface="Lato"/>
              <a:cs typeface="Lato"/>
              <a:sym typeface="Lato"/>
            </a:endParaRPr>
          </a:p>
          <a:p>
            <a:pPr indent="0" lvl="0" marL="457200" rtl="0" algn="l">
              <a:spcBef>
                <a:spcPts val="0"/>
              </a:spcBef>
              <a:spcAft>
                <a:spcPts val="0"/>
              </a:spcAft>
              <a:buNone/>
            </a:pPr>
            <a:r>
              <a:t/>
            </a:r>
            <a:endParaRPr b="1" sz="1700">
              <a:solidFill>
                <a:schemeClr val="dk1"/>
              </a:solidFill>
              <a:latin typeface="Lato"/>
              <a:ea typeface="Lato"/>
              <a:cs typeface="Lato"/>
              <a:sym typeface="Lato"/>
            </a:endParaRPr>
          </a:p>
        </p:txBody>
      </p:sp>
      <p:sp>
        <p:nvSpPr>
          <p:cNvPr id="276" name="Google Shape;276;p23"/>
          <p:cNvSpPr/>
          <p:nvPr/>
        </p:nvSpPr>
        <p:spPr>
          <a:xfrm>
            <a:off x="3740650" y="2622125"/>
            <a:ext cx="962700" cy="3543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23"/>
          <p:cNvSpPr/>
          <p:nvPr/>
        </p:nvSpPr>
        <p:spPr>
          <a:xfrm>
            <a:off x="3740650" y="3149325"/>
            <a:ext cx="962700" cy="3543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23"/>
          <p:cNvSpPr txBox="1"/>
          <p:nvPr/>
        </p:nvSpPr>
        <p:spPr>
          <a:xfrm>
            <a:off x="55750" y="4213425"/>
            <a:ext cx="9144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Montserrat"/>
                <a:ea typeface="Montserrat"/>
                <a:cs typeface="Montserrat"/>
                <a:sym typeface="Montserrat"/>
              </a:rPr>
              <a:t>Note: if none of these are your needs, you may want to reconsider whether customized AI is truly needed!</a:t>
            </a:r>
            <a:endParaRPr sz="1700">
              <a:solidFill>
                <a:schemeClr val="lt1"/>
              </a:solidFill>
              <a:latin typeface="Montserrat"/>
              <a:ea typeface="Montserrat"/>
              <a:cs typeface="Montserrat"/>
              <a:sym typeface="Montserrat"/>
            </a:endParaRPr>
          </a:p>
        </p:txBody>
      </p:sp>
      <p:pic>
        <p:nvPicPr>
          <p:cNvPr id="279" name="Google Shape;279;p23"/>
          <p:cNvPicPr preferRelativeResize="0"/>
          <p:nvPr/>
        </p:nvPicPr>
        <p:blipFill>
          <a:blip r:embed="rId3">
            <a:alphaModFix/>
          </a:blip>
          <a:stretch>
            <a:fillRect/>
          </a:stretch>
        </p:blipFill>
        <p:spPr>
          <a:xfrm>
            <a:off x="501675" y="1964275"/>
            <a:ext cx="615601" cy="615601"/>
          </a:xfrm>
          <a:prstGeom prst="rect">
            <a:avLst/>
          </a:prstGeom>
          <a:noFill/>
          <a:ln>
            <a:noFill/>
          </a:ln>
        </p:spPr>
      </p:pic>
      <p:pic>
        <p:nvPicPr>
          <p:cNvPr id="280" name="Google Shape;280;p23"/>
          <p:cNvPicPr preferRelativeResize="0"/>
          <p:nvPr/>
        </p:nvPicPr>
        <p:blipFill>
          <a:blip r:embed="rId4">
            <a:alphaModFix/>
          </a:blip>
          <a:stretch>
            <a:fillRect/>
          </a:stretch>
        </p:blipFill>
        <p:spPr>
          <a:xfrm>
            <a:off x="577676" y="2512801"/>
            <a:ext cx="463600" cy="463625"/>
          </a:xfrm>
          <a:prstGeom prst="rect">
            <a:avLst/>
          </a:prstGeom>
          <a:noFill/>
          <a:ln>
            <a:noFill/>
          </a:ln>
        </p:spPr>
      </p:pic>
      <p:grpSp>
        <p:nvGrpSpPr>
          <p:cNvPr id="281" name="Google Shape;281;p23"/>
          <p:cNvGrpSpPr/>
          <p:nvPr/>
        </p:nvGrpSpPr>
        <p:grpSpPr>
          <a:xfrm>
            <a:off x="644352" y="3169372"/>
            <a:ext cx="330281" cy="354429"/>
            <a:chOff x="10877550" y="3067050"/>
            <a:chExt cx="6400801" cy="7353300"/>
          </a:xfrm>
        </p:grpSpPr>
        <p:sp>
          <p:nvSpPr>
            <p:cNvPr id="282" name="Google Shape;282;p23"/>
            <p:cNvSpPr/>
            <p:nvPr/>
          </p:nvSpPr>
          <p:spPr>
            <a:xfrm>
              <a:off x="11372850" y="3067050"/>
              <a:ext cx="5448300" cy="3695700"/>
            </a:xfrm>
            <a:prstGeom prst="roundRect">
              <a:avLst>
                <a:gd fmla="val 16667" name="adj"/>
              </a:avLst>
            </a:prstGeom>
            <a:solidFill>
              <a:srgbClr val="D9D9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
            <p:cNvSpPr/>
            <p:nvPr/>
          </p:nvSpPr>
          <p:spPr>
            <a:xfrm>
              <a:off x="11563350" y="3314700"/>
              <a:ext cx="5029200" cy="3238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4" name="Google Shape;284;p23"/>
            <p:cNvPicPr preferRelativeResize="0"/>
            <p:nvPr/>
          </p:nvPicPr>
          <p:blipFill>
            <a:blip r:embed="rId5">
              <a:alphaModFix/>
            </a:blip>
            <a:stretch>
              <a:fillRect/>
            </a:stretch>
          </p:blipFill>
          <p:spPr>
            <a:xfrm>
              <a:off x="10877550" y="5562600"/>
              <a:ext cx="6400801" cy="4857750"/>
            </a:xfrm>
            <a:prstGeom prst="rect">
              <a:avLst/>
            </a:prstGeom>
            <a:noFill/>
            <a:ln>
              <a:noFill/>
            </a:ln>
          </p:spPr>
        </p:pic>
      </p:grpSp>
      <p:sp>
        <p:nvSpPr>
          <p:cNvPr id="285" name="Google Shape;285;p23"/>
          <p:cNvSpPr txBox="1"/>
          <p:nvPr/>
        </p:nvSpPr>
        <p:spPr>
          <a:xfrm>
            <a:off x="10212000" y="1041200"/>
            <a:ext cx="13716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6"/>
              </a:rPr>
              <a:t>https://docs.google.com/presentation/d/1GgsDe7dYA91RY_xCbcDRzSPGuxIMXnyHPbzL1h57pE4/edit#slide=id.g1ed2b5c8ee1_0_374</a:t>
            </a:r>
            <a:endParaRPr sz="13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483150" y="524600"/>
            <a:ext cx="7990500" cy="4375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Other things you probably need to consider:</a:t>
            </a:r>
            <a:endParaRPr/>
          </a:p>
          <a:p>
            <a:pPr indent="0" lvl="0" marL="0" rtl="0" algn="l">
              <a:lnSpc>
                <a:spcPct val="115000"/>
              </a:lnSpc>
              <a:spcBef>
                <a:spcPts val="0"/>
              </a:spcBef>
              <a:spcAft>
                <a:spcPts val="0"/>
              </a:spcAft>
              <a:buNone/>
            </a:pPr>
            <a:r>
              <a:t/>
            </a:r>
            <a:endParaRPr/>
          </a:p>
          <a:p>
            <a:pPr indent="-369570" lvl="0" marL="1371600" rtl="0" algn="l">
              <a:lnSpc>
                <a:spcPct val="115000"/>
              </a:lnSpc>
              <a:spcBef>
                <a:spcPts val="0"/>
              </a:spcBef>
              <a:spcAft>
                <a:spcPts val="0"/>
              </a:spcAft>
              <a:buSzPct val="100000"/>
              <a:buAutoNum type="arabicPeriod"/>
            </a:pPr>
            <a:r>
              <a:rPr lang="en" sz="2466">
                <a:highlight>
                  <a:srgbClr val="FFFFFF"/>
                </a:highlight>
              </a:rPr>
              <a:t>The </a:t>
            </a:r>
            <a:r>
              <a:rPr b="1" lang="en" sz="2466">
                <a:highlight>
                  <a:srgbClr val="FFFFFF"/>
                </a:highlight>
              </a:rPr>
              <a:t>technical expertise</a:t>
            </a:r>
            <a:r>
              <a:rPr lang="en" sz="2466">
                <a:highlight>
                  <a:srgbClr val="FFFFFF"/>
                </a:highlight>
              </a:rPr>
              <a:t> available on your team</a:t>
            </a:r>
            <a:endParaRPr sz="2466">
              <a:highlight>
                <a:srgbClr val="FFFFFF"/>
              </a:highlight>
            </a:endParaRPr>
          </a:p>
          <a:p>
            <a:pPr indent="0" lvl="0" marL="1371600" rtl="0" algn="l">
              <a:lnSpc>
                <a:spcPct val="115000"/>
              </a:lnSpc>
              <a:spcBef>
                <a:spcPts val="0"/>
              </a:spcBef>
              <a:spcAft>
                <a:spcPts val="0"/>
              </a:spcAft>
              <a:buNone/>
            </a:pPr>
            <a:r>
              <a:t/>
            </a:r>
            <a:endParaRPr sz="2466"/>
          </a:p>
          <a:p>
            <a:pPr indent="-369570" lvl="0" marL="1371600" rtl="0" algn="l">
              <a:lnSpc>
                <a:spcPct val="115000"/>
              </a:lnSpc>
              <a:spcBef>
                <a:spcPts val="0"/>
              </a:spcBef>
              <a:spcAft>
                <a:spcPts val="0"/>
              </a:spcAft>
              <a:buSzPct val="100000"/>
              <a:buAutoNum type="arabicPeriod"/>
            </a:pPr>
            <a:r>
              <a:rPr lang="en" sz="2466"/>
              <a:t>Your </a:t>
            </a:r>
            <a:r>
              <a:rPr b="1" lang="en" sz="2466"/>
              <a:t>funding</a:t>
            </a:r>
            <a:r>
              <a:rPr lang="en" sz="2466"/>
              <a:t> situation </a:t>
            </a:r>
            <a:endParaRPr sz="2466"/>
          </a:p>
          <a:p>
            <a:pPr indent="0" lvl="0" marL="1371600" rtl="0" algn="l">
              <a:lnSpc>
                <a:spcPct val="115000"/>
              </a:lnSpc>
              <a:spcBef>
                <a:spcPts val="0"/>
              </a:spcBef>
              <a:spcAft>
                <a:spcPts val="0"/>
              </a:spcAft>
              <a:buNone/>
            </a:pPr>
            <a:r>
              <a:t/>
            </a:r>
            <a:endParaRPr sz="2466"/>
          </a:p>
          <a:p>
            <a:pPr indent="-369570" lvl="0" marL="1371600" rtl="0" algn="l">
              <a:lnSpc>
                <a:spcPct val="115000"/>
              </a:lnSpc>
              <a:spcBef>
                <a:spcPts val="0"/>
              </a:spcBef>
              <a:spcAft>
                <a:spcPts val="0"/>
              </a:spcAft>
              <a:buSzPct val="100000"/>
              <a:buAutoNum type="arabicPeriod"/>
            </a:pPr>
            <a:r>
              <a:rPr lang="en" sz="2466"/>
              <a:t>The quickness of the </a:t>
            </a:r>
            <a:r>
              <a:rPr b="1" lang="en" sz="2466"/>
              <a:t>deadlines</a:t>
            </a:r>
            <a:endParaRPr b="1" sz="2466"/>
          </a:p>
          <a:p>
            <a:pPr indent="0" lvl="0" marL="457200" rtl="0" algn="l">
              <a:lnSpc>
                <a:spcPct val="115000"/>
              </a:lnSpc>
              <a:spcBef>
                <a:spcPts val="0"/>
              </a:spcBef>
              <a:spcAft>
                <a:spcPts val="0"/>
              </a:spcAft>
              <a:buNone/>
            </a:pPr>
            <a:r>
              <a:t/>
            </a:r>
            <a:endParaRPr sz="2466"/>
          </a:p>
          <a:p>
            <a:pPr indent="0" lvl="0" marL="0" rtl="0" algn="l">
              <a:lnSpc>
                <a:spcPct val="115000"/>
              </a:lnSpc>
              <a:spcBef>
                <a:spcPts val="0"/>
              </a:spcBef>
              <a:spcAft>
                <a:spcPts val="0"/>
              </a:spcAft>
              <a:buNone/>
            </a:pPr>
            <a:r>
              <a:t/>
            </a:r>
            <a:endParaRPr sz="2466">
              <a:highlight>
                <a:srgbClr val="FFFFFF"/>
              </a:highlight>
            </a:endParaRPr>
          </a:p>
        </p:txBody>
      </p:sp>
      <p:pic>
        <p:nvPicPr>
          <p:cNvPr id="291" name="Google Shape;291;p24"/>
          <p:cNvPicPr preferRelativeResize="0"/>
          <p:nvPr/>
        </p:nvPicPr>
        <p:blipFill>
          <a:blip r:embed="rId3">
            <a:alphaModFix/>
          </a:blip>
          <a:stretch>
            <a:fillRect/>
          </a:stretch>
        </p:blipFill>
        <p:spPr>
          <a:xfrm>
            <a:off x="606425" y="3362650"/>
            <a:ext cx="762975" cy="762975"/>
          </a:xfrm>
          <a:prstGeom prst="rect">
            <a:avLst/>
          </a:prstGeom>
          <a:noFill/>
          <a:ln>
            <a:noFill/>
          </a:ln>
        </p:spPr>
      </p:pic>
      <p:pic>
        <p:nvPicPr>
          <p:cNvPr id="292" name="Google Shape;292;p24"/>
          <p:cNvPicPr preferRelativeResize="0"/>
          <p:nvPr/>
        </p:nvPicPr>
        <p:blipFill>
          <a:blip r:embed="rId4">
            <a:alphaModFix/>
          </a:blip>
          <a:stretch>
            <a:fillRect/>
          </a:stretch>
        </p:blipFill>
        <p:spPr>
          <a:xfrm>
            <a:off x="694175" y="1527755"/>
            <a:ext cx="675225" cy="675225"/>
          </a:xfrm>
          <a:prstGeom prst="rect">
            <a:avLst/>
          </a:prstGeom>
          <a:noFill/>
          <a:ln>
            <a:noFill/>
          </a:ln>
        </p:spPr>
      </p:pic>
      <p:pic>
        <p:nvPicPr>
          <p:cNvPr id="293" name="Google Shape;293;p24"/>
          <p:cNvPicPr preferRelativeResize="0"/>
          <p:nvPr/>
        </p:nvPicPr>
        <p:blipFill>
          <a:blip r:embed="rId5">
            <a:alphaModFix/>
          </a:blip>
          <a:stretch>
            <a:fillRect/>
          </a:stretch>
        </p:blipFill>
        <p:spPr>
          <a:xfrm>
            <a:off x="606417" y="2551199"/>
            <a:ext cx="762975" cy="7629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834575" y="243950"/>
            <a:ext cx="6188100" cy="1087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Need vs. effort</a:t>
            </a:r>
            <a:endParaRPr/>
          </a:p>
        </p:txBody>
      </p:sp>
      <p:cxnSp>
        <p:nvCxnSpPr>
          <p:cNvPr id="299" name="Google Shape;299;p25"/>
          <p:cNvCxnSpPr/>
          <p:nvPr/>
        </p:nvCxnSpPr>
        <p:spPr>
          <a:xfrm flipH="1" rot="10800000">
            <a:off x="1143000" y="1397025"/>
            <a:ext cx="10500" cy="2518800"/>
          </a:xfrm>
          <a:prstGeom prst="straightConnector1">
            <a:avLst/>
          </a:prstGeom>
          <a:noFill/>
          <a:ln cap="flat" cmpd="sng" w="28575">
            <a:solidFill>
              <a:schemeClr val="dk2"/>
            </a:solidFill>
            <a:prstDash val="solid"/>
            <a:round/>
            <a:headEnd len="med" w="med" type="none"/>
            <a:tailEnd len="med" w="med" type="triangle"/>
          </a:ln>
        </p:spPr>
      </p:cxnSp>
      <p:cxnSp>
        <p:nvCxnSpPr>
          <p:cNvPr id="300" name="Google Shape;300;p25"/>
          <p:cNvCxnSpPr/>
          <p:nvPr/>
        </p:nvCxnSpPr>
        <p:spPr>
          <a:xfrm flipH="1" rot="10800000">
            <a:off x="1030800" y="3788700"/>
            <a:ext cx="5213400" cy="25500"/>
          </a:xfrm>
          <a:prstGeom prst="straightConnector1">
            <a:avLst/>
          </a:prstGeom>
          <a:noFill/>
          <a:ln cap="flat" cmpd="sng" w="28575">
            <a:solidFill>
              <a:schemeClr val="dk2"/>
            </a:solidFill>
            <a:prstDash val="solid"/>
            <a:round/>
            <a:headEnd len="med" w="med" type="none"/>
            <a:tailEnd len="med" w="med" type="triangle"/>
          </a:ln>
        </p:spPr>
      </p:cxnSp>
      <p:cxnSp>
        <p:nvCxnSpPr>
          <p:cNvPr id="301" name="Google Shape;301;p25"/>
          <p:cNvCxnSpPr/>
          <p:nvPr/>
        </p:nvCxnSpPr>
        <p:spPr>
          <a:xfrm flipH="1" rot="10800000">
            <a:off x="1174750" y="1534500"/>
            <a:ext cx="4720200" cy="2254200"/>
          </a:xfrm>
          <a:prstGeom prst="straightConnector1">
            <a:avLst/>
          </a:prstGeom>
          <a:noFill/>
          <a:ln cap="flat" cmpd="sng" w="38100">
            <a:solidFill>
              <a:srgbClr val="93C47D"/>
            </a:solidFill>
            <a:prstDash val="dash"/>
            <a:round/>
            <a:headEnd len="med" w="med" type="none"/>
            <a:tailEnd len="med" w="med" type="triangle"/>
          </a:ln>
        </p:spPr>
      </p:cxnSp>
      <p:sp>
        <p:nvSpPr>
          <p:cNvPr id="302" name="Google Shape;302;p25"/>
          <p:cNvSpPr txBox="1"/>
          <p:nvPr/>
        </p:nvSpPr>
        <p:spPr>
          <a:xfrm rot="-5400000">
            <a:off x="-459800" y="2349225"/>
            <a:ext cx="2345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lt1"/>
                </a:solidFill>
                <a:latin typeface="Lato"/>
                <a:ea typeface="Lato"/>
                <a:cs typeface="Lato"/>
                <a:sym typeface="Lato"/>
              </a:rPr>
              <a:t>Technical  expertise</a:t>
            </a:r>
            <a:endParaRPr sz="2400">
              <a:solidFill>
                <a:schemeClr val="lt1"/>
              </a:solidFill>
              <a:latin typeface="Lato"/>
              <a:ea typeface="Lato"/>
              <a:cs typeface="Lato"/>
              <a:sym typeface="Lato"/>
            </a:endParaRPr>
          </a:p>
        </p:txBody>
      </p:sp>
      <p:sp>
        <p:nvSpPr>
          <p:cNvPr id="303" name="Google Shape;303;p25"/>
          <p:cNvSpPr txBox="1"/>
          <p:nvPr/>
        </p:nvSpPr>
        <p:spPr>
          <a:xfrm>
            <a:off x="2434150" y="3865250"/>
            <a:ext cx="2232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lt1"/>
                </a:solidFill>
                <a:latin typeface="Lato"/>
                <a:ea typeface="Lato"/>
                <a:cs typeface="Lato"/>
                <a:sym typeface="Lato"/>
              </a:rPr>
              <a:t>Customization needs</a:t>
            </a:r>
            <a:endParaRPr sz="2400">
              <a:solidFill>
                <a:schemeClr val="l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6"/>
          <p:cNvSpPr txBox="1"/>
          <p:nvPr>
            <p:ph idx="4294967295" type="title"/>
          </p:nvPr>
        </p:nvSpPr>
        <p:spPr>
          <a:xfrm>
            <a:off x="0" y="0"/>
            <a:ext cx="9144000" cy="81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577">
                <a:highlight>
                  <a:srgbClr val="FFFFFF"/>
                </a:highlight>
              </a:rPr>
              <a:t>Technical expertise </a:t>
            </a:r>
            <a:endParaRPr sz="2577">
              <a:highlight>
                <a:srgbClr val="FFFFFF"/>
              </a:highlight>
            </a:endParaRPr>
          </a:p>
          <a:p>
            <a:pPr indent="0" lvl="0" marL="0" rtl="0" algn="ctr">
              <a:spcBef>
                <a:spcPts val="0"/>
              </a:spcBef>
              <a:spcAft>
                <a:spcPts val="0"/>
              </a:spcAft>
              <a:buNone/>
            </a:pPr>
            <a:r>
              <a:rPr b="1" i="1" lang="en" sz="2577">
                <a:highlight>
                  <a:srgbClr val="FFFFFF"/>
                </a:highlight>
              </a:rPr>
              <a:t>Staffing</a:t>
            </a:r>
            <a:r>
              <a:rPr i="1" lang="en" sz="2577">
                <a:highlight>
                  <a:srgbClr val="FFFFFF"/>
                </a:highlight>
              </a:rPr>
              <a:t> </a:t>
            </a:r>
            <a:endParaRPr i="1" sz="2577">
              <a:highlight>
                <a:srgbClr val="FFFFFF"/>
              </a:highlight>
            </a:endParaRPr>
          </a:p>
          <a:p>
            <a:pPr indent="0" lvl="0" marL="0" rtl="0" algn="ctr">
              <a:spcBef>
                <a:spcPts val="0"/>
              </a:spcBef>
              <a:spcAft>
                <a:spcPts val="0"/>
              </a:spcAft>
              <a:buClr>
                <a:schemeClr val="lt1"/>
              </a:buClr>
              <a:buSzPct val="64705"/>
              <a:buFont typeface="Arial"/>
              <a:buNone/>
            </a:pPr>
            <a:r>
              <a:t/>
            </a:r>
            <a:endParaRPr b="1" sz="1700">
              <a:solidFill>
                <a:schemeClr val="dk1"/>
              </a:solidFill>
              <a:latin typeface="Lato"/>
              <a:ea typeface="Lato"/>
              <a:cs typeface="Lato"/>
              <a:sym typeface="Lato"/>
            </a:endParaRPr>
          </a:p>
          <a:p>
            <a:pPr indent="0" lvl="0" marL="457200" rtl="0" algn="ctr">
              <a:spcBef>
                <a:spcPts val="0"/>
              </a:spcBef>
              <a:spcAft>
                <a:spcPts val="0"/>
              </a:spcAft>
              <a:buClr>
                <a:schemeClr val="lt1"/>
              </a:buClr>
              <a:buSzPct val="64705"/>
              <a:buFont typeface="Arial"/>
              <a:buNone/>
            </a:pPr>
            <a:r>
              <a:t/>
            </a:r>
            <a:endParaRPr b="1" sz="1700">
              <a:solidFill>
                <a:schemeClr val="dk1"/>
              </a:solidFill>
              <a:latin typeface="Lato"/>
              <a:ea typeface="Lato"/>
              <a:cs typeface="Lato"/>
              <a:sym typeface="Lato"/>
            </a:endParaRPr>
          </a:p>
          <a:p>
            <a:pPr indent="0" lvl="0" marL="0" rtl="0" algn="ctr">
              <a:spcBef>
                <a:spcPts val="0"/>
              </a:spcBef>
              <a:spcAft>
                <a:spcPts val="0"/>
              </a:spcAft>
              <a:buNone/>
            </a:pPr>
            <a:r>
              <a:t/>
            </a:r>
            <a:endParaRPr b="1" sz="2577">
              <a:highlight>
                <a:srgbClr val="FFFFFF"/>
              </a:highlight>
            </a:endParaRPr>
          </a:p>
        </p:txBody>
      </p:sp>
      <p:graphicFrame>
        <p:nvGraphicFramePr>
          <p:cNvPr id="309" name="Google Shape;309;p26"/>
          <p:cNvGraphicFramePr/>
          <p:nvPr/>
        </p:nvGraphicFramePr>
        <p:xfrm>
          <a:off x="431088" y="1408825"/>
          <a:ext cx="3000000" cy="3000000"/>
        </p:xfrm>
        <a:graphic>
          <a:graphicData uri="http://schemas.openxmlformats.org/drawingml/2006/table">
            <a:tbl>
              <a:tblPr>
                <a:noFill/>
                <a:tableStyleId>{4120FEC6-ACC1-4219-AB90-733E940CAB2F}</a:tableStyleId>
              </a:tblPr>
              <a:tblGrid>
                <a:gridCol w="1754000"/>
                <a:gridCol w="1189175"/>
                <a:gridCol w="1131150"/>
                <a:gridCol w="1173800"/>
                <a:gridCol w="1019900"/>
                <a:gridCol w="1151600"/>
                <a:gridCol w="1183675"/>
              </a:tblGrid>
              <a:tr h="846750">
                <a:tc>
                  <a:txBody>
                    <a:bodyPr/>
                    <a:lstStyle/>
                    <a:p>
                      <a:pPr indent="0" lvl="0" marL="0" rtl="0" algn="l">
                        <a:spcBef>
                          <a:spcPts val="0"/>
                        </a:spcBef>
                        <a:spcAft>
                          <a:spcPts val="0"/>
                        </a:spcAft>
                        <a:buNone/>
                      </a:pPr>
                      <a:r>
                        <a:rPr b="1" lang="en" sz="1500">
                          <a:latin typeface="Montserrat"/>
                          <a:ea typeface="Montserrat"/>
                          <a:cs typeface="Montserrat"/>
                          <a:sym typeface="Montserrat"/>
                        </a:rPr>
                        <a:t>Customization</a:t>
                      </a:r>
                      <a:endParaRPr b="1" sz="15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300">
                          <a:latin typeface="Montserrat"/>
                          <a:ea typeface="Montserrat"/>
                          <a:cs typeface="Montserrat"/>
                          <a:sym typeface="Montserrat"/>
                        </a:rPr>
                        <a:t>Data Handling</a:t>
                      </a:r>
                      <a:endParaRPr b="1"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300">
                          <a:latin typeface="Montserrat"/>
                          <a:ea typeface="Montserrat"/>
                          <a:cs typeface="Montserrat"/>
                          <a:sym typeface="Montserrat"/>
                        </a:rPr>
                        <a:t>Back End Dev</a:t>
                      </a:r>
                      <a:endParaRPr b="1"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300">
                          <a:latin typeface="Montserrat"/>
                          <a:ea typeface="Montserrat"/>
                          <a:cs typeface="Montserrat"/>
                          <a:sym typeface="Montserrat"/>
                        </a:rPr>
                        <a:t>Front End Dev</a:t>
                      </a:r>
                      <a:endParaRPr b="1"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300">
                          <a:latin typeface="Montserrat"/>
                          <a:ea typeface="Montserrat"/>
                          <a:cs typeface="Montserrat"/>
                          <a:sym typeface="Montserrat"/>
                        </a:rPr>
                        <a:t>API handling</a:t>
                      </a:r>
                      <a:endParaRPr b="1"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300">
                          <a:latin typeface="Montserrat"/>
                          <a:ea typeface="Montserrat"/>
                          <a:cs typeface="Montserrat"/>
                          <a:sym typeface="Montserrat"/>
                        </a:rPr>
                        <a:t>Machine learning algorithms</a:t>
                      </a:r>
                      <a:endParaRPr b="1"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200">
                          <a:latin typeface="Montserrat"/>
                          <a:ea typeface="Montserrat"/>
                          <a:cs typeface="Montserrat"/>
                          <a:sym typeface="Montserrat"/>
                        </a:rPr>
                        <a:t>Secure computing</a:t>
                      </a:r>
                      <a:endParaRPr b="1" sz="1200">
                        <a:latin typeface="Montserrat"/>
                        <a:ea typeface="Montserrat"/>
                        <a:cs typeface="Montserrat"/>
                        <a:sym typeface="Montserrat"/>
                      </a:endParaRPr>
                    </a:p>
                  </a:txBody>
                  <a:tcPr marT="91425" marB="91425" marR="91425" marL="91425"/>
                </a:tc>
              </a:tr>
              <a:tr h="776950">
                <a:tc>
                  <a:txBody>
                    <a:bodyPr/>
                    <a:lstStyle/>
                    <a:p>
                      <a:pPr indent="0" lvl="0" marL="0" rtl="0" algn="l">
                        <a:spcBef>
                          <a:spcPts val="0"/>
                        </a:spcBef>
                        <a:spcAft>
                          <a:spcPts val="0"/>
                        </a:spcAft>
                        <a:buNone/>
                      </a:pPr>
                      <a:r>
                        <a:rPr lang="en" sz="1500">
                          <a:solidFill>
                            <a:schemeClr val="dk1"/>
                          </a:solidFill>
                          <a:latin typeface="Montserrat"/>
                          <a:ea typeface="Montserrat"/>
                          <a:cs typeface="Montserrat"/>
                          <a:sym typeface="Montserrat"/>
                        </a:rPr>
                        <a:t>Knowledge</a:t>
                      </a:r>
                      <a:endParaRPr sz="15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300">
                          <a:latin typeface="Montserrat"/>
                          <a:ea typeface="Montserrat"/>
                          <a:cs typeface="Montserrat"/>
                          <a:sym typeface="Montserrat"/>
                        </a:rPr>
                        <a:t>Required</a:t>
                      </a:r>
                      <a:endParaRPr sz="1300">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Suggested</a:t>
                      </a:r>
                      <a:endParaRPr sz="1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sz="1300">
                        <a:solidFill>
                          <a:schemeClr val="lt1"/>
                        </a:solidFill>
                        <a:latin typeface="Montserrat"/>
                        <a:ea typeface="Montserrat"/>
                        <a:cs typeface="Montserrat"/>
                        <a:sym typeface="Montserrat"/>
                      </a:endParaRPr>
                    </a:p>
                  </a:txBody>
                  <a:tcPr marT="91425" marB="91425" marR="91425" marL="91425">
                    <a:solidFill>
                      <a:srgbClr val="FFFFFF"/>
                    </a:solidFill>
                  </a:tcPr>
                </a:tc>
              </a:tr>
              <a:tr h="747125">
                <a:tc>
                  <a:txBody>
                    <a:bodyPr/>
                    <a:lstStyle/>
                    <a:p>
                      <a:pPr indent="0" lvl="0" marL="0" rtl="0" algn="l">
                        <a:spcBef>
                          <a:spcPts val="0"/>
                        </a:spcBef>
                        <a:spcAft>
                          <a:spcPts val="0"/>
                        </a:spcAft>
                        <a:buClr>
                          <a:schemeClr val="lt1"/>
                        </a:buClr>
                        <a:buSzPts val="1100"/>
                        <a:buFont typeface="Arial"/>
                        <a:buNone/>
                      </a:pPr>
                      <a:r>
                        <a:rPr lang="en" sz="1500">
                          <a:solidFill>
                            <a:schemeClr val="dk1"/>
                          </a:solidFill>
                          <a:latin typeface="Montserrat"/>
                          <a:ea typeface="Montserrat"/>
                          <a:cs typeface="Montserrat"/>
                          <a:sym typeface="Montserrat"/>
                        </a:rPr>
                        <a:t>Security</a:t>
                      </a:r>
                      <a:endParaRPr sz="15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Required</a:t>
                      </a:r>
                      <a:endParaRPr sz="1300">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rPr lang="en" sz="1300">
                          <a:latin typeface="Montserrat"/>
                          <a:ea typeface="Montserrat"/>
                          <a:cs typeface="Montserrat"/>
                          <a:sym typeface="Montserrat"/>
                        </a:rPr>
                        <a:t>Suggested</a:t>
                      </a:r>
                      <a:endParaRPr sz="1300">
                        <a:latin typeface="Montserrat"/>
                        <a:ea typeface="Montserrat"/>
                        <a:cs typeface="Montserrat"/>
                        <a:sym typeface="Montserrat"/>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Suggested</a:t>
                      </a:r>
                      <a:endParaRPr sz="1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solidFill>
                      <a:srgbClr val="D9EAD3"/>
                    </a:solidFill>
                  </a:tcPr>
                </a:tc>
                <a:tc>
                  <a:txBody>
                    <a:bodyPr/>
                    <a:lstStyle/>
                    <a:p>
                      <a:pPr indent="0" lvl="0" marL="0" rtl="0" algn="l">
                        <a:spcBef>
                          <a:spcPts val="0"/>
                        </a:spcBef>
                        <a:spcAft>
                          <a:spcPts val="0"/>
                        </a:spcAft>
                        <a:buNone/>
                      </a:pPr>
                      <a:r>
                        <a:rPr lang="en" sz="1300">
                          <a:latin typeface="Montserrat"/>
                          <a:ea typeface="Montserrat"/>
                          <a:cs typeface="Montserrat"/>
                          <a:sym typeface="Montserrat"/>
                        </a:rPr>
                        <a:t>Required</a:t>
                      </a:r>
                      <a:endParaRPr sz="1300">
                        <a:latin typeface="Montserrat"/>
                        <a:ea typeface="Montserrat"/>
                        <a:cs typeface="Montserrat"/>
                        <a:sym typeface="Montserrat"/>
                      </a:endParaRPr>
                    </a:p>
                  </a:txBody>
                  <a:tcPr marT="91425" marB="91425" marR="91425" marL="91425">
                    <a:solidFill>
                      <a:srgbClr val="B6D7A8"/>
                    </a:solidFill>
                  </a:tcPr>
                </a:tc>
              </a:tr>
              <a:tr h="729425">
                <a:tc>
                  <a:txBody>
                    <a:bodyPr/>
                    <a:lstStyle/>
                    <a:p>
                      <a:pPr indent="0" lvl="0" marL="0" rtl="0" algn="l">
                        <a:spcBef>
                          <a:spcPts val="0"/>
                        </a:spcBef>
                        <a:spcAft>
                          <a:spcPts val="0"/>
                        </a:spcAft>
                        <a:buNone/>
                      </a:pPr>
                      <a:r>
                        <a:rPr lang="en" sz="1500">
                          <a:latin typeface="Montserrat"/>
                          <a:ea typeface="Montserrat"/>
                          <a:cs typeface="Montserrat"/>
                          <a:sym typeface="Montserrat"/>
                        </a:rPr>
                        <a:t>Interface</a:t>
                      </a:r>
                      <a:endParaRPr sz="15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Suggested</a:t>
                      </a:r>
                      <a:endParaRPr sz="1300">
                        <a:latin typeface="Montserrat"/>
                        <a:ea typeface="Montserrat"/>
                        <a:cs typeface="Montserrat"/>
                        <a:sym typeface="Montserrat"/>
                      </a:endParaRPr>
                    </a:p>
                  </a:txBody>
                  <a:tcPr marT="91425" marB="91425" marR="91425" marL="91425">
                    <a:solidFill>
                      <a:srgbClr val="D9EAD3"/>
                    </a:solidFill>
                  </a:tcPr>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Required</a:t>
                      </a:r>
                      <a:endParaRPr sz="1300">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Clr>
                          <a:schemeClr val="lt1"/>
                        </a:buClr>
                        <a:buSzPts val="1100"/>
                        <a:buFont typeface="Arial"/>
                        <a:buNone/>
                      </a:pPr>
                      <a:r>
                        <a:rPr lang="en" sz="1300">
                          <a:solidFill>
                            <a:schemeClr val="lt1"/>
                          </a:solidFill>
                          <a:latin typeface="Montserrat"/>
                          <a:ea typeface="Montserrat"/>
                          <a:cs typeface="Montserrat"/>
                          <a:sym typeface="Montserrat"/>
                        </a:rPr>
                        <a:t>Required</a:t>
                      </a:r>
                      <a:endParaRPr sz="1300">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300">
                        <a:latin typeface="Montserrat"/>
                        <a:ea typeface="Montserrat"/>
                        <a:cs typeface="Montserrat"/>
                        <a:sym typeface="Montserrat"/>
                      </a:endParaRPr>
                    </a:p>
                  </a:txBody>
                  <a:tcPr marT="91425" marB="91425" marR="91425" marL="91425"/>
                </a:tc>
              </a:tr>
            </a:tbl>
          </a:graphicData>
        </a:graphic>
      </p:graphicFrame>
      <p:pic>
        <p:nvPicPr>
          <p:cNvPr id="310" name="Google Shape;310;p26"/>
          <p:cNvPicPr preferRelativeResize="0"/>
          <p:nvPr/>
        </p:nvPicPr>
        <p:blipFill>
          <a:blip r:embed="rId3">
            <a:alphaModFix/>
          </a:blip>
          <a:stretch>
            <a:fillRect/>
          </a:stretch>
        </p:blipFill>
        <p:spPr>
          <a:xfrm>
            <a:off x="628050" y="2481225"/>
            <a:ext cx="615601" cy="615601"/>
          </a:xfrm>
          <a:prstGeom prst="rect">
            <a:avLst/>
          </a:prstGeom>
          <a:noFill/>
          <a:ln>
            <a:noFill/>
          </a:ln>
        </p:spPr>
      </p:pic>
      <p:pic>
        <p:nvPicPr>
          <p:cNvPr id="311" name="Google Shape;311;p26"/>
          <p:cNvPicPr preferRelativeResize="0"/>
          <p:nvPr/>
        </p:nvPicPr>
        <p:blipFill>
          <a:blip r:embed="rId4">
            <a:alphaModFix/>
          </a:blip>
          <a:stretch>
            <a:fillRect/>
          </a:stretch>
        </p:blipFill>
        <p:spPr>
          <a:xfrm>
            <a:off x="704039" y="3282914"/>
            <a:ext cx="463600" cy="463625"/>
          </a:xfrm>
          <a:prstGeom prst="rect">
            <a:avLst/>
          </a:prstGeom>
          <a:noFill/>
          <a:ln>
            <a:noFill/>
          </a:ln>
        </p:spPr>
      </p:pic>
      <p:grpSp>
        <p:nvGrpSpPr>
          <p:cNvPr id="312" name="Google Shape;312;p26"/>
          <p:cNvGrpSpPr/>
          <p:nvPr/>
        </p:nvGrpSpPr>
        <p:grpSpPr>
          <a:xfrm>
            <a:off x="770689" y="4154647"/>
            <a:ext cx="330281" cy="354429"/>
            <a:chOff x="10877550" y="3067050"/>
            <a:chExt cx="6400801" cy="7353300"/>
          </a:xfrm>
        </p:grpSpPr>
        <p:sp>
          <p:nvSpPr>
            <p:cNvPr id="313" name="Google Shape;313;p26"/>
            <p:cNvSpPr/>
            <p:nvPr/>
          </p:nvSpPr>
          <p:spPr>
            <a:xfrm>
              <a:off x="11372850" y="3067050"/>
              <a:ext cx="5448300" cy="3695700"/>
            </a:xfrm>
            <a:prstGeom prst="roundRect">
              <a:avLst>
                <a:gd fmla="val 16667" name="adj"/>
              </a:avLst>
            </a:prstGeom>
            <a:solidFill>
              <a:srgbClr val="D9D9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6"/>
            <p:cNvSpPr/>
            <p:nvPr/>
          </p:nvSpPr>
          <p:spPr>
            <a:xfrm>
              <a:off x="11563350" y="3314700"/>
              <a:ext cx="5029200" cy="3238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5" name="Google Shape;315;p26"/>
            <p:cNvPicPr preferRelativeResize="0"/>
            <p:nvPr/>
          </p:nvPicPr>
          <p:blipFill>
            <a:blip r:embed="rId5">
              <a:alphaModFix/>
            </a:blip>
            <a:stretch>
              <a:fillRect/>
            </a:stretch>
          </p:blipFill>
          <p:spPr>
            <a:xfrm>
              <a:off x="10877550" y="5562600"/>
              <a:ext cx="6400801" cy="4857750"/>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417900" y="817800"/>
            <a:ext cx="8502900" cy="3702000"/>
          </a:xfrm>
          <a:prstGeom prst="rect">
            <a:avLst/>
          </a:prstGeom>
        </p:spPr>
        <p:txBody>
          <a:bodyPr anchorCtr="0" anchor="ctr" bIns="91425" lIns="91425" spcFirstLastPara="1" rIns="91425" wrap="square" tIns="91425">
            <a:noAutofit/>
          </a:bodyPr>
          <a:lstStyle/>
          <a:p>
            <a:pPr indent="-342900" lvl="1" marL="914400" rtl="0" algn="l">
              <a:spcBef>
                <a:spcPts val="0"/>
              </a:spcBef>
              <a:spcAft>
                <a:spcPts val="0"/>
              </a:spcAft>
              <a:buSzPts val="1800"/>
              <a:buChar char="○"/>
            </a:pPr>
            <a:r>
              <a:rPr lang="en" sz="1800">
                <a:highlight>
                  <a:srgbClr val="FFFFFF"/>
                </a:highlight>
              </a:rPr>
              <a:t>How much would your AI tool </a:t>
            </a:r>
            <a:r>
              <a:rPr b="1" lang="en" sz="1800">
                <a:highlight>
                  <a:srgbClr val="FFFFFF"/>
                </a:highlight>
              </a:rPr>
              <a:t>cost per query</a:t>
            </a:r>
            <a:r>
              <a:rPr lang="en" sz="1800">
                <a:highlight>
                  <a:srgbClr val="FFFFFF"/>
                </a:highlight>
              </a:rPr>
              <a:t> (on average)? </a:t>
            </a:r>
            <a:endParaRPr sz="1800">
              <a:highlight>
                <a:srgbClr val="FFFFFF"/>
              </a:highlight>
            </a:endParaRPr>
          </a:p>
          <a:p>
            <a:pPr indent="0" lvl="0" marL="914400" rtl="0" algn="l">
              <a:spcBef>
                <a:spcPts val="0"/>
              </a:spcBef>
              <a:spcAft>
                <a:spcPts val="0"/>
              </a:spcAft>
              <a:buNone/>
            </a:pPr>
            <a:r>
              <a:t/>
            </a:r>
            <a:endParaRPr sz="1800">
              <a:highlight>
                <a:srgbClr val="FFFFFF"/>
              </a:highlight>
            </a:endParaRPr>
          </a:p>
          <a:p>
            <a:pPr indent="-342900" lvl="1" marL="914400" rtl="0" algn="l">
              <a:spcBef>
                <a:spcPts val="0"/>
              </a:spcBef>
              <a:spcAft>
                <a:spcPts val="0"/>
              </a:spcAft>
              <a:buSzPts val="1800"/>
              <a:buChar char="○"/>
            </a:pPr>
            <a:r>
              <a:rPr lang="en" sz="1800">
                <a:highlight>
                  <a:srgbClr val="FFFFFF"/>
                </a:highlight>
              </a:rPr>
              <a:t>How many </a:t>
            </a:r>
            <a:r>
              <a:rPr b="1" lang="en" sz="1800">
                <a:highlight>
                  <a:srgbClr val="FFFFFF"/>
                </a:highlight>
              </a:rPr>
              <a:t>queries</a:t>
            </a:r>
            <a:r>
              <a:rPr lang="en" sz="1800">
                <a:highlight>
                  <a:srgbClr val="FFFFFF"/>
                </a:highlight>
              </a:rPr>
              <a:t> might a users submit in an average session?</a:t>
            </a:r>
            <a:endParaRPr sz="1800">
              <a:highlight>
                <a:srgbClr val="FFFFFF"/>
              </a:highlight>
            </a:endParaRPr>
          </a:p>
          <a:p>
            <a:pPr indent="0" lvl="0" marL="914400" rtl="0" algn="l">
              <a:spcBef>
                <a:spcPts val="0"/>
              </a:spcBef>
              <a:spcAft>
                <a:spcPts val="0"/>
              </a:spcAft>
              <a:buNone/>
            </a:pPr>
            <a:r>
              <a:t/>
            </a:r>
            <a:endParaRPr sz="1800">
              <a:highlight>
                <a:srgbClr val="FFFFFF"/>
              </a:highlight>
            </a:endParaRPr>
          </a:p>
          <a:p>
            <a:pPr indent="-342900" lvl="1" marL="914400" rtl="0" algn="l">
              <a:spcBef>
                <a:spcPts val="0"/>
              </a:spcBef>
              <a:spcAft>
                <a:spcPts val="0"/>
              </a:spcAft>
              <a:buSzPts val="1800"/>
              <a:buChar char="○"/>
            </a:pPr>
            <a:r>
              <a:rPr lang="en" sz="1800">
                <a:highlight>
                  <a:srgbClr val="FFFFFF"/>
                </a:highlight>
              </a:rPr>
              <a:t>How </a:t>
            </a:r>
            <a:r>
              <a:rPr b="1" lang="en" sz="1800">
                <a:highlight>
                  <a:srgbClr val="FFFFFF"/>
                </a:highlight>
              </a:rPr>
              <a:t>big</a:t>
            </a:r>
            <a:r>
              <a:rPr lang="en" sz="1800">
                <a:highlight>
                  <a:srgbClr val="FFFFFF"/>
                </a:highlight>
              </a:rPr>
              <a:t> are the </a:t>
            </a:r>
            <a:r>
              <a:rPr b="1" lang="en" sz="1800">
                <a:highlight>
                  <a:srgbClr val="FFFFFF"/>
                </a:highlight>
              </a:rPr>
              <a:t>data</a:t>
            </a:r>
            <a:r>
              <a:rPr lang="en" sz="1800">
                <a:highlight>
                  <a:srgbClr val="FFFFFF"/>
                </a:highlight>
              </a:rPr>
              <a:t> the users would be inputting?</a:t>
            </a:r>
            <a:endParaRPr sz="1800">
              <a:highlight>
                <a:srgbClr val="FFFFFF"/>
              </a:highlight>
            </a:endParaRPr>
          </a:p>
          <a:p>
            <a:pPr indent="0" lvl="0" marL="914400" rtl="0" algn="l">
              <a:spcBef>
                <a:spcPts val="0"/>
              </a:spcBef>
              <a:spcAft>
                <a:spcPts val="0"/>
              </a:spcAft>
              <a:buNone/>
            </a:pPr>
            <a:r>
              <a:t/>
            </a:r>
            <a:endParaRPr sz="1800">
              <a:highlight>
                <a:srgbClr val="FFFFFF"/>
              </a:highlight>
            </a:endParaRPr>
          </a:p>
          <a:p>
            <a:pPr indent="-342900" lvl="1" marL="914400" rtl="0" algn="l">
              <a:spcBef>
                <a:spcPts val="0"/>
              </a:spcBef>
              <a:spcAft>
                <a:spcPts val="0"/>
              </a:spcAft>
              <a:buSzPts val="1800"/>
              <a:buChar char="○"/>
            </a:pPr>
            <a:r>
              <a:rPr lang="en" sz="1800">
                <a:highlight>
                  <a:srgbClr val="FFFFFF"/>
                </a:highlight>
              </a:rPr>
              <a:t>Given the answers to the above </a:t>
            </a:r>
            <a:r>
              <a:rPr b="1" lang="en" sz="1800">
                <a:highlight>
                  <a:srgbClr val="FFFFFF"/>
                </a:highlight>
              </a:rPr>
              <a:t>how many users would you be able to </a:t>
            </a:r>
            <a:r>
              <a:rPr b="1" lang="en" sz="1800">
                <a:highlight>
                  <a:srgbClr val="FFFFFF"/>
                </a:highlight>
              </a:rPr>
              <a:t>accommodate</a:t>
            </a:r>
            <a:r>
              <a:rPr lang="en" sz="1800">
                <a:highlight>
                  <a:srgbClr val="FFFFFF"/>
                </a:highlight>
              </a:rPr>
              <a:t>? </a:t>
            </a:r>
            <a:r>
              <a:rPr lang="en" sz="1800">
                <a:highlight>
                  <a:srgbClr val="FFFFFF"/>
                </a:highlight>
              </a:rPr>
              <a:t> </a:t>
            </a:r>
            <a:endParaRPr sz="1800">
              <a:highlight>
                <a:srgbClr val="FFFFFF"/>
              </a:highlight>
            </a:endParaRPr>
          </a:p>
          <a:p>
            <a:pPr indent="0" lvl="0" marL="914400" rtl="0" algn="l">
              <a:spcBef>
                <a:spcPts val="0"/>
              </a:spcBef>
              <a:spcAft>
                <a:spcPts val="0"/>
              </a:spcAft>
              <a:buNone/>
            </a:pPr>
            <a:r>
              <a:t/>
            </a:r>
            <a:endParaRPr sz="1800">
              <a:highlight>
                <a:srgbClr val="FFFFFF"/>
              </a:highlight>
            </a:endParaRPr>
          </a:p>
          <a:p>
            <a:pPr indent="-342900" lvl="1" marL="914400" rtl="0" algn="l">
              <a:spcBef>
                <a:spcPts val="0"/>
              </a:spcBef>
              <a:spcAft>
                <a:spcPts val="0"/>
              </a:spcAft>
              <a:buSzPts val="1800"/>
              <a:buChar char="○"/>
            </a:pPr>
            <a:r>
              <a:rPr lang="en" sz="1800">
                <a:highlight>
                  <a:srgbClr val="FFFFFF"/>
                </a:highlight>
              </a:rPr>
              <a:t>Evaluate </a:t>
            </a:r>
            <a:r>
              <a:rPr b="1" lang="en" sz="1800">
                <a:highlight>
                  <a:srgbClr val="FFFFFF"/>
                </a:highlight>
              </a:rPr>
              <a:t>pricing</a:t>
            </a:r>
            <a:r>
              <a:rPr lang="en" sz="1800">
                <a:highlight>
                  <a:srgbClr val="FFFFFF"/>
                </a:highlight>
              </a:rPr>
              <a:t> for the services you are using given your estimates for users and inputs. </a:t>
            </a:r>
            <a:endParaRPr sz="1800">
              <a:highlight>
                <a:srgbClr val="FFFFFF"/>
              </a:highlight>
            </a:endParaRPr>
          </a:p>
          <a:p>
            <a:pPr indent="457200" lvl="0" marL="0" rtl="0" algn="l">
              <a:spcBef>
                <a:spcPts val="0"/>
              </a:spcBef>
              <a:spcAft>
                <a:spcPts val="0"/>
              </a:spcAft>
              <a:buNone/>
            </a:pPr>
            <a:r>
              <a:rPr lang="en" sz="1800">
                <a:highlight>
                  <a:srgbClr val="FFFFFF"/>
                </a:highlight>
              </a:rPr>
              <a:t> </a:t>
            </a:r>
            <a:endParaRPr sz="1800">
              <a:highlight>
                <a:srgbClr val="FFFFFF"/>
              </a:highlight>
            </a:endParaRPr>
          </a:p>
        </p:txBody>
      </p:sp>
      <p:sp>
        <p:nvSpPr>
          <p:cNvPr id="321" name="Google Shape;321;p27"/>
          <p:cNvSpPr txBox="1"/>
          <p:nvPr>
            <p:ph type="title"/>
          </p:nvPr>
        </p:nvSpPr>
        <p:spPr>
          <a:xfrm>
            <a:off x="0" y="0"/>
            <a:ext cx="9144000" cy="817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577">
                <a:highlight>
                  <a:srgbClr val="FFFFFF"/>
                </a:highlight>
              </a:rPr>
              <a:t>Computing costs</a:t>
            </a:r>
            <a:endParaRPr b="1" sz="2577">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8"/>
          <p:cNvSpPr txBox="1"/>
          <p:nvPr>
            <p:ph idx="4294967295" type="title"/>
          </p:nvPr>
        </p:nvSpPr>
        <p:spPr>
          <a:xfrm>
            <a:off x="0" y="0"/>
            <a:ext cx="9144000" cy="874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Computing resource costs - </a:t>
            </a:r>
            <a:endParaRPr/>
          </a:p>
          <a:p>
            <a:pPr indent="0" lvl="0" marL="0" rtl="0" algn="ctr">
              <a:spcBef>
                <a:spcPts val="0"/>
              </a:spcBef>
              <a:spcAft>
                <a:spcPts val="0"/>
              </a:spcAft>
              <a:buNone/>
            </a:pPr>
            <a:r>
              <a:rPr lang="en"/>
              <a:t>from scratch isn’t always cheaper </a:t>
            </a:r>
            <a:endParaRPr/>
          </a:p>
        </p:txBody>
      </p:sp>
      <p:sp>
        <p:nvSpPr>
          <p:cNvPr id="327" name="Google Shape;327;p28"/>
          <p:cNvSpPr txBox="1"/>
          <p:nvPr/>
        </p:nvSpPr>
        <p:spPr>
          <a:xfrm>
            <a:off x="52925" y="4688400"/>
            <a:ext cx="8424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Graph based on: https://lajavaness.medium.com/llm-large-language-model-cost-analysis-d5022bb43e9e</a:t>
            </a:r>
            <a:endParaRPr sz="1100"/>
          </a:p>
        </p:txBody>
      </p:sp>
      <p:cxnSp>
        <p:nvCxnSpPr>
          <p:cNvPr id="328" name="Google Shape;328;p28"/>
          <p:cNvCxnSpPr/>
          <p:nvPr/>
        </p:nvCxnSpPr>
        <p:spPr>
          <a:xfrm flipH="1" rot="10800000">
            <a:off x="1143000" y="1397025"/>
            <a:ext cx="10500" cy="2518800"/>
          </a:xfrm>
          <a:prstGeom prst="straightConnector1">
            <a:avLst/>
          </a:prstGeom>
          <a:noFill/>
          <a:ln cap="flat" cmpd="sng" w="28575">
            <a:solidFill>
              <a:schemeClr val="dk2"/>
            </a:solidFill>
            <a:prstDash val="solid"/>
            <a:round/>
            <a:headEnd len="med" w="med" type="none"/>
            <a:tailEnd len="med" w="med" type="triangle"/>
          </a:ln>
        </p:spPr>
      </p:cxnSp>
      <p:cxnSp>
        <p:nvCxnSpPr>
          <p:cNvPr id="329" name="Google Shape;329;p28"/>
          <p:cNvCxnSpPr/>
          <p:nvPr/>
        </p:nvCxnSpPr>
        <p:spPr>
          <a:xfrm flipH="1" rot="10800000">
            <a:off x="1030800" y="3788700"/>
            <a:ext cx="5213400" cy="25500"/>
          </a:xfrm>
          <a:prstGeom prst="straightConnector1">
            <a:avLst/>
          </a:prstGeom>
          <a:noFill/>
          <a:ln cap="flat" cmpd="sng" w="28575">
            <a:solidFill>
              <a:schemeClr val="dk2"/>
            </a:solidFill>
            <a:prstDash val="solid"/>
            <a:round/>
            <a:headEnd len="med" w="med" type="none"/>
            <a:tailEnd len="med" w="med" type="triangle"/>
          </a:ln>
        </p:spPr>
      </p:cxnSp>
      <p:sp>
        <p:nvSpPr>
          <p:cNvPr id="330" name="Google Shape;330;p28"/>
          <p:cNvSpPr/>
          <p:nvPr/>
        </p:nvSpPr>
        <p:spPr>
          <a:xfrm>
            <a:off x="1174750" y="2053225"/>
            <a:ext cx="4910734" cy="1735522"/>
          </a:xfrm>
          <a:custGeom>
            <a:rect b="b" l="l" r="r" t="t"/>
            <a:pathLst>
              <a:path extrusionOk="0" h="77470" w="174837">
                <a:moveTo>
                  <a:pt x="0" y="77470"/>
                </a:moveTo>
                <a:cubicBezTo>
                  <a:pt x="3881" y="71967"/>
                  <a:pt x="5433" y="54398"/>
                  <a:pt x="23283" y="44450"/>
                </a:cubicBezTo>
                <a:cubicBezTo>
                  <a:pt x="41134" y="34502"/>
                  <a:pt x="81844" y="25188"/>
                  <a:pt x="107103" y="17780"/>
                </a:cubicBezTo>
                <a:cubicBezTo>
                  <a:pt x="132362" y="10372"/>
                  <a:pt x="163548" y="2963"/>
                  <a:pt x="174837" y="0"/>
                </a:cubicBezTo>
              </a:path>
            </a:pathLst>
          </a:custGeom>
          <a:noFill/>
          <a:ln cap="flat" cmpd="sng" w="38100">
            <a:solidFill>
              <a:srgbClr val="0000FF"/>
            </a:solidFill>
            <a:prstDash val="solid"/>
            <a:round/>
            <a:headEnd len="med" w="med" type="none"/>
            <a:tailEnd len="med" w="med" type="triangle"/>
          </a:ln>
        </p:spPr>
      </p:sp>
      <p:cxnSp>
        <p:nvCxnSpPr>
          <p:cNvPr id="331" name="Google Shape;331;p28"/>
          <p:cNvCxnSpPr/>
          <p:nvPr/>
        </p:nvCxnSpPr>
        <p:spPr>
          <a:xfrm flipH="1" rot="10800000">
            <a:off x="1174750" y="1534500"/>
            <a:ext cx="4720200" cy="2254200"/>
          </a:xfrm>
          <a:prstGeom prst="straightConnector1">
            <a:avLst/>
          </a:prstGeom>
          <a:noFill/>
          <a:ln cap="flat" cmpd="sng" w="38100">
            <a:solidFill>
              <a:srgbClr val="93C47D"/>
            </a:solidFill>
            <a:prstDash val="dash"/>
            <a:round/>
            <a:headEnd len="med" w="med" type="none"/>
            <a:tailEnd len="med" w="med" type="triangle"/>
          </a:ln>
        </p:spPr>
      </p:cxnSp>
      <p:sp>
        <p:nvSpPr>
          <p:cNvPr id="332" name="Google Shape;332;p28"/>
          <p:cNvSpPr txBox="1"/>
          <p:nvPr/>
        </p:nvSpPr>
        <p:spPr>
          <a:xfrm rot="-5400000">
            <a:off x="254750" y="2294700"/>
            <a:ext cx="1179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lt1"/>
                </a:solidFill>
                <a:latin typeface="Lato"/>
                <a:ea typeface="Lato"/>
                <a:cs typeface="Lato"/>
                <a:sym typeface="Lato"/>
              </a:rPr>
              <a:t>Cost</a:t>
            </a:r>
            <a:endParaRPr sz="2400">
              <a:solidFill>
                <a:schemeClr val="lt1"/>
              </a:solidFill>
              <a:latin typeface="Lato"/>
              <a:ea typeface="Lato"/>
              <a:cs typeface="Lato"/>
              <a:sym typeface="Lato"/>
            </a:endParaRPr>
          </a:p>
        </p:txBody>
      </p:sp>
      <p:sp>
        <p:nvSpPr>
          <p:cNvPr id="333" name="Google Shape;333;p28"/>
          <p:cNvSpPr txBox="1"/>
          <p:nvPr/>
        </p:nvSpPr>
        <p:spPr>
          <a:xfrm>
            <a:off x="2434150" y="3865250"/>
            <a:ext cx="2232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lt1"/>
                </a:solidFill>
                <a:latin typeface="Lato"/>
                <a:ea typeface="Lato"/>
                <a:cs typeface="Lato"/>
                <a:sym typeface="Lato"/>
              </a:rPr>
              <a:t>Usage</a:t>
            </a:r>
            <a:endParaRPr sz="2400">
              <a:solidFill>
                <a:schemeClr val="lt1"/>
              </a:solidFill>
              <a:latin typeface="Lato"/>
              <a:ea typeface="Lato"/>
              <a:cs typeface="Lato"/>
              <a:sym typeface="Lato"/>
            </a:endParaRPr>
          </a:p>
        </p:txBody>
      </p:sp>
      <p:sp>
        <p:nvSpPr>
          <p:cNvPr id="334" name="Google Shape;334;p28"/>
          <p:cNvSpPr txBox="1"/>
          <p:nvPr/>
        </p:nvSpPr>
        <p:spPr>
          <a:xfrm>
            <a:off x="7302550" y="1096775"/>
            <a:ext cx="1619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6AA84F"/>
                </a:solidFill>
                <a:highlight>
                  <a:srgbClr val="FFFFFF"/>
                </a:highlight>
                <a:latin typeface="Lato"/>
                <a:ea typeface="Lato"/>
                <a:cs typeface="Lato"/>
                <a:sym typeface="Lato"/>
              </a:rPr>
              <a:t>AWS for custom build</a:t>
            </a:r>
            <a:endParaRPr sz="1600">
              <a:solidFill>
                <a:srgbClr val="6AA84F"/>
              </a:solidFill>
              <a:highlight>
                <a:srgbClr val="FFFFFF"/>
              </a:highlight>
              <a:latin typeface="Lato"/>
              <a:ea typeface="Lato"/>
              <a:cs typeface="Lato"/>
              <a:sym typeface="Lato"/>
            </a:endParaRPr>
          </a:p>
        </p:txBody>
      </p:sp>
      <p:sp>
        <p:nvSpPr>
          <p:cNvPr id="335" name="Google Shape;335;p28"/>
          <p:cNvSpPr txBox="1"/>
          <p:nvPr/>
        </p:nvSpPr>
        <p:spPr>
          <a:xfrm>
            <a:off x="7528000" y="2053225"/>
            <a:ext cx="1168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0000FF"/>
                </a:solidFill>
                <a:highlight>
                  <a:srgbClr val="FFFFFF"/>
                </a:highlight>
                <a:latin typeface="Lato"/>
                <a:ea typeface="Lato"/>
                <a:cs typeface="Lato"/>
                <a:sym typeface="Lato"/>
              </a:rPr>
              <a:t>API for ChatGPT</a:t>
            </a:r>
            <a:endParaRPr sz="1600">
              <a:solidFill>
                <a:srgbClr val="0000FF"/>
              </a:solidFill>
              <a:highlight>
                <a:srgbClr val="FFFFFF"/>
              </a:highlight>
              <a:latin typeface="Lato"/>
              <a:ea typeface="Lato"/>
              <a:cs typeface="Lato"/>
              <a:sym typeface="Lato"/>
            </a:endParaRPr>
          </a:p>
        </p:txBody>
      </p:sp>
      <p:cxnSp>
        <p:nvCxnSpPr>
          <p:cNvPr id="336" name="Google Shape;336;p28"/>
          <p:cNvCxnSpPr/>
          <p:nvPr/>
        </p:nvCxnSpPr>
        <p:spPr>
          <a:xfrm>
            <a:off x="6734200" y="1435325"/>
            <a:ext cx="793800" cy="0"/>
          </a:xfrm>
          <a:prstGeom prst="straightConnector1">
            <a:avLst/>
          </a:prstGeom>
          <a:noFill/>
          <a:ln cap="flat" cmpd="sng" w="38100">
            <a:solidFill>
              <a:srgbClr val="B6D7A8"/>
            </a:solidFill>
            <a:prstDash val="dash"/>
            <a:round/>
            <a:headEnd len="med" w="med" type="none"/>
            <a:tailEnd len="med" w="med" type="none"/>
          </a:ln>
        </p:spPr>
      </p:cxnSp>
      <p:cxnSp>
        <p:nvCxnSpPr>
          <p:cNvPr id="337" name="Google Shape;337;p28"/>
          <p:cNvCxnSpPr/>
          <p:nvPr/>
        </p:nvCxnSpPr>
        <p:spPr>
          <a:xfrm>
            <a:off x="6693375" y="2427850"/>
            <a:ext cx="793800" cy="0"/>
          </a:xfrm>
          <a:prstGeom prst="straightConnector1">
            <a:avLst/>
          </a:prstGeom>
          <a:noFill/>
          <a:ln cap="flat" cmpd="sng" w="38100">
            <a:solidFill>
              <a:srgbClr val="0000FF"/>
            </a:solidFill>
            <a:prstDash val="solid"/>
            <a:round/>
            <a:headEnd len="med" w="med" type="none"/>
            <a:tailEnd len="med" w="med" type="none"/>
          </a:ln>
        </p:spPr>
      </p:cxnSp>
      <p:sp>
        <p:nvSpPr>
          <p:cNvPr id="338" name="Google Shape;338;p28"/>
          <p:cNvSpPr/>
          <p:nvPr/>
        </p:nvSpPr>
        <p:spPr>
          <a:xfrm>
            <a:off x="6734200" y="3150125"/>
            <a:ext cx="2132700" cy="13266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This is only computing costs! Does not take into account other costs like salaries of those maintaining the custom build!</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txBox="1"/>
          <p:nvPr>
            <p:ph type="title"/>
          </p:nvPr>
        </p:nvSpPr>
        <p:spPr>
          <a:xfrm>
            <a:off x="823850" y="688500"/>
            <a:ext cx="7971000" cy="4222200"/>
          </a:xfrm>
          <a:prstGeom prst="rect">
            <a:avLst/>
          </a:prstGeom>
        </p:spPr>
        <p:txBody>
          <a:bodyPr anchorCtr="0" anchor="ctr" bIns="91425" lIns="91425" spcFirstLastPara="1" rIns="91425" wrap="square" tIns="91425">
            <a:normAutofit fontScale="90000"/>
          </a:bodyPr>
          <a:lstStyle/>
          <a:p>
            <a:pPr indent="-363220" lvl="1" marL="914400" rtl="0" algn="l">
              <a:spcBef>
                <a:spcPts val="0"/>
              </a:spcBef>
              <a:spcAft>
                <a:spcPts val="0"/>
              </a:spcAft>
              <a:buSzPct val="100000"/>
              <a:buChar char="○"/>
            </a:pPr>
            <a:r>
              <a:rPr lang="en" sz="2355">
                <a:highlight>
                  <a:srgbClr val="FFFFFF"/>
                </a:highlight>
              </a:rPr>
              <a:t>Custom deployments will require more  </a:t>
            </a:r>
            <a:r>
              <a:rPr b="1" lang="en" sz="2355">
                <a:highlight>
                  <a:srgbClr val="FFFFFF"/>
                </a:highlight>
              </a:rPr>
              <a:t>technical</a:t>
            </a:r>
            <a:r>
              <a:rPr lang="en" sz="2355">
                <a:highlight>
                  <a:srgbClr val="FFFFFF"/>
                </a:highlight>
              </a:rPr>
              <a:t> expertises on hand – think </a:t>
            </a:r>
            <a:r>
              <a:rPr b="1" lang="en" sz="2355">
                <a:highlight>
                  <a:srgbClr val="FFFFFF"/>
                </a:highlight>
              </a:rPr>
              <a:t>salary</a:t>
            </a:r>
            <a:r>
              <a:rPr lang="en" sz="2355">
                <a:highlight>
                  <a:srgbClr val="FFFFFF"/>
                </a:highlight>
              </a:rPr>
              <a:t> cost</a:t>
            </a:r>
            <a:r>
              <a:rPr lang="en" sz="2355">
                <a:highlight>
                  <a:srgbClr val="FFFFFF"/>
                </a:highlight>
              </a:rPr>
              <a:t>s</a:t>
            </a:r>
            <a:endParaRPr sz="2355">
              <a:highlight>
                <a:srgbClr val="FFFFFF"/>
              </a:highlight>
            </a:endParaRPr>
          </a:p>
          <a:p>
            <a:pPr indent="0" lvl="0" marL="914400" rtl="0" algn="l">
              <a:spcBef>
                <a:spcPts val="0"/>
              </a:spcBef>
              <a:spcAft>
                <a:spcPts val="0"/>
              </a:spcAft>
              <a:buNone/>
            </a:pPr>
            <a:r>
              <a:t/>
            </a:r>
            <a:endParaRPr sz="2355">
              <a:highlight>
                <a:srgbClr val="FFFFFF"/>
              </a:highlight>
            </a:endParaRPr>
          </a:p>
          <a:p>
            <a:pPr indent="-363220" lvl="1" marL="914400" rtl="0" algn="l">
              <a:spcBef>
                <a:spcPts val="0"/>
              </a:spcBef>
              <a:spcAft>
                <a:spcPts val="0"/>
              </a:spcAft>
              <a:buSzPct val="100000"/>
              <a:buChar char="○"/>
            </a:pPr>
            <a:r>
              <a:rPr b="1" lang="en" sz="2355">
                <a:highlight>
                  <a:srgbClr val="FFFFFF"/>
                </a:highlight>
              </a:rPr>
              <a:t>User experience designers </a:t>
            </a:r>
            <a:r>
              <a:rPr lang="en" sz="2355">
                <a:highlight>
                  <a:srgbClr val="FFFFFF"/>
                </a:highlight>
              </a:rPr>
              <a:t>are highly valuable for user facing projects</a:t>
            </a:r>
            <a:endParaRPr sz="2355">
              <a:highlight>
                <a:srgbClr val="FFFFFF"/>
              </a:highlight>
            </a:endParaRPr>
          </a:p>
          <a:p>
            <a:pPr indent="0" lvl="0" marL="914400" rtl="0" algn="l">
              <a:spcBef>
                <a:spcPts val="0"/>
              </a:spcBef>
              <a:spcAft>
                <a:spcPts val="0"/>
              </a:spcAft>
              <a:buNone/>
            </a:pPr>
            <a:r>
              <a:t/>
            </a:r>
            <a:endParaRPr sz="2355">
              <a:highlight>
                <a:srgbClr val="FFFFFF"/>
              </a:highlight>
            </a:endParaRPr>
          </a:p>
          <a:p>
            <a:pPr indent="-363220" lvl="1" marL="914400" rtl="0" algn="l">
              <a:spcBef>
                <a:spcPts val="0"/>
              </a:spcBef>
              <a:spcAft>
                <a:spcPts val="0"/>
              </a:spcAft>
              <a:buSzPct val="100000"/>
              <a:buChar char="○"/>
            </a:pPr>
            <a:r>
              <a:rPr b="1" lang="en" sz="2355">
                <a:highlight>
                  <a:srgbClr val="FFFFFF"/>
                </a:highlight>
              </a:rPr>
              <a:t>Project managers</a:t>
            </a:r>
            <a:r>
              <a:rPr lang="en" sz="2355">
                <a:highlight>
                  <a:srgbClr val="FFFFFF"/>
                </a:highlight>
              </a:rPr>
              <a:t> will help everyone save time</a:t>
            </a:r>
            <a:endParaRPr sz="2355">
              <a:highlight>
                <a:srgbClr val="FFFFFF"/>
              </a:highlight>
            </a:endParaRPr>
          </a:p>
          <a:p>
            <a:pPr indent="0" lvl="0" marL="914400" rtl="0" algn="l">
              <a:spcBef>
                <a:spcPts val="0"/>
              </a:spcBef>
              <a:spcAft>
                <a:spcPts val="0"/>
              </a:spcAft>
              <a:buNone/>
            </a:pPr>
            <a:r>
              <a:t/>
            </a:r>
            <a:endParaRPr sz="2355">
              <a:highlight>
                <a:srgbClr val="FFFFFF"/>
              </a:highlight>
            </a:endParaRPr>
          </a:p>
          <a:p>
            <a:pPr indent="-363220" lvl="1" marL="914400" rtl="0" algn="l">
              <a:spcBef>
                <a:spcPts val="0"/>
              </a:spcBef>
              <a:spcAft>
                <a:spcPts val="0"/>
              </a:spcAft>
              <a:buSzPct val="100000"/>
              <a:buChar char="○"/>
            </a:pPr>
            <a:r>
              <a:rPr b="1" lang="en" sz="2355">
                <a:highlight>
                  <a:srgbClr val="FFFFFF"/>
                </a:highlight>
              </a:rPr>
              <a:t>Administration staffing</a:t>
            </a:r>
            <a:r>
              <a:rPr lang="en" sz="2355">
                <a:highlight>
                  <a:srgbClr val="FFFFFF"/>
                </a:highlight>
              </a:rPr>
              <a:t> needs should not be overlooked</a:t>
            </a:r>
            <a:endParaRPr>
              <a:highlight>
                <a:srgbClr val="FFFFFF"/>
              </a:highlight>
            </a:endParaRPr>
          </a:p>
          <a:p>
            <a:pPr indent="0" lvl="0" marL="0" rtl="0" algn="l">
              <a:spcBef>
                <a:spcPts val="0"/>
              </a:spcBef>
              <a:spcAft>
                <a:spcPts val="0"/>
              </a:spcAft>
              <a:buNone/>
            </a:pPr>
            <a:r>
              <a:t/>
            </a:r>
            <a:endParaRPr>
              <a:highlight>
                <a:srgbClr val="FFFFFF"/>
              </a:highlight>
            </a:endParaRPr>
          </a:p>
        </p:txBody>
      </p:sp>
      <p:sp>
        <p:nvSpPr>
          <p:cNvPr id="344" name="Google Shape;344;p29"/>
          <p:cNvSpPr txBox="1"/>
          <p:nvPr>
            <p:ph type="title"/>
          </p:nvPr>
        </p:nvSpPr>
        <p:spPr>
          <a:xfrm>
            <a:off x="0" y="0"/>
            <a:ext cx="9144000" cy="817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577">
                <a:highlight>
                  <a:srgbClr val="FFFFFF"/>
                </a:highlight>
              </a:rPr>
              <a:t>Staffing</a:t>
            </a:r>
            <a:r>
              <a:rPr lang="en" sz="2577">
                <a:highlight>
                  <a:srgbClr val="FFFFFF"/>
                </a:highlight>
              </a:rPr>
              <a:t> costs</a:t>
            </a:r>
            <a:endParaRPr b="1" sz="2577">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823850" y="1206900"/>
            <a:ext cx="7971000" cy="3703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sz="2355">
              <a:highlight>
                <a:srgbClr val="FFFFFF"/>
              </a:highlight>
            </a:endParaRPr>
          </a:p>
          <a:p>
            <a:pPr indent="-363220" lvl="1" marL="914400" rtl="0" algn="l">
              <a:lnSpc>
                <a:spcPct val="115000"/>
              </a:lnSpc>
              <a:spcBef>
                <a:spcPts val="0"/>
              </a:spcBef>
              <a:spcAft>
                <a:spcPts val="0"/>
              </a:spcAft>
              <a:buSzPct val="91379"/>
              <a:buChar char="○"/>
            </a:pPr>
            <a:r>
              <a:rPr lang="en" sz="2577">
                <a:highlight>
                  <a:srgbClr val="FFFFFF"/>
                </a:highlight>
              </a:rPr>
              <a:t>H</a:t>
            </a:r>
            <a:r>
              <a:rPr lang="en" sz="2577">
                <a:highlight>
                  <a:srgbClr val="FFFFFF"/>
                </a:highlight>
              </a:rPr>
              <a:t>ow </a:t>
            </a:r>
            <a:r>
              <a:rPr b="1" lang="en" sz="2577">
                <a:highlight>
                  <a:srgbClr val="FFFFFF"/>
                </a:highlight>
              </a:rPr>
              <a:t>quickly</a:t>
            </a:r>
            <a:r>
              <a:rPr lang="en" sz="2577">
                <a:highlight>
                  <a:srgbClr val="FFFFFF"/>
                </a:highlight>
              </a:rPr>
              <a:t> does this need to be ready?</a:t>
            </a:r>
            <a:endParaRPr sz="2577">
              <a:highlight>
                <a:srgbClr val="FFFFFF"/>
              </a:highlight>
            </a:endParaRPr>
          </a:p>
          <a:p>
            <a:pPr indent="-354330" lvl="2" marL="1371600" rtl="0" algn="l">
              <a:lnSpc>
                <a:spcPct val="115000"/>
              </a:lnSpc>
              <a:spcBef>
                <a:spcPts val="0"/>
              </a:spcBef>
              <a:spcAft>
                <a:spcPts val="0"/>
              </a:spcAft>
              <a:buSzPct val="100000"/>
              <a:buChar char="■"/>
            </a:pPr>
            <a:r>
              <a:rPr i="1" lang="en" sz="2200">
                <a:highlight>
                  <a:srgbClr val="FFFFFF"/>
                </a:highlight>
              </a:rPr>
              <a:t>What determines this?</a:t>
            </a:r>
            <a:endParaRPr i="1" sz="2200">
              <a:highlight>
                <a:srgbClr val="FFFFFF"/>
              </a:highlight>
            </a:endParaRPr>
          </a:p>
          <a:p>
            <a:pPr indent="0" lvl="0" marL="1371600" rtl="0" algn="l">
              <a:lnSpc>
                <a:spcPct val="115000"/>
              </a:lnSpc>
              <a:spcBef>
                <a:spcPts val="0"/>
              </a:spcBef>
              <a:spcAft>
                <a:spcPts val="0"/>
              </a:spcAft>
              <a:buNone/>
            </a:pPr>
            <a:r>
              <a:t/>
            </a:r>
            <a:endParaRPr sz="2577">
              <a:highlight>
                <a:srgbClr val="FFFFFF"/>
              </a:highlight>
            </a:endParaRPr>
          </a:p>
          <a:p>
            <a:pPr indent="-375920" lvl="1" marL="914400" rtl="0" algn="l">
              <a:lnSpc>
                <a:spcPct val="115000"/>
              </a:lnSpc>
              <a:spcBef>
                <a:spcPts val="0"/>
              </a:spcBef>
              <a:spcAft>
                <a:spcPts val="0"/>
              </a:spcAft>
              <a:buSzPct val="100000"/>
              <a:buChar char="○"/>
            </a:pPr>
            <a:r>
              <a:rPr lang="en" sz="2577">
                <a:highlight>
                  <a:srgbClr val="FFFFFF"/>
                </a:highlight>
              </a:rPr>
              <a:t>How </a:t>
            </a:r>
            <a:r>
              <a:rPr b="1" lang="en" sz="2577">
                <a:highlight>
                  <a:srgbClr val="FFFFFF"/>
                </a:highlight>
              </a:rPr>
              <a:t>long</a:t>
            </a:r>
            <a:r>
              <a:rPr lang="en" sz="2577">
                <a:highlight>
                  <a:srgbClr val="FFFFFF"/>
                </a:highlight>
              </a:rPr>
              <a:t> does this need to be maintained?</a:t>
            </a:r>
            <a:endParaRPr sz="2577">
              <a:highlight>
                <a:srgbClr val="FFFFFF"/>
              </a:highlight>
            </a:endParaRPr>
          </a:p>
          <a:p>
            <a:pPr indent="0" lvl="0" marL="914400" rtl="0" algn="l">
              <a:lnSpc>
                <a:spcPct val="115000"/>
              </a:lnSpc>
              <a:spcBef>
                <a:spcPts val="0"/>
              </a:spcBef>
              <a:spcAft>
                <a:spcPts val="0"/>
              </a:spcAft>
              <a:buNone/>
            </a:pPr>
            <a:r>
              <a:t/>
            </a:r>
            <a:endParaRPr sz="2577">
              <a:highlight>
                <a:srgbClr val="FFFFFF"/>
              </a:highlight>
            </a:endParaRPr>
          </a:p>
          <a:p>
            <a:pPr indent="-375920" lvl="1" marL="914400" rtl="0" algn="l">
              <a:lnSpc>
                <a:spcPct val="115000"/>
              </a:lnSpc>
              <a:spcBef>
                <a:spcPts val="0"/>
              </a:spcBef>
              <a:spcAft>
                <a:spcPts val="0"/>
              </a:spcAft>
              <a:buSzPct val="100000"/>
              <a:buChar char="○"/>
            </a:pPr>
            <a:r>
              <a:rPr lang="en" sz="2577">
                <a:highlight>
                  <a:srgbClr val="FFFFFF"/>
                </a:highlight>
              </a:rPr>
              <a:t>More </a:t>
            </a:r>
            <a:r>
              <a:rPr b="1" lang="en" sz="2577">
                <a:highlight>
                  <a:srgbClr val="FFFFFF"/>
                </a:highlight>
              </a:rPr>
              <a:t>customized</a:t>
            </a:r>
            <a:r>
              <a:rPr lang="en" sz="2577">
                <a:highlight>
                  <a:srgbClr val="FFFFFF"/>
                </a:highlight>
              </a:rPr>
              <a:t> deployments will require more </a:t>
            </a:r>
            <a:r>
              <a:rPr b="1" lang="en" sz="2577">
                <a:highlight>
                  <a:srgbClr val="FFFFFF"/>
                </a:highlight>
              </a:rPr>
              <a:t>development</a:t>
            </a:r>
            <a:r>
              <a:rPr lang="en" sz="2577">
                <a:highlight>
                  <a:srgbClr val="FFFFFF"/>
                </a:highlight>
              </a:rPr>
              <a:t> time </a:t>
            </a:r>
            <a:endParaRPr sz="2577">
              <a:highlight>
                <a:srgbClr val="FFFFFF"/>
              </a:highlight>
            </a:endParaRPr>
          </a:p>
          <a:p>
            <a:pPr indent="-354330" lvl="2" marL="1371600" rtl="0" algn="l">
              <a:lnSpc>
                <a:spcPct val="115000"/>
              </a:lnSpc>
              <a:spcBef>
                <a:spcPts val="0"/>
              </a:spcBef>
              <a:spcAft>
                <a:spcPts val="0"/>
              </a:spcAft>
              <a:buSzPct val="100000"/>
              <a:buChar char="■"/>
            </a:pPr>
            <a:r>
              <a:rPr i="1" lang="en" sz="2200">
                <a:highlight>
                  <a:srgbClr val="FFFFFF"/>
                </a:highlight>
              </a:rPr>
              <a:t>If you rush development technical debt will be incurred</a:t>
            </a:r>
            <a:r>
              <a:rPr i="1" lang="en" sz="2200">
                <a:highlight>
                  <a:srgbClr val="FFFFFF"/>
                </a:highlight>
              </a:rPr>
              <a:t> </a:t>
            </a:r>
            <a:endParaRPr i="1" sz="2200">
              <a:highlight>
                <a:srgbClr val="FFFFFF"/>
              </a:highlight>
            </a:endParaRPr>
          </a:p>
          <a:p>
            <a:pPr indent="0" lvl="0" marL="0" rtl="0" algn="l">
              <a:spcBef>
                <a:spcPts val="0"/>
              </a:spcBef>
              <a:spcAft>
                <a:spcPts val="0"/>
              </a:spcAft>
              <a:buNone/>
            </a:pPr>
            <a:r>
              <a:t/>
            </a:r>
            <a:endParaRPr>
              <a:highlight>
                <a:srgbClr val="FFFFFF"/>
              </a:highlight>
            </a:endParaRPr>
          </a:p>
        </p:txBody>
      </p:sp>
      <p:sp>
        <p:nvSpPr>
          <p:cNvPr id="350" name="Google Shape;350;p30"/>
          <p:cNvSpPr txBox="1"/>
          <p:nvPr>
            <p:ph type="title"/>
          </p:nvPr>
        </p:nvSpPr>
        <p:spPr>
          <a:xfrm>
            <a:off x="0" y="0"/>
            <a:ext cx="9144000" cy="817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577">
                <a:highlight>
                  <a:srgbClr val="FFFFFF"/>
                </a:highlight>
              </a:rPr>
              <a:t>Time Assessment</a:t>
            </a:r>
            <a:endParaRPr b="1" sz="2577">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aphicFrame>
        <p:nvGraphicFramePr>
          <p:cNvPr id="355" name="Google Shape;355;p31"/>
          <p:cNvGraphicFramePr/>
          <p:nvPr/>
        </p:nvGraphicFramePr>
        <p:xfrm>
          <a:off x="512150" y="523200"/>
          <a:ext cx="3000000" cy="3000000"/>
        </p:xfrm>
        <a:graphic>
          <a:graphicData uri="http://schemas.openxmlformats.org/drawingml/2006/table">
            <a:tbl>
              <a:tblPr>
                <a:noFill/>
                <a:tableStyleId>{4120FEC6-ACC1-4219-AB90-733E940CAB2F}</a:tableStyleId>
              </a:tblPr>
              <a:tblGrid>
                <a:gridCol w="1532550"/>
                <a:gridCol w="1612425"/>
                <a:gridCol w="1123375"/>
                <a:gridCol w="1409850"/>
                <a:gridCol w="1405475"/>
                <a:gridCol w="1308175"/>
              </a:tblGrid>
              <a:tr h="636775">
                <a:tc>
                  <a:txBody>
                    <a:bodyPr/>
                    <a:lstStyle/>
                    <a:p>
                      <a:pPr indent="0" lvl="0" marL="0" rtl="0" algn="l">
                        <a:spcBef>
                          <a:spcPts val="0"/>
                        </a:spcBef>
                        <a:spcAft>
                          <a:spcPts val="0"/>
                        </a:spcAft>
                        <a:buNone/>
                      </a:pPr>
                      <a:r>
                        <a:rPr b="1" lang="en" sz="1300">
                          <a:latin typeface="Montserrat"/>
                          <a:ea typeface="Montserrat"/>
                          <a:cs typeface="Montserrat"/>
                          <a:sym typeface="Montserrat"/>
                        </a:rPr>
                        <a:t>Customizations</a:t>
                      </a:r>
                      <a:endParaRPr b="1" sz="1300">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Montserrat"/>
                          <a:ea typeface="Montserrat"/>
                          <a:cs typeface="Montserrat"/>
                          <a:sym typeface="Montserrat"/>
                        </a:rPr>
                        <a:t>Strategy</a:t>
                      </a:r>
                      <a:r>
                        <a:rPr b="1" lang="en">
                          <a:latin typeface="Montserrat"/>
                          <a:ea typeface="Montserrat"/>
                          <a:cs typeface="Montserrat"/>
                          <a:sym typeface="Montserrat"/>
                        </a:rPr>
                        <a:t> summary</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Technical expertise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Funding</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Time</a:t>
                      </a:r>
                      <a:endParaRPr b="1">
                        <a:latin typeface="Montserrat"/>
                        <a:ea typeface="Montserrat"/>
                        <a:cs typeface="Montserrat"/>
                        <a:sym typeface="Montserrat"/>
                      </a:endParaRPr>
                    </a:p>
                  </a:txBody>
                  <a:tcPr marT="91425" marB="91425" marR="91425" marL="91425"/>
                </a:tc>
              </a:tr>
              <a:tr h="746525">
                <a:tc>
                  <a:txBody>
                    <a:bodyPr/>
                    <a:lstStyle/>
                    <a:p>
                      <a:pPr indent="0" lvl="0" marL="0" rtl="0" algn="l">
                        <a:spcBef>
                          <a:spcPts val="0"/>
                        </a:spcBef>
                        <a:spcAft>
                          <a:spcPts val="0"/>
                        </a:spcAft>
                        <a:buNone/>
                      </a:pPr>
                      <a:r>
                        <a:rPr lang="en">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a:solidFill>
                            <a:schemeClr val="lt1"/>
                          </a:solidFill>
                          <a:latin typeface="Montserrat"/>
                          <a:ea typeface="Montserrat"/>
                          <a:cs typeface="Montserrat"/>
                          <a:sym typeface="Montserrat"/>
                        </a:rPr>
                        <a:t>No code deploy  AI features using a service</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3"/>
                        </a:rPr>
                        <a:t>Cogniflow</a:t>
                      </a:r>
                      <a:r>
                        <a:rPr lang="en">
                          <a:latin typeface="Montserrat"/>
                          <a:ea typeface="Montserrat"/>
                          <a:cs typeface="Montserrat"/>
                          <a:sym typeface="Montserrat"/>
                        </a:rPr>
                        <a:t>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706925">
                <a:tc>
                  <a:txBody>
                    <a:bodyPr/>
                    <a:lstStyle/>
                    <a:p>
                      <a:pPr indent="0" lvl="0" marL="0" rtl="0" algn="l">
                        <a:spcBef>
                          <a:spcPts val="0"/>
                        </a:spcBef>
                        <a:spcAft>
                          <a:spcPts val="0"/>
                        </a:spcAft>
                        <a:buNone/>
                      </a:pPr>
                      <a:r>
                        <a:rPr lang="en">
                          <a:latin typeface="Montserrat"/>
                          <a:ea typeface="Montserrat"/>
                          <a:cs typeface="Montserrat"/>
                          <a:sym typeface="Montserrat"/>
                        </a:rPr>
                        <a:t>Security</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Privacy services for commercial AI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latin typeface="Montserrat"/>
                          <a:ea typeface="Montserrat"/>
                          <a:cs typeface="Montserrat"/>
                          <a:sym typeface="Montserrat"/>
                          <a:hlinkClick r:id="rId4">
                            <a:extLst>
                              <a:ext uri="{A12FA001-AC4F-418D-AE19-62706E023703}">
                                <ahyp:hlinkClr val="tx"/>
                              </a:ext>
                            </a:extLst>
                          </a:hlinkClick>
                        </a:rPr>
                        <a:t>Private AI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859700">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Knowledge</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rPr lang="en">
                          <a:solidFill>
                            <a:schemeClr val="lt1"/>
                          </a:solidFill>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Train AI platform and deploy using an API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accent2"/>
                          </a:solidFill>
                          <a:latin typeface="Montserrat"/>
                          <a:ea typeface="Montserrat"/>
                          <a:cs typeface="Montserrat"/>
                          <a:sym typeface="Montserrat"/>
                          <a:hlinkClick r:id="rId5">
                            <a:extLst>
                              <a:ext uri="{A12FA001-AC4F-418D-AE19-62706E023703}">
                                <ahyp:hlinkClr val="tx"/>
                              </a:ext>
                            </a:extLst>
                          </a:hlinkClick>
                        </a:rPr>
                        <a:t>ChatGPT API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599825">
                <a:tc>
                  <a:txBody>
                    <a:bodyPr/>
                    <a:lstStyle/>
                    <a:p>
                      <a:pPr indent="0" lvl="0" marL="0" rtl="0" algn="l">
                        <a:spcBef>
                          <a:spcPts val="0"/>
                        </a:spcBef>
                        <a:spcAft>
                          <a:spcPts val="0"/>
                        </a:spcAft>
                        <a:buNone/>
                      </a:pPr>
                      <a:r>
                        <a:rPr lang="en">
                          <a:latin typeface="Montserrat"/>
                          <a:ea typeface="Montserrat"/>
                          <a:cs typeface="Montserrat"/>
                          <a:sym typeface="Montserrat"/>
                        </a:rPr>
                        <a:t>Knowledge </a:t>
                      </a:r>
                      <a:br>
                        <a:rPr lang="en">
                          <a:latin typeface="Montserrat"/>
                          <a:ea typeface="Montserrat"/>
                          <a:cs typeface="Montserrat"/>
                          <a:sym typeface="Montserrat"/>
                        </a:rPr>
                      </a:br>
                      <a:r>
                        <a:rPr lang="en">
                          <a:latin typeface="Montserrat"/>
                          <a:ea typeface="Montserrat"/>
                          <a:cs typeface="Montserrat"/>
                          <a:sym typeface="Montserrat"/>
                        </a:rPr>
                        <a:t>Interface</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Security</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Montserrat"/>
                          <a:ea typeface="Montserrat"/>
                          <a:cs typeface="Montserrat"/>
                          <a:sym typeface="Montserrat"/>
                        </a:rPr>
                        <a:t>Train and deploy a open source model</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6"/>
                        </a:rPr>
                        <a:t>Hugging Face</a:t>
                      </a:r>
                      <a:r>
                        <a:rPr lang="en">
                          <a:latin typeface="Montserrat"/>
                          <a:ea typeface="Montserrat"/>
                          <a:cs typeface="Montserrat"/>
                          <a:sym typeface="Montserrat"/>
                        </a:rPr>
                        <a:t>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FFFFFF"/>
                    </a:solidFill>
                  </a:tcPr>
                </a:tc>
              </a:tr>
            </a:tbl>
          </a:graphicData>
        </a:graphic>
      </p:graphicFrame>
      <p:pic>
        <p:nvPicPr>
          <p:cNvPr id="356" name="Google Shape;356;p31"/>
          <p:cNvPicPr preferRelativeResize="0"/>
          <p:nvPr/>
        </p:nvPicPr>
        <p:blipFill>
          <a:blip r:embed="rId7">
            <a:alphaModFix/>
          </a:blip>
          <a:stretch>
            <a:fillRect/>
          </a:stretch>
        </p:blipFill>
        <p:spPr>
          <a:xfrm>
            <a:off x="7635588" y="3942188"/>
            <a:ext cx="385476" cy="385476"/>
          </a:xfrm>
          <a:prstGeom prst="rect">
            <a:avLst/>
          </a:prstGeom>
          <a:noFill/>
          <a:ln>
            <a:noFill/>
          </a:ln>
        </p:spPr>
      </p:pic>
      <p:pic>
        <p:nvPicPr>
          <p:cNvPr id="357" name="Google Shape;357;p31"/>
          <p:cNvPicPr preferRelativeResize="0"/>
          <p:nvPr/>
        </p:nvPicPr>
        <p:blipFill>
          <a:blip r:embed="rId8">
            <a:alphaModFix/>
          </a:blip>
          <a:stretch>
            <a:fillRect/>
          </a:stretch>
        </p:blipFill>
        <p:spPr>
          <a:xfrm>
            <a:off x="6220975" y="1298200"/>
            <a:ext cx="461400" cy="461400"/>
          </a:xfrm>
          <a:prstGeom prst="rect">
            <a:avLst/>
          </a:prstGeom>
          <a:noFill/>
          <a:ln>
            <a:noFill/>
          </a:ln>
        </p:spPr>
      </p:pic>
      <p:pic>
        <p:nvPicPr>
          <p:cNvPr id="358" name="Google Shape;358;p31"/>
          <p:cNvPicPr preferRelativeResize="0"/>
          <p:nvPr/>
        </p:nvPicPr>
        <p:blipFill>
          <a:blip r:embed="rId8">
            <a:alphaModFix/>
          </a:blip>
          <a:stretch>
            <a:fillRect/>
          </a:stretch>
        </p:blipFill>
        <p:spPr>
          <a:xfrm>
            <a:off x="6627025" y="1298200"/>
            <a:ext cx="461400" cy="461400"/>
          </a:xfrm>
          <a:prstGeom prst="rect">
            <a:avLst/>
          </a:prstGeom>
          <a:noFill/>
          <a:ln>
            <a:noFill/>
          </a:ln>
        </p:spPr>
      </p:pic>
      <p:pic>
        <p:nvPicPr>
          <p:cNvPr id="359" name="Google Shape;359;p31"/>
          <p:cNvPicPr preferRelativeResize="0"/>
          <p:nvPr/>
        </p:nvPicPr>
        <p:blipFill>
          <a:blip r:embed="rId7">
            <a:alphaModFix/>
          </a:blip>
          <a:stretch>
            <a:fillRect/>
          </a:stretch>
        </p:blipFill>
        <p:spPr>
          <a:xfrm>
            <a:off x="8447888" y="3942188"/>
            <a:ext cx="385476" cy="385476"/>
          </a:xfrm>
          <a:prstGeom prst="rect">
            <a:avLst/>
          </a:prstGeom>
          <a:noFill/>
          <a:ln>
            <a:noFill/>
          </a:ln>
        </p:spPr>
      </p:pic>
      <p:pic>
        <p:nvPicPr>
          <p:cNvPr id="360" name="Google Shape;360;p31"/>
          <p:cNvPicPr preferRelativeResize="0"/>
          <p:nvPr/>
        </p:nvPicPr>
        <p:blipFill>
          <a:blip r:embed="rId7">
            <a:alphaModFix/>
          </a:blip>
          <a:stretch>
            <a:fillRect/>
          </a:stretch>
        </p:blipFill>
        <p:spPr>
          <a:xfrm>
            <a:off x="8041725" y="3950563"/>
            <a:ext cx="385476" cy="385476"/>
          </a:xfrm>
          <a:prstGeom prst="rect">
            <a:avLst/>
          </a:prstGeom>
          <a:noFill/>
          <a:ln>
            <a:noFill/>
          </a:ln>
        </p:spPr>
      </p:pic>
      <p:pic>
        <p:nvPicPr>
          <p:cNvPr id="361" name="Google Shape;361;p31"/>
          <p:cNvPicPr preferRelativeResize="0"/>
          <p:nvPr/>
        </p:nvPicPr>
        <p:blipFill rotWithShape="1">
          <a:blip r:embed="rId7">
            <a:alphaModFix/>
          </a:blip>
          <a:srcRect b="0" l="0" r="36852" t="0"/>
          <a:stretch/>
        </p:blipFill>
        <p:spPr>
          <a:xfrm>
            <a:off x="7719625" y="2120575"/>
            <a:ext cx="243426" cy="385476"/>
          </a:xfrm>
          <a:prstGeom prst="rect">
            <a:avLst/>
          </a:prstGeom>
          <a:noFill/>
          <a:ln>
            <a:noFill/>
          </a:ln>
        </p:spPr>
      </p:pic>
      <p:pic>
        <p:nvPicPr>
          <p:cNvPr id="362" name="Google Shape;362;p31"/>
          <p:cNvPicPr preferRelativeResize="0"/>
          <p:nvPr/>
        </p:nvPicPr>
        <p:blipFill>
          <a:blip r:embed="rId9">
            <a:alphaModFix/>
          </a:blip>
          <a:stretch>
            <a:fillRect/>
          </a:stretch>
        </p:blipFill>
        <p:spPr>
          <a:xfrm>
            <a:off x="4901100" y="2916700"/>
            <a:ext cx="461400" cy="461400"/>
          </a:xfrm>
          <a:prstGeom prst="rect">
            <a:avLst/>
          </a:prstGeom>
          <a:noFill/>
          <a:ln>
            <a:noFill/>
          </a:ln>
        </p:spPr>
      </p:pic>
      <p:pic>
        <p:nvPicPr>
          <p:cNvPr id="363" name="Google Shape;363;p31"/>
          <p:cNvPicPr preferRelativeResize="0"/>
          <p:nvPr/>
        </p:nvPicPr>
        <p:blipFill>
          <a:blip r:embed="rId9">
            <a:alphaModFix/>
          </a:blip>
          <a:stretch>
            <a:fillRect/>
          </a:stretch>
        </p:blipFill>
        <p:spPr>
          <a:xfrm>
            <a:off x="4882088" y="3916800"/>
            <a:ext cx="461400" cy="461400"/>
          </a:xfrm>
          <a:prstGeom prst="rect">
            <a:avLst/>
          </a:prstGeom>
          <a:noFill/>
          <a:ln>
            <a:noFill/>
          </a:ln>
        </p:spPr>
      </p:pic>
      <p:pic>
        <p:nvPicPr>
          <p:cNvPr id="364" name="Google Shape;364;p31"/>
          <p:cNvPicPr preferRelativeResize="0"/>
          <p:nvPr/>
        </p:nvPicPr>
        <p:blipFill>
          <a:blip r:embed="rId9">
            <a:alphaModFix/>
          </a:blip>
          <a:stretch>
            <a:fillRect/>
          </a:stretch>
        </p:blipFill>
        <p:spPr>
          <a:xfrm>
            <a:off x="5394088" y="3916800"/>
            <a:ext cx="461400" cy="461400"/>
          </a:xfrm>
          <a:prstGeom prst="rect">
            <a:avLst/>
          </a:prstGeom>
          <a:noFill/>
          <a:ln>
            <a:noFill/>
          </a:ln>
        </p:spPr>
      </p:pic>
      <p:pic>
        <p:nvPicPr>
          <p:cNvPr id="365" name="Google Shape;365;p31"/>
          <p:cNvPicPr preferRelativeResize="0"/>
          <p:nvPr/>
        </p:nvPicPr>
        <p:blipFill rotWithShape="1">
          <a:blip r:embed="rId9">
            <a:alphaModFix/>
          </a:blip>
          <a:srcRect b="0" l="0" r="47243" t="0"/>
          <a:stretch/>
        </p:blipFill>
        <p:spPr>
          <a:xfrm>
            <a:off x="4901100" y="1298188"/>
            <a:ext cx="243426" cy="461400"/>
          </a:xfrm>
          <a:prstGeom prst="rect">
            <a:avLst/>
          </a:prstGeom>
          <a:noFill/>
          <a:ln>
            <a:noFill/>
          </a:ln>
        </p:spPr>
      </p:pic>
      <p:pic>
        <p:nvPicPr>
          <p:cNvPr id="366" name="Google Shape;366;p31"/>
          <p:cNvPicPr preferRelativeResize="0"/>
          <p:nvPr/>
        </p:nvPicPr>
        <p:blipFill>
          <a:blip r:embed="rId8">
            <a:alphaModFix/>
          </a:blip>
          <a:stretch>
            <a:fillRect/>
          </a:stretch>
        </p:blipFill>
        <p:spPr>
          <a:xfrm>
            <a:off x="6248412" y="2889638"/>
            <a:ext cx="461400" cy="461400"/>
          </a:xfrm>
          <a:prstGeom prst="rect">
            <a:avLst/>
          </a:prstGeom>
          <a:noFill/>
          <a:ln>
            <a:noFill/>
          </a:ln>
        </p:spPr>
      </p:pic>
      <p:pic>
        <p:nvPicPr>
          <p:cNvPr id="367" name="Google Shape;367;p31"/>
          <p:cNvPicPr preferRelativeResize="0"/>
          <p:nvPr/>
        </p:nvPicPr>
        <p:blipFill>
          <a:blip r:embed="rId8">
            <a:alphaModFix/>
          </a:blip>
          <a:stretch>
            <a:fillRect/>
          </a:stretch>
        </p:blipFill>
        <p:spPr>
          <a:xfrm>
            <a:off x="6656262" y="2889650"/>
            <a:ext cx="461400" cy="461400"/>
          </a:xfrm>
          <a:prstGeom prst="rect">
            <a:avLst/>
          </a:prstGeom>
          <a:noFill/>
          <a:ln>
            <a:noFill/>
          </a:ln>
        </p:spPr>
      </p:pic>
      <p:pic>
        <p:nvPicPr>
          <p:cNvPr id="368" name="Google Shape;368;p31"/>
          <p:cNvPicPr preferRelativeResize="0"/>
          <p:nvPr/>
        </p:nvPicPr>
        <p:blipFill>
          <a:blip r:embed="rId8">
            <a:alphaModFix/>
          </a:blip>
          <a:stretch>
            <a:fillRect/>
          </a:stretch>
        </p:blipFill>
        <p:spPr>
          <a:xfrm>
            <a:off x="6257987" y="3904225"/>
            <a:ext cx="461400" cy="461400"/>
          </a:xfrm>
          <a:prstGeom prst="rect">
            <a:avLst/>
          </a:prstGeom>
          <a:noFill/>
          <a:ln>
            <a:noFill/>
          </a:ln>
        </p:spPr>
      </p:pic>
      <p:pic>
        <p:nvPicPr>
          <p:cNvPr id="369" name="Google Shape;369;p31"/>
          <p:cNvPicPr preferRelativeResize="0"/>
          <p:nvPr/>
        </p:nvPicPr>
        <p:blipFill>
          <a:blip r:embed="rId8">
            <a:alphaModFix/>
          </a:blip>
          <a:stretch>
            <a:fillRect/>
          </a:stretch>
        </p:blipFill>
        <p:spPr>
          <a:xfrm>
            <a:off x="6665837" y="3904225"/>
            <a:ext cx="461400" cy="461400"/>
          </a:xfrm>
          <a:prstGeom prst="rect">
            <a:avLst/>
          </a:prstGeom>
          <a:noFill/>
          <a:ln>
            <a:noFill/>
          </a:ln>
        </p:spPr>
      </p:pic>
      <p:pic>
        <p:nvPicPr>
          <p:cNvPr id="370" name="Google Shape;370;p31"/>
          <p:cNvPicPr preferRelativeResize="0"/>
          <p:nvPr/>
        </p:nvPicPr>
        <p:blipFill>
          <a:blip r:embed="rId8">
            <a:alphaModFix/>
          </a:blip>
          <a:stretch>
            <a:fillRect/>
          </a:stretch>
        </p:blipFill>
        <p:spPr>
          <a:xfrm>
            <a:off x="7088437" y="1298200"/>
            <a:ext cx="461400" cy="461400"/>
          </a:xfrm>
          <a:prstGeom prst="rect">
            <a:avLst/>
          </a:prstGeom>
          <a:noFill/>
          <a:ln>
            <a:noFill/>
          </a:ln>
        </p:spPr>
      </p:pic>
      <p:pic>
        <p:nvPicPr>
          <p:cNvPr id="371" name="Google Shape;371;p31"/>
          <p:cNvPicPr preferRelativeResize="0"/>
          <p:nvPr/>
        </p:nvPicPr>
        <p:blipFill>
          <a:blip r:embed="rId7">
            <a:alphaModFix/>
          </a:blip>
          <a:stretch>
            <a:fillRect/>
          </a:stretch>
        </p:blipFill>
        <p:spPr>
          <a:xfrm>
            <a:off x="7719613" y="1336150"/>
            <a:ext cx="385476" cy="385476"/>
          </a:xfrm>
          <a:prstGeom prst="rect">
            <a:avLst/>
          </a:prstGeom>
          <a:noFill/>
          <a:ln>
            <a:noFill/>
          </a:ln>
        </p:spPr>
      </p:pic>
      <p:sp>
        <p:nvSpPr>
          <p:cNvPr id="372" name="Google Shape;372;p31"/>
          <p:cNvSpPr txBox="1"/>
          <p:nvPr/>
        </p:nvSpPr>
        <p:spPr>
          <a:xfrm>
            <a:off x="512150" y="0"/>
            <a:ext cx="662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highlight>
                  <a:srgbClr val="FFFFFF"/>
                </a:highlight>
                <a:latin typeface="Montserrat"/>
                <a:ea typeface="Montserrat"/>
                <a:cs typeface="Montserrat"/>
                <a:sym typeface="Montserrat"/>
              </a:rPr>
              <a:t>Example Project Strategies</a:t>
            </a:r>
            <a:endParaRPr b="1" sz="2200">
              <a:solidFill>
                <a:schemeClr val="lt1"/>
              </a:solidFill>
              <a:highlight>
                <a:srgbClr val="FFFFFF"/>
              </a:highlight>
              <a:latin typeface="Montserrat"/>
              <a:ea typeface="Montserrat"/>
              <a:cs typeface="Montserrat"/>
              <a:sym typeface="Montserrat"/>
            </a:endParaRPr>
          </a:p>
        </p:txBody>
      </p:sp>
      <p:sp>
        <p:nvSpPr>
          <p:cNvPr id="373" name="Google Shape;373;p31"/>
          <p:cNvSpPr/>
          <p:nvPr/>
        </p:nvSpPr>
        <p:spPr>
          <a:xfrm rot="5400000">
            <a:off x="-1017850" y="2463450"/>
            <a:ext cx="2598600" cy="461400"/>
          </a:xfrm>
          <a:prstGeom prst="rightArrow">
            <a:avLst>
              <a:gd fmla="val 50000" name="adj1"/>
              <a:gd fmla="val 50000" name="adj2"/>
            </a:avLst>
          </a:prstGeom>
          <a:gradFill>
            <a:gsLst>
              <a:gs pos="0">
                <a:srgbClr val="FFFFFF"/>
              </a:gs>
              <a:gs pos="57000">
                <a:srgbClr val="B8D4AB"/>
              </a:gs>
              <a:gs pos="100000">
                <a:srgbClr val="EA9999"/>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4" name="Google Shape;374;p31"/>
          <p:cNvSpPr txBox="1"/>
          <p:nvPr/>
        </p:nvSpPr>
        <p:spPr>
          <a:xfrm rot="-5400000">
            <a:off x="-340860" y="2338975"/>
            <a:ext cx="119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Lato"/>
                <a:ea typeface="Lato"/>
                <a:cs typeface="Lato"/>
                <a:sym typeface="Lato"/>
              </a:rPr>
              <a:t>Investment</a:t>
            </a:r>
            <a:endParaRPr b="1" sz="1500">
              <a:solidFill>
                <a:schemeClr val="lt1"/>
              </a:solidFill>
              <a:latin typeface="Lato"/>
              <a:ea typeface="Lato"/>
              <a:cs typeface="Lato"/>
              <a:sym typeface="Lato"/>
            </a:endParaRPr>
          </a:p>
        </p:txBody>
      </p:sp>
      <p:pic>
        <p:nvPicPr>
          <p:cNvPr id="375" name="Google Shape;375;p31"/>
          <p:cNvPicPr preferRelativeResize="0"/>
          <p:nvPr/>
        </p:nvPicPr>
        <p:blipFill rotWithShape="1">
          <a:blip r:embed="rId9">
            <a:alphaModFix/>
          </a:blip>
          <a:srcRect b="0" l="0" r="47243" t="0"/>
          <a:stretch/>
        </p:blipFill>
        <p:spPr>
          <a:xfrm>
            <a:off x="4945200" y="2069900"/>
            <a:ext cx="243426" cy="461400"/>
          </a:xfrm>
          <a:prstGeom prst="rect">
            <a:avLst/>
          </a:prstGeom>
          <a:noFill/>
          <a:ln>
            <a:noFill/>
          </a:ln>
        </p:spPr>
      </p:pic>
      <p:pic>
        <p:nvPicPr>
          <p:cNvPr id="376" name="Google Shape;376;p31"/>
          <p:cNvPicPr preferRelativeResize="0"/>
          <p:nvPr/>
        </p:nvPicPr>
        <p:blipFill>
          <a:blip r:embed="rId8">
            <a:alphaModFix/>
          </a:blip>
          <a:stretch>
            <a:fillRect/>
          </a:stretch>
        </p:blipFill>
        <p:spPr>
          <a:xfrm>
            <a:off x="6248400" y="2082613"/>
            <a:ext cx="461400" cy="461400"/>
          </a:xfrm>
          <a:prstGeom prst="rect">
            <a:avLst/>
          </a:prstGeom>
          <a:noFill/>
          <a:ln>
            <a:noFill/>
          </a:ln>
        </p:spPr>
      </p:pic>
      <p:pic>
        <p:nvPicPr>
          <p:cNvPr id="377" name="Google Shape;377;p31"/>
          <p:cNvPicPr preferRelativeResize="0"/>
          <p:nvPr/>
        </p:nvPicPr>
        <p:blipFill>
          <a:blip r:embed="rId8">
            <a:alphaModFix/>
          </a:blip>
          <a:stretch>
            <a:fillRect/>
          </a:stretch>
        </p:blipFill>
        <p:spPr>
          <a:xfrm>
            <a:off x="6654450" y="2082613"/>
            <a:ext cx="461400" cy="461400"/>
          </a:xfrm>
          <a:prstGeom prst="rect">
            <a:avLst/>
          </a:prstGeom>
          <a:noFill/>
          <a:ln>
            <a:noFill/>
          </a:ln>
        </p:spPr>
      </p:pic>
      <p:pic>
        <p:nvPicPr>
          <p:cNvPr id="378" name="Google Shape;378;p31"/>
          <p:cNvPicPr preferRelativeResize="0"/>
          <p:nvPr/>
        </p:nvPicPr>
        <p:blipFill>
          <a:blip r:embed="rId7">
            <a:alphaModFix/>
          </a:blip>
          <a:stretch>
            <a:fillRect/>
          </a:stretch>
        </p:blipFill>
        <p:spPr>
          <a:xfrm>
            <a:off x="7719625" y="2923413"/>
            <a:ext cx="385476" cy="385476"/>
          </a:xfrm>
          <a:prstGeom prst="rect">
            <a:avLst/>
          </a:prstGeom>
          <a:noFill/>
          <a:ln>
            <a:noFill/>
          </a:ln>
        </p:spPr>
      </p:pic>
      <p:pic>
        <p:nvPicPr>
          <p:cNvPr id="379" name="Google Shape;379;p31"/>
          <p:cNvPicPr preferRelativeResize="0"/>
          <p:nvPr/>
        </p:nvPicPr>
        <p:blipFill>
          <a:blip r:embed="rId7">
            <a:alphaModFix/>
          </a:blip>
          <a:stretch>
            <a:fillRect/>
          </a:stretch>
        </p:blipFill>
        <p:spPr>
          <a:xfrm>
            <a:off x="8125763" y="2931788"/>
            <a:ext cx="385476" cy="385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graphicFrame>
        <p:nvGraphicFramePr>
          <p:cNvPr id="384" name="Google Shape;384;p32"/>
          <p:cNvGraphicFramePr/>
          <p:nvPr/>
        </p:nvGraphicFramePr>
        <p:xfrm>
          <a:off x="512150" y="523200"/>
          <a:ext cx="3000000" cy="3000000"/>
        </p:xfrm>
        <a:graphic>
          <a:graphicData uri="http://schemas.openxmlformats.org/drawingml/2006/table">
            <a:tbl>
              <a:tblPr>
                <a:noFill/>
                <a:tableStyleId>{4120FEC6-ACC1-4219-AB90-733E940CAB2F}</a:tableStyleId>
              </a:tblPr>
              <a:tblGrid>
                <a:gridCol w="1532550"/>
                <a:gridCol w="1612425"/>
                <a:gridCol w="1123375"/>
                <a:gridCol w="1409850"/>
                <a:gridCol w="1405475"/>
                <a:gridCol w="1308175"/>
              </a:tblGrid>
              <a:tr h="636775">
                <a:tc>
                  <a:txBody>
                    <a:bodyPr/>
                    <a:lstStyle/>
                    <a:p>
                      <a:pPr indent="0" lvl="0" marL="0" rtl="0" algn="l">
                        <a:spcBef>
                          <a:spcPts val="0"/>
                        </a:spcBef>
                        <a:spcAft>
                          <a:spcPts val="0"/>
                        </a:spcAft>
                        <a:buNone/>
                      </a:pPr>
                      <a:r>
                        <a:rPr b="1" lang="en" sz="1300">
                          <a:latin typeface="Montserrat"/>
                          <a:ea typeface="Montserrat"/>
                          <a:cs typeface="Montserrat"/>
                          <a:sym typeface="Montserrat"/>
                        </a:rPr>
                        <a:t>Customizations</a:t>
                      </a:r>
                      <a:endParaRPr b="1" sz="1300">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Montserrat"/>
                          <a:ea typeface="Montserrat"/>
                          <a:cs typeface="Montserrat"/>
                          <a:sym typeface="Montserrat"/>
                        </a:rPr>
                        <a:t>Strategy summary</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Technical expertise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Funding</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Time</a:t>
                      </a:r>
                      <a:endParaRPr b="1">
                        <a:latin typeface="Montserrat"/>
                        <a:ea typeface="Montserrat"/>
                        <a:cs typeface="Montserrat"/>
                        <a:sym typeface="Montserrat"/>
                      </a:endParaRPr>
                    </a:p>
                  </a:txBody>
                  <a:tcPr marT="91425" marB="91425" marR="91425" marL="91425"/>
                </a:tc>
              </a:tr>
              <a:tr h="746525">
                <a:tc>
                  <a:txBody>
                    <a:bodyPr/>
                    <a:lstStyle/>
                    <a:p>
                      <a:pPr indent="0" lvl="0" marL="0" rtl="0" algn="l">
                        <a:spcBef>
                          <a:spcPts val="0"/>
                        </a:spcBef>
                        <a:spcAft>
                          <a:spcPts val="0"/>
                        </a:spcAft>
                        <a:buNone/>
                      </a:pPr>
                      <a:r>
                        <a:rPr lang="en">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l">
                        <a:spcBef>
                          <a:spcPts val="0"/>
                        </a:spcBef>
                        <a:spcAft>
                          <a:spcPts val="0"/>
                        </a:spcAft>
                        <a:buClr>
                          <a:schemeClr val="lt1"/>
                        </a:buClr>
                        <a:buSzPts val="1100"/>
                        <a:buFont typeface="Arial"/>
                        <a:buNone/>
                      </a:pPr>
                      <a:r>
                        <a:rPr lang="en">
                          <a:solidFill>
                            <a:schemeClr val="lt1"/>
                          </a:solidFill>
                          <a:latin typeface="Montserrat"/>
                          <a:ea typeface="Montserrat"/>
                          <a:cs typeface="Montserrat"/>
                          <a:sym typeface="Montserrat"/>
                        </a:rPr>
                        <a:t>No code deploy  AI features using a service</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solidFill>
                      <a:srgbClr val="B6D7A8"/>
                    </a:solidFill>
                  </a:tcPr>
                </a:tc>
                <a:tc>
                  <a:txBody>
                    <a:bodyPr/>
                    <a:lstStyle/>
                    <a:p>
                      <a:pPr indent="0" lvl="0" marL="0" rtl="0" algn="l">
                        <a:spcBef>
                          <a:spcPts val="0"/>
                        </a:spcBef>
                        <a:spcAft>
                          <a:spcPts val="0"/>
                        </a:spcAft>
                        <a:buNone/>
                      </a:pPr>
                      <a:r>
                        <a:rPr b="1" lang="en" sz="1300" u="sng">
                          <a:latin typeface="Montserrat"/>
                          <a:ea typeface="Montserrat"/>
                          <a:cs typeface="Montserrat"/>
                          <a:sym typeface="Montserrat"/>
                          <a:hlinkClick r:id="rId3"/>
                        </a:rPr>
                        <a:t>Cogniflow</a:t>
                      </a:r>
                      <a:r>
                        <a:rPr b="1" lang="en" sz="1300">
                          <a:latin typeface="Montserrat"/>
                          <a:ea typeface="Montserrat"/>
                          <a:cs typeface="Montserrat"/>
                          <a:sym typeface="Montserrat"/>
                        </a:rPr>
                        <a:t> </a:t>
                      </a:r>
                      <a:endParaRPr b="1" sz="1200">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r>
              <a:tr h="706925">
                <a:tc>
                  <a:txBody>
                    <a:bodyPr/>
                    <a:lstStyle/>
                    <a:p>
                      <a:pPr indent="0" lvl="0" marL="0" rtl="0" algn="l">
                        <a:spcBef>
                          <a:spcPts val="0"/>
                        </a:spcBef>
                        <a:spcAft>
                          <a:spcPts val="0"/>
                        </a:spcAft>
                        <a:buNone/>
                      </a:pPr>
                      <a:r>
                        <a:rPr lang="en">
                          <a:latin typeface="Montserrat"/>
                          <a:ea typeface="Montserrat"/>
                          <a:cs typeface="Montserrat"/>
                          <a:sym typeface="Montserrat"/>
                        </a:rPr>
                        <a:t>Security</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Privacy services for commercial AI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latin typeface="Montserrat"/>
                          <a:ea typeface="Montserrat"/>
                          <a:cs typeface="Montserrat"/>
                          <a:sym typeface="Montserrat"/>
                          <a:hlinkClick r:id="rId4">
                            <a:extLst>
                              <a:ext uri="{A12FA001-AC4F-418D-AE19-62706E023703}">
                                <ahyp:hlinkClr val="tx"/>
                              </a:ext>
                            </a:extLst>
                          </a:hlinkClick>
                        </a:rPr>
                        <a:t>Private AI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859700">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Knowledge</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rPr lang="en">
                          <a:solidFill>
                            <a:schemeClr val="lt1"/>
                          </a:solidFill>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Train AI platform and deploy using an API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accent2"/>
                          </a:solidFill>
                          <a:latin typeface="Montserrat"/>
                          <a:ea typeface="Montserrat"/>
                          <a:cs typeface="Montserrat"/>
                          <a:sym typeface="Montserrat"/>
                          <a:hlinkClick r:id="rId5">
                            <a:extLst>
                              <a:ext uri="{A12FA001-AC4F-418D-AE19-62706E023703}">
                                <ahyp:hlinkClr val="tx"/>
                              </a:ext>
                            </a:extLst>
                          </a:hlinkClick>
                        </a:rPr>
                        <a:t>ChatGPT API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599825">
                <a:tc>
                  <a:txBody>
                    <a:bodyPr/>
                    <a:lstStyle/>
                    <a:p>
                      <a:pPr indent="0" lvl="0" marL="0" rtl="0" algn="l">
                        <a:spcBef>
                          <a:spcPts val="0"/>
                        </a:spcBef>
                        <a:spcAft>
                          <a:spcPts val="0"/>
                        </a:spcAft>
                        <a:buNone/>
                      </a:pPr>
                      <a:r>
                        <a:rPr lang="en">
                          <a:latin typeface="Montserrat"/>
                          <a:ea typeface="Montserrat"/>
                          <a:cs typeface="Montserrat"/>
                          <a:sym typeface="Montserrat"/>
                        </a:rPr>
                        <a:t>Knowledge </a:t>
                      </a:r>
                      <a:br>
                        <a:rPr lang="en">
                          <a:latin typeface="Montserrat"/>
                          <a:ea typeface="Montserrat"/>
                          <a:cs typeface="Montserrat"/>
                          <a:sym typeface="Montserrat"/>
                        </a:rPr>
                      </a:br>
                      <a:r>
                        <a:rPr lang="en">
                          <a:latin typeface="Montserrat"/>
                          <a:ea typeface="Montserrat"/>
                          <a:cs typeface="Montserrat"/>
                          <a:sym typeface="Montserrat"/>
                        </a:rPr>
                        <a:t>Interface</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Security</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Montserrat"/>
                          <a:ea typeface="Montserrat"/>
                          <a:cs typeface="Montserrat"/>
                          <a:sym typeface="Montserrat"/>
                        </a:rPr>
                        <a:t>Train and deploy a open source model</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6"/>
                        </a:rPr>
                        <a:t>Hugging Face</a:t>
                      </a:r>
                      <a:r>
                        <a:rPr lang="en">
                          <a:latin typeface="Montserrat"/>
                          <a:ea typeface="Montserrat"/>
                          <a:cs typeface="Montserrat"/>
                          <a:sym typeface="Montserrat"/>
                        </a:rPr>
                        <a:t>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FFFFFF"/>
                    </a:solidFill>
                  </a:tcPr>
                </a:tc>
              </a:tr>
            </a:tbl>
          </a:graphicData>
        </a:graphic>
      </p:graphicFrame>
      <p:pic>
        <p:nvPicPr>
          <p:cNvPr id="385" name="Google Shape;385;p32"/>
          <p:cNvPicPr preferRelativeResize="0"/>
          <p:nvPr/>
        </p:nvPicPr>
        <p:blipFill>
          <a:blip r:embed="rId7">
            <a:alphaModFix/>
          </a:blip>
          <a:stretch>
            <a:fillRect/>
          </a:stretch>
        </p:blipFill>
        <p:spPr>
          <a:xfrm>
            <a:off x="7635588" y="3942188"/>
            <a:ext cx="385476" cy="385476"/>
          </a:xfrm>
          <a:prstGeom prst="rect">
            <a:avLst/>
          </a:prstGeom>
          <a:noFill/>
          <a:ln>
            <a:noFill/>
          </a:ln>
        </p:spPr>
      </p:pic>
      <p:pic>
        <p:nvPicPr>
          <p:cNvPr id="386" name="Google Shape;386;p32"/>
          <p:cNvPicPr preferRelativeResize="0"/>
          <p:nvPr/>
        </p:nvPicPr>
        <p:blipFill>
          <a:blip r:embed="rId8">
            <a:alphaModFix/>
          </a:blip>
          <a:stretch>
            <a:fillRect/>
          </a:stretch>
        </p:blipFill>
        <p:spPr>
          <a:xfrm>
            <a:off x="6220975" y="1298200"/>
            <a:ext cx="461400" cy="461400"/>
          </a:xfrm>
          <a:prstGeom prst="rect">
            <a:avLst/>
          </a:prstGeom>
          <a:noFill/>
          <a:ln>
            <a:noFill/>
          </a:ln>
        </p:spPr>
      </p:pic>
      <p:pic>
        <p:nvPicPr>
          <p:cNvPr id="387" name="Google Shape;387;p32"/>
          <p:cNvPicPr preferRelativeResize="0"/>
          <p:nvPr/>
        </p:nvPicPr>
        <p:blipFill>
          <a:blip r:embed="rId8">
            <a:alphaModFix/>
          </a:blip>
          <a:stretch>
            <a:fillRect/>
          </a:stretch>
        </p:blipFill>
        <p:spPr>
          <a:xfrm>
            <a:off x="6627025" y="1298200"/>
            <a:ext cx="461400" cy="461400"/>
          </a:xfrm>
          <a:prstGeom prst="rect">
            <a:avLst/>
          </a:prstGeom>
          <a:noFill/>
          <a:ln>
            <a:noFill/>
          </a:ln>
        </p:spPr>
      </p:pic>
      <p:pic>
        <p:nvPicPr>
          <p:cNvPr id="388" name="Google Shape;388;p32"/>
          <p:cNvPicPr preferRelativeResize="0"/>
          <p:nvPr/>
        </p:nvPicPr>
        <p:blipFill>
          <a:blip r:embed="rId7">
            <a:alphaModFix/>
          </a:blip>
          <a:stretch>
            <a:fillRect/>
          </a:stretch>
        </p:blipFill>
        <p:spPr>
          <a:xfrm>
            <a:off x="8447888" y="3942188"/>
            <a:ext cx="385476" cy="385476"/>
          </a:xfrm>
          <a:prstGeom prst="rect">
            <a:avLst/>
          </a:prstGeom>
          <a:noFill/>
          <a:ln>
            <a:noFill/>
          </a:ln>
        </p:spPr>
      </p:pic>
      <p:pic>
        <p:nvPicPr>
          <p:cNvPr id="389" name="Google Shape;389;p32"/>
          <p:cNvPicPr preferRelativeResize="0"/>
          <p:nvPr/>
        </p:nvPicPr>
        <p:blipFill>
          <a:blip r:embed="rId7">
            <a:alphaModFix/>
          </a:blip>
          <a:stretch>
            <a:fillRect/>
          </a:stretch>
        </p:blipFill>
        <p:spPr>
          <a:xfrm>
            <a:off x="8041725" y="3950563"/>
            <a:ext cx="385476" cy="385476"/>
          </a:xfrm>
          <a:prstGeom prst="rect">
            <a:avLst/>
          </a:prstGeom>
          <a:noFill/>
          <a:ln>
            <a:noFill/>
          </a:ln>
        </p:spPr>
      </p:pic>
      <p:pic>
        <p:nvPicPr>
          <p:cNvPr id="390" name="Google Shape;390;p32"/>
          <p:cNvPicPr preferRelativeResize="0"/>
          <p:nvPr/>
        </p:nvPicPr>
        <p:blipFill rotWithShape="1">
          <a:blip r:embed="rId7">
            <a:alphaModFix/>
          </a:blip>
          <a:srcRect b="0" l="0" r="36852" t="0"/>
          <a:stretch/>
        </p:blipFill>
        <p:spPr>
          <a:xfrm>
            <a:off x="7719625" y="2120575"/>
            <a:ext cx="243426" cy="385476"/>
          </a:xfrm>
          <a:prstGeom prst="rect">
            <a:avLst/>
          </a:prstGeom>
          <a:noFill/>
          <a:ln>
            <a:noFill/>
          </a:ln>
        </p:spPr>
      </p:pic>
      <p:pic>
        <p:nvPicPr>
          <p:cNvPr id="391" name="Google Shape;391;p32"/>
          <p:cNvPicPr preferRelativeResize="0"/>
          <p:nvPr/>
        </p:nvPicPr>
        <p:blipFill>
          <a:blip r:embed="rId9">
            <a:alphaModFix/>
          </a:blip>
          <a:stretch>
            <a:fillRect/>
          </a:stretch>
        </p:blipFill>
        <p:spPr>
          <a:xfrm>
            <a:off x="4901100" y="2916700"/>
            <a:ext cx="461400" cy="461400"/>
          </a:xfrm>
          <a:prstGeom prst="rect">
            <a:avLst/>
          </a:prstGeom>
          <a:noFill/>
          <a:ln>
            <a:noFill/>
          </a:ln>
        </p:spPr>
      </p:pic>
      <p:pic>
        <p:nvPicPr>
          <p:cNvPr id="392" name="Google Shape;392;p32"/>
          <p:cNvPicPr preferRelativeResize="0"/>
          <p:nvPr/>
        </p:nvPicPr>
        <p:blipFill>
          <a:blip r:embed="rId9">
            <a:alphaModFix/>
          </a:blip>
          <a:stretch>
            <a:fillRect/>
          </a:stretch>
        </p:blipFill>
        <p:spPr>
          <a:xfrm>
            <a:off x="4882088" y="3916800"/>
            <a:ext cx="461400" cy="461400"/>
          </a:xfrm>
          <a:prstGeom prst="rect">
            <a:avLst/>
          </a:prstGeom>
          <a:noFill/>
          <a:ln>
            <a:noFill/>
          </a:ln>
        </p:spPr>
      </p:pic>
      <p:pic>
        <p:nvPicPr>
          <p:cNvPr id="393" name="Google Shape;393;p32"/>
          <p:cNvPicPr preferRelativeResize="0"/>
          <p:nvPr/>
        </p:nvPicPr>
        <p:blipFill>
          <a:blip r:embed="rId9">
            <a:alphaModFix/>
          </a:blip>
          <a:stretch>
            <a:fillRect/>
          </a:stretch>
        </p:blipFill>
        <p:spPr>
          <a:xfrm>
            <a:off x="5394088" y="3916800"/>
            <a:ext cx="461400" cy="461400"/>
          </a:xfrm>
          <a:prstGeom prst="rect">
            <a:avLst/>
          </a:prstGeom>
          <a:noFill/>
          <a:ln>
            <a:noFill/>
          </a:ln>
        </p:spPr>
      </p:pic>
      <p:pic>
        <p:nvPicPr>
          <p:cNvPr id="394" name="Google Shape;394;p32"/>
          <p:cNvPicPr preferRelativeResize="0"/>
          <p:nvPr/>
        </p:nvPicPr>
        <p:blipFill rotWithShape="1">
          <a:blip r:embed="rId9">
            <a:alphaModFix/>
          </a:blip>
          <a:srcRect b="0" l="0" r="47243" t="0"/>
          <a:stretch/>
        </p:blipFill>
        <p:spPr>
          <a:xfrm>
            <a:off x="4901100" y="1298188"/>
            <a:ext cx="243426" cy="461400"/>
          </a:xfrm>
          <a:prstGeom prst="rect">
            <a:avLst/>
          </a:prstGeom>
          <a:noFill/>
          <a:ln>
            <a:noFill/>
          </a:ln>
        </p:spPr>
      </p:pic>
      <p:pic>
        <p:nvPicPr>
          <p:cNvPr id="395" name="Google Shape;395;p32"/>
          <p:cNvPicPr preferRelativeResize="0"/>
          <p:nvPr/>
        </p:nvPicPr>
        <p:blipFill>
          <a:blip r:embed="rId8">
            <a:alphaModFix/>
          </a:blip>
          <a:stretch>
            <a:fillRect/>
          </a:stretch>
        </p:blipFill>
        <p:spPr>
          <a:xfrm>
            <a:off x="6248412" y="2889638"/>
            <a:ext cx="461400" cy="461400"/>
          </a:xfrm>
          <a:prstGeom prst="rect">
            <a:avLst/>
          </a:prstGeom>
          <a:noFill/>
          <a:ln>
            <a:noFill/>
          </a:ln>
        </p:spPr>
      </p:pic>
      <p:pic>
        <p:nvPicPr>
          <p:cNvPr id="396" name="Google Shape;396;p32"/>
          <p:cNvPicPr preferRelativeResize="0"/>
          <p:nvPr/>
        </p:nvPicPr>
        <p:blipFill>
          <a:blip r:embed="rId8">
            <a:alphaModFix/>
          </a:blip>
          <a:stretch>
            <a:fillRect/>
          </a:stretch>
        </p:blipFill>
        <p:spPr>
          <a:xfrm>
            <a:off x="6656262" y="2889650"/>
            <a:ext cx="461400" cy="461400"/>
          </a:xfrm>
          <a:prstGeom prst="rect">
            <a:avLst/>
          </a:prstGeom>
          <a:noFill/>
          <a:ln>
            <a:noFill/>
          </a:ln>
        </p:spPr>
      </p:pic>
      <p:pic>
        <p:nvPicPr>
          <p:cNvPr id="397" name="Google Shape;397;p32"/>
          <p:cNvPicPr preferRelativeResize="0"/>
          <p:nvPr/>
        </p:nvPicPr>
        <p:blipFill>
          <a:blip r:embed="rId8">
            <a:alphaModFix/>
          </a:blip>
          <a:stretch>
            <a:fillRect/>
          </a:stretch>
        </p:blipFill>
        <p:spPr>
          <a:xfrm>
            <a:off x="6257987" y="3904225"/>
            <a:ext cx="461400" cy="461400"/>
          </a:xfrm>
          <a:prstGeom prst="rect">
            <a:avLst/>
          </a:prstGeom>
          <a:noFill/>
          <a:ln>
            <a:noFill/>
          </a:ln>
        </p:spPr>
      </p:pic>
      <p:pic>
        <p:nvPicPr>
          <p:cNvPr id="398" name="Google Shape;398;p32"/>
          <p:cNvPicPr preferRelativeResize="0"/>
          <p:nvPr/>
        </p:nvPicPr>
        <p:blipFill>
          <a:blip r:embed="rId8">
            <a:alphaModFix/>
          </a:blip>
          <a:stretch>
            <a:fillRect/>
          </a:stretch>
        </p:blipFill>
        <p:spPr>
          <a:xfrm>
            <a:off x="6665837" y="3904225"/>
            <a:ext cx="461400" cy="461400"/>
          </a:xfrm>
          <a:prstGeom prst="rect">
            <a:avLst/>
          </a:prstGeom>
          <a:noFill/>
          <a:ln>
            <a:noFill/>
          </a:ln>
        </p:spPr>
      </p:pic>
      <p:pic>
        <p:nvPicPr>
          <p:cNvPr id="399" name="Google Shape;399;p32"/>
          <p:cNvPicPr preferRelativeResize="0"/>
          <p:nvPr/>
        </p:nvPicPr>
        <p:blipFill>
          <a:blip r:embed="rId8">
            <a:alphaModFix/>
          </a:blip>
          <a:stretch>
            <a:fillRect/>
          </a:stretch>
        </p:blipFill>
        <p:spPr>
          <a:xfrm>
            <a:off x="7088437" y="1298200"/>
            <a:ext cx="461400" cy="461400"/>
          </a:xfrm>
          <a:prstGeom prst="rect">
            <a:avLst/>
          </a:prstGeom>
          <a:noFill/>
          <a:ln>
            <a:noFill/>
          </a:ln>
        </p:spPr>
      </p:pic>
      <p:pic>
        <p:nvPicPr>
          <p:cNvPr id="400" name="Google Shape;400;p32"/>
          <p:cNvPicPr preferRelativeResize="0"/>
          <p:nvPr/>
        </p:nvPicPr>
        <p:blipFill>
          <a:blip r:embed="rId7">
            <a:alphaModFix/>
          </a:blip>
          <a:stretch>
            <a:fillRect/>
          </a:stretch>
        </p:blipFill>
        <p:spPr>
          <a:xfrm>
            <a:off x="7719613" y="1336150"/>
            <a:ext cx="385476" cy="385476"/>
          </a:xfrm>
          <a:prstGeom prst="rect">
            <a:avLst/>
          </a:prstGeom>
          <a:noFill/>
          <a:ln>
            <a:noFill/>
          </a:ln>
        </p:spPr>
      </p:pic>
      <p:sp>
        <p:nvSpPr>
          <p:cNvPr id="401" name="Google Shape;401;p32"/>
          <p:cNvSpPr txBox="1"/>
          <p:nvPr/>
        </p:nvSpPr>
        <p:spPr>
          <a:xfrm>
            <a:off x="512150" y="0"/>
            <a:ext cx="662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highlight>
                  <a:srgbClr val="FFFFFF"/>
                </a:highlight>
                <a:latin typeface="Montserrat"/>
                <a:ea typeface="Montserrat"/>
                <a:cs typeface="Montserrat"/>
                <a:sym typeface="Montserrat"/>
              </a:rPr>
              <a:t>Example Project Strategies</a:t>
            </a:r>
            <a:endParaRPr b="1" sz="2200">
              <a:solidFill>
                <a:schemeClr val="lt1"/>
              </a:solidFill>
              <a:highlight>
                <a:srgbClr val="FFFFFF"/>
              </a:highlight>
              <a:latin typeface="Montserrat"/>
              <a:ea typeface="Montserrat"/>
              <a:cs typeface="Montserrat"/>
              <a:sym typeface="Montserrat"/>
            </a:endParaRPr>
          </a:p>
        </p:txBody>
      </p:sp>
      <p:sp>
        <p:nvSpPr>
          <p:cNvPr id="402" name="Google Shape;402;p32"/>
          <p:cNvSpPr/>
          <p:nvPr/>
        </p:nvSpPr>
        <p:spPr>
          <a:xfrm rot="5400000">
            <a:off x="-1017850" y="2463450"/>
            <a:ext cx="2598600" cy="461400"/>
          </a:xfrm>
          <a:prstGeom prst="rightArrow">
            <a:avLst>
              <a:gd fmla="val 50000" name="adj1"/>
              <a:gd fmla="val 50000" name="adj2"/>
            </a:avLst>
          </a:prstGeom>
          <a:gradFill>
            <a:gsLst>
              <a:gs pos="0">
                <a:srgbClr val="FFFFFF"/>
              </a:gs>
              <a:gs pos="57000">
                <a:srgbClr val="B8D4AB"/>
              </a:gs>
              <a:gs pos="100000">
                <a:srgbClr val="EA9999"/>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32"/>
          <p:cNvSpPr txBox="1"/>
          <p:nvPr/>
        </p:nvSpPr>
        <p:spPr>
          <a:xfrm rot="-5400000">
            <a:off x="-340860" y="2338975"/>
            <a:ext cx="119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Lato"/>
                <a:ea typeface="Lato"/>
                <a:cs typeface="Lato"/>
                <a:sym typeface="Lato"/>
              </a:rPr>
              <a:t>Investment</a:t>
            </a:r>
            <a:endParaRPr b="1" sz="1500">
              <a:solidFill>
                <a:schemeClr val="lt1"/>
              </a:solidFill>
              <a:latin typeface="Lato"/>
              <a:ea typeface="Lato"/>
              <a:cs typeface="Lato"/>
              <a:sym typeface="Lato"/>
            </a:endParaRPr>
          </a:p>
        </p:txBody>
      </p:sp>
      <p:pic>
        <p:nvPicPr>
          <p:cNvPr id="404" name="Google Shape;404;p32"/>
          <p:cNvPicPr preferRelativeResize="0"/>
          <p:nvPr/>
        </p:nvPicPr>
        <p:blipFill rotWithShape="1">
          <a:blip r:embed="rId9">
            <a:alphaModFix/>
          </a:blip>
          <a:srcRect b="0" l="0" r="47243" t="0"/>
          <a:stretch/>
        </p:blipFill>
        <p:spPr>
          <a:xfrm>
            <a:off x="4945200" y="2069900"/>
            <a:ext cx="243426" cy="461400"/>
          </a:xfrm>
          <a:prstGeom prst="rect">
            <a:avLst/>
          </a:prstGeom>
          <a:noFill/>
          <a:ln>
            <a:noFill/>
          </a:ln>
        </p:spPr>
      </p:pic>
      <p:pic>
        <p:nvPicPr>
          <p:cNvPr id="405" name="Google Shape;405;p32"/>
          <p:cNvPicPr preferRelativeResize="0"/>
          <p:nvPr/>
        </p:nvPicPr>
        <p:blipFill>
          <a:blip r:embed="rId8">
            <a:alphaModFix/>
          </a:blip>
          <a:stretch>
            <a:fillRect/>
          </a:stretch>
        </p:blipFill>
        <p:spPr>
          <a:xfrm>
            <a:off x="6248400" y="2082613"/>
            <a:ext cx="461400" cy="461400"/>
          </a:xfrm>
          <a:prstGeom prst="rect">
            <a:avLst/>
          </a:prstGeom>
          <a:noFill/>
          <a:ln>
            <a:noFill/>
          </a:ln>
        </p:spPr>
      </p:pic>
      <p:pic>
        <p:nvPicPr>
          <p:cNvPr id="406" name="Google Shape;406;p32"/>
          <p:cNvPicPr preferRelativeResize="0"/>
          <p:nvPr/>
        </p:nvPicPr>
        <p:blipFill>
          <a:blip r:embed="rId8">
            <a:alphaModFix/>
          </a:blip>
          <a:stretch>
            <a:fillRect/>
          </a:stretch>
        </p:blipFill>
        <p:spPr>
          <a:xfrm>
            <a:off x="6654450" y="2082613"/>
            <a:ext cx="461400" cy="461400"/>
          </a:xfrm>
          <a:prstGeom prst="rect">
            <a:avLst/>
          </a:prstGeom>
          <a:noFill/>
          <a:ln>
            <a:noFill/>
          </a:ln>
        </p:spPr>
      </p:pic>
      <p:pic>
        <p:nvPicPr>
          <p:cNvPr id="407" name="Google Shape;407;p32"/>
          <p:cNvPicPr preferRelativeResize="0"/>
          <p:nvPr/>
        </p:nvPicPr>
        <p:blipFill>
          <a:blip r:embed="rId7">
            <a:alphaModFix/>
          </a:blip>
          <a:stretch>
            <a:fillRect/>
          </a:stretch>
        </p:blipFill>
        <p:spPr>
          <a:xfrm>
            <a:off x="7719625" y="2923413"/>
            <a:ext cx="385476" cy="385476"/>
          </a:xfrm>
          <a:prstGeom prst="rect">
            <a:avLst/>
          </a:prstGeom>
          <a:noFill/>
          <a:ln>
            <a:noFill/>
          </a:ln>
        </p:spPr>
      </p:pic>
      <p:pic>
        <p:nvPicPr>
          <p:cNvPr id="408" name="Google Shape;408;p32"/>
          <p:cNvPicPr preferRelativeResize="0"/>
          <p:nvPr/>
        </p:nvPicPr>
        <p:blipFill>
          <a:blip r:embed="rId7">
            <a:alphaModFix/>
          </a:blip>
          <a:stretch>
            <a:fillRect/>
          </a:stretch>
        </p:blipFill>
        <p:spPr>
          <a:xfrm>
            <a:off x="8125763" y="2931788"/>
            <a:ext cx="385476" cy="385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graphicFrame>
        <p:nvGraphicFramePr>
          <p:cNvPr id="413" name="Google Shape;413;p33"/>
          <p:cNvGraphicFramePr/>
          <p:nvPr/>
        </p:nvGraphicFramePr>
        <p:xfrm>
          <a:off x="512150" y="523200"/>
          <a:ext cx="3000000" cy="3000000"/>
        </p:xfrm>
        <a:graphic>
          <a:graphicData uri="http://schemas.openxmlformats.org/drawingml/2006/table">
            <a:tbl>
              <a:tblPr>
                <a:noFill/>
                <a:tableStyleId>{4120FEC6-ACC1-4219-AB90-733E940CAB2F}</a:tableStyleId>
              </a:tblPr>
              <a:tblGrid>
                <a:gridCol w="1532550"/>
                <a:gridCol w="1612425"/>
                <a:gridCol w="1123375"/>
                <a:gridCol w="1409850"/>
                <a:gridCol w="1405475"/>
                <a:gridCol w="1308175"/>
              </a:tblGrid>
              <a:tr h="636775">
                <a:tc>
                  <a:txBody>
                    <a:bodyPr/>
                    <a:lstStyle/>
                    <a:p>
                      <a:pPr indent="0" lvl="0" marL="0" rtl="0" algn="l">
                        <a:spcBef>
                          <a:spcPts val="0"/>
                        </a:spcBef>
                        <a:spcAft>
                          <a:spcPts val="0"/>
                        </a:spcAft>
                        <a:buNone/>
                      </a:pPr>
                      <a:r>
                        <a:rPr b="1" lang="en" sz="1300">
                          <a:latin typeface="Montserrat"/>
                          <a:ea typeface="Montserrat"/>
                          <a:cs typeface="Montserrat"/>
                          <a:sym typeface="Montserrat"/>
                        </a:rPr>
                        <a:t>Customizations</a:t>
                      </a:r>
                      <a:endParaRPr b="1" sz="1300">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Montserrat"/>
                          <a:ea typeface="Montserrat"/>
                          <a:cs typeface="Montserrat"/>
                          <a:sym typeface="Montserrat"/>
                        </a:rPr>
                        <a:t>Strategy summary</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Technical expertise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Funding</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Time</a:t>
                      </a:r>
                      <a:endParaRPr b="1">
                        <a:latin typeface="Montserrat"/>
                        <a:ea typeface="Montserrat"/>
                        <a:cs typeface="Montserrat"/>
                        <a:sym typeface="Montserrat"/>
                      </a:endParaRPr>
                    </a:p>
                  </a:txBody>
                  <a:tcPr marT="91425" marB="91425" marR="91425" marL="91425"/>
                </a:tc>
              </a:tr>
              <a:tr h="746525">
                <a:tc>
                  <a:txBody>
                    <a:bodyPr/>
                    <a:lstStyle/>
                    <a:p>
                      <a:pPr indent="0" lvl="0" marL="0" rtl="0" algn="l">
                        <a:spcBef>
                          <a:spcPts val="0"/>
                        </a:spcBef>
                        <a:spcAft>
                          <a:spcPts val="0"/>
                        </a:spcAft>
                        <a:buNone/>
                      </a:pPr>
                      <a:r>
                        <a:rPr lang="en">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a:solidFill>
                            <a:schemeClr val="lt1"/>
                          </a:solidFill>
                          <a:latin typeface="Montserrat"/>
                          <a:ea typeface="Montserrat"/>
                          <a:cs typeface="Montserrat"/>
                          <a:sym typeface="Montserrat"/>
                        </a:rPr>
                        <a:t>No code deploy  AI features using a service</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3"/>
                        </a:rPr>
                        <a:t>Cogniflow</a:t>
                      </a:r>
                      <a:r>
                        <a:rPr lang="en">
                          <a:latin typeface="Montserrat"/>
                          <a:ea typeface="Montserrat"/>
                          <a:cs typeface="Montserrat"/>
                          <a:sym typeface="Montserrat"/>
                        </a:rPr>
                        <a:t>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706925">
                <a:tc>
                  <a:txBody>
                    <a:bodyPr/>
                    <a:lstStyle/>
                    <a:p>
                      <a:pPr indent="0" lvl="0" marL="0" rtl="0" algn="l">
                        <a:spcBef>
                          <a:spcPts val="0"/>
                        </a:spcBef>
                        <a:spcAft>
                          <a:spcPts val="0"/>
                        </a:spcAft>
                        <a:buNone/>
                      </a:pPr>
                      <a:r>
                        <a:rPr lang="en">
                          <a:latin typeface="Montserrat"/>
                          <a:ea typeface="Montserrat"/>
                          <a:cs typeface="Montserrat"/>
                          <a:sym typeface="Montserrat"/>
                        </a:rPr>
                        <a:t>Security</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Privacy services for commercial AI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solidFill>
                      <a:srgbClr val="B6D7A8"/>
                    </a:solidFill>
                  </a:tcPr>
                </a:tc>
                <a:tc>
                  <a:txBody>
                    <a:bodyPr/>
                    <a:lstStyle/>
                    <a:p>
                      <a:pPr indent="0" lvl="0" marL="0" rtl="0" algn="l">
                        <a:spcBef>
                          <a:spcPts val="0"/>
                        </a:spcBef>
                        <a:spcAft>
                          <a:spcPts val="0"/>
                        </a:spcAft>
                        <a:buClr>
                          <a:schemeClr val="lt1"/>
                        </a:buClr>
                        <a:buSzPts val="1100"/>
                        <a:buFont typeface="Arial"/>
                        <a:buNone/>
                      </a:pPr>
                      <a:r>
                        <a:rPr b="1" lang="en" u="sng">
                          <a:latin typeface="Montserrat"/>
                          <a:ea typeface="Montserrat"/>
                          <a:cs typeface="Montserrat"/>
                          <a:sym typeface="Montserrat"/>
                          <a:hlinkClick r:id="rId4"/>
                        </a:rPr>
                        <a:t>Private AI</a:t>
                      </a:r>
                      <a:r>
                        <a:rPr b="1" lang="en">
                          <a:latin typeface="Montserrat"/>
                          <a:ea typeface="Montserrat"/>
                          <a:cs typeface="Montserrat"/>
                          <a:sym typeface="Montserrat"/>
                        </a:rPr>
                        <a:t> </a:t>
                      </a:r>
                      <a:endParaRPr b="1">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r>
              <a:tr h="859700">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Knowledge</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rPr lang="en">
                          <a:solidFill>
                            <a:schemeClr val="lt1"/>
                          </a:solidFill>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Train AI platform and deploy using an API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accent2"/>
                          </a:solidFill>
                          <a:latin typeface="Montserrat"/>
                          <a:ea typeface="Montserrat"/>
                          <a:cs typeface="Montserrat"/>
                          <a:sym typeface="Montserrat"/>
                          <a:hlinkClick r:id="rId5">
                            <a:extLst>
                              <a:ext uri="{A12FA001-AC4F-418D-AE19-62706E023703}">
                                <ahyp:hlinkClr val="tx"/>
                              </a:ext>
                            </a:extLst>
                          </a:hlinkClick>
                        </a:rPr>
                        <a:t>ChatGPT API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599825">
                <a:tc>
                  <a:txBody>
                    <a:bodyPr/>
                    <a:lstStyle/>
                    <a:p>
                      <a:pPr indent="0" lvl="0" marL="0" rtl="0" algn="l">
                        <a:spcBef>
                          <a:spcPts val="0"/>
                        </a:spcBef>
                        <a:spcAft>
                          <a:spcPts val="0"/>
                        </a:spcAft>
                        <a:buNone/>
                      </a:pPr>
                      <a:r>
                        <a:rPr lang="en">
                          <a:latin typeface="Montserrat"/>
                          <a:ea typeface="Montserrat"/>
                          <a:cs typeface="Montserrat"/>
                          <a:sym typeface="Montserrat"/>
                        </a:rPr>
                        <a:t>Knowledge </a:t>
                      </a:r>
                      <a:br>
                        <a:rPr lang="en">
                          <a:latin typeface="Montserrat"/>
                          <a:ea typeface="Montserrat"/>
                          <a:cs typeface="Montserrat"/>
                          <a:sym typeface="Montserrat"/>
                        </a:rPr>
                      </a:br>
                      <a:r>
                        <a:rPr lang="en">
                          <a:latin typeface="Montserrat"/>
                          <a:ea typeface="Montserrat"/>
                          <a:cs typeface="Montserrat"/>
                          <a:sym typeface="Montserrat"/>
                        </a:rPr>
                        <a:t>Interface</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Security</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Montserrat"/>
                          <a:ea typeface="Montserrat"/>
                          <a:cs typeface="Montserrat"/>
                          <a:sym typeface="Montserrat"/>
                        </a:rPr>
                        <a:t>Train and deploy a open source model</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6"/>
                        </a:rPr>
                        <a:t>Hugging Face</a:t>
                      </a:r>
                      <a:r>
                        <a:rPr lang="en">
                          <a:latin typeface="Montserrat"/>
                          <a:ea typeface="Montserrat"/>
                          <a:cs typeface="Montserrat"/>
                          <a:sym typeface="Montserrat"/>
                        </a:rPr>
                        <a:t>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FFFFFF"/>
                    </a:solidFill>
                  </a:tcPr>
                </a:tc>
              </a:tr>
            </a:tbl>
          </a:graphicData>
        </a:graphic>
      </p:graphicFrame>
      <p:pic>
        <p:nvPicPr>
          <p:cNvPr id="414" name="Google Shape;414;p33"/>
          <p:cNvPicPr preferRelativeResize="0"/>
          <p:nvPr/>
        </p:nvPicPr>
        <p:blipFill>
          <a:blip r:embed="rId7">
            <a:alphaModFix/>
          </a:blip>
          <a:stretch>
            <a:fillRect/>
          </a:stretch>
        </p:blipFill>
        <p:spPr>
          <a:xfrm>
            <a:off x="7635588" y="3942188"/>
            <a:ext cx="385476" cy="385476"/>
          </a:xfrm>
          <a:prstGeom prst="rect">
            <a:avLst/>
          </a:prstGeom>
          <a:noFill/>
          <a:ln>
            <a:noFill/>
          </a:ln>
        </p:spPr>
      </p:pic>
      <p:pic>
        <p:nvPicPr>
          <p:cNvPr id="415" name="Google Shape;415;p33"/>
          <p:cNvPicPr preferRelativeResize="0"/>
          <p:nvPr/>
        </p:nvPicPr>
        <p:blipFill>
          <a:blip r:embed="rId8">
            <a:alphaModFix/>
          </a:blip>
          <a:stretch>
            <a:fillRect/>
          </a:stretch>
        </p:blipFill>
        <p:spPr>
          <a:xfrm>
            <a:off x="6220975" y="1298200"/>
            <a:ext cx="461400" cy="461400"/>
          </a:xfrm>
          <a:prstGeom prst="rect">
            <a:avLst/>
          </a:prstGeom>
          <a:noFill/>
          <a:ln>
            <a:noFill/>
          </a:ln>
        </p:spPr>
      </p:pic>
      <p:pic>
        <p:nvPicPr>
          <p:cNvPr id="416" name="Google Shape;416;p33"/>
          <p:cNvPicPr preferRelativeResize="0"/>
          <p:nvPr/>
        </p:nvPicPr>
        <p:blipFill>
          <a:blip r:embed="rId8">
            <a:alphaModFix/>
          </a:blip>
          <a:stretch>
            <a:fillRect/>
          </a:stretch>
        </p:blipFill>
        <p:spPr>
          <a:xfrm>
            <a:off x="6627025" y="1298200"/>
            <a:ext cx="461400" cy="461400"/>
          </a:xfrm>
          <a:prstGeom prst="rect">
            <a:avLst/>
          </a:prstGeom>
          <a:noFill/>
          <a:ln>
            <a:noFill/>
          </a:ln>
        </p:spPr>
      </p:pic>
      <p:pic>
        <p:nvPicPr>
          <p:cNvPr id="417" name="Google Shape;417;p33"/>
          <p:cNvPicPr preferRelativeResize="0"/>
          <p:nvPr/>
        </p:nvPicPr>
        <p:blipFill>
          <a:blip r:embed="rId7">
            <a:alphaModFix/>
          </a:blip>
          <a:stretch>
            <a:fillRect/>
          </a:stretch>
        </p:blipFill>
        <p:spPr>
          <a:xfrm>
            <a:off x="8447888" y="3942188"/>
            <a:ext cx="385476" cy="385476"/>
          </a:xfrm>
          <a:prstGeom prst="rect">
            <a:avLst/>
          </a:prstGeom>
          <a:noFill/>
          <a:ln>
            <a:noFill/>
          </a:ln>
        </p:spPr>
      </p:pic>
      <p:pic>
        <p:nvPicPr>
          <p:cNvPr id="418" name="Google Shape;418;p33"/>
          <p:cNvPicPr preferRelativeResize="0"/>
          <p:nvPr/>
        </p:nvPicPr>
        <p:blipFill>
          <a:blip r:embed="rId7">
            <a:alphaModFix/>
          </a:blip>
          <a:stretch>
            <a:fillRect/>
          </a:stretch>
        </p:blipFill>
        <p:spPr>
          <a:xfrm>
            <a:off x="8041725" y="3950563"/>
            <a:ext cx="385476" cy="385476"/>
          </a:xfrm>
          <a:prstGeom prst="rect">
            <a:avLst/>
          </a:prstGeom>
          <a:noFill/>
          <a:ln>
            <a:noFill/>
          </a:ln>
        </p:spPr>
      </p:pic>
      <p:pic>
        <p:nvPicPr>
          <p:cNvPr id="419" name="Google Shape;419;p33"/>
          <p:cNvPicPr preferRelativeResize="0"/>
          <p:nvPr/>
        </p:nvPicPr>
        <p:blipFill rotWithShape="1">
          <a:blip r:embed="rId7">
            <a:alphaModFix/>
          </a:blip>
          <a:srcRect b="0" l="0" r="36852" t="0"/>
          <a:stretch/>
        </p:blipFill>
        <p:spPr>
          <a:xfrm>
            <a:off x="7719625" y="2120575"/>
            <a:ext cx="243426" cy="385476"/>
          </a:xfrm>
          <a:prstGeom prst="rect">
            <a:avLst/>
          </a:prstGeom>
          <a:noFill/>
          <a:ln>
            <a:noFill/>
          </a:ln>
        </p:spPr>
      </p:pic>
      <p:pic>
        <p:nvPicPr>
          <p:cNvPr id="420" name="Google Shape;420;p33"/>
          <p:cNvPicPr preferRelativeResize="0"/>
          <p:nvPr/>
        </p:nvPicPr>
        <p:blipFill>
          <a:blip r:embed="rId9">
            <a:alphaModFix/>
          </a:blip>
          <a:stretch>
            <a:fillRect/>
          </a:stretch>
        </p:blipFill>
        <p:spPr>
          <a:xfrm>
            <a:off x="4901100" y="2916700"/>
            <a:ext cx="461400" cy="461400"/>
          </a:xfrm>
          <a:prstGeom prst="rect">
            <a:avLst/>
          </a:prstGeom>
          <a:noFill/>
          <a:ln>
            <a:noFill/>
          </a:ln>
        </p:spPr>
      </p:pic>
      <p:pic>
        <p:nvPicPr>
          <p:cNvPr id="421" name="Google Shape;421;p33"/>
          <p:cNvPicPr preferRelativeResize="0"/>
          <p:nvPr/>
        </p:nvPicPr>
        <p:blipFill>
          <a:blip r:embed="rId9">
            <a:alphaModFix/>
          </a:blip>
          <a:stretch>
            <a:fillRect/>
          </a:stretch>
        </p:blipFill>
        <p:spPr>
          <a:xfrm>
            <a:off x="4882088" y="3916800"/>
            <a:ext cx="461400" cy="461400"/>
          </a:xfrm>
          <a:prstGeom prst="rect">
            <a:avLst/>
          </a:prstGeom>
          <a:noFill/>
          <a:ln>
            <a:noFill/>
          </a:ln>
        </p:spPr>
      </p:pic>
      <p:pic>
        <p:nvPicPr>
          <p:cNvPr id="422" name="Google Shape;422;p33"/>
          <p:cNvPicPr preferRelativeResize="0"/>
          <p:nvPr/>
        </p:nvPicPr>
        <p:blipFill>
          <a:blip r:embed="rId9">
            <a:alphaModFix/>
          </a:blip>
          <a:stretch>
            <a:fillRect/>
          </a:stretch>
        </p:blipFill>
        <p:spPr>
          <a:xfrm>
            <a:off x="5394088" y="3916800"/>
            <a:ext cx="461400" cy="461400"/>
          </a:xfrm>
          <a:prstGeom prst="rect">
            <a:avLst/>
          </a:prstGeom>
          <a:noFill/>
          <a:ln>
            <a:noFill/>
          </a:ln>
        </p:spPr>
      </p:pic>
      <p:pic>
        <p:nvPicPr>
          <p:cNvPr id="423" name="Google Shape;423;p33"/>
          <p:cNvPicPr preferRelativeResize="0"/>
          <p:nvPr/>
        </p:nvPicPr>
        <p:blipFill rotWithShape="1">
          <a:blip r:embed="rId9">
            <a:alphaModFix/>
          </a:blip>
          <a:srcRect b="0" l="0" r="47243" t="0"/>
          <a:stretch/>
        </p:blipFill>
        <p:spPr>
          <a:xfrm>
            <a:off x="4901100" y="1298188"/>
            <a:ext cx="243426" cy="461400"/>
          </a:xfrm>
          <a:prstGeom prst="rect">
            <a:avLst/>
          </a:prstGeom>
          <a:noFill/>
          <a:ln>
            <a:noFill/>
          </a:ln>
        </p:spPr>
      </p:pic>
      <p:pic>
        <p:nvPicPr>
          <p:cNvPr id="424" name="Google Shape;424;p33"/>
          <p:cNvPicPr preferRelativeResize="0"/>
          <p:nvPr/>
        </p:nvPicPr>
        <p:blipFill>
          <a:blip r:embed="rId8">
            <a:alphaModFix/>
          </a:blip>
          <a:stretch>
            <a:fillRect/>
          </a:stretch>
        </p:blipFill>
        <p:spPr>
          <a:xfrm>
            <a:off x="6248412" y="2889638"/>
            <a:ext cx="461400" cy="461400"/>
          </a:xfrm>
          <a:prstGeom prst="rect">
            <a:avLst/>
          </a:prstGeom>
          <a:noFill/>
          <a:ln>
            <a:noFill/>
          </a:ln>
        </p:spPr>
      </p:pic>
      <p:pic>
        <p:nvPicPr>
          <p:cNvPr id="425" name="Google Shape;425;p33"/>
          <p:cNvPicPr preferRelativeResize="0"/>
          <p:nvPr/>
        </p:nvPicPr>
        <p:blipFill>
          <a:blip r:embed="rId8">
            <a:alphaModFix/>
          </a:blip>
          <a:stretch>
            <a:fillRect/>
          </a:stretch>
        </p:blipFill>
        <p:spPr>
          <a:xfrm>
            <a:off x="6656262" y="2889650"/>
            <a:ext cx="461400" cy="461400"/>
          </a:xfrm>
          <a:prstGeom prst="rect">
            <a:avLst/>
          </a:prstGeom>
          <a:noFill/>
          <a:ln>
            <a:noFill/>
          </a:ln>
        </p:spPr>
      </p:pic>
      <p:pic>
        <p:nvPicPr>
          <p:cNvPr id="426" name="Google Shape;426;p33"/>
          <p:cNvPicPr preferRelativeResize="0"/>
          <p:nvPr/>
        </p:nvPicPr>
        <p:blipFill>
          <a:blip r:embed="rId8">
            <a:alphaModFix/>
          </a:blip>
          <a:stretch>
            <a:fillRect/>
          </a:stretch>
        </p:blipFill>
        <p:spPr>
          <a:xfrm>
            <a:off x="6257987" y="3904225"/>
            <a:ext cx="461400" cy="461400"/>
          </a:xfrm>
          <a:prstGeom prst="rect">
            <a:avLst/>
          </a:prstGeom>
          <a:noFill/>
          <a:ln>
            <a:noFill/>
          </a:ln>
        </p:spPr>
      </p:pic>
      <p:pic>
        <p:nvPicPr>
          <p:cNvPr id="427" name="Google Shape;427;p33"/>
          <p:cNvPicPr preferRelativeResize="0"/>
          <p:nvPr/>
        </p:nvPicPr>
        <p:blipFill>
          <a:blip r:embed="rId8">
            <a:alphaModFix/>
          </a:blip>
          <a:stretch>
            <a:fillRect/>
          </a:stretch>
        </p:blipFill>
        <p:spPr>
          <a:xfrm>
            <a:off x="6665837" y="3904225"/>
            <a:ext cx="461400" cy="461400"/>
          </a:xfrm>
          <a:prstGeom prst="rect">
            <a:avLst/>
          </a:prstGeom>
          <a:noFill/>
          <a:ln>
            <a:noFill/>
          </a:ln>
        </p:spPr>
      </p:pic>
      <p:pic>
        <p:nvPicPr>
          <p:cNvPr id="428" name="Google Shape;428;p33"/>
          <p:cNvPicPr preferRelativeResize="0"/>
          <p:nvPr/>
        </p:nvPicPr>
        <p:blipFill>
          <a:blip r:embed="rId8">
            <a:alphaModFix/>
          </a:blip>
          <a:stretch>
            <a:fillRect/>
          </a:stretch>
        </p:blipFill>
        <p:spPr>
          <a:xfrm>
            <a:off x="7088437" y="1298200"/>
            <a:ext cx="461400" cy="461400"/>
          </a:xfrm>
          <a:prstGeom prst="rect">
            <a:avLst/>
          </a:prstGeom>
          <a:noFill/>
          <a:ln>
            <a:noFill/>
          </a:ln>
        </p:spPr>
      </p:pic>
      <p:pic>
        <p:nvPicPr>
          <p:cNvPr id="429" name="Google Shape;429;p33"/>
          <p:cNvPicPr preferRelativeResize="0"/>
          <p:nvPr/>
        </p:nvPicPr>
        <p:blipFill>
          <a:blip r:embed="rId7">
            <a:alphaModFix/>
          </a:blip>
          <a:stretch>
            <a:fillRect/>
          </a:stretch>
        </p:blipFill>
        <p:spPr>
          <a:xfrm>
            <a:off x="7719613" y="1336150"/>
            <a:ext cx="385476" cy="385476"/>
          </a:xfrm>
          <a:prstGeom prst="rect">
            <a:avLst/>
          </a:prstGeom>
          <a:noFill/>
          <a:ln>
            <a:noFill/>
          </a:ln>
        </p:spPr>
      </p:pic>
      <p:sp>
        <p:nvSpPr>
          <p:cNvPr id="430" name="Google Shape;430;p33"/>
          <p:cNvSpPr txBox="1"/>
          <p:nvPr/>
        </p:nvSpPr>
        <p:spPr>
          <a:xfrm>
            <a:off x="512150" y="0"/>
            <a:ext cx="662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highlight>
                  <a:srgbClr val="FFFFFF"/>
                </a:highlight>
                <a:latin typeface="Montserrat"/>
                <a:ea typeface="Montserrat"/>
                <a:cs typeface="Montserrat"/>
                <a:sym typeface="Montserrat"/>
              </a:rPr>
              <a:t>Example Project Strategies</a:t>
            </a:r>
            <a:endParaRPr b="1" sz="2200">
              <a:solidFill>
                <a:schemeClr val="lt1"/>
              </a:solidFill>
              <a:highlight>
                <a:srgbClr val="FFFFFF"/>
              </a:highlight>
              <a:latin typeface="Montserrat"/>
              <a:ea typeface="Montserrat"/>
              <a:cs typeface="Montserrat"/>
              <a:sym typeface="Montserrat"/>
            </a:endParaRPr>
          </a:p>
        </p:txBody>
      </p:sp>
      <p:sp>
        <p:nvSpPr>
          <p:cNvPr id="431" name="Google Shape;431;p33"/>
          <p:cNvSpPr/>
          <p:nvPr/>
        </p:nvSpPr>
        <p:spPr>
          <a:xfrm rot="5400000">
            <a:off x="-1017850" y="2463450"/>
            <a:ext cx="2598600" cy="461400"/>
          </a:xfrm>
          <a:prstGeom prst="rightArrow">
            <a:avLst>
              <a:gd fmla="val 50000" name="adj1"/>
              <a:gd fmla="val 50000" name="adj2"/>
            </a:avLst>
          </a:prstGeom>
          <a:gradFill>
            <a:gsLst>
              <a:gs pos="0">
                <a:srgbClr val="FFFFFF"/>
              </a:gs>
              <a:gs pos="57000">
                <a:srgbClr val="B8D4AB"/>
              </a:gs>
              <a:gs pos="100000">
                <a:srgbClr val="EA9999"/>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2" name="Google Shape;432;p33"/>
          <p:cNvSpPr txBox="1"/>
          <p:nvPr/>
        </p:nvSpPr>
        <p:spPr>
          <a:xfrm rot="-5400000">
            <a:off x="-340860" y="2338975"/>
            <a:ext cx="119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Lato"/>
                <a:ea typeface="Lato"/>
                <a:cs typeface="Lato"/>
                <a:sym typeface="Lato"/>
              </a:rPr>
              <a:t>Investment</a:t>
            </a:r>
            <a:endParaRPr b="1" sz="1500">
              <a:solidFill>
                <a:schemeClr val="lt1"/>
              </a:solidFill>
              <a:latin typeface="Lato"/>
              <a:ea typeface="Lato"/>
              <a:cs typeface="Lato"/>
              <a:sym typeface="Lato"/>
            </a:endParaRPr>
          </a:p>
        </p:txBody>
      </p:sp>
      <p:pic>
        <p:nvPicPr>
          <p:cNvPr id="433" name="Google Shape;433;p33"/>
          <p:cNvPicPr preferRelativeResize="0"/>
          <p:nvPr/>
        </p:nvPicPr>
        <p:blipFill rotWithShape="1">
          <a:blip r:embed="rId9">
            <a:alphaModFix/>
          </a:blip>
          <a:srcRect b="0" l="0" r="47243" t="0"/>
          <a:stretch/>
        </p:blipFill>
        <p:spPr>
          <a:xfrm>
            <a:off x="4945200" y="2069900"/>
            <a:ext cx="243426" cy="461400"/>
          </a:xfrm>
          <a:prstGeom prst="rect">
            <a:avLst/>
          </a:prstGeom>
          <a:noFill/>
          <a:ln>
            <a:noFill/>
          </a:ln>
        </p:spPr>
      </p:pic>
      <p:pic>
        <p:nvPicPr>
          <p:cNvPr id="434" name="Google Shape;434;p33"/>
          <p:cNvPicPr preferRelativeResize="0"/>
          <p:nvPr/>
        </p:nvPicPr>
        <p:blipFill>
          <a:blip r:embed="rId8">
            <a:alphaModFix/>
          </a:blip>
          <a:stretch>
            <a:fillRect/>
          </a:stretch>
        </p:blipFill>
        <p:spPr>
          <a:xfrm>
            <a:off x="6248400" y="2082613"/>
            <a:ext cx="461400" cy="461400"/>
          </a:xfrm>
          <a:prstGeom prst="rect">
            <a:avLst/>
          </a:prstGeom>
          <a:noFill/>
          <a:ln>
            <a:noFill/>
          </a:ln>
        </p:spPr>
      </p:pic>
      <p:pic>
        <p:nvPicPr>
          <p:cNvPr id="435" name="Google Shape;435;p33"/>
          <p:cNvPicPr preferRelativeResize="0"/>
          <p:nvPr/>
        </p:nvPicPr>
        <p:blipFill>
          <a:blip r:embed="rId8">
            <a:alphaModFix/>
          </a:blip>
          <a:stretch>
            <a:fillRect/>
          </a:stretch>
        </p:blipFill>
        <p:spPr>
          <a:xfrm>
            <a:off x="6654450" y="2082613"/>
            <a:ext cx="461400" cy="461400"/>
          </a:xfrm>
          <a:prstGeom prst="rect">
            <a:avLst/>
          </a:prstGeom>
          <a:noFill/>
          <a:ln>
            <a:noFill/>
          </a:ln>
        </p:spPr>
      </p:pic>
      <p:pic>
        <p:nvPicPr>
          <p:cNvPr id="436" name="Google Shape;436;p33"/>
          <p:cNvPicPr preferRelativeResize="0"/>
          <p:nvPr/>
        </p:nvPicPr>
        <p:blipFill>
          <a:blip r:embed="rId7">
            <a:alphaModFix/>
          </a:blip>
          <a:stretch>
            <a:fillRect/>
          </a:stretch>
        </p:blipFill>
        <p:spPr>
          <a:xfrm>
            <a:off x="7719625" y="2923413"/>
            <a:ext cx="385476" cy="385476"/>
          </a:xfrm>
          <a:prstGeom prst="rect">
            <a:avLst/>
          </a:prstGeom>
          <a:noFill/>
          <a:ln>
            <a:noFill/>
          </a:ln>
        </p:spPr>
      </p:pic>
      <p:pic>
        <p:nvPicPr>
          <p:cNvPr id="437" name="Google Shape;437;p33"/>
          <p:cNvPicPr preferRelativeResize="0"/>
          <p:nvPr/>
        </p:nvPicPr>
        <p:blipFill>
          <a:blip r:embed="rId7">
            <a:alphaModFix/>
          </a:blip>
          <a:stretch>
            <a:fillRect/>
          </a:stretch>
        </p:blipFill>
        <p:spPr>
          <a:xfrm>
            <a:off x="8125763" y="2931788"/>
            <a:ext cx="385476" cy="385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graphicFrame>
        <p:nvGraphicFramePr>
          <p:cNvPr id="442" name="Google Shape;442;p34"/>
          <p:cNvGraphicFramePr/>
          <p:nvPr/>
        </p:nvGraphicFramePr>
        <p:xfrm>
          <a:off x="512150" y="523200"/>
          <a:ext cx="3000000" cy="3000000"/>
        </p:xfrm>
        <a:graphic>
          <a:graphicData uri="http://schemas.openxmlformats.org/drawingml/2006/table">
            <a:tbl>
              <a:tblPr>
                <a:noFill/>
                <a:tableStyleId>{4120FEC6-ACC1-4219-AB90-733E940CAB2F}</a:tableStyleId>
              </a:tblPr>
              <a:tblGrid>
                <a:gridCol w="1532550"/>
                <a:gridCol w="1612425"/>
                <a:gridCol w="1123375"/>
                <a:gridCol w="1409850"/>
                <a:gridCol w="1405475"/>
                <a:gridCol w="1308175"/>
              </a:tblGrid>
              <a:tr h="636775">
                <a:tc>
                  <a:txBody>
                    <a:bodyPr/>
                    <a:lstStyle/>
                    <a:p>
                      <a:pPr indent="0" lvl="0" marL="0" rtl="0" algn="l">
                        <a:spcBef>
                          <a:spcPts val="0"/>
                        </a:spcBef>
                        <a:spcAft>
                          <a:spcPts val="0"/>
                        </a:spcAft>
                        <a:buNone/>
                      </a:pPr>
                      <a:r>
                        <a:rPr b="1" lang="en" sz="1300">
                          <a:latin typeface="Montserrat"/>
                          <a:ea typeface="Montserrat"/>
                          <a:cs typeface="Montserrat"/>
                          <a:sym typeface="Montserrat"/>
                        </a:rPr>
                        <a:t>Customizations</a:t>
                      </a:r>
                      <a:endParaRPr b="1" sz="1300">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Montserrat"/>
                          <a:ea typeface="Montserrat"/>
                          <a:cs typeface="Montserrat"/>
                          <a:sym typeface="Montserrat"/>
                        </a:rPr>
                        <a:t>Strategy summary</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Technical expertise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Funding</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Time</a:t>
                      </a:r>
                      <a:endParaRPr b="1">
                        <a:latin typeface="Montserrat"/>
                        <a:ea typeface="Montserrat"/>
                        <a:cs typeface="Montserrat"/>
                        <a:sym typeface="Montserrat"/>
                      </a:endParaRPr>
                    </a:p>
                  </a:txBody>
                  <a:tcPr marT="91425" marB="91425" marR="91425" marL="91425"/>
                </a:tc>
              </a:tr>
              <a:tr h="746525">
                <a:tc>
                  <a:txBody>
                    <a:bodyPr/>
                    <a:lstStyle/>
                    <a:p>
                      <a:pPr indent="0" lvl="0" marL="0" rtl="0" algn="l">
                        <a:spcBef>
                          <a:spcPts val="0"/>
                        </a:spcBef>
                        <a:spcAft>
                          <a:spcPts val="0"/>
                        </a:spcAft>
                        <a:buNone/>
                      </a:pPr>
                      <a:r>
                        <a:rPr lang="en">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a:solidFill>
                            <a:schemeClr val="lt1"/>
                          </a:solidFill>
                          <a:latin typeface="Montserrat"/>
                          <a:ea typeface="Montserrat"/>
                          <a:cs typeface="Montserrat"/>
                          <a:sym typeface="Montserrat"/>
                        </a:rPr>
                        <a:t>No code deploy  AI features using a service</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3"/>
                        </a:rPr>
                        <a:t>Cogniflow</a:t>
                      </a:r>
                      <a:r>
                        <a:rPr lang="en">
                          <a:latin typeface="Montserrat"/>
                          <a:ea typeface="Montserrat"/>
                          <a:cs typeface="Montserrat"/>
                          <a:sym typeface="Montserrat"/>
                        </a:rPr>
                        <a:t>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706925">
                <a:tc>
                  <a:txBody>
                    <a:bodyPr/>
                    <a:lstStyle/>
                    <a:p>
                      <a:pPr indent="0" lvl="0" marL="0" rtl="0" algn="l">
                        <a:spcBef>
                          <a:spcPts val="0"/>
                        </a:spcBef>
                        <a:spcAft>
                          <a:spcPts val="0"/>
                        </a:spcAft>
                        <a:buNone/>
                      </a:pPr>
                      <a:r>
                        <a:rPr lang="en">
                          <a:latin typeface="Montserrat"/>
                          <a:ea typeface="Montserrat"/>
                          <a:cs typeface="Montserrat"/>
                          <a:sym typeface="Montserrat"/>
                        </a:rPr>
                        <a:t>Security</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Privacy services for commercial AI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latin typeface="Montserrat"/>
                          <a:ea typeface="Montserrat"/>
                          <a:cs typeface="Montserrat"/>
                          <a:sym typeface="Montserrat"/>
                          <a:hlinkClick r:id="rId4">
                            <a:extLst>
                              <a:ext uri="{A12FA001-AC4F-418D-AE19-62706E023703}">
                                <ahyp:hlinkClr val="tx"/>
                              </a:ext>
                            </a:extLst>
                          </a:hlinkClick>
                        </a:rPr>
                        <a:t>Private AI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859700">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Knowledge</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rPr lang="en">
                          <a:solidFill>
                            <a:schemeClr val="lt1"/>
                          </a:solidFill>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Train AI platform and deploy using an API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solidFill>
                      <a:srgbClr val="B6D7A8"/>
                    </a:solidFill>
                  </a:tcPr>
                </a:tc>
                <a:tc>
                  <a:txBody>
                    <a:bodyPr/>
                    <a:lstStyle/>
                    <a:p>
                      <a:pPr indent="0" lvl="0" marL="0" rtl="0" algn="l">
                        <a:spcBef>
                          <a:spcPts val="0"/>
                        </a:spcBef>
                        <a:spcAft>
                          <a:spcPts val="0"/>
                        </a:spcAft>
                        <a:buNone/>
                      </a:pPr>
                      <a:r>
                        <a:rPr b="1" lang="en" u="sng">
                          <a:latin typeface="Montserrat"/>
                          <a:ea typeface="Montserrat"/>
                          <a:cs typeface="Montserrat"/>
                          <a:sym typeface="Montserrat"/>
                          <a:hlinkClick r:id="rId5"/>
                        </a:rPr>
                        <a:t>ChatGPT API</a:t>
                      </a:r>
                      <a:r>
                        <a:rPr b="1" lang="en">
                          <a:latin typeface="Montserrat"/>
                          <a:ea typeface="Montserrat"/>
                          <a:cs typeface="Montserrat"/>
                          <a:sym typeface="Montserrat"/>
                        </a:rPr>
                        <a:t> </a:t>
                      </a:r>
                      <a:endParaRPr b="1">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r>
              <a:tr h="599825">
                <a:tc>
                  <a:txBody>
                    <a:bodyPr/>
                    <a:lstStyle/>
                    <a:p>
                      <a:pPr indent="0" lvl="0" marL="0" rtl="0" algn="l">
                        <a:spcBef>
                          <a:spcPts val="0"/>
                        </a:spcBef>
                        <a:spcAft>
                          <a:spcPts val="0"/>
                        </a:spcAft>
                        <a:buNone/>
                      </a:pPr>
                      <a:r>
                        <a:rPr lang="en">
                          <a:latin typeface="Montserrat"/>
                          <a:ea typeface="Montserrat"/>
                          <a:cs typeface="Montserrat"/>
                          <a:sym typeface="Montserrat"/>
                        </a:rPr>
                        <a:t>Knowledge </a:t>
                      </a:r>
                      <a:br>
                        <a:rPr lang="en">
                          <a:latin typeface="Montserrat"/>
                          <a:ea typeface="Montserrat"/>
                          <a:cs typeface="Montserrat"/>
                          <a:sym typeface="Montserrat"/>
                        </a:rPr>
                      </a:br>
                      <a:r>
                        <a:rPr lang="en">
                          <a:latin typeface="Montserrat"/>
                          <a:ea typeface="Montserrat"/>
                          <a:cs typeface="Montserrat"/>
                          <a:sym typeface="Montserrat"/>
                        </a:rPr>
                        <a:t>Interface</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Security</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Montserrat"/>
                          <a:ea typeface="Montserrat"/>
                          <a:cs typeface="Montserrat"/>
                          <a:sym typeface="Montserrat"/>
                        </a:rPr>
                        <a:t>Train and deploy a open source model</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6"/>
                        </a:rPr>
                        <a:t>Hugging Face</a:t>
                      </a:r>
                      <a:r>
                        <a:rPr lang="en">
                          <a:latin typeface="Montserrat"/>
                          <a:ea typeface="Montserrat"/>
                          <a:cs typeface="Montserrat"/>
                          <a:sym typeface="Montserrat"/>
                        </a:rPr>
                        <a:t>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FFFFFF"/>
                    </a:solidFill>
                  </a:tcPr>
                </a:tc>
              </a:tr>
            </a:tbl>
          </a:graphicData>
        </a:graphic>
      </p:graphicFrame>
      <p:pic>
        <p:nvPicPr>
          <p:cNvPr id="443" name="Google Shape;443;p34"/>
          <p:cNvPicPr preferRelativeResize="0"/>
          <p:nvPr/>
        </p:nvPicPr>
        <p:blipFill>
          <a:blip r:embed="rId7">
            <a:alphaModFix/>
          </a:blip>
          <a:stretch>
            <a:fillRect/>
          </a:stretch>
        </p:blipFill>
        <p:spPr>
          <a:xfrm>
            <a:off x="7635588" y="3942188"/>
            <a:ext cx="385476" cy="385476"/>
          </a:xfrm>
          <a:prstGeom prst="rect">
            <a:avLst/>
          </a:prstGeom>
          <a:noFill/>
          <a:ln>
            <a:noFill/>
          </a:ln>
        </p:spPr>
      </p:pic>
      <p:pic>
        <p:nvPicPr>
          <p:cNvPr id="444" name="Google Shape;444;p34"/>
          <p:cNvPicPr preferRelativeResize="0"/>
          <p:nvPr/>
        </p:nvPicPr>
        <p:blipFill>
          <a:blip r:embed="rId8">
            <a:alphaModFix/>
          </a:blip>
          <a:stretch>
            <a:fillRect/>
          </a:stretch>
        </p:blipFill>
        <p:spPr>
          <a:xfrm>
            <a:off x="6220975" y="1298200"/>
            <a:ext cx="461400" cy="461400"/>
          </a:xfrm>
          <a:prstGeom prst="rect">
            <a:avLst/>
          </a:prstGeom>
          <a:noFill/>
          <a:ln>
            <a:noFill/>
          </a:ln>
        </p:spPr>
      </p:pic>
      <p:pic>
        <p:nvPicPr>
          <p:cNvPr id="445" name="Google Shape;445;p34"/>
          <p:cNvPicPr preferRelativeResize="0"/>
          <p:nvPr/>
        </p:nvPicPr>
        <p:blipFill>
          <a:blip r:embed="rId8">
            <a:alphaModFix/>
          </a:blip>
          <a:stretch>
            <a:fillRect/>
          </a:stretch>
        </p:blipFill>
        <p:spPr>
          <a:xfrm>
            <a:off x="6627025" y="1298200"/>
            <a:ext cx="461400" cy="461400"/>
          </a:xfrm>
          <a:prstGeom prst="rect">
            <a:avLst/>
          </a:prstGeom>
          <a:noFill/>
          <a:ln>
            <a:noFill/>
          </a:ln>
        </p:spPr>
      </p:pic>
      <p:pic>
        <p:nvPicPr>
          <p:cNvPr id="446" name="Google Shape;446;p34"/>
          <p:cNvPicPr preferRelativeResize="0"/>
          <p:nvPr/>
        </p:nvPicPr>
        <p:blipFill>
          <a:blip r:embed="rId7">
            <a:alphaModFix/>
          </a:blip>
          <a:stretch>
            <a:fillRect/>
          </a:stretch>
        </p:blipFill>
        <p:spPr>
          <a:xfrm>
            <a:off x="8447888" y="3942188"/>
            <a:ext cx="385476" cy="385476"/>
          </a:xfrm>
          <a:prstGeom prst="rect">
            <a:avLst/>
          </a:prstGeom>
          <a:noFill/>
          <a:ln>
            <a:noFill/>
          </a:ln>
        </p:spPr>
      </p:pic>
      <p:pic>
        <p:nvPicPr>
          <p:cNvPr id="447" name="Google Shape;447;p34"/>
          <p:cNvPicPr preferRelativeResize="0"/>
          <p:nvPr/>
        </p:nvPicPr>
        <p:blipFill>
          <a:blip r:embed="rId7">
            <a:alphaModFix/>
          </a:blip>
          <a:stretch>
            <a:fillRect/>
          </a:stretch>
        </p:blipFill>
        <p:spPr>
          <a:xfrm>
            <a:off x="8041725" y="3950563"/>
            <a:ext cx="385476" cy="385476"/>
          </a:xfrm>
          <a:prstGeom prst="rect">
            <a:avLst/>
          </a:prstGeom>
          <a:noFill/>
          <a:ln>
            <a:noFill/>
          </a:ln>
        </p:spPr>
      </p:pic>
      <p:pic>
        <p:nvPicPr>
          <p:cNvPr id="448" name="Google Shape;448;p34"/>
          <p:cNvPicPr preferRelativeResize="0"/>
          <p:nvPr/>
        </p:nvPicPr>
        <p:blipFill rotWithShape="1">
          <a:blip r:embed="rId7">
            <a:alphaModFix/>
          </a:blip>
          <a:srcRect b="0" l="0" r="36852" t="0"/>
          <a:stretch/>
        </p:blipFill>
        <p:spPr>
          <a:xfrm>
            <a:off x="7719625" y="2120575"/>
            <a:ext cx="243426" cy="385476"/>
          </a:xfrm>
          <a:prstGeom prst="rect">
            <a:avLst/>
          </a:prstGeom>
          <a:noFill/>
          <a:ln>
            <a:noFill/>
          </a:ln>
        </p:spPr>
      </p:pic>
      <p:pic>
        <p:nvPicPr>
          <p:cNvPr id="449" name="Google Shape;449;p34"/>
          <p:cNvPicPr preferRelativeResize="0"/>
          <p:nvPr/>
        </p:nvPicPr>
        <p:blipFill>
          <a:blip r:embed="rId9">
            <a:alphaModFix/>
          </a:blip>
          <a:stretch>
            <a:fillRect/>
          </a:stretch>
        </p:blipFill>
        <p:spPr>
          <a:xfrm>
            <a:off x="4901100" y="2916700"/>
            <a:ext cx="461400" cy="461400"/>
          </a:xfrm>
          <a:prstGeom prst="rect">
            <a:avLst/>
          </a:prstGeom>
          <a:noFill/>
          <a:ln>
            <a:noFill/>
          </a:ln>
        </p:spPr>
      </p:pic>
      <p:pic>
        <p:nvPicPr>
          <p:cNvPr id="450" name="Google Shape;450;p34"/>
          <p:cNvPicPr preferRelativeResize="0"/>
          <p:nvPr/>
        </p:nvPicPr>
        <p:blipFill>
          <a:blip r:embed="rId9">
            <a:alphaModFix/>
          </a:blip>
          <a:stretch>
            <a:fillRect/>
          </a:stretch>
        </p:blipFill>
        <p:spPr>
          <a:xfrm>
            <a:off x="4882088" y="3916800"/>
            <a:ext cx="461400" cy="461400"/>
          </a:xfrm>
          <a:prstGeom prst="rect">
            <a:avLst/>
          </a:prstGeom>
          <a:noFill/>
          <a:ln>
            <a:noFill/>
          </a:ln>
        </p:spPr>
      </p:pic>
      <p:pic>
        <p:nvPicPr>
          <p:cNvPr id="451" name="Google Shape;451;p34"/>
          <p:cNvPicPr preferRelativeResize="0"/>
          <p:nvPr/>
        </p:nvPicPr>
        <p:blipFill>
          <a:blip r:embed="rId9">
            <a:alphaModFix/>
          </a:blip>
          <a:stretch>
            <a:fillRect/>
          </a:stretch>
        </p:blipFill>
        <p:spPr>
          <a:xfrm>
            <a:off x="5394088" y="3916800"/>
            <a:ext cx="461400" cy="461400"/>
          </a:xfrm>
          <a:prstGeom prst="rect">
            <a:avLst/>
          </a:prstGeom>
          <a:noFill/>
          <a:ln>
            <a:noFill/>
          </a:ln>
        </p:spPr>
      </p:pic>
      <p:pic>
        <p:nvPicPr>
          <p:cNvPr id="452" name="Google Shape;452;p34"/>
          <p:cNvPicPr preferRelativeResize="0"/>
          <p:nvPr/>
        </p:nvPicPr>
        <p:blipFill rotWithShape="1">
          <a:blip r:embed="rId9">
            <a:alphaModFix/>
          </a:blip>
          <a:srcRect b="0" l="0" r="47243" t="0"/>
          <a:stretch/>
        </p:blipFill>
        <p:spPr>
          <a:xfrm>
            <a:off x="4901100" y="1298188"/>
            <a:ext cx="243426" cy="461400"/>
          </a:xfrm>
          <a:prstGeom prst="rect">
            <a:avLst/>
          </a:prstGeom>
          <a:noFill/>
          <a:ln>
            <a:noFill/>
          </a:ln>
        </p:spPr>
      </p:pic>
      <p:pic>
        <p:nvPicPr>
          <p:cNvPr id="453" name="Google Shape;453;p34"/>
          <p:cNvPicPr preferRelativeResize="0"/>
          <p:nvPr/>
        </p:nvPicPr>
        <p:blipFill>
          <a:blip r:embed="rId8">
            <a:alphaModFix/>
          </a:blip>
          <a:stretch>
            <a:fillRect/>
          </a:stretch>
        </p:blipFill>
        <p:spPr>
          <a:xfrm>
            <a:off x="6248412" y="2889638"/>
            <a:ext cx="461400" cy="461400"/>
          </a:xfrm>
          <a:prstGeom prst="rect">
            <a:avLst/>
          </a:prstGeom>
          <a:noFill/>
          <a:ln>
            <a:noFill/>
          </a:ln>
        </p:spPr>
      </p:pic>
      <p:pic>
        <p:nvPicPr>
          <p:cNvPr id="454" name="Google Shape;454;p34"/>
          <p:cNvPicPr preferRelativeResize="0"/>
          <p:nvPr/>
        </p:nvPicPr>
        <p:blipFill>
          <a:blip r:embed="rId8">
            <a:alphaModFix/>
          </a:blip>
          <a:stretch>
            <a:fillRect/>
          </a:stretch>
        </p:blipFill>
        <p:spPr>
          <a:xfrm>
            <a:off x="6656262" y="2889650"/>
            <a:ext cx="461400" cy="461400"/>
          </a:xfrm>
          <a:prstGeom prst="rect">
            <a:avLst/>
          </a:prstGeom>
          <a:noFill/>
          <a:ln>
            <a:noFill/>
          </a:ln>
        </p:spPr>
      </p:pic>
      <p:pic>
        <p:nvPicPr>
          <p:cNvPr id="455" name="Google Shape;455;p34"/>
          <p:cNvPicPr preferRelativeResize="0"/>
          <p:nvPr/>
        </p:nvPicPr>
        <p:blipFill>
          <a:blip r:embed="rId8">
            <a:alphaModFix/>
          </a:blip>
          <a:stretch>
            <a:fillRect/>
          </a:stretch>
        </p:blipFill>
        <p:spPr>
          <a:xfrm>
            <a:off x="6257987" y="3904225"/>
            <a:ext cx="461400" cy="461400"/>
          </a:xfrm>
          <a:prstGeom prst="rect">
            <a:avLst/>
          </a:prstGeom>
          <a:noFill/>
          <a:ln>
            <a:noFill/>
          </a:ln>
        </p:spPr>
      </p:pic>
      <p:pic>
        <p:nvPicPr>
          <p:cNvPr id="456" name="Google Shape;456;p34"/>
          <p:cNvPicPr preferRelativeResize="0"/>
          <p:nvPr/>
        </p:nvPicPr>
        <p:blipFill>
          <a:blip r:embed="rId8">
            <a:alphaModFix/>
          </a:blip>
          <a:stretch>
            <a:fillRect/>
          </a:stretch>
        </p:blipFill>
        <p:spPr>
          <a:xfrm>
            <a:off x="6665837" y="3904225"/>
            <a:ext cx="461400" cy="461400"/>
          </a:xfrm>
          <a:prstGeom prst="rect">
            <a:avLst/>
          </a:prstGeom>
          <a:noFill/>
          <a:ln>
            <a:noFill/>
          </a:ln>
        </p:spPr>
      </p:pic>
      <p:pic>
        <p:nvPicPr>
          <p:cNvPr id="457" name="Google Shape;457;p34"/>
          <p:cNvPicPr preferRelativeResize="0"/>
          <p:nvPr/>
        </p:nvPicPr>
        <p:blipFill>
          <a:blip r:embed="rId8">
            <a:alphaModFix/>
          </a:blip>
          <a:stretch>
            <a:fillRect/>
          </a:stretch>
        </p:blipFill>
        <p:spPr>
          <a:xfrm>
            <a:off x="7088437" y="1298200"/>
            <a:ext cx="461400" cy="461400"/>
          </a:xfrm>
          <a:prstGeom prst="rect">
            <a:avLst/>
          </a:prstGeom>
          <a:noFill/>
          <a:ln>
            <a:noFill/>
          </a:ln>
        </p:spPr>
      </p:pic>
      <p:pic>
        <p:nvPicPr>
          <p:cNvPr id="458" name="Google Shape;458;p34"/>
          <p:cNvPicPr preferRelativeResize="0"/>
          <p:nvPr/>
        </p:nvPicPr>
        <p:blipFill>
          <a:blip r:embed="rId7">
            <a:alphaModFix/>
          </a:blip>
          <a:stretch>
            <a:fillRect/>
          </a:stretch>
        </p:blipFill>
        <p:spPr>
          <a:xfrm>
            <a:off x="7719613" y="1336150"/>
            <a:ext cx="385476" cy="385476"/>
          </a:xfrm>
          <a:prstGeom prst="rect">
            <a:avLst/>
          </a:prstGeom>
          <a:noFill/>
          <a:ln>
            <a:noFill/>
          </a:ln>
        </p:spPr>
      </p:pic>
      <p:sp>
        <p:nvSpPr>
          <p:cNvPr id="459" name="Google Shape;459;p34"/>
          <p:cNvSpPr txBox="1"/>
          <p:nvPr/>
        </p:nvSpPr>
        <p:spPr>
          <a:xfrm>
            <a:off x="512150" y="0"/>
            <a:ext cx="662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highlight>
                  <a:srgbClr val="FFFFFF"/>
                </a:highlight>
                <a:latin typeface="Montserrat"/>
                <a:ea typeface="Montserrat"/>
                <a:cs typeface="Montserrat"/>
                <a:sym typeface="Montserrat"/>
              </a:rPr>
              <a:t>Example Project Strategies</a:t>
            </a:r>
            <a:endParaRPr b="1" sz="2200">
              <a:solidFill>
                <a:schemeClr val="lt1"/>
              </a:solidFill>
              <a:highlight>
                <a:srgbClr val="FFFFFF"/>
              </a:highlight>
              <a:latin typeface="Montserrat"/>
              <a:ea typeface="Montserrat"/>
              <a:cs typeface="Montserrat"/>
              <a:sym typeface="Montserrat"/>
            </a:endParaRPr>
          </a:p>
        </p:txBody>
      </p:sp>
      <p:sp>
        <p:nvSpPr>
          <p:cNvPr id="460" name="Google Shape;460;p34"/>
          <p:cNvSpPr/>
          <p:nvPr/>
        </p:nvSpPr>
        <p:spPr>
          <a:xfrm rot="5400000">
            <a:off x="-1017850" y="2463450"/>
            <a:ext cx="2598600" cy="461400"/>
          </a:xfrm>
          <a:prstGeom prst="rightArrow">
            <a:avLst>
              <a:gd fmla="val 50000" name="adj1"/>
              <a:gd fmla="val 50000" name="adj2"/>
            </a:avLst>
          </a:prstGeom>
          <a:gradFill>
            <a:gsLst>
              <a:gs pos="0">
                <a:srgbClr val="FFFFFF"/>
              </a:gs>
              <a:gs pos="57000">
                <a:srgbClr val="B8D4AB"/>
              </a:gs>
              <a:gs pos="100000">
                <a:srgbClr val="EA9999"/>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1" name="Google Shape;461;p34"/>
          <p:cNvSpPr txBox="1"/>
          <p:nvPr/>
        </p:nvSpPr>
        <p:spPr>
          <a:xfrm rot="-5400000">
            <a:off x="-340860" y="2338975"/>
            <a:ext cx="119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Lato"/>
                <a:ea typeface="Lato"/>
                <a:cs typeface="Lato"/>
                <a:sym typeface="Lato"/>
              </a:rPr>
              <a:t>Investment</a:t>
            </a:r>
            <a:endParaRPr b="1" sz="1500">
              <a:solidFill>
                <a:schemeClr val="lt1"/>
              </a:solidFill>
              <a:latin typeface="Lato"/>
              <a:ea typeface="Lato"/>
              <a:cs typeface="Lato"/>
              <a:sym typeface="Lato"/>
            </a:endParaRPr>
          </a:p>
        </p:txBody>
      </p:sp>
      <p:pic>
        <p:nvPicPr>
          <p:cNvPr id="462" name="Google Shape;462;p34"/>
          <p:cNvPicPr preferRelativeResize="0"/>
          <p:nvPr/>
        </p:nvPicPr>
        <p:blipFill rotWithShape="1">
          <a:blip r:embed="rId9">
            <a:alphaModFix/>
          </a:blip>
          <a:srcRect b="0" l="0" r="47243" t="0"/>
          <a:stretch/>
        </p:blipFill>
        <p:spPr>
          <a:xfrm>
            <a:off x="4945200" y="2069900"/>
            <a:ext cx="243426" cy="461400"/>
          </a:xfrm>
          <a:prstGeom prst="rect">
            <a:avLst/>
          </a:prstGeom>
          <a:noFill/>
          <a:ln>
            <a:noFill/>
          </a:ln>
        </p:spPr>
      </p:pic>
      <p:pic>
        <p:nvPicPr>
          <p:cNvPr id="463" name="Google Shape;463;p34"/>
          <p:cNvPicPr preferRelativeResize="0"/>
          <p:nvPr/>
        </p:nvPicPr>
        <p:blipFill>
          <a:blip r:embed="rId8">
            <a:alphaModFix/>
          </a:blip>
          <a:stretch>
            <a:fillRect/>
          </a:stretch>
        </p:blipFill>
        <p:spPr>
          <a:xfrm>
            <a:off x="6248400" y="2082613"/>
            <a:ext cx="461400" cy="461400"/>
          </a:xfrm>
          <a:prstGeom prst="rect">
            <a:avLst/>
          </a:prstGeom>
          <a:noFill/>
          <a:ln>
            <a:noFill/>
          </a:ln>
        </p:spPr>
      </p:pic>
      <p:pic>
        <p:nvPicPr>
          <p:cNvPr id="464" name="Google Shape;464;p34"/>
          <p:cNvPicPr preferRelativeResize="0"/>
          <p:nvPr/>
        </p:nvPicPr>
        <p:blipFill>
          <a:blip r:embed="rId8">
            <a:alphaModFix/>
          </a:blip>
          <a:stretch>
            <a:fillRect/>
          </a:stretch>
        </p:blipFill>
        <p:spPr>
          <a:xfrm>
            <a:off x="6654450" y="2082613"/>
            <a:ext cx="461400" cy="461400"/>
          </a:xfrm>
          <a:prstGeom prst="rect">
            <a:avLst/>
          </a:prstGeom>
          <a:noFill/>
          <a:ln>
            <a:noFill/>
          </a:ln>
        </p:spPr>
      </p:pic>
      <p:pic>
        <p:nvPicPr>
          <p:cNvPr id="465" name="Google Shape;465;p34"/>
          <p:cNvPicPr preferRelativeResize="0"/>
          <p:nvPr/>
        </p:nvPicPr>
        <p:blipFill>
          <a:blip r:embed="rId7">
            <a:alphaModFix/>
          </a:blip>
          <a:stretch>
            <a:fillRect/>
          </a:stretch>
        </p:blipFill>
        <p:spPr>
          <a:xfrm>
            <a:off x="7719625" y="2923413"/>
            <a:ext cx="385476" cy="385476"/>
          </a:xfrm>
          <a:prstGeom prst="rect">
            <a:avLst/>
          </a:prstGeom>
          <a:noFill/>
          <a:ln>
            <a:noFill/>
          </a:ln>
        </p:spPr>
      </p:pic>
      <p:pic>
        <p:nvPicPr>
          <p:cNvPr id="466" name="Google Shape;466;p34"/>
          <p:cNvPicPr preferRelativeResize="0"/>
          <p:nvPr/>
        </p:nvPicPr>
        <p:blipFill>
          <a:blip r:embed="rId7">
            <a:alphaModFix/>
          </a:blip>
          <a:stretch>
            <a:fillRect/>
          </a:stretch>
        </p:blipFill>
        <p:spPr>
          <a:xfrm>
            <a:off x="8125763" y="2931788"/>
            <a:ext cx="385476" cy="3854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aphicFrame>
        <p:nvGraphicFramePr>
          <p:cNvPr id="471" name="Google Shape;471;p35"/>
          <p:cNvGraphicFramePr/>
          <p:nvPr/>
        </p:nvGraphicFramePr>
        <p:xfrm>
          <a:off x="512150" y="523200"/>
          <a:ext cx="3000000" cy="3000000"/>
        </p:xfrm>
        <a:graphic>
          <a:graphicData uri="http://schemas.openxmlformats.org/drawingml/2006/table">
            <a:tbl>
              <a:tblPr>
                <a:noFill/>
                <a:tableStyleId>{4120FEC6-ACC1-4219-AB90-733E940CAB2F}</a:tableStyleId>
              </a:tblPr>
              <a:tblGrid>
                <a:gridCol w="1532550"/>
                <a:gridCol w="1612425"/>
                <a:gridCol w="1123375"/>
                <a:gridCol w="1409850"/>
                <a:gridCol w="1405475"/>
                <a:gridCol w="1308175"/>
              </a:tblGrid>
              <a:tr h="636775">
                <a:tc>
                  <a:txBody>
                    <a:bodyPr/>
                    <a:lstStyle/>
                    <a:p>
                      <a:pPr indent="0" lvl="0" marL="0" rtl="0" algn="l">
                        <a:spcBef>
                          <a:spcPts val="0"/>
                        </a:spcBef>
                        <a:spcAft>
                          <a:spcPts val="0"/>
                        </a:spcAft>
                        <a:buNone/>
                      </a:pPr>
                      <a:r>
                        <a:rPr b="1" lang="en" sz="1300">
                          <a:latin typeface="Montserrat"/>
                          <a:ea typeface="Montserrat"/>
                          <a:cs typeface="Montserrat"/>
                          <a:sym typeface="Montserrat"/>
                        </a:rPr>
                        <a:t>Customizations</a:t>
                      </a:r>
                      <a:endParaRPr b="1" sz="1300">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Montserrat"/>
                          <a:ea typeface="Montserrat"/>
                          <a:cs typeface="Montserrat"/>
                          <a:sym typeface="Montserrat"/>
                        </a:rPr>
                        <a:t>Strategy summary</a:t>
                      </a:r>
                      <a:endParaRPr b="1">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Technical expertise</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Funding</a:t>
                      </a:r>
                      <a:endParaRPr b="1">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a:latin typeface="Montserrat"/>
                          <a:ea typeface="Montserrat"/>
                          <a:cs typeface="Montserrat"/>
                          <a:sym typeface="Montserrat"/>
                        </a:rPr>
                        <a:t>Time</a:t>
                      </a:r>
                      <a:endParaRPr b="1">
                        <a:latin typeface="Montserrat"/>
                        <a:ea typeface="Montserrat"/>
                        <a:cs typeface="Montserrat"/>
                        <a:sym typeface="Montserrat"/>
                      </a:endParaRPr>
                    </a:p>
                  </a:txBody>
                  <a:tcPr marT="91425" marB="91425" marR="91425" marL="91425"/>
                </a:tc>
              </a:tr>
              <a:tr h="746525">
                <a:tc>
                  <a:txBody>
                    <a:bodyPr/>
                    <a:lstStyle/>
                    <a:p>
                      <a:pPr indent="0" lvl="0" marL="0" rtl="0" algn="l">
                        <a:spcBef>
                          <a:spcPts val="0"/>
                        </a:spcBef>
                        <a:spcAft>
                          <a:spcPts val="0"/>
                        </a:spcAft>
                        <a:buNone/>
                      </a:pPr>
                      <a:r>
                        <a:rPr lang="en">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a:solidFill>
                            <a:schemeClr val="lt1"/>
                          </a:solidFill>
                          <a:latin typeface="Montserrat"/>
                          <a:ea typeface="Montserrat"/>
                          <a:cs typeface="Montserrat"/>
                          <a:sym typeface="Montserrat"/>
                        </a:rPr>
                        <a:t>No code deploy  AI features using a service</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3"/>
                        </a:rPr>
                        <a:t>Cogniflow</a:t>
                      </a:r>
                      <a:r>
                        <a:rPr lang="en">
                          <a:latin typeface="Montserrat"/>
                          <a:ea typeface="Montserrat"/>
                          <a:cs typeface="Montserrat"/>
                          <a:sym typeface="Montserrat"/>
                        </a:rPr>
                        <a:t>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706925">
                <a:tc>
                  <a:txBody>
                    <a:bodyPr/>
                    <a:lstStyle/>
                    <a:p>
                      <a:pPr indent="0" lvl="0" marL="0" rtl="0" algn="l">
                        <a:spcBef>
                          <a:spcPts val="0"/>
                        </a:spcBef>
                        <a:spcAft>
                          <a:spcPts val="0"/>
                        </a:spcAft>
                        <a:buNone/>
                      </a:pPr>
                      <a:r>
                        <a:rPr lang="en">
                          <a:latin typeface="Montserrat"/>
                          <a:ea typeface="Montserrat"/>
                          <a:cs typeface="Montserrat"/>
                          <a:sym typeface="Montserrat"/>
                        </a:rPr>
                        <a:t>Security</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Privacy services for commercial AI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latin typeface="Montserrat"/>
                          <a:ea typeface="Montserrat"/>
                          <a:cs typeface="Montserrat"/>
                          <a:sym typeface="Montserrat"/>
                          <a:hlinkClick r:id="rId4">
                            <a:extLst>
                              <a:ext uri="{A12FA001-AC4F-418D-AE19-62706E023703}">
                                <ahyp:hlinkClr val="tx"/>
                              </a:ext>
                            </a:extLst>
                          </a:hlinkClick>
                        </a:rPr>
                        <a:t>Private AI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859700">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Knowledge</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rPr lang="en">
                          <a:solidFill>
                            <a:schemeClr val="lt1"/>
                          </a:solidFill>
                          <a:latin typeface="Montserrat"/>
                          <a:ea typeface="Montserrat"/>
                          <a:cs typeface="Montserrat"/>
                          <a:sym typeface="Montserrat"/>
                        </a:rPr>
                        <a:t>Interface</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Montserrat"/>
                          <a:ea typeface="Montserrat"/>
                          <a:cs typeface="Montserrat"/>
                          <a:sym typeface="Montserrat"/>
                        </a:rPr>
                        <a:t>Train AI platform and deploy using an API</a:t>
                      </a:r>
                      <a:endParaRPr>
                        <a:solidFill>
                          <a:schemeClr val="lt1"/>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u="sng">
                          <a:solidFill>
                            <a:schemeClr val="accent2"/>
                          </a:solidFill>
                          <a:latin typeface="Montserrat"/>
                          <a:ea typeface="Montserrat"/>
                          <a:cs typeface="Montserrat"/>
                          <a:sym typeface="Montserrat"/>
                          <a:hlinkClick r:id="rId5">
                            <a:extLst>
                              <a:ext uri="{A12FA001-AC4F-418D-AE19-62706E023703}">
                                <ahyp:hlinkClr val="tx"/>
                              </a:ext>
                            </a:extLst>
                          </a:hlinkClick>
                        </a:rPr>
                        <a:t>ChatGPT API</a:t>
                      </a:r>
                      <a:r>
                        <a:rPr lang="en">
                          <a:solidFill>
                            <a:schemeClr val="lt1"/>
                          </a:solidFill>
                          <a:latin typeface="Montserrat"/>
                          <a:ea typeface="Montserrat"/>
                          <a:cs typeface="Montserrat"/>
                          <a:sym typeface="Montserrat"/>
                        </a:rPr>
                        <a:t> </a:t>
                      </a:r>
                      <a:endParaRPr>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tc>
              </a:tr>
              <a:tr h="599825">
                <a:tc>
                  <a:txBody>
                    <a:bodyPr/>
                    <a:lstStyle/>
                    <a:p>
                      <a:pPr indent="0" lvl="0" marL="0" rtl="0" algn="l">
                        <a:spcBef>
                          <a:spcPts val="0"/>
                        </a:spcBef>
                        <a:spcAft>
                          <a:spcPts val="0"/>
                        </a:spcAft>
                        <a:buNone/>
                      </a:pPr>
                      <a:r>
                        <a:rPr lang="en">
                          <a:latin typeface="Montserrat"/>
                          <a:ea typeface="Montserrat"/>
                          <a:cs typeface="Montserrat"/>
                          <a:sym typeface="Montserrat"/>
                        </a:rPr>
                        <a:t>Knowledge </a:t>
                      </a:r>
                      <a:br>
                        <a:rPr lang="en">
                          <a:latin typeface="Montserrat"/>
                          <a:ea typeface="Montserrat"/>
                          <a:cs typeface="Montserrat"/>
                          <a:sym typeface="Montserrat"/>
                        </a:rPr>
                      </a:br>
                      <a:r>
                        <a:rPr lang="en">
                          <a:latin typeface="Montserrat"/>
                          <a:ea typeface="Montserrat"/>
                          <a:cs typeface="Montserrat"/>
                          <a:sym typeface="Montserrat"/>
                        </a:rPr>
                        <a:t>Interface</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Security</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rPr lang="en">
                          <a:latin typeface="Montserrat"/>
                          <a:ea typeface="Montserrat"/>
                          <a:cs typeface="Montserrat"/>
                          <a:sym typeface="Montserrat"/>
                        </a:rPr>
                        <a:t>Train and deploy a open source model</a:t>
                      </a:r>
                      <a:endParaRPr>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solidFill>
                      <a:srgbClr val="B6D7A8"/>
                    </a:solidFill>
                  </a:tcPr>
                </a:tc>
                <a:tc>
                  <a:txBody>
                    <a:bodyPr/>
                    <a:lstStyle/>
                    <a:p>
                      <a:pPr indent="0" lvl="0" marL="0" rtl="0" algn="l">
                        <a:spcBef>
                          <a:spcPts val="0"/>
                        </a:spcBef>
                        <a:spcAft>
                          <a:spcPts val="0"/>
                        </a:spcAft>
                        <a:buNone/>
                      </a:pPr>
                      <a:r>
                        <a:rPr b="1" lang="en" u="sng">
                          <a:latin typeface="Montserrat"/>
                          <a:ea typeface="Montserrat"/>
                          <a:cs typeface="Montserrat"/>
                          <a:sym typeface="Montserrat"/>
                          <a:hlinkClick r:id="rId6"/>
                        </a:rPr>
                        <a:t>Hugging Face</a:t>
                      </a:r>
                      <a:r>
                        <a:rPr b="1" lang="en">
                          <a:latin typeface="Montserrat"/>
                          <a:ea typeface="Montserrat"/>
                          <a:cs typeface="Montserrat"/>
                          <a:sym typeface="Montserrat"/>
                        </a:rPr>
                        <a:t> </a:t>
                      </a:r>
                      <a:endParaRPr b="1">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l">
                        <a:spcBef>
                          <a:spcPts val="0"/>
                        </a:spcBef>
                        <a:spcAft>
                          <a:spcPts val="0"/>
                        </a:spcAft>
                        <a:buNone/>
                      </a:pPr>
                      <a:r>
                        <a:t/>
                      </a:r>
                      <a:endParaRPr>
                        <a:latin typeface="Montserrat"/>
                        <a:ea typeface="Montserrat"/>
                        <a:cs typeface="Montserrat"/>
                        <a:sym typeface="Montserrat"/>
                      </a:endParaRPr>
                    </a:p>
                  </a:txBody>
                  <a:tcPr marT="91425" marB="91425" marR="91425" marL="91425">
                    <a:solidFill>
                      <a:srgbClr val="B6D7A8"/>
                    </a:solidFill>
                  </a:tcPr>
                </a:tc>
              </a:tr>
            </a:tbl>
          </a:graphicData>
        </a:graphic>
      </p:graphicFrame>
      <p:pic>
        <p:nvPicPr>
          <p:cNvPr id="472" name="Google Shape;472;p35"/>
          <p:cNvPicPr preferRelativeResize="0"/>
          <p:nvPr/>
        </p:nvPicPr>
        <p:blipFill>
          <a:blip r:embed="rId7">
            <a:alphaModFix/>
          </a:blip>
          <a:stretch>
            <a:fillRect/>
          </a:stretch>
        </p:blipFill>
        <p:spPr>
          <a:xfrm>
            <a:off x="7635588" y="3942188"/>
            <a:ext cx="385476" cy="385476"/>
          </a:xfrm>
          <a:prstGeom prst="rect">
            <a:avLst/>
          </a:prstGeom>
          <a:noFill/>
          <a:ln>
            <a:noFill/>
          </a:ln>
        </p:spPr>
      </p:pic>
      <p:pic>
        <p:nvPicPr>
          <p:cNvPr id="473" name="Google Shape;473;p35"/>
          <p:cNvPicPr preferRelativeResize="0"/>
          <p:nvPr/>
        </p:nvPicPr>
        <p:blipFill>
          <a:blip r:embed="rId8">
            <a:alphaModFix/>
          </a:blip>
          <a:stretch>
            <a:fillRect/>
          </a:stretch>
        </p:blipFill>
        <p:spPr>
          <a:xfrm>
            <a:off x="6220975" y="1298200"/>
            <a:ext cx="461400" cy="461400"/>
          </a:xfrm>
          <a:prstGeom prst="rect">
            <a:avLst/>
          </a:prstGeom>
          <a:noFill/>
          <a:ln>
            <a:noFill/>
          </a:ln>
        </p:spPr>
      </p:pic>
      <p:pic>
        <p:nvPicPr>
          <p:cNvPr id="474" name="Google Shape;474;p35"/>
          <p:cNvPicPr preferRelativeResize="0"/>
          <p:nvPr/>
        </p:nvPicPr>
        <p:blipFill>
          <a:blip r:embed="rId8">
            <a:alphaModFix/>
          </a:blip>
          <a:stretch>
            <a:fillRect/>
          </a:stretch>
        </p:blipFill>
        <p:spPr>
          <a:xfrm>
            <a:off x="6627025" y="1298200"/>
            <a:ext cx="461400" cy="461400"/>
          </a:xfrm>
          <a:prstGeom prst="rect">
            <a:avLst/>
          </a:prstGeom>
          <a:noFill/>
          <a:ln>
            <a:noFill/>
          </a:ln>
        </p:spPr>
      </p:pic>
      <p:pic>
        <p:nvPicPr>
          <p:cNvPr id="475" name="Google Shape;475;p35"/>
          <p:cNvPicPr preferRelativeResize="0"/>
          <p:nvPr/>
        </p:nvPicPr>
        <p:blipFill>
          <a:blip r:embed="rId7">
            <a:alphaModFix/>
          </a:blip>
          <a:stretch>
            <a:fillRect/>
          </a:stretch>
        </p:blipFill>
        <p:spPr>
          <a:xfrm>
            <a:off x="8447888" y="3942188"/>
            <a:ext cx="385476" cy="385476"/>
          </a:xfrm>
          <a:prstGeom prst="rect">
            <a:avLst/>
          </a:prstGeom>
          <a:noFill/>
          <a:ln>
            <a:noFill/>
          </a:ln>
        </p:spPr>
      </p:pic>
      <p:pic>
        <p:nvPicPr>
          <p:cNvPr id="476" name="Google Shape;476;p35"/>
          <p:cNvPicPr preferRelativeResize="0"/>
          <p:nvPr/>
        </p:nvPicPr>
        <p:blipFill>
          <a:blip r:embed="rId7">
            <a:alphaModFix/>
          </a:blip>
          <a:stretch>
            <a:fillRect/>
          </a:stretch>
        </p:blipFill>
        <p:spPr>
          <a:xfrm>
            <a:off x="8041725" y="3950563"/>
            <a:ext cx="385476" cy="385476"/>
          </a:xfrm>
          <a:prstGeom prst="rect">
            <a:avLst/>
          </a:prstGeom>
          <a:noFill/>
          <a:ln>
            <a:noFill/>
          </a:ln>
        </p:spPr>
      </p:pic>
      <p:pic>
        <p:nvPicPr>
          <p:cNvPr id="477" name="Google Shape;477;p35"/>
          <p:cNvPicPr preferRelativeResize="0"/>
          <p:nvPr/>
        </p:nvPicPr>
        <p:blipFill rotWithShape="1">
          <a:blip r:embed="rId7">
            <a:alphaModFix/>
          </a:blip>
          <a:srcRect b="0" l="0" r="36852" t="0"/>
          <a:stretch/>
        </p:blipFill>
        <p:spPr>
          <a:xfrm>
            <a:off x="7719625" y="2120575"/>
            <a:ext cx="243426" cy="385476"/>
          </a:xfrm>
          <a:prstGeom prst="rect">
            <a:avLst/>
          </a:prstGeom>
          <a:noFill/>
          <a:ln>
            <a:noFill/>
          </a:ln>
        </p:spPr>
      </p:pic>
      <p:pic>
        <p:nvPicPr>
          <p:cNvPr id="478" name="Google Shape;478;p35"/>
          <p:cNvPicPr preferRelativeResize="0"/>
          <p:nvPr/>
        </p:nvPicPr>
        <p:blipFill>
          <a:blip r:embed="rId9">
            <a:alphaModFix/>
          </a:blip>
          <a:stretch>
            <a:fillRect/>
          </a:stretch>
        </p:blipFill>
        <p:spPr>
          <a:xfrm>
            <a:off x="4901100" y="2916700"/>
            <a:ext cx="461400" cy="461400"/>
          </a:xfrm>
          <a:prstGeom prst="rect">
            <a:avLst/>
          </a:prstGeom>
          <a:noFill/>
          <a:ln>
            <a:noFill/>
          </a:ln>
        </p:spPr>
      </p:pic>
      <p:pic>
        <p:nvPicPr>
          <p:cNvPr id="479" name="Google Shape;479;p35"/>
          <p:cNvPicPr preferRelativeResize="0"/>
          <p:nvPr/>
        </p:nvPicPr>
        <p:blipFill>
          <a:blip r:embed="rId9">
            <a:alphaModFix/>
          </a:blip>
          <a:stretch>
            <a:fillRect/>
          </a:stretch>
        </p:blipFill>
        <p:spPr>
          <a:xfrm>
            <a:off x="4882088" y="3916800"/>
            <a:ext cx="461400" cy="461400"/>
          </a:xfrm>
          <a:prstGeom prst="rect">
            <a:avLst/>
          </a:prstGeom>
          <a:noFill/>
          <a:ln>
            <a:noFill/>
          </a:ln>
        </p:spPr>
      </p:pic>
      <p:pic>
        <p:nvPicPr>
          <p:cNvPr id="480" name="Google Shape;480;p35"/>
          <p:cNvPicPr preferRelativeResize="0"/>
          <p:nvPr/>
        </p:nvPicPr>
        <p:blipFill>
          <a:blip r:embed="rId9">
            <a:alphaModFix/>
          </a:blip>
          <a:stretch>
            <a:fillRect/>
          </a:stretch>
        </p:blipFill>
        <p:spPr>
          <a:xfrm>
            <a:off x="5394088" y="3916800"/>
            <a:ext cx="461400" cy="461400"/>
          </a:xfrm>
          <a:prstGeom prst="rect">
            <a:avLst/>
          </a:prstGeom>
          <a:noFill/>
          <a:ln>
            <a:noFill/>
          </a:ln>
        </p:spPr>
      </p:pic>
      <p:pic>
        <p:nvPicPr>
          <p:cNvPr id="481" name="Google Shape;481;p35"/>
          <p:cNvPicPr preferRelativeResize="0"/>
          <p:nvPr/>
        </p:nvPicPr>
        <p:blipFill rotWithShape="1">
          <a:blip r:embed="rId9">
            <a:alphaModFix/>
          </a:blip>
          <a:srcRect b="0" l="0" r="47243" t="0"/>
          <a:stretch/>
        </p:blipFill>
        <p:spPr>
          <a:xfrm>
            <a:off x="4901100" y="1298188"/>
            <a:ext cx="243426" cy="461400"/>
          </a:xfrm>
          <a:prstGeom prst="rect">
            <a:avLst/>
          </a:prstGeom>
          <a:noFill/>
          <a:ln>
            <a:noFill/>
          </a:ln>
        </p:spPr>
      </p:pic>
      <p:pic>
        <p:nvPicPr>
          <p:cNvPr id="482" name="Google Shape;482;p35"/>
          <p:cNvPicPr preferRelativeResize="0"/>
          <p:nvPr/>
        </p:nvPicPr>
        <p:blipFill>
          <a:blip r:embed="rId8">
            <a:alphaModFix/>
          </a:blip>
          <a:stretch>
            <a:fillRect/>
          </a:stretch>
        </p:blipFill>
        <p:spPr>
          <a:xfrm>
            <a:off x="6248412" y="2889638"/>
            <a:ext cx="461400" cy="461400"/>
          </a:xfrm>
          <a:prstGeom prst="rect">
            <a:avLst/>
          </a:prstGeom>
          <a:noFill/>
          <a:ln>
            <a:noFill/>
          </a:ln>
        </p:spPr>
      </p:pic>
      <p:pic>
        <p:nvPicPr>
          <p:cNvPr id="483" name="Google Shape;483;p35"/>
          <p:cNvPicPr preferRelativeResize="0"/>
          <p:nvPr/>
        </p:nvPicPr>
        <p:blipFill>
          <a:blip r:embed="rId8">
            <a:alphaModFix/>
          </a:blip>
          <a:stretch>
            <a:fillRect/>
          </a:stretch>
        </p:blipFill>
        <p:spPr>
          <a:xfrm>
            <a:off x="6656262" y="2889650"/>
            <a:ext cx="461400" cy="461400"/>
          </a:xfrm>
          <a:prstGeom prst="rect">
            <a:avLst/>
          </a:prstGeom>
          <a:noFill/>
          <a:ln>
            <a:noFill/>
          </a:ln>
        </p:spPr>
      </p:pic>
      <p:pic>
        <p:nvPicPr>
          <p:cNvPr id="484" name="Google Shape;484;p35"/>
          <p:cNvPicPr preferRelativeResize="0"/>
          <p:nvPr/>
        </p:nvPicPr>
        <p:blipFill>
          <a:blip r:embed="rId8">
            <a:alphaModFix/>
          </a:blip>
          <a:stretch>
            <a:fillRect/>
          </a:stretch>
        </p:blipFill>
        <p:spPr>
          <a:xfrm>
            <a:off x="6257987" y="3904225"/>
            <a:ext cx="461400" cy="461400"/>
          </a:xfrm>
          <a:prstGeom prst="rect">
            <a:avLst/>
          </a:prstGeom>
          <a:noFill/>
          <a:ln>
            <a:noFill/>
          </a:ln>
        </p:spPr>
      </p:pic>
      <p:pic>
        <p:nvPicPr>
          <p:cNvPr id="485" name="Google Shape;485;p35"/>
          <p:cNvPicPr preferRelativeResize="0"/>
          <p:nvPr/>
        </p:nvPicPr>
        <p:blipFill>
          <a:blip r:embed="rId8">
            <a:alphaModFix/>
          </a:blip>
          <a:stretch>
            <a:fillRect/>
          </a:stretch>
        </p:blipFill>
        <p:spPr>
          <a:xfrm>
            <a:off x="6665837" y="3904225"/>
            <a:ext cx="461400" cy="461400"/>
          </a:xfrm>
          <a:prstGeom prst="rect">
            <a:avLst/>
          </a:prstGeom>
          <a:noFill/>
          <a:ln>
            <a:noFill/>
          </a:ln>
        </p:spPr>
      </p:pic>
      <p:pic>
        <p:nvPicPr>
          <p:cNvPr id="486" name="Google Shape;486;p35"/>
          <p:cNvPicPr preferRelativeResize="0"/>
          <p:nvPr/>
        </p:nvPicPr>
        <p:blipFill>
          <a:blip r:embed="rId8">
            <a:alphaModFix/>
          </a:blip>
          <a:stretch>
            <a:fillRect/>
          </a:stretch>
        </p:blipFill>
        <p:spPr>
          <a:xfrm>
            <a:off x="7088437" y="1298200"/>
            <a:ext cx="461400" cy="461400"/>
          </a:xfrm>
          <a:prstGeom prst="rect">
            <a:avLst/>
          </a:prstGeom>
          <a:noFill/>
          <a:ln>
            <a:noFill/>
          </a:ln>
        </p:spPr>
      </p:pic>
      <p:pic>
        <p:nvPicPr>
          <p:cNvPr id="487" name="Google Shape;487;p35"/>
          <p:cNvPicPr preferRelativeResize="0"/>
          <p:nvPr/>
        </p:nvPicPr>
        <p:blipFill>
          <a:blip r:embed="rId7">
            <a:alphaModFix/>
          </a:blip>
          <a:stretch>
            <a:fillRect/>
          </a:stretch>
        </p:blipFill>
        <p:spPr>
          <a:xfrm>
            <a:off x="7719613" y="1336150"/>
            <a:ext cx="385476" cy="385476"/>
          </a:xfrm>
          <a:prstGeom prst="rect">
            <a:avLst/>
          </a:prstGeom>
          <a:noFill/>
          <a:ln>
            <a:noFill/>
          </a:ln>
        </p:spPr>
      </p:pic>
      <p:sp>
        <p:nvSpPr>
          <p:cNvPr id="488" name="Google Shape;488;p35"/>
          <p:cNvSpPr txBox="1"/>
          <p:nvPr/>
        </p:nvSpPr>
        <p:spPr>
          <a:xfrm>
            <a:off x="512150" y="0"/>
            <a:ext cx="662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highlight>
                  <a:srgbClr val="FFFFFF"/>
                </a:highlight>
                <a:latin typeface="Montserrat"/>
                <a:ea typeface="Montserrat"/>
                <a:cs typeface="Montserrat"/>
                <a:sym typeface="Montserrat"/>
              </a:rPr>
              <a:t>Example Project Strategies</a:t>
            </a:r>
            <a:endParaRPr b="1" sz="2200">
              <a:solidFill>
                <a:schemeClr val="lt1"/>
              </a:solidFill>
              <a:highlight>
                <a:srgbClr val="FFFFFF"/>
              </a:highlight>
              <a:latin typeface="Montserrat"/>
              <a:ea typeface="Montserrat"/>
              <a:cs typeface="Montserrat"/>
              <a:sym typeface="Montserrat"/>
            </a:endParaRPr>
          </a:p>
        </p:txBody>
      </p:sp>
      <p:sp>
        <p:nvSpPr>
          <p:cNvPr id="489" name="Google Shape;489;p35"/>
          <p:cNvSpPr/>
          <p:nvPr/>
        </p:nvSpPr>
        <p:spPr>
          <a:xfrm rot="5400000">
            <a:off x="-1017850" y="2463450"/>
            <a:ext cx="2598600" cy="461400"/>
          </a:xfrm>
          <a:prstGeom prst="rightArrow">
            <a:avLst>
              <a:gd fmla="val 50000" name="adj1"/>
              <a:gd fmla="val 50000" name="adj2"/>
            </a:avLst>
          </a:prstGeom>
          <a:gradFill>
            <a:gsLst>
              <a:gs pos="0">
                <a:srgbClr val="FFFFFF"/>
              </a:gs>
              <a:gs pos="57000">
                <a:srgbClr val="B8D4AB"/>
              </a:gs>
              <a:gs pos="100000">
                <a:srgbClr val="EA9999"/>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35"/>
          <p:cNvSpPr txBox="1"/>
          <p:nvPr/>
        </p:nvSpPr>
        <p:spPr>
          <a:xfrm rot="-5400000">
            <a:off x="-340860" y="2338975"/>
            <a:ext cx="119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Lato"/>
                <a:ea typeface="Lato"/>
                <a:cs typeface="Lato"/>
                <a:sym typeface="Lato"/>
              </a:rPr>
              <a:t>Investment</a:t>
            </a:r>
            <a:endParaRPr b="1" sz="1500">
              <a:solidFill>
                <a:schemeClr val="lt1"/>
              </a:solidFill>
              <a:latin typeface="Lato"/>
              <a:ea typeface="Lato"/>
              <a:cs typeface="Lato"/>
              <a:sym typeface="Lato"/>
            </a:endParaRPr>
          </a:p>
        </p:txBody>
      </p:sp>
      <p:pic>
        <p:nvPicPr>
          <p:cNvPr id="491" name="Google Shape;491;p35"/>
          <p:cNvPicPr preferRelativeResize="0"/>
          <p:nvPr/>
        </p:nvPicPr>
        <p:blipFill rotWithShape="1">
          <a:blip r:embed="rId9">
            <a:alphaModFix/>
          </a:blip>
          <a:srcRect b="0" l="0" r="47243" t="0"/>
          <a:stretch/>
        </p:blipFill>
        <p:spPr>
          <a:xfrm>
            <a:off x="4945200" y="2069900"/>
            <a:ext cx="243426" cy="461400"/>
          </a:xfrm>
          <a:prstGeom prst="rect">
            <a:avLst/>
          </a:prstGeom>
          <a:noFill/>
          <a:ln>
            <a:noFill/>
          </a:ln>
        </p:spPr>
      </p:pic>
      <p:pic>
        <p:nvPicPr>
          <p:cNvPr id="492" name="Google Shape;492;p35"/>
          <p:cNvPicPr preferRelativeResize="0"/>
          <p:nvPr/>
        </p:nvPicPr>
        <p:blipFill>
          <a:blip r:embed="rId8">
            <a:alphaModFix/>
          </a:blip>
          <a:stretch>
            <a:fillRect/>
          </a:stretch>
        </p:blipFill>
        <p:spPr>
          <a:xfrm>
            <a:off x="6248400" y="2082613"/>
            <a:ext cx="461400" cy="461400"/>
          </a:xfrm>
          <a:prstGeom prst="rect">
            <a:avLst/>
          </a:prstGeom>
          <a:noFill/>
          <a:ln>
            <a:noFill/>
          </a:ln>
        </p:spPr>
      </p:pic>
      <p:pic>
        <p:nvPicPr>
          <p:cNvPr id="493" name="Google Shape;493;p35"/>
          <p:cNvPicPr preferRelativeResize="0"/>
          <p:nvPr/>
        </p:nvPicPr>
        <p:blipFill>
          <a:blip r:embed="rId8">
            <a:alphaModFix/>
          </a:blip>
          <a:stretch>
            <a:fillRect/>
          </a:stretch>
        </p:blipFill>
        <p:spPr>
          <a:xfrm>
            <a:off x="6654450" y="2082613"/>
            <a:ext cx="461400" cy="461400"/>
          </a:xfrm>
          <a:prstGeom prst="rect">
            <a:avLst/>
          </a:prstGeom>
          <a:noFill/>
          <a:ln>
            <a:noFill/>
          </a:ln>
        </p:spPr>
      </p:pic>
      <p:pic>
        <p:nvPicPr>
          <p:cNvPr id="494" name="Google Shape;494;p35"/>
          <p:cNvPicPr preferRelativeResize="0"/>
          <p:nvPr/>
        </p:nvPicPr>
        <p:blipFill>
          <a:blip r:embed="rId7">
            <a:alphaModFix/>
          </a:blip>
          <a:stretch>
            <a:fillRect/>
          </a:stretch>
        </p:blipFill>
        <p:spPr>
          <a:xfrm>
            <a:off x="7719625" y="2923413"/>
            <a:ext cx="385476" cy="385476"/>
          </a:xfrm>
          <a:prstGeom prst="rect">
            <a:avLst/>
          </a:prstGeom>
          <a:noFill/>
          <a:ln>
            <a:noFill/>
          </a:ln>
        </p:spPr>
      </p:pic>
      <p:pic>
        <p:nvPicPr>
          <p:cNvPr id="495" name="Google Shape;495;p35"/>
          <p:cNvPicPr preferRelativeResize="0"/>
          <p:nvPr/>
        </p:nvPicPr>
        <p:blipFill>
          <a:blip r:embed="rId7">
            <a:alphaModFix/>
          </a:blip>
          <a:stretch>
            <a:fillRect/>
          </a:stretch>
        </p:blipFill>
        <p:spPr>
          <a:xfrm>
            <a:off x="8125763" y="2931788"/>
            <a:ext cx="385476" cy="38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