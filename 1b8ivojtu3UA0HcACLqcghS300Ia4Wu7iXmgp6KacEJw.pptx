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this case study, we will look at how artificial intelligence has been utilized in governmental financial services. </a:t>
            </a:r>
            <a:r>
              <a:rPr lang="en">
                <a:solidFill>
                  <a:schemeClr val="dk1"/>
                </a:solidFill>
              </a:rPr>
              <a:t>National banks, such as the Federal Reserve of United States and the European Central bank of the European Union have started to explore how Artificial Intelligence can be used for data mining and economic forecast prediction. Let’s see where they are coming from.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f1264c74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f1264c74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many uses of artificial intelligence for improving financial institutions, each with potential benefits and risks. Most financial institutions weigh the benefits and risks carefully before implementation.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For instance, if a financial institution takes a h</a:t>
            </a:r>
            <a:r>
              <a:rPr lang="en">
                <a:solidFill>
                  <a:schemeClr val="dk1"/>
                </a:solidFill>
              </a:rPr>
              <a:t>igh-risk prediction seriously, such as predicting a financial crisis or a large recession, then it would have huge impact on a bank’s policy and allows the bank to act early. However, many financial institutions are hesitant to take action based on artificial intelligence predictions because the prediction is high-risk. If the prediction is not accurate then there can be severe consequences. Additionally, data on rare events such as financial crises are not abundant, so researchers worry that there is not enough data to train accurate models.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t>Many banks prefer to pilot artificial intelligence for low-risk, repeated predictions, in which the events are common and there is a lot of data to train the model 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Let’s look at a few examples that illustrate the potential benefits and risks of </a:t>
            </a:r>
            <a:r>
              <a:rPr lang="en">
                <a:solidFill>
                  <a:schemeClr val="dk1"/>
                </a:solidFill>
              </a:rPr>
              <a:t>artificial intelligence for improving financial institutions.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639341f20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639341f20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 important task in analysis of economic data is to classify business by institutional sector.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instance, given 10 million legal entities in the European Union, they need to be classified by financial sector to conduct downstream analysis. In the past, classifying legal entities was curated by expert knowledge.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Text-based analysis and machine learning classifiers, which are all considered AI models, help reduce this </a:t>
            </a:r>
            <a:r>
              <a:rPr lang="en">
                <a:solidFill>
                  <a:schemeClr val="dk1"/>
                </a:solidFill>
              </a:rPr>
              <a:t>manual curation time.</a:t>
            </a:r>
            <a:r>
              <a:rPr lang="en">
                <a:solidFill>
                  <a:schemeClr val="dk1"/>
                </a:solidFill>
              </a:rPr>
              <a:t> An AI model would extract important keywords and classify into an appropriate financial sector, such as “non-profits”, “small business”, or “government”.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would be a low-risk use of AI, as one could easily validate the result to the true financial sector.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639341f20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639341f20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Banks are considering expanding upon existing traditional economic models to bring in a wider data sources, such as pulling in social media feeds as an indicator of public sentiment. The National bank of France has started to use </a:t>
            </a:r>
            <a:r>
              <a:rPr lang="en">
                <a:solidFill>
                  <a:schemeClr val="dk1"/>
                </a:solidFill>
              </a:rPr>
              <a:t>social media information</a:t>
            </a:r>
            <a:r>
              <a:rPr lang="en">
                <a:solidFill>
                  <a:schemeClr val="dk1"/>
                </a:solidFill>
              </a:rPr>
              <a:t> to estimate the public perception of inflation. The Malaysian national bank has started to incorporate new articles into its financial model of gross domestic product estimation.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may raise questions about government oversight of social media information.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39341f20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639341f20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US Federal Reserve has researched the idea of using pre-trained large language models from Google to make inflation prediction. Usually, inflation is predicted from the Survey of Professional Forecasters, which pools forecasts from a range of financial forecasts and experts. When compared to the true inflation rate, the researchers found that the large language models performed slightly better than the Survey of Professional Forecasters.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A concern of using pre-trained large language models is that the data sources used for model training are not known, so the financial institution may be using data that is not in line with its policy. Also, a potential risk of using large language models that perform similarly is the convergence of predictions. If large language models make very similar predictions, banks would act similarly and make similar policies, which may lead to financial instability.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639341f20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639341f20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case study, you got to see the u</a:t>
            </a:r>
            <a:r>
              <a:rPr lang="en"/>
              <a:t>ses of artificial intelligence for improving financial institutions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exciting benefits include reducing workload of redundant tasks, incorporating creative data sources to represent public sentiment, and building better time series models for inflation.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these benefits come with considerable risks that require careful implementation. For instance, one needs to carefully benchmark models before acting on them especially in high-risk situations. Adding new data sources always require ethics and privacy evaluation. Finally, if central banks develop models that rely on similar assumptions and datasets and act similarly, then it could lead to the same financial risks.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AI Case Study: F</a:t>
            </a:r>
            <a:r>
              <a:rPr lang="en"/>
              <a:t>inancial Services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116975" y="460275"/>
            <a:ext cx="6806100" cy="113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2200"/>
              <a:t>Uses of artificial intelligence for improving financial institutions</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p:txBody>
      </p:sp>
      <p:sp>
        <p:nvSpPr>
          <p:cNvPr id="170" name="Google Shape;170;p17"/>
          <p:cNvSpPr txBox="1"/>
          <p:nvPr>
            <p:ph idx="4294967295" type="body"/>
          </p:nvPr>
        </p:nvSpPr>
        <p:spPr>
          <a:xfrm>
            <a:off x="186600" y="4782725"/>
            <a:ext cx="6936000" cy="52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000"/>
              <a:t>Arpingstone, Public domain, via Wikimedia Commons</a:t>
            </a:r>
            <a:endParaRPr sz="1000"/>
          </a:p>
        </p:txBody>
      </p:sp>
      <p:pic>
        <p:nvPicPr>
          <p:cNvPr id="171" name="Google Shape;171;p17"/>
          <p:cNvPicPr preferRelativeResize="0"/>
          <p:nvPr/>
        </p:nvPicPr>
        <p:blipFill>
          <a:blip r:embed="rId3">
            <a:alphaModFix/>
          </a:blip>
          <a:stretch>
            <a:fillRect/>
          </a:stretch>
        </p:blipFill>
        <p:spPr>
          <a:xfrm>
            <a:off x="439450" y="1013400"/>
            <a:ext cx="4492136" cy="3660925"/>
          </a:xfrm>
          <a:prstGeom prst="rect">
            <a:avLst/>
          </a:prstGeom>
          <a:noFill/>
          <a:ln>
            <a:noFill/>
          </a:ln>
        </p:spPr>
      </p:pic>
      <p:sp>
        <p:nvSpPr>
          <p:cNvPr id="172" name="Google Shape;172;p17"/>
          <p:cNvSpPr txBox="1"/>
          <p:nvPr/>
        </p:nvSpPr>
        <p:spPr>
          <a:xfrm>
            <a:off x="5212358" y="760835"/>
            <a:ext cx="3915000" cy="41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Montserrat"/>
                <a:ea typeface="Montserrat"/>
                <a:cs typeface="Montserrat"/>
                <a:sym typeface="Montserrat"/>
              </a:rPr>
              <a:t>Most financial institutions weigh the benefits and risks of AI carefully before implementation.</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rPr b="1" lang="en" sz="1600">
                <a:solidFill>
                  <a:schemeClr val="accent5"/>
                </a:solidFill>
                <a:latin typeface="Montserrat"/>
                <a:ea typeface="Montserrat"/>
                <a:cs typeface="Montserrat"/>
                <a:sym typeface="Montserrat"/>
              </a:rPr>
              <a:t>High risk</a:t>
            </a:r>
            <a:r>
              <a:rPr lang="en" sz="1600">
                <a:solidFill>
                  <a:schemeClr val="lt1"/>
                </a:solidFill>
                <a:latin typeface="Montserrat"/>
                <a:ea typeface="Montserrat"/>
                <a:cs typeface="Montserrat"/>
                <a:sym typeface="Montserrat"/>
              </a:rPr>
              <a:t>: predicting inflation, and acting on it. </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lt1"/>
              </a:solidFill>
              <a:latin typeface="Montserrat"/>
              <a:ea typeface="Montserrat"/>
              <a:cs typeface="Montserrat"/>
              <a:sym typeface="Montserrat"/>
            </a:endParaRPr>
          </a:p>
          <a:p>
            <a:pPr indent="0" lvl="0" marL="0" rtl="0" algn="l">
              <a:spcBef>
                <a:spcPts val="0"/>
              </a:spcBef>
              <a:spcAft>
                <a:spcPts val="0"/>
              </a:spcAft>
              <a:buClr>
                <a:schemeClr val="lt1"/>
              </a:buClr>
              <a:buSzPts val="1100"/>
              <a:buFont typeface="Arial"/>
              <a:buNone/>
            </a:pPr>
            <a:r>
              <a:rPr b="1" lang="en" sz="1600">
                <a:solidFill>
                  <a:schemeClr val="accent4"/>
                </a:solidFill>
                <a:latin typeface="Montserrat"/>
                <a:ea typeface="Montserrat"/>
                <a:cs typeface="Montserrat"/>
                <a:sym typeface="Montserrat"/>
              </a:rPr>
              <a:t>Low risk</a:t>
            </a:r>
            <a:r>
              <a:rPr lang="en" sz="1600">
                <a:solidFill>
                  <a:schemeClr val="lt1"/>
                </a:solidFill>
                <a:latin typeface="Montserrat"/>
                <a:ea typeface="Montserrat"/>
                <a:cs typeface="Montserrat"/>
                <a:sym typeface="Montserrat"/>
              </a:rPr>
              <a:t>: automating financial sector predicting</a:t>
            </a:r>
            <a:endParaRPr sz="1600">
              <a:solidFill>
                <a:schemeClr val="lt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622150" y="669075"/>
            <a:ext cx="5612100" cy="523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538"/>
              <a:t>Web scraping and classification</a:t>
            </a:r>
            <a:endParaRPr sz="2538"/>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178" name="Google Shape;178;p18"/>
          <p:cNvPicPr preferRelativeResize="0"/>
          <p:nvPr/>
        </p:nvPicPr>
        <p:blipFill>
          <a:blip r:embed="rId3">
            <a:alphaModFix/>
          </a:blip>
          <a:stretch>
            <a:fillRect/>
          </a:stretch>
        </p:blipFill>
        <p:spPr>
          <a:xfrm>
            <a:off x="767054" y="1047675"/>
            <a:ext cx="4359076" cy="3272099"/>
          </a:xfrm>
          <a:prstGeom prst="rect">
            <a:avLst/>
          </a:prstGeom>
          <a:noFill/>
          <a:ln>
            <a:noFill/>
          </a:ln>
        </p:spPr>
      </p:pic>
      <p:sp>
        <p:nvSpPr>
          <p:cNvPr id="179" name="Google Shape;179;p18"/>
          <p:cNvSpPr txBox="1"/>
          <p:nvPr/>
        </p:nvSpPr>
        <p:spPr>
          <a:xfrm>
            <a:off x="5126125" y="678675"/>
            <a:ext cx="666000" cy="21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800">
                <a:solidFill>
                  <a:schemeClr val="lt1"/>
                </a:solidFill>
                <a:latin typeface="Lato"/>
                <a:ea typeface="Lato"/>
                <a:cs typeface="Lato"/>
                <a:sym typeface="Lato"/>
              </a:rPr>
              <a:t>{</a:t>
            </a:r>
            <a:endParaRPr sz="10800">
              <a:solidFill>
                <a:schemeClr val="lt1"/>
              </a:solidFill>
              <a:latin typeface="Lato"/>
              <a:ea typeface="Lato"/>
              <a:cs typeface="Lato"/>
              <a:sym typeface="Lato"/>
            </a:endParaRPr>
          </a:p>
        </p:txBody>
      </p:sp>
      <p:sp>
        <p:nvSpPr>
          <p:cNvPr id="180" name="Google Shape;180;p18"/>
          <p:cNvSpPr txBox="1"/>
          <p:nvPr/>
        </p:nvSpPr>
        <p:spPr>
          <a:xfrm>
            <a:off x="5642875" y="839400"/>
            <a:ext cx="3943800" cy="28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Montserrat"/>
                <a:ea typeface="Montserrat"/>
                <a:cs typeface="Montserrat"/>
                <a:sym typeface="Montserrat"/>
              </a:rPr>
              <a:t>“Non-profit”, </a:t>
            </a:r>
            <a:endParaRPr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n" sz="1800">
                <a:solidFill>
                  <a:schemeClr val="lt1"/>
                </a:solidFill>
                <a:latin typeface="Montserrat"/>
                <a:ea typeface="Montserrat"/>
                <a:cs typeface="Montserrat"/>
                <a:sym typeface="Montserrat"/>
              </a:rPr>
              <a:t>“small business”, </a:t>
            </a:r>
            <a:endParaRPr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n" sz="1800">
                <a:solidFill>
                  <a:schemeClr val="lt1"/>
                </a:solidFill>
                <a:latin typeface="Montserrat"/>
                <a:ea typeface="Montserrat"/>
                <a:cs typeface="Montserrat"/>
                <a:sym typeface="Montserrat"/>
              </a:rPr>
              <a:t>“government”, </a:t>
            </a:r>
            <a:endParaRPr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n" sz="1800">
                <a:solidFill>
                  <a:schemeClr val="lt1"/>
                </a:solidFill>
                <a:latin typeface="Montserrat"/>
                <a:ea typeface="Montserrat"/>
                <a:cs typeface="Montserrat"/>
                <a:sym typeface="Montserrat"/>
              </a:rPr>
              <a:t>“international corporation”</a:t>
            </a:r>
            <a:endParaRPr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n" sz="1800">
                <a:solidFill>
                  <a:schemeClr val="lt1"/>
                </a:solidFill>
                <a:latin typeface="Montserrat"/>
                <a:ea typeface="Montserrat"/>
                <a:cs typeface="Montserrat"/>
                <a:sym typeface="Montserrat"/>
              </a:rPr>
              <a:t>  ……</a:t>
            </a:r>
            <a:endParaRPr sz="1800">
              <a:solidFill>
                <a:schemeClr val="lt1"/>
              </a:solidFill>
              <a:latin typeface="Montserrat"/>
              <a:ea typeface="Montserrat"/>
              <a:cs typeface="Montserrat"/>
              <a:sym typeface="Montserrat"/>
            </a:endParaRPr>
          </a:p>
        </p:txBody>
      </p:sp>
      <p:sp>
        <p:nvSpPr>
          <p:cNvPr id="181" name="Google Shape;181;p18"/>
          <p:cNvSpPr txBox="1"/>
          <p:nvPr>
            <p:ph idx="4294967295" type="body"/>
          </p:nvPr>
        </p:nvSpPr>
        <p:spPr>
          <a:xfrm>
            <a:off x="418425" y="4674325"/>
            <a:ext cx="6473400" cy="523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a:t>Tom Ventura from Denver, CO, USA, CC BY 2.0 &lt;https://creativecommons.org/licenses/by/2.0&gt;, via Wikimedia Commons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9"/>
          <p:cNvSpPr txBox="1"/>
          <p:nvPr>
            <p:ph idx="4294967295" type="body"/>
          </p:nvPr>
        </p:nvSpPr>
        <p:spPr>
          <a:xfrm>
            <a:off x="418425" y="4521925"/>
            <a:ext cx="6936000" cy="523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lang="en" sz="1017"/>
              <a:t>Jason Howie, CC BY 2.0 &lt;https://creativecommons.org/licenses/by/2.0&gt;, via Wikimedia Commons</a:t>
            </a:r>
            <a:endParaRPr sz="1017"/>
          </a:p>
          <a:p>
            <a:pPr indent="0" lvl="0" marL="0" rtl="0" algn="l">
              <a:lnSpc>
                <a:spcPct val="95000"/>
              </a:lnSpc>
              <a:spcBef>
                <a:spcPts val="1200"/>
              </a:spcBef>
              <a:spcAft>
                <a:spcPts val="1200"/>
              </a:spcAft>
              <a:buSzPts val="523"/>
              <a:buNone/>
            </a:pPr>
            <a:r>
              <a:rPr lang="en" sz="1017"/>
              <a:t>Offnfopt, CC BY-SA 3.0 &lt;https://creativecommons.org/licenses/by-sa/3.0&gt;, via Wikimedia Commons</a:t>
            </a:r>
            <a:endParaRPr sz="1017"/>
          </a:p>
        </p:txBody>
      </p:sp>
      <p:sp>
        <p:nvSpPr>
          <p:cNvPr id="187" name="Google Shape;187;p19"/>
          <p:cNvSpPr txBox="1"/>
          <p:nvPr>
            <p:ph type="title"/>
          </p:nvPr>
        </p:nvSpPr>
        <p:spPr>
          <a:xfrm>
            <a:off x="469750" y="-790206"/>
            <a:ext cx="6630900" cy="4031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200"/>
              <a:t>Incorporating new predictors for forecasting</a:t>
            </a:r>
            <a:endParaRPr sz="22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188" name="Google Shape;188;p19"/>
          <p:cNvPicPr preferRelativeResize="0"/>
          <p:nvPr/>
        </p:nvPicPr>
        <p:blipFill>
          <a:blip r:embed="rId3">
            <a:alphaModFix/>
          </a:blip>
          <a:stretch>
            <a:fillRect/>
          </a:stretch>
        </p:blipFill>
        <p:spPr>
          <a:xfrm>
            <a:off x="467475" y="1176000"/>
            <a:ext cx="3397826" cy="2263800"/>
          </a:xfrm>
          <a:prstGeom prst="rect">
            <a:avLst/>
          </a:prstGeom>
          <a:noFill/>
          <a:ln>
            <a:noFill/>
          </a:ln>
        </p:spPr>
      </p:pic>
      <p:pic>
        <p:nvPicPr>
          <p:cNvPr id="189" name="Google Shape;189;p19"/>
          <p:cNvPicPr preferRelativeResize="0"/>
          <p:nvPr/>
        </p:nvPicPr>
        <p:blipFill>
          <a:blip r:embed="rId4">
            <a:alphaModFix/>
          </a:blip>
          <a:stretch>
            <a:fillRect/>
          </a:stretch>
        </p:blipFill>
        <p:spPr>
          <a:xfrm>
            <a:off x="4169325" y="1175995"/>
            <a:ext cx="4917275" cy="2334300"/>
          </a:xfrm>
          <a:prstGeom prst="rect">
            <a:avLst/>
          </a:prstGeom>
          <a:noFill/>
          <a:ln>
            <a:noFill/>
          </a:ln>
        </p:spPr>
      </p:pic>
      <p:sp>
        <p:nvSpPr>
          <p:cNvPr id="190" name="Google Shape;190;p19"/>
          <p:cNvSpPr txBox="1"/>
          <p:nvPr/>
        </p:nvSpPr>
        <p:spPr>
          <a:xfrm>
            <a:off x="413325" y="3640500"/>
            <a:ext cx="32997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1"/>
                </a:solidFill>
                <a:latin typeface="Montserrat"/>
                <a:ea typeface="Montserrat"/>
                <a:cs typeface="Montserrat"/>
                <a:sym typeface="Montserrat"/>
              </a:rPr>
              <a:t>Social media as an indicator of public sentiment</a:t>
            </a:r>
            <a:endParaRPr i="1">
              <a:solidFill>
                <a:schemeClr val="lt1"/>
              </a:solidFill>
              <a:latin typeface="Montserrat"/>
              <a:ea typeface="Montserrat"/>
              <a:cs typeface="Montserrat"/>
              <a:sym typeface="Montserrat"/>
            </a:endParaRPr>
          </a:p>
        </p:txBody>
      </p:sp>
      <p:sp>
        <p:nvSpPr>
          <p:cNvPr id="191" name="Google Shape;191;p19"/>
          <p:cNvSpPr txBox="1"/>
          <p:nvPr/>
        </p:nvSpPr>
        <p:spPr>
          <a:xfrm>
            <a:off x="4191000" y="3528163"/>
            <a:ext cx="32997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lt1"/>
                </a:solidFill>
                <a:latin typeface="Montserrat"/>
                <a:ea typeface="Montserrat"/>
                <a:cs typeface="Montserrat"/>
                <a:sym typeface="Montserrat"/>
              </a:rPr>
              <a:t>Artificial Intelligence model to forecast gross domestic product</a:t>
            </a:r>
            <a:endParaRPr i="1">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Lalala666, Public domain, via Wikimedia Commons</a:t>
            </a:r>
            <a:endParaRPr/>
          </a:p>
        </p:txBody>
      </p:sp>
      <p:sp>
        <p:nvSpPr>
          <p:cNvPr id="197" name="Google Shape;197;p20"/>
          <p:cNvSpPr txBox="1"/>
          <p:nvPr>
            <p:ph idx="4294967295" type="title"/>
          </p:nvPr>
        </p:nvSpPr>
        <p:spPr>
          <a:xfrm>
            <a:off x="622150" y="288075"/>
            <a:ext cx="7449000" cy="403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Using Large Language Models to predict inflation</a:t>
            </a:r>
            <a:endParaRPr sz="2200"/>
          </a:p>
          <a:p>
            <a:pPr indent="0" lvl="0" marL="0" rtl="0" algn="l">
              <a:spcBef>
                <a:spcPts val="0"/>
              </a:spcBef>
              <a:spcAft>
                <a:spcPts val="0"/>
              </a:spcAft>
              <a:buNone/>
            </a:pPr>
            <a:r>
              <a:t/>
            </a:r>
            <a:endParaRPr sz="1800"/>
          </a:p>
          <a:p>
            <a:pPr indent="0" lvl="0" marL="0" rtl="0" algn="l">
              <a:spcBef>
                <a:spcPts val="0"/>
              </a:spcBef>
              <a:spcAft>
                <a:spcPts val="0"/>
              </a:spcAft>
              <a:buNone/>
            </a:pPr>
            <a:r>
              <a:t/>
            </a:r>
            <a:endParaRPr sz="1550"/>
          </a:p>
          <a:p>
            <a:pPr indent="0" lvl="0" marL="0" rtl="0" algn="l">
              <a:spcBef>
                <a:spcPts val="0"/>
              </a:spcBef>
              <a:spcAft>
                <a:spcPts val="0"/>
              </a:spcAft>
              <a:buNone/>
            </a:pPr>
            <a:r>
              <a:t/>
            </a:r>
            <a:endParaRPr sz="1550"/>
          </a:p>
          <a:p>
            <a:pPr indent="0" lvl="0" marL="0" rtl="0" algn="l">
              <a:spcBef>
                <a:spcPts val="0"/>
              </a:spcBef>
              <a:spcAft>
                <a:spcPts val="0"/>
              </a:spcAft>
              <a:buNone/>
            </a:pPr>
            <a:r>
              <a:t/>
            </a:r>
            <a:endParaRPr sz="1550"/>
          </a:p>
        </p:txBody>
      </p:sp>
      <p:pic>
        <p:nvPicPr>
          <p:cNvPr id="198" name="Google Shape;198;p20"/>
          <p:cNvPicPr preferRelativeResize="0"/>
          <p:nvPr/>
        </p:nvPicPr>
        <p:blipFill>
          <a:blip r:embed="rId3">
            <a:alphaModFix/>
          </a:blip>
          <a:stretch>
            <a:fillRect/>
          </a:stretch>
        </p:blipFill>
        <p:spPr>
          <a:xfrm>
            <a:off x="622138" y="958875"/>
            <a:ext cx="7572375" cy="3524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type="title"/>
          </p:nvPr>
        </p:nvSpPr>
        <p:spPr>
          <a:xfrm>
            <a:off x="158750" y="386200"/>
            <a:ext cx="6806100" cy="113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200"/>
              <a:t>Uses of artificial intelligence for improving financial institutions</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p:txBody>
      </p:sp>
      <p:sp>
        <p:nvSpPr>
          <p:cNvPr id="204" name="Google Shape;204;p21"/>
          <p:cNvSpPr txBox="1"/>
          <p:nvPr/>
        </p:nvSpPr>
        <p:spPr>
          <a:xfrm>
            <a:off x="213975" y="1031175"/>
            <a:ext cx="8415600" cy="27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2"/>
                </a:solidFill>
                <a:latin typeface="Montserrat"/>
                <a:ea typeface="Montserrat"/>
                <a:cs typeface="Montserrat"/>
                <a:sym typeface="Montserrat"/>
              </a:rPr>
              <a:t>Benefits</a:t>
            </a:r>
            <a:endParaRPr b="1" sz="1600">
              <a:solidFill>
                <a:schemeClr val="accent2"/>
              </a:solidFill>
              <a:latin typeface="Montserrat"/>
              <a:ea typeface="Montserrat"/>
              <a:cs typeface="Montserrat"/>
              <a:sym typeface="Montserrat"/>
            </a:endParaRPr>
          </a:p>
          <a:p>
            <a:pPr indent="-330200" lvl="0" marL="457200" rtl="0" algn="l">
              <a:spcBef>
                <a:spcPts val="0"/>
              </a:spcBef>
              <a:spcAft>
                <a:spcPts val="0"/>
              </a:spcAft>
              <a:buClr>
                <a:schemeClr val="lt1"/>
              </a:buClr>
              <a:buSzPts val="1600"/>
              <a:buFont typeface="Montserrat"/>
              <a:buChar char="-"/>
            </a:pPr>
            <a:r>
              <a:rPr lang="en" sz="1600">
                <a:solidFill>
                  <a:schemeClr val="lt1"/>
                </a:solidFill>
                <a:latin typeface="Montserrat"/>
                <a:ea typeface="Montserrat"/>
                <a:cs typeface="Montserrat"/>
                <a:sym typeface="Montserrat"/>
              </a:rPr>
              <a:t>Reduce workload of redundant tasks</a:t>
            </a:r>
            <a:endParaRPr sz="1600">
              <a:solidFill>
                <a:schemeClr val="lt1"/>
              </a:solidFill>
              <a:latin typeface="Montserrat"/>
              <a:ea typeface="Montserrat"/>
              <a:cs typeface="Montserrat"/>
              <a:sym typeface="Montserrat"/>
            </a:endParaRPr>
          </a:p>
          <a:p>
            <a:pPr indent="-330200" lvl="0" marL="457200" rtl="0" algn="l">
              <a:spcBef>
                <a:spcPts val="0"/>
              </a:spcBef>
              <a:spcAft>
                <a:spcPts val="0"/>
              </a:spcAft>
              <a:buClr>
                <a:schemeClr val="lt1"/>
              </a:buClr>
              <a:buSzPts val="1600"/>
              <a:buFont typeface="Montserrat"/>
              <a:buChar char="-"/>
            </a:pPr>
            <a:r>
              <a:rPr lang="en" sz="1600">
                <a:solidFill>
                  <a:schemeClr val="lt1"/>
                </a:solidFill>
                <a:latin typeface="Montserrat"/>
                <a:ea typeface="Montserrat"/>
                <a:cs typeface="Montserrat"/>
                <a:sym typeface="Montserrat"/>
              </a:rPr>
              <a:t>Consider wider sources information to represent public sentiment</a:t>
            </a:r>
            <a:endParaRPr sz="1600">
              <a:solidFill>
                <a:schemeClr val="lt1"/>
              </a:solidFill>
              <a:latin typeface="Montserrat"/>
              <a:ea typeface="Montserrat"/>
              <a:cs typeface="Montserrat"/>
              <a:sym typeface="Montserrat"/>
            </a:endParaRPr>
          </a:p>
          <a:p>
            <a:pPr indent="-330200" lvl="0" marL="457200" rtl="0" algn="l">
              <a:spcBef>
                <a:spcPts val="0"/>
              </a:spcBef>
              <a:spcAft>
                <a:spcPts val="0"/>
              </a:spcAft>
              <a:buClr>
                <a:schemeClr val="lt1"/>
              </a:buClr>
              <a:buSzPts val="1600"/>
              <a:buFont typeface="Montserrat"/>
              <a:buChar char="-"/>
            </a:pPr>
            <a:r>
              <a:rPr lang="en" sz="1600">
                <a:solidFill>
                  <a:schemeClr val="lt1"/>
                </a:solidFill>
                <a:latin typeface="Montserrat"/>
                <a:ea typeface="Montserrat"/>
                <a:cs typeface="Montserrat"/>
                <a:sym typeface="Montserrat"/>
              </a:rPr>
              <a:t>Create better predictive time series models</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lt1"/>
              </a:solidFill>
              <a:latin typeface="Montserrat"/>
              <a:ea typeface="Montserrat"/>
              <a:cs typeface="Montserrat"/>
              <a:sym typeface="Montserrat"/>
            </a:endParaRPr>
          </a:p>
          <a:p>
            <a:pPr indent="0" lvl="0" marL="0" rtl="0" algn="l">
              <a:spcBef>
                <a:spcPts val="0"/>
              </a:spcBef>
              <a:spcAft>
                <a:spcPts val="0"/>
              </a:spcAft>
              <a:buNone/>
            </a:pPr>
            <a:r>
              <a:rPr b="1" lang="en" sz="1600">
                <a:solidFill>
                  <a:schemeClr val="accent4"/>
                </a:solidFill>
                <a:latin typeface="Montserrat"/>
                <a:ea typeface="Montserrat"/>
                <a:cs typeface="Montserrat"/>
                <a:sym typeface="Montserrat"/>
              </a:rPr>
              <a:t>Risks</a:t>
            </a:r>
            <a:endParaRPr b="1" sz="1600">
              <a:solidFill>
                <a:schemeClr val="accent4"/>
              </a:solidFill>
              <a:latin typeface="Montserrat"/>
              <a:ea typeface="Montserrat"/>
              <a:cs typeface="Montserrat"/>
              <a:sym typeface="Montserrat"/>
            </a:endParaRPr>
          </a:p>
          <a:p>
            <a:pPr indent="-330200" lvl="0" marL="457200" rtl="0" algn="l">
              <a:spcBef>
                <a:spcPts val="0"/>
              </a:spcBef>
              <a:spcAft>
                <a:spcPts val="0"/>
              </a:spcAft>
              <a:buClr>
                <a:schemeClr val="lt1"/>
              </a:buClr>
              <a:buSzPts val="1600"/>
              <a:buFont typeface="Montserrat"/>
              <a:buChar char="-"/>
            </a:pPr>
            <a:r>
              <a:rPr lang="en" sz="1600">
                <a:solidFill>
                  <a:schemeClr val="lt1"/>
                </a:solidFill>
                <a:latin typeface="Montserrat"/>
                <a:ea typeface="Montserrat"/>
                <a:cs typeface="Montserrat"/>
                <a:sym typeface="Montserrat"/>
              </a:rPr>
              <a:t>Need to carefully benchmark models for high-risk predictions</a:t>
            </a:r>
            <a:endParaRPr sz="1600">
              <a:solidFill>
                <a:schemeClr val="lt1"/>
              </a:solidFill>
              <a:latin typeface="Montserrat"/>
              <a:ea typeface="Montserrat"/>
              <a:cs typeface="Montserrat"/>
              <a:sym typeface="Montserrat"/>
            </a:endParaRPr>
          </a:p>
          <a:p>
            <a:pPr indent="-330200" lvl="0" marL="457200" rtl="0" algn="l">
              <a:spcBef>
                <a:spcPts val="0"/>
              </a:spcBef>
              <a:spcAft>
                <a:spcPts val="0"/>
              </a:spcAft>
              <a:buClr>
                <a:schemeClr val="lt1"/>
              </a:buClr>
              <a:buSzPts val="1600"/>
              <a:buFont typeface="Montserrat"/>
              <a:buChar char="-"/>
            </a:pPr>
            <a:r>
              <a:rPr lang="en" sz="1600">
                <a:solidFill>
                  <a:schemeClr val="lt1"/>
                </a:solidFill>
                <a:latin typeface="Montserrat"/>
                <a:ea typeface="Montserrat"/>
                <a:cs typeface="Montserrat"/>
                <a:sym typeface="Montserrat"/>
              </a:rPr>
              <a:t>Need to consider the ethics and privacy of any new data for a model</a:t>
            </a:r>
            <a:endParaRPr sz="1600">
              <a:solidFill>
                <a:schemeClr val="lt1"/>
              </a:solidFill>
              <a:latin typeface="Montserrat"/>
              <a:ea typeface="Montserrat"/>
              <a:cs typeface="Montserrat"/>
              <a:sym typeface="Montserrat"/>
            </a:endParaRPr>
          </a:p>
          <a:p>
            <a:pPr indent="-330200" lvl="0" marL="457200" rtl="0" algn="l">
              <a:spcBef>
                <a:spcPts val="0"/>
              </a:spcBef>
              <a:spcAft>
                <a:spcPts val="0"/>
              </a:spcAft>
              <a:buClr>
                <a:schemeClr val="lt1"/>
              </a:buClr>
              <a:buSzPts val="1600"/>
              <a:buFont typeface="Montserrat"/>
              <a:buChar char="-"/>
            </a:pPr>
            <a:r>
              <a:rPr lang="en" sz="1600">
                <a:solidFill>
                  <a:schemeClr val="lt1"/>
                </a:solidFill>
                <a:latin typeface="Montserrat"/>
                <a:ea typeface="Montserrat"/>
                <a:cs typeface="Montserrat"/>
                <a:sym typeface="Montserrat"/>
              </a:rPr>
              <a:t>New models should encourage financial institutions to act creatively, not converge in groupthink.</a:t>
            </a:r>
            <a:endParaRPr sz="1600">
              <a:solidFill>
                <a:schemeClr val="l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