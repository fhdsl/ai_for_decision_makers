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1A4E23A-55A2-4EFC-A902-2F1D10B056DA}">
  <a:tblStyle styleId="{01A4E23A-55A2-4EFC-A902-2F1D10B056D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5" Type="http://schemas.openxmlformats.org/officeDocument/2006/relationships/slide" Target="slides/slide19.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How can you meet customized knowledge needs for eh I tools? In this chapter we will discuss the basics of what it means to customize eh I tools for domain specific knowledge needs.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cf1264c749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cf1264c749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These are the terms of use for this content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a0db34665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a0db34665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Customized knowledge needs are perhaps the most common eh I tool need. And intuitively many can understand this. Just as you wouldn't ask your primary physician to fix your motorbike, neither should you depend on an eh I model for something it isn’t trained for.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2a62349c7d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2a62349c7d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we are discussing customized knowledge needs, we are describing that existing AI models are not accurately addressing the needs we have. The output from the eh I models is incorrect or not useful.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a62349c7d4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a62349c7d4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In summary, we will cover 4 different strategies for obtaining better output from an AI model.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If the goal of customized knowledge is to get better output from an eh I model, there are multiple strategies we can employ to achieve this goal. We will discuss them in order to lowest to highest investment. It's generally best to see if the low investment strategies can meet your needs before turning to the higher investment strategies.  **prompt engineering** is when the user asks a better question as opposed to retraining the model. **prompt tuning** is when we use an iterative prompt and feedback strategy to make the model work better. It is lower investment attempt than fine tuning. **fine tuning** is when we give additional training to the model to have it perform better. So in our opening example, fine tuning is like sending the primary care fellowship to learn an additional skill set. **training from scratch** is when we quite literally build a whole new model from the beginning. For most use cases this is not necessary and it is prohibitively expensive. </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a62349c7d4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2a62349c7d4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Sometimes it’s not the model who needs training, it’s the user.</a:t>
            </a:r>
            <a:endParaRPr/>
          </a:p>
          <a:p>
            <a:pPr indent="0" lvl="0" marL="0" rtl="0" algn="l">
              <a:spcBef>
                <a:spcPts val="0"/>
              </a:spcBef>
              <a:spcAft>
                <a:spcPts val="0"/>
              </a:spcAft>
              <a:buClr>
                <a:schemeClr val="dk1"/>
              </a:buClr>
              <a:buSzPts val="1100"/>
              <a:buFont typeface="Arial"/>
              <a:buNone/>
            </a:pPr>
            <a:r>
              <a:rPr lang="en"/>
              <a:t>Eh I models, just like humans, are not mind readers, and just as we all learned how to google, we also need to learn how to engineer prompts. Prompt engineering does not require technical expertise in the traditional sense. Instead it just involves a lot of being more specific and retrying an eh I model with a different prompt. </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2a62349c7d4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2a62349c7d4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It’s also a good idea to keep in mind b</a:t>
            </a:r>
            <a:r>
              <a:rPr lang="en"/>
              <a:t>est practices for prompt engineering. These are tips according to Google.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1. Know the model’s strengths and weaknesses</a:t>
            </a:r>
            <a:endParaRPr/>
          </a:p>
          <a:p>
            <a:pPr indent="0" lvl="0" marL="0" rtl="0" algn="l">
              <a:spcBef>
                <a:spcPts val="0"/>
              </a:spcBef>
              <a:spcAft>
                <a:spcPts val="0"/>
              </a:spcAft>
              <a:buClr>
                <a:schemeClr val="dk1"/>
              </a:buClr>
              <a:buSzPts val="1100"/>
              <a:buFont typeface="Arial"/>
              <a:buNone/>
            </a:pPr>
            <a:r>
              <a:rPr lang="en"/>
              <a:t>2. Be as specific as possible</a:t>
            </a:r>
            <a:endParaRPr/>
          </a:p>
          <a:p>
            <a:pPr indent="0" lvl="0" marL="0" rtl="0" algn="l">
              <a:spcBef>
                <a:spcPts val="0"/>
              </a:spcBef>
              <a:spcAft>
                <a:spcPts val="0"/>
              </a:spcAft>
              <a:buClr>
                <a:schemeClr val="dk1"/>
              </a:buClr>
              <a:buSzPts val="1100"/>
              <a:buFont typeface="Arial"/>
              <a:buNone/>
            </a:pPr>
            <a:r>
              <a:rPr lang="en"/>
              <a:t>3. Utilize contextual prompts</a:t>
            </a:r>
            <a:endParaRPr/>
          </a:p>
          <a:p>
            <a:pPr indent="0" lvl="0" marL="0" rtl="0" algn="l">
              <a:spcBef>
                <a:spcPts val="0"/>
              </a:spcBef>
              <a:spcAft>
                <a:spcPts val="0"/>
              </a:spcAft>
              <a:buClr>
                <a:schemeClr val="dk1"/>
              </a:buClr>
              <a:buSzPts val="1100"/>
              <a:buFont typeface="Arial"/>
              <a:buNone/>
            </a:pPr>
            <a:r>
              <a:rPr lang="en"/>
              <a:t>4. Provide AI models with examples </a:t>
            </a:r>
            <a:endParaRPr/>
          </a:p>
          <a:p>
            <a:pPr indent="0" lvl="0" marL="0" rtl="0" algn="l">
              <a:spcBef>
                <a:spcPts val="0"/>
              </a:spcBef>
              <a:spcAft>
                <a:spcPts val="0"/>
              </a:spcAft>
              <a:buClr>
                <a:schemeClr val="dk1"/>
              </a:buClr>
              <a:buSzPts val="1100"/>
              <a:buFont typeface="Arial"/>
              <a:buNone/>
            </a:pPr>
            <a:r>
              <a:rPr lang="en"/>
              <a:t>5. Experiment with prompts and personas</a:t>
            </a:r>
            <a:endParaRPr/>
          </a:p>
          <a:p>
            <a:pPr indent="0" lvl="0" marL="0" rtl="0" algn="l">
              <a:spcBef>
                <a:spcPts val="0"/>
              </a:spcBef>
              <a:spcAft>
                <a:spcPts val="0"/>
              </a:spcAft>
              <a:buClr>
                <a:schemeClr val="dk1"/>
              </a:buClr>
              <a:buSzPts val="1100"/>
              <a:buFont typeface="Arial"/>
              <a:buNone/>
            </a:pPr>
            <a:r>
              <a:rPr lang="en"/>
              <a:t>6. Try chain-of-thought prompting</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2a646d7c3d3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2a646d7c3d3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addition to prompt engineering it's also vital to note that different eh I models are trained on different things. So if one is not giving you the output you need, try another! For LLMs, you can use poe dot com or gpt dot h 2 o dot eh i  to test out prompts on multiple eh I platforms side by side.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2a62349c7d4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2a62349c7d4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Because prompt tuning sounds a lot like prompt engineering it would be easy to think these strategies are the same, but they are not.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Prompt tuning is a lower stakes type of tuning where you use your prompts to help train an LLM. It's more efficient than fine tuning. But it may or may not address your customization needs.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Basically you can think of prompt tuning like giving the LLM more context and instructions around what you are trying to receive back from it. A good analogy from this IBM article is that prompt tuning is like crossword puzzle clues for the LLM. It guides the model toward the right answer.</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a646d7c3d3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2a646d7c3d3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test out prompt tuning without doing software engineering by trying out the g p t dot h 2 o platform</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1965a5f7f0a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1965a5f7f0a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First some context around fine tuning.</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Let's make a hiring analog. If you needed someone to fulfill a specialized education job, you wouldn't train a baby who has almost no knowledge as a starting point. This would be unnecessarily time costly and inefficient. Instead, you find a person who has a lot of the training you need and then fine-tune their skills.</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2a62349c7d4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2a62349c7d4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ChatGPT cost ~$100 million to create </a:t>
            </a:r>
            <a:endParaRPr/>
          </a:p>
          <a:p>
            <a:pPr indent="0" lvl="0" marL="0" rtl="0" algn="l">
              <a:spcBef>
                <a:spcPts val="0"/>
              </a:spcBef>
              <a:spcAft>
                <a:spcPts val="0"/>
              </a:spcAft>
              <a:buClr>
                <a:schemeClr val="dk1"/>
              </a:buClr>
              <a:buSzPts val="1100"/>
              <a:buFont typeface="Arial"/>
              <a:buNone/>
            </a:pPr>
            <a:r>
              <a:rPr lang="en"/>
              <a:t>Training models from scratch requires an insane amount of data and computing costs</a:t>
            </a:r>
            <a:endParaRPr/>
          </a:p>
          <a:p>
            <a:pPr indent="0" lvl="0" marL="0" rtl="0" algn="l">
              <a:spcBef>
                <a:spcPts val="0"/>
              </a:spcBef>
              <a:spcAft>
                <a:spcPts val="0"/>
              </a:spcAft>
              <a:buClr>
                <a:schemeClr val="dk1"/>
              </a:buClr>
              <a:buSzPts val="1100"/>
              <a:buFont typeface="Arial"/>
              <a:buNone/>
            </a:pPr>
            <a:r>
              <a:rPr lang="en"/>
              <a:t>It’s almost never where you will want to start. </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a646d7c3d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2a646d7c3d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But fine tuning also might cost money, so before we jump to this strategy we need to check one more time whether we've surveyed the available models for their fitness of our project's needs. Are you sure no other model works? if you've only tried ChatGPT go try other AI platforms. If an LLM is what you are looking for you can read our paper for a summary.</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2a62349c7d4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2a62349c7d4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For us to fine tune a model, we'll first need to identify the base model that gets closest to what we are looking for.</a:t>
            </a:r>
            <a:endParaRPr/>
          </a:p>
          <a:p>
            <a:pPr indent="0" lvl="0" marL="0" rtl="0" algn="l">
              <a:spcBef>
                <a:spcPts val="0"/>
              </a:spcBef>
              <a:spcAft>
                <a:spcPts val="0"/>
              </a:spcAft>
              <a:buClr>
                <a:schemeClr val="dk1"/>
              </a:buClr>
              <a:buSzPts val="1100"/>
              <a:buFont typeface="Arial"/>
              <a:buNone/>
            </a:pPr>
            <a:r>
              <a:rPr lang="en"/>
              <a:t>When looking for a base model we want to consider at least these items congruently: </a:t>
            </a:r>
            <a:endParaRPr/>
          </a:p>
          <a:p>
            <a:pPr indent="0" lvl="0" marL="0" rtl="0" algn="l">
              <a:spcBef>
                <a:spcPts val="0"/>
              </a:spcBef>
              <a:spcAft>
                <a:spcPts val="0"/>
              </a:spcAft>
              <a:buClr>
                <a:schemeClr val="dk1"/>
              </a:buClr>
              <a:buSzPts val="1100"/>
              <a:buFont typeface="Arial"/>
              <a:buNone/>
            </a:pPr>
            <a:r>
              <a:rPr lang="en"/>
              <a:t>1. Which is trained on data most similar to your application? </a:t>
            </a:r>
            <a:endParaRPr/>
          </a:p>
          <a:p>
            <a:pPr indent="0" lvl="0" marL="0" rtl="0" algn="l">
              <a:spcBef>
                <a:spcPts val="0"/>
              </a:spcBef>
              <a:spcAft>
                <a:spcPts val="0"/>
              </a:spcAft>
              <a:buClr>
                <a:schemeClr val="dk1"/>
              </a:buClr>
              <a:buSzPts val="1100"/>
              <a:buFont typeface="Arial"/>
              <a:buNone/>
            </a:pPr>
            <a:r>
              <a:rPr lang="en"/>
              <a:t>2. Which models have performed the best based on your prior testing?</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2a646d7c3d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2a646d7c3d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 need to unnecessarily increase our computing costs, try to find the smallest one that performs the best. Note that bigger doesn't mean it performs better -- think jack of all trades master of none. You want a model that isn't too general. Speaking of the size of models, here is a visual demonstrating the sizes of a lot of the LLM's in existence as of March 2023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a646d7c3d3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2a646d7c3d3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 also might be worth considering how these models are related. Perhaps an earlier, smaller version would be easier for you to train than using the latest, biggest large language model that doesn’t contain better information for your purposes.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2a62349c7d4_0_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2a62349c7d4_0_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 What information do you think would help close the knowledge gap of the existing models to meet your needs? </a:t>
            </a:r>
            <a:endParaRPr/>
          </a:p>
          <a:p>
            <a:pPr indent="0" lvl="0" marL="0" rtl="0" algn="l">
              <a:spcBef>
                <a:spcPts val="0"/>
              </a:spcBef>
              <a:spcAft>
                <a:spcPts val="0"/>
              </a:spcAft>
              <a:buClr>
                <a:schemeClr val="dk1"/>
              </a:buClr>
              <a:buSzPts val="1100"/>
              <a:buFont typeface="Arial"/>
              <a:buNone/>
            </a:pPr>
            <a:r>
              <a:rPr lang="en"/>
              <a:t>- Do you have the data you might be able to fine tune a model to help it perform better? </a:t>
            </a:r>
            <a:endParaRPr/>
          </a:p>
          <a:p>
            <a:pPr indent="0" lvl="0" marL="0" rtl="0" algn="l">
              <a:spcBef>
                <a:spcPts val="0"/>
              </a:spcBef>
              <a:spcAft>
                <a:spcPts val="0"/>
              </a:spcAft>
              <a:buClr>
                <a:schemeClr val="dk1"/>
              </a:buClr>
              <a:buSzPts val="1100"/>
              <a:buFont typeface="Arial"/>
              <a:buNone/>
            </a:pPr>
            <a:r>
              <a:rPr lang="en"/>
              <a:t>- How much cleaning will this data need? </a:t>
            </a:r>
            <a:endParaRPr/>
          </a:p>
          <a:p>
            <a:pPr indent="0" lvl="0" marL="0" rtl="0" algn="l">
              <a:spcBef>
                <a:spcPts val="0"/>
              </a:spcBef>
              <a:spcAft>
                <a:spcPts val="0"/>
              </a:spcAft>
              <a:buClr>
                <a:schemeClr val="dk1"/>
              </a:buClr>
              <a:buSzPts val="1100"/>
              <a:buFont typeface="Arial"/>
              <a:buNone/>
            </a:pPr>
            <a:r>
              <a:rPr lang="en"/>
              <a:t>- Is this data unprotected and freely able to be shared or submitted to an open source repository? </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2a62349c7d4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2a62349c7d4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Just because you may have identified you require fine tuning for an AI project doesn't necessarily mean you will need a lot of technical expertise. There are some solutions like MonsterAPI and H2o that allow for fine tuning without code. These might be good platforms to explore either as a way to meet needs or to experiment to determine a larger strategy. As described in the previous chapter, Hugging Face also has many tutorials on how to fine tune. This strategy would involve more code, frameworks, and software development.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a646d7c3d3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2a646d7c3d3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If you do decide to build using open source models from Hugging Face or elsewhere you should consider these stages for your project timelines. In this course we have already discuss defining the use case and selecting an existing model and adapting that model. But in the upcoming chapters we will discuss deployment and evaluation of models.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creativecommons.org/licenses/by/4.0/" TargetMode="External"/><Relationship Id="rId3" Type="http://schemas.openxmlformats.org/officeDocument/2006/relationships/hyperlink" Target="https://creativecommons.org/licenses/by/4.0/" TargetMode="External"/><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0" y="490"/>
            <a:ext cx="5153705" cy="5134399"/>
            <a:chOff x="0" y="75"/>
            <a:chExt cx="5153705" cy="5152950"/>
          </a:xfrm>
        </p:grpSpPr>
        <p:sp>
          <p:nvSpPr>
            <p:cNvPr id="11" name="Google Shape;11;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646" y="-75"/>
              <a:ext cx="2299800" cy="23001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flipH="1">
              <a:off x="652821" y="590035"/>
              <a:ext cx="2300100" cy="2299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 name="Google Shape;15;p2"/>
          <p:cNvSpPr/>
          <p:nvPr/>
        </p:nvSpPr>
        <p:spPr>
          <a:xfrm rot="5400000">
            <a:off x="7500300" y="5"/>
            <a:ext cx="1643700" cy="1643700"/>
          </a:xfrm>
          <a:prstGeom prst="diagStripe">
            <a:avLst>
              <a:gd fmla="val 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4100"/>
              <a:buNone/>
              <a:defRPr sz="41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17" name="Google Shape;17;p2"/>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434343"/>
              </a:buClr>
              <a:buSzPts val="2800"/>
              <a:buNone/>
              <a:defRPr sz="2800">
                <a:solidFill>
                  <a:srgbClr val="434343"/>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9" name="Google Shape;19;p2"/>
          <p:cNvPicPr preferRelativeResize="0"/>
          <p:nvPr/>
        </p:nvPicPr>
        <p:blipFill>
          <a:blip r:embed="rId2">
            <a:alphaModFix/>
          </a:blip>
          <a:stretch>
            <a:fillRect/>
          </a:stretch>
        </p:blipFill>
        <p:spPr>
          <a:xfrm>
            <a:off x="7561746" y="4517201"/>
            <a:ext cx="1147827" cy="5061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1">
    <p:spTree>
      <p:nvGrpSpPr>
        <p:cNvPr id="20" name="Shape 20"/>
        <p:cNvGrpSpPr/>
        <p:nvPr/>
      </p:nvGrpSpPr>
      <p:grpSpPr>
        <a:xfrm>
          <a:off x="0" y="0"/>
          <a:ext cx="0" cy="0"/>
          <a:chOff x="0" y="0"/>
          <a:chExt cx="0" cy="0"/>
        </a:xfrm>
      </p:grpSpPr>
      <p:grpSp>
        <p:nvGrpSpPr>
          <p:cNvPr id="21" name="Google Shape;21;p3"/>
          <p:cNvGrpSpPr/>
          <p:nvPr/>
        </p:nvGrpSpPr>
        <p:grpSpPr>
          <a:xfrm>
            <a:off x="0" y="490"/>
            <a:ext cx="5153705" cy="5134399"/>
            <a:chOff x="0" y="75"/>
            <a:chExt cx="5153705" cy="5152950"/>
          </a:xfrm>
        </p:grpSpPr>
        <p:sp>
          <p:nvSpPr>
            <p:cNvPr id="22" name="Google Shape;22;p3"/>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5400000">
              <a:off x="1646" y="-75"/>
              <a:ext cx="2299800" cy="23001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flipH="1">
              <a:off x="652821" y="590035"/>
              <a:ext cx="2300100" cy="2299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p:nvPr/>
        </p:nvSpPr>
        <p:spPr>
          <a:xfrm rot="5400000">
            <a:off x="7500300" y="5"/>
            <a:ext cx="1643700" cy="1643700"/>
          </a:xfrm>
          <a:prstGeom prst="diagStripe">
            <a:avLst>
              <a:gd fmla="val 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4100"/>
              <a:buNone/>
              <a:defRPr sz="41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28" name="Google Shape;28;p3"/>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434343"/>
              </a:buClr>
              <a:buSzPts val="2800"/>
              <a:buNone/>
              <a:defRPr sz="2800">
                <a:solidFill>
                  <a:srgbClr val="434343"/>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29" name="Google Shape;29;p3"/>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30" name="Google Shape;30;p3"/>
          <p:cNvPicPr preferRelativeResize="0"/>
          <p:nvPr/>
        </p:nvPicPr>
        <p:blipFill rotWithShape="1">
          <a:blip r:embed="rId2">
            <a:alphaModFix/>
          </a:blip>
          <a:srcRect b="0" l="22785" r="21708" t="0"/>
          <a:stretch/>
        </p:blipFill>
        <p:spPr>
          <a:xfrm>
            <a:off x="6786250" y="4589350"/>
            <a:ext cx="2040327" cy="4615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grpSp>
        <p:nvGrpSpPr>
          <p:cNvPr id="32" name="Google Shape;32;p4"/>
          <p:cNvGrpSpPr/>
          <p:nvPr/>
        </p:nvGrpSpPr>
        <p:grpSpPr>
          <a:xfrm>
            <a:off x="4406400" y="0"/>
            <a:ext cx="4737600" cy="5143065"/>
            <a:chOff x="4406400" y="0"/>
            <a:chExt cx="4737600" cy="5143065"/>
          </a:xfrm>
        </p:grpSpPr>
        <p:sp>
          <p:nvSpPr>
            <p:cNvPr id="33" name="Google Shape;33;p4"/>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flipH="1">
              <a:off x="6908099" y="2069505"/>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rot="-5400000">
              <a:off x="7227414" y="3710807"/>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 name="Google Shape;51;p4"/>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 name="Google Shape;52;p4"/>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3" name="Google Shape;53;p4"/>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4" name="Shape 54"/>
        <p:cNvGrpSpPr/>
        <p:nvPr/>
      </p:nvGrpSpPr>
      <p:grpSpPr>
        <a:xfrm>
          <a:off x="0" y="0"/>
          <a:ext cx="0" cy="0"/>
          <a:chOff x="0" y="0"/>
          <a:chExt cx="0" cy="0"/>
        </a:xfrm>
      </p:grpSpPr>
      <p:grpSp>
        <p:nvGrpSpPr>
          <p:cNvPr id="55" name="Google Shape;55;p5"/>
          <p:cNvGrpSpPr/>
          <p:nvPr/>
        </p:nvGrpSpPr>
        <p:grpSpPr>
          <a:xfrm>
            <a:off x="0" y="381001"/>
            <a:ext cx="1037850" cy="1016287"/>
            <a:chOff x="0" y="381001"/>
            <a:chExt cx="1037850" cy="1016287"/>
          </a:xfrm>
        </p:grpSpPr>
        <p:sp>
          <p:nvSpPr>
            <p:cNvPr id="56" name="Google Shape;56;p5"/>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5"/>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 name="Google Shape;58;p5"/>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900"/>
              <a:buNone/>
              <a:defRPr sz="2900"/>
            </a:lvl2pPr>
            <a:lvl3pPr lvl="2" rtl="0">
              <a:spcBef>
                <a:spcPts val="0"/>
              </a:spcBef>
              <a:spcAft>
                <a:spcPts val="0"/>
              </a:spcAft>
              <a:buSzPts val="2900"/>
              <a:buNone/>
              <a:defRPr sz="2900"/>
            </a:lvl3pPr>
            <a:lvl4pPr lvl="3" rtl="0">
              <a:spcBef>
                <a:spcPts val="0"/>
              </a:spcBef>
              <a:spcAft>
                <a:spcPts val="0"/>
              </a:spcAft>
              <a:buSzPts val="2900"/>
              <a:buNone/>
              <a:defRPr sz="2900"/>
            </a:lvl4pPr>
            <a:lvl5pPr lvl="4" rtl="0">
              <a:spcBef>
                <a:spcPts val="0"/>
              </a:spcBef>
              <a:spcAft>
                <a:spcPts val="0"/>
              </a:spcAft>
              <a:buSzPts val="2900"/>
              <a:buNone/>
              <a:defRPr sz="2900"/>
            </a:lvl5pPr>
            <a:lvl6pPr lvl="5" rtl="0">
              <a:spcBef>
                <a:spcPts val="0"/>
              </a:spcBef>
              <a:spcAft>
                <a:spcPts val="0"/>
              </a:spcAft>
              <a:buSzPts val="2900"/>
              <a:buNone/>
              <a:defRPr sz="2900"/>
            </a:lvl6pPr>
            <a:lvl7pPr lvl="6" rtl="0">
              <a:spcBef>
                <a:spcPts val="0"/>
              </a:spcBef>
              <a:spcAft>
                <a:spcPts val="0"/>
              </a:spcAft>
              <a:buSzPts val="2900"/>
              <a:buNone/>
              <a:defRPr sz="2900"/>
            </a:lvl7pPr>
            <a:lvl8pPr lvl="7" rtl="0">
              <a:spcBef>
                <a:spcPts val="0"/>
              </a:spcBef>
              <a:spcAft>
                <a:spcPts val="0"/>
              </a:spcAft>
              <a:buSzPts val="2900"/>
              <a:buNone/>
              <a:defRPr sz="2900"/>
            </a:lvl8pPr>
            <a:lvl9pPr lvl="8" rtl="0">
              <a:spcBef>
                <a:spcPts val="0"/>
              </a:spcBef>
              <a:spcAft>
                <a:spcPts val="0"/>
              </a:spcAft>
              <a:buSzPts val="2900"/>
              <a:buNone/>
              <a:defRPr sz="2900"/>
            </a:lvl9pPr>
          </a:lstStyle>
          <a:p/>
        </p:txBody>
      </p:sp>
      <p:sp>
        <p:nvSpPr>
          <p:cNvPr id="59" name="Google Shape;59;p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49250" lvl="0" marL="457200" rtl="0">
              <a:spcBef>
                <a:spcPts val="0"/>
              </a:spcBef>
              <a:spcAft>
                <a:spcPts val="0"/>
              </a:spcAft>
              <a:buSzPts val="1900"/>
              <a:buChar char="●"/>
              <a:defRPr sz="1900"/>
            </a:lvl1pPr>
            <a:lvl2pPr indent="-336550" lvl="1" marL="914400" rtl="0">
              <a:spcBef>
                <a:spcPts val="0"/>
              </a:spcBef>
              <a:spcAft>
                <a:spcPts val="0"/>
              </a:spcAft>
              <a:buSzPts val="1700"/>
              <a:buChar char="○"/>
              <a:defRPr sz="1700"/>
            </a:lvl2pPr>
            <a:lvl3pPr indent="-336550" lvl="2" marL="1371600" rtl="0">
              <a:spcBef>
                <a:spcPts val="0"/>
              </a:spcBef>
              <a:spcAft>
                <a:spcPts val="0"/>
              </a:spcAft>
              <a:buSzPts val="1700"/>
              <a:buChar char="■"/>
              <a:defRPr sz="1700"/>
            </a:lvl3pPr>
            <a:lvl4pPr indent="-336550" lvl="3" marL="1828800" rtl="0">
              <a:spcBef>
                <a:spcPts val="0"/>
              </a:spcBef>
              <a:spcAft>
                <a:spcPts val="0"/>
              </a:spcAft>
              <a:buSzPts val="1700"/>
              <a:buChar char="●"/>
              <a:defRPr sz="1700"/>
            </a:lvl4pPr>
            <a:lvl5pPr indent="-336550" lvl="4" marL="2286000" rtl="0">
              <a:spcBef>
                <a:spcPts val="0"/>
              </a:spcBef>
              <a:spcAft>
                <a:spcPts val="0"/>
              </a:spcAft>
              <a:buSzPts val="1700"/>
              <a:buChar char="○"/>
              <a:defRPr sz="1700"/>
            </a:lvl5pPr>
            <a:lvl6pPr indent="-336550" lvl="5" marL="2743200" rtl="0">
              <a:spcBef>
                <a:spcPts val="0"/>
              </a:spcBef>
              <a:spcAft>
                <a:spcPts val="0"/>
              </a:spcAft>
              <a:buSzPts val="1700"/>
              <a:buChar char="■"/>
              <a:defRPr sz="1700"/>
            </a:lvl6pPr>
            <a:lvl7pPr indent="-336550" lvl="6" marL="3200400" rtl="0">
              <a:spcBef>
                <a:spcPts val="0"/>
              </a:spcBef>
              <a:spcAft>
                <a:spcPts val="0"/>
              </a:spcAft>
              <a:buSzPts val="1700"/>
              <a:buChar char="●"/>
              <a:defRPr sz="1700"/>
            </a:lvl7pPr>
            <a:lvl8pPr indent="-336550" lvl="7" marL="3657600" rtl="0">
              <a:spcBef>
                <a:spcPts val="0"/>
              </a:spcBef>
              <a:spcAft>
                <a:spcPts val="0"/>
              </a:spcAft>
              <a:buSzPts val="1700"/>
              <a:buChar char="○"/>
              <a:defRPr sz="1700"/>
            </a:lvl8pPr>
            <a:lvl9pPr indent="-336550" lvl="8" marL="4114800" rtl="0">
              <a:spcBef>
                <a:spcPts val="0"/>
              </a:spcBef>
              <a:spcAft>
                <a:spcPts val="0"/>
              </a:spcAft>
              <a:buSzPts val="1700"/>
              <a:buChar char="■"/>
              <a:defRPr sz="1700"/>
            </a:lvl9pPr>
          </a:lstStyle>
          <a:p/>
        </p:txBody>
      </p:sp>
      <p:sp>
        <p:nvSpPr>
          <p:cNvPr id="60" name="Google Shape;60;p5"/>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1" name="Google Shape;61;p5"/>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2" name="Shape 62"/>
        <p:cNvGrpSpPr/>
        <p:nvPr/>
      </p:nvGrpSpPr>
      <p:grpSpPr>
        <a:xfrm>
          <a:off x="0" y="0"/>
          <a:ext cx="0" cy="0"/>
          <a:chOff x="0" y="0"/>
          <a:chExt cx="0" cy="0"/>
        </a:xfrm>
      </p:grpSpPr>
      <p:sp>
        <p:nvSpPr>
          <p:cNvPr id="63" name="Google Shape;63;p6"/>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64" name="Google Shape;64;p6"/>
          <p:cNvSpPr txBox="1"/>
          <p:nvPr/>
        </p:nvSpPr>
        <p:spPr>
          <a:xfrm>
            <a:off x="1409625" y="1455425"/>
            <a:ext cx="3739500" cy="291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Except where otherwise indicated, The contents of this slide presentation are available for use under the </a:t>
            </a:r>
            <a:r>
              <a:rPr lang="en" u="sng">
                <a:solidFill>
                  <a:schemeClr val="hlink"/>
                </a:solidFill>
                <a:latin typeface="Lato"/>
                <a:ea typeface="Lato"/>
                <a:cs typeface="Lato"/>
                <a:sym typeface="Lato"/>
                <a:hlinkClick r:id="rId2"/>
              </a:rPr>
              <a:t>Creative Commons Attribution 4.0 license</a:t>
            </a:r>
            <a:r>
              <a:rPr lang="en">
                <a:latin typeface="Lato"/>
                <a:ea typeface="Lato"/>
                <a:cs typeface="Lato"/>
                <a:sym typeface="Lato"/>
              </a:rPr>
              <a:t>.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You are free to adapt and share the work, but you must give appropriate credit, provide a link to the license, and indicate if changes were made.</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b="1" lang="en">
                <a:latin typeface="Lato"/>
                <a:ea typeface="Lato"/>
                <a:cs typeface="Lato"/>
                <a:sym typeface="Lato"/>
              </a:rPr>
              <a:t>Sample attribution: </a:t>
            </a:r>
            <a:r>
              <a:rPr lang="en">
                <a:latin typeface="Lato"/>
                <a:ea typeface="Lato"/>
                <a:cs typeface="Lato"/>
                <a:sym typeface="Lato"/>
              </a:rPr>
              <a:t>[Title of work] by Fred Hutchinson Cancer Center Data Science Lab. </a:t>
            </a:r>
            <a:r>
              <a:rPr lang="en" u="sng">
                <a:solidFill>
                  <a:schemeClr val="hlink"/>
                </a:solidFill>
                <a:latin typeface="Lato"/>
                <a:ea typeface="Lato"/>
                <a:cs typeface="Lato"/>
                <a:sym typeface="Lato"/>
                <a:hlinkClick r:id="rId3"/>
              </a:rPr>
              <a:t>CC-BY 4.0</a:t>
            </a:r>
            <a:endParaRPr>
              <a:latin typeface="Lato"/>
              <a:ea typeface="Lato"/>
              <a:cs typeface="Lato"/>
              <a:sym typeface="Lato"/>
            </a:endParaRPr>
          </a:p>
        </p:txBody>
      </p:sp>
      <p:pic>
        <p:nvPicPr>
          <p:cNvPr id="65" name="Google Shape;65;p6"/>
          <p:cNvPicPr preferRelativeResize="0"/>
          <p:nvPr/>
        </p:nvPicPr>
        <p:blipFill>
          <a:blip r:embed="rId4">
            <a:alphaModFix/>
          </a:blip>
          <a:stretch>
            <a:fillRect/>
          </a:stretch>
        </p:blipFill>
        <p:spPr>
          <a:xfrm>
            <a:off x="5981726" y="2173675"/>
            <a:ext cx="2275450" cy="796150"/>
          </a:xfrm>
          <a:prstGeom prst="rect">
            <a:avLst/>
          </a:prstGeom>
          <a:noFill/>
          <a:ln>
            <a:noFill/>
          </a:ln>
        </p:spPr>
      </p:pic>
      <p:sp>
        <p:nvSpPr>
          <p:cNvPr id="66" name="Google Shape;66;p6"/>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67" name="Google Shape;67;p6"/>
          <p:cNvGrpSpPr/>
          <p:nvPr/>
        </p:nvGrpSpPr>
        <p:grpSpPr>
          <a:xfrm>
            <a:off x="0" y="381001"/>
            <a:ext cx="1037850" cy="1016287"/>
            <a:chOff x="0" y="381001"/>
            <a:chExt cx="1037850" cy="1016287"/>
          </a:xfrm>
        </p:grpSpPr>
        <p:sp>
          <p:nvSpPr>
            <p:cNvPr id="68" name="Google Shape;68;p6"/>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6"/>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7"/>
          <p:cNvSpPr txBox="1"/>
          <p:nvPr>
            <p:ph type="title"/>
          </p:nvPr>
        </p:nvSpPr>
        <p:spPr>
          <a:xfrm>
            <a:off x="1297500" y="393750"/>
            <a:ext cx="78072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p:txBody>
      </p:sp>
      <p:sp>
        <p:nvSpPr>
          <p:cNvPr id="72" name="Google Shape;72;p7"/>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7"/>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grpSp>
        <p:nvGrpSpPr>
          <p:cNvPr id="74" name="Google Shape;74;p7"/>
          <p:cNvGrpSpPr/>
          <p:nvPr/>
        </p:nvGrpSpPr>
        <p:grpSpPr>
          <a:xfrm>
            <a:off x="0" y="381001"/>
            <a:ext cx="1037850" cy="1016287"/>
            <a:chOff x="0" y="381001"/>
            <a:chExt cx="1037850" cy="1016287"/>
          </a:xfrm>
        </p:grpSpPr>
        <p:sp>
          <p:nvSpPr>
            <p:cNvPr id="75" name="Google Shape;75;p7"/>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7"/>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7" name="Shape 77"/>
        <p:cNvGrpSpPr/>
        <p:nvPr/>
      </p:nvGrpSpPr>
      <p:grpSpPr>
        <a:xfrm>
          <a:off x="0" y="0"/>
          <a:ext cx="0" cy="0"/>
          <a:chOff x="0" y="0"/>
          <a:chExt cx="0" cy="0"/>
        </a:xfrm>
      </p:grpSpPr>
      <p:sp>
        <p:nvSpPr>
          <p:cNvPr id="78" name="Google Shape;78;p8"/>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rtl="0">
              <a:spcBef>
                <a:spcPts val="0"/>
              </a:spcBef>
              <a:spcAft>
                <a:spcPts val="0"/>
              </a:spcAft>
              <a:buSzPts val="3300"/>
              <a:buNone/>
              <a:defRPr sz="33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9" name="Google Shape;79;p8"/>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80" name="Google Shape;80;p8"/>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1" name="Google Shape;81;p8"/>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grpSp>
        <p:nvGrpSpPr>
          <p:cNvPr id="82" name="Google Shape;82;p8"/>
          <p:cNvGrpSpPr/>
          <p:nvPr/>
        </p:nvGrpSpPr>
        <p:grpSpPr>
          <a:xfrm>
            <a:off x="0" y="381001"/>
            <a:ext cx="1037850" cy="1016287"/>
            <a:chOff x="0" y="381001"/>
            <a:chExt cx="1037850" cy="1016287"/>
          </a:xfrm>
        </p:grpSpPr>
        <p:sp>
          <p:nvSpPr>
            <p:cNvPr id="83" name="Google Shape;83;p8"/>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5" name="Shape 85"/>
        <p:cNvGrpSpPr/>
        <p:nvPr/>
      </p:nvGrpSpPr>
      <p:grpSpPr>
        <a:xfrm>
          <a:off x="0" y="0"/>
          <a:ext cx="0" cy="0"/>
          <a:chOff x="0" y="0"/>
          <a:chExt cx="0" cy="0"/>
        </a:xfrm>
      </p:grpSpPr>
      <p:grpSp>
        <p:nvGrpSpPr>
          <p:cNvPr id="86" name="Google Shape;86;p9"/>
          <p:cNvGrpSpPr/>
          <p:nvPr/>
        </p:nvGrpSpPr>
        <p:grpSpPr>
          <a:xfrm>
            <a:off x="4406400" y="0"/>
            <a:ext cx="4737600" cy="5143500"/>
            <a:chOff x="4406400" y="0"/>
            <a:chExt cx="4737600" cy="5143500"/>
          </a:xfrm>
        </p:grpSpPr>
        <p:sp>
          <p:nvSpPr>
            <p:cNvPr id="87" name="Google Shape;87;p9"/>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9"/>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9"/>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9"/>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9"/>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9"/>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9"/>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6908099" y="2069680"/>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9"/>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9"/>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9"/>
            <p:cNvSpPr/>
            <p:nvPr/>
          </p:nvSpPr>
          <p:spPr>
            <a:xfrm rot="-5400000">
              <a:off x="7227414" y="3711189"/>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9"/>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9"/>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9"/>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9"/>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9"/>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6" name="Google Shape;106;p9"/>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7" name="Google Shape;107;p9"/>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8" name="Shape 108"/>
        <p:cNvGrpSpPr/>
        <p:nvPr/>
      </p:nvGrpSpPr>
      <p:grpSpPr>
        <a:xfrm>
          <a:off x="0" y="0"/>
          <a:ext cx="0" cy="0"/>
          <a:chOff x="0" y="0"/>
          <a:chExt cx="0" cy="0"/>
        </a:xfrm>
      </p:grpSpPr>
      <p:sp>
        <p:nvSpPr>
          <p:cNvPr id="109" name="Google Shape;109;p10"/>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rtl="0">
              <a:spcBef>
                <a:spcPts val="0"/>
              </a:spcBef>
              <a:spcAft>
                <a:spcPts val="0"/>
              </a:spcAft>
              <a:buSzPts val="2900"/>
              <a:buNone/>
              <a:defRPr sz="29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10" name="Google Shape;110;p10"/>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666666"/>
              </a:buClr>
              <a:buSzPts val="1800"/>
              <a:buNone/>
              <a:defRPr sz="1800">
                <a:solidFill>
                  <a:srgbClr val="666666"/>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11" name="Google Shape;111;p10"/>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36550" lvl="0" marL="457200" rtl="0">
              <a:spcBef>
                <a:spcPts val="0"/>
              </a:spcBef>
              <a:spcAft>
                <a:spcPts val="0"/>
              </a:spcAft>
              <a:buSzPts val="1700"/>
              <a:buChar char="●"/>
              <a:defRPr sz="1700"/>
            </a:lvl1pPr>
            <a:lvl2pPr indent="-323850" lvl="1" marL="914400" rtl="0">
              <a:spcBef>
                <a:spcPts val="0"/>
              </a:spcBef>
              <a:spcAft>
                <a:spcPts val="0"/>
              </a:spcAft>
              <a:buSzPts val="1500"/>
              <a:buChar char="○"/>
              <a:defRPr sz="1500"/>
            </a:lvl2pPr>
            <a:lvl3pPr indent="-323850" lvl="2" marL="1371600" rtl="0">
              <a:spcBef>
                <a:spcPts val="0"/>
              </a:spcBef>
              <a:spcAft>
                <a:spcPts val="0"/>
              </a:spcAft>
              <a:buSzPts val="1500"/>
              <a:buChar char="■"/>
              <a:defRPr sz="1500"/>
            </a:lvl3pPr>
            <a:lvl4pPr indent="-323850" lvl="3" marL="1828800" rtl="0">
              <a:spcBef>
                <a:spcPts val="0"/>
              </a:spcBef>
              <a:spcAft>
                <a:spcPts val="0"/>
              </a:spcAft>
              <a:buSzPts val="1500"/>
              <a:buChar char="●"/>
              <a:defRPr sz="1500"/>
            </a:lvl4pPr>
            <a:lvl5pPr indent="-323850" lvl="4" marL="2286000" rtl="0">
              <a:spcBef>
                <a:spcPts val="0"/>
              </a:spcBef>
              <a:spcAft>
                <a:spcPts val="0"/>
              </a:spcAft>
              <a:buSzPts val="1500"/>
              <a:buChar char="○"/>
              <a:defRPr sz="1500"/>
            </a:lvl5pPr>
            <a:lvl6pPr indent="-323850" lvl="5" marL="2743200" rtl="0">
              <a:spcBef>
                <a:spcPts val="0"/>
              </a:spcBef>
              <a:spcAft>
                <a:spcPts val="0"/>
              </a:spcAft>
              <a:buSzPts val="1500"/>
              <a:buChar char="■"/>
              <a:defRPr sz="1500"/>
            </a:lvl6pPr>
            <a:lvl7pPr indent="-323850" lvl="6" marL="3200400" rtl="0">
              <a:spcBef>
                <a:spcPts val="0"/>
              </a:spcBef>
              <a:spcAft>
                <a:spcPts val="0"/>
              </a:spcAft>
              <a:buSzPts val="1500"/>
              <a:buChar char="●"/>
              <a:defRPr sz="1500"/>
            </a:lvl7pPr>
            <a:lvl8pPr indent="-323850" lvl="7" marL="3657600" rtl="0">
              <a:spcBef>
                <a:spcPts val="0"/>
              </a:spcBef>
              <a:spcAft>
                <a:spcPts val="0"/>
              </a:spcAft>
              <a:buSzPts val="1500"/>
              <a:buChar char="○"/>
              <a:defRPr sz="1500"/>
            </a:lvl8pPr>
            <a:lvl9pPr indent="-323850" lvl="8" marL="4114800" rtl="0">
              <a:spcBef>
                <a:spcPts val="0"/>
              </a:spcBef>
              <a:spcAft>
                <a:spcPts val="0"/>
              </a:spcAft>
              <a:buSzPts val="1500"/>
              <a:buChar char="■"/>
              <a:defRPr sz="1500"/>
            </a:lvl9pPr>
          </a:lstStyle>
          <a:p/>
        </p:txBody>
      </p:sp>
      <p:grpSp>
        <p:nvGrpSpPr>
          <p:cNvPr id="112" name="Google Shape;112;p10"/>
          <p:cNvGrpSpPr/>
          <p:nvPr/>
        </p:nvGrpSpPr>
        <p:grpSpPr>
          <a:xfrm>
            <a:off x="0" y="381001"/>
            <a:ext cx="1037850" cy="1016287"/>
            <a:chOff x="0" y="381001"/>
            <a:chExt cx="1037850" cy="1016287"/>
          </a:xfrm>
        </p:grpSpPr>
        <p:sp>
          <p:nvSpPr>
            <p:cNvPr id="113" name="Google Shape;113;p10"/>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0"/>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1">
  <p:cSld name="CAPTION_ONLY">
    <p:spTree>
      <p:nvGrpSpPr>
        <p:cNvPr id="115" name="Shape 115"/>
        <p:cNvGrpSpPr/>
        <p:nvPr/>
      </p:nvGrpSpPr>
      <p:grpSpPr>
        <a:xfrm>
          <a:off x="0" y="0"/>
          <a:ext cx="0" cy="0"/>
          <a:chOff x="0" y="0"/>
          <a:chExt cx="0" cy="0"/>
        </a:xfrm>
      </p:grpSpPr>
      <p:grpSp>
        <p:nvGrpSpPr>
          <p:cNvPr id="116" name="Google Shape;116;p11"/>
          <p:cNvGrpSpPr/>
          <p:nvPr/>
        </p:nvGrpSpPr>
        <p:grpSpPr>
          <a:xfrm>
            <a:off x="43237" y="4724428"/>
            <a:ext cx="428721" cy="393609"/>
            <a:chOff x="0" y="3785672"/>
            <a:chExt cx="698925" cy="684657"/>
          </a:xfrm>
        </p:grpSpPr>
        <p:sp>
          <p:nvSpPr>
            <p:cNvPr id="117" name="Google Shape;117;p11"/>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900"/>
              <a:buNone/>
              <a:defRPr sz="900"/>
            </a:lvl1pPr>
          </a:lstStyle>
          <a:p/>
        </p:txBody>
      </p:sp>
      <p:sp>
        <p:nvSpPr>
          <p:cNvPr id="120" name="Google Shape;120;p11"/>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11"/>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2">
  <p:cSld name="CAPTION_ONLY_1">
    <p:spTree>
      <p:nvGrpSpPr>
        <p:cNvPr id="122" name="Shape 122"/>
        <p:cNvGrpSpPr/>
        <p:nvPr/>
      </p:nvGrpSpPr>
      <p:grpSpPr>
        <a:xfrm>
          <a:off x="0" y="0"/>
          <a:ext cx="0" cy="0"/>
          <a:chOff x="0" y="0"/>
          <a:chExt cx="0" cy="0"/>
        </a:xfrm>
      </p:grpSpPr>
      <p:sp>
        <p:nvSpPr>
          <p:cNvPr id="123" name="Google Shape;123;p12"/>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900"/>
              <a:buNone/>
              <a:defRPr sz="900"/>
            </a:lvl1pPr>
          </a:lstStyle>
          <a:p/>
        </p:txBody>
      </p:sp>
      <p:sp>
        <p:nvSpPr>
          <p:cNvPr id="124" name="Google Shape;124;p12"/>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5" name="Google Shape;125;p12"/>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pic>
        <p:nvPicPr>
          <p:cNvPr id="126" name="Google Shape;126;p12"/>
          <p:cNvPicPr preferRelativeResize="0"/>
          <p:nvPr/>
        </p:nvPicPr>
        <p:blipFill>
          <a:blip r:embed="rId2">
            <a:alphaModFix/>
          </a:blip>
          <a:stretch>
            <a:fillRect/>
          </a:stretch>
        </p:blipFill>
        <p:spPr>
          <a:xfrm>
            <a:off x="122450" y="4791197"/>
            <a:ext cx="295975" cy="290066"/>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7" name="Shape 127"/>
        <p:cNvGrpSpPr/>
        <p:nvPr/>
      </p:nvGrpSpPr>
      <p:grpSpPr>
        <a:xfrm>
          <a:off x="0" y="0"/>
          <a:ext cx="0" cy="0"/>
          <a:chOff x="0" y="0"/>
          <a:chExt cx="0" cy="0"/>
        </a:xfrm>
      </p:grpSpPr>
      <p:grpSp>
        <p:nvGrpSpPr>
          <p:cNvPr id="128" name="Google Shape;128;p13"/>
          <p:cNvGrpSpPr/>
          <p:nvPr/>
        </p:nvGrpSpPr>
        <p:grpSpPr>
          <a:xfrm>
            <a:off x="4406400" y="0"/>
            <a:ext cx="4737600" cy="5143065"/>
            <a:chOff x="4406400" y="0"/>
            <a:chExt cx="4737600" cy="5143065"/>
          </a:xfrm>
        </p:grpSpPr>
        <p:sp>
          <p:nvSpPr>
            <p:cNvPr id="129" name="Google Shape;129;p1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3"/>
            <p:cNvSpPr/>
            <p:nvPr/>
          </p:nvSpPr>
          <p:spPr>
            <a:xfrm flipH="1">
              <a:off x="6908099" y="2069505"/>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3"/>
            <p:cNvSpPr/>
            <p:nvPr/>
          </p:nvSpPr>
          <p:spPr>
            <a:xfrm rot="-5400000">
              <a:off x="7227414" y="3710807"/>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7" name="Google Shape;147;p13"/>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rtl="0">
              <a:spcBef>
                <a:spcPts val="0"/>
              </a:spcBef>
              <a:spcAft>
                <a:spcPts val="0"/>
              </a:spcAft>
              <a:buSzPts val="8000"/>
              <a:buNone/>
              <a:defRPr sz="8000"/>
            </a:lvl1pPr>
            <a:lvl2pPr lvl="1" rtl="0">
              <a:spcBef>
                <a:spcPts val="0"/>
              </a:spcBef>
              <a:spcAft>
                <a:spcPts val="0"/>
              </a:spcAft>
              <a:buSzPts val="8000"/>
              <a:buNone/>
              <a:defRPr sz="8000"/>
            </a:lvl2pPr>
            <a:lvl3pPr lvl="2" rtl="0">
              <a:spcBef>
                <a:spcPts val="0"/>
              </a:spcBef>
              <a:spcAft>
                <a:spcPts val="0"/>
              </a:spcAft>
              <a:buSzPts val="8000"/>
              <a:buNone/>
              <a:defRPr sz="8000"/>
            </a:lvl3pPr>
            <a:lvl4pPr lvl="3" rtl="0">
              <a:spcBef>
                <a:spcPts val="0"/>
              </a:spcBef>
              <a:spcAft>
                <a:spcPts val="0"/>
              </a:spcAft>
              <a:buSzPts val="8000"/>
              <a:buNone/>
              <a:defRPr sz="8000"/>
            </a:lvl4pPr>
            <a:lvl5pPr lvl="4" rtl="0">
              <a:spcBef>
                <a:spcPts val="0"/>
              </a:spcBef>
              <a:spcAft>
                <a:spcPts val="0"/>
              </a:spcAft>
              <a:buSzPts val="8000"/>
              <a:buNone/>
              <a:defRPr sz="8000"/>
            </a:lvl5pPr>
            <a:lvl6pPr lvl="5" rtl="0">
              <a:spcBef>
                <a:spcPts val="0"/>
              </a:spcBef>
              <a:spcAft>
                <a:spcPts val="0"/>
              </a:spcAft>
              <a:buSzPts val="8000"/>
              <a:buNone/>
              <a:defRPr sz="8000"/>
            </a:lvl6pPr>
            <a:lvl7pPr lvl="6" rtl="0">
              <a:spcBef>
                <a:spcPts val="0"/>
              </a:spcBef>
              <a:spcAft>
                <a:spcPts val="0"/>
              </a:spcAft>
              <a:buSzPts val="8000"/>
              <a:buNone/>
              <a:defRPr sz="8000"/>
            </a:lvl7pPr>
            <a:lvl8pPr lvl="7" rtl="0">
              <a:spcBef>
                <a:spcPts val="0"/>
              </a:spcBef>
              <a:spcAft>
                <a:spcPts val="0"/>
              </a:spcAft>
              <a:buSzPts val="8000"/>
              <a:buNone/>
              <a:defRPr sz="8000"/>
            </a:lvl8pPr>
            <a:lvl9pPr lvl="8" rtl="0">
              <a:spcBef>
                <a:spcPts val="0"/>
              </a:spcBef>
              <a:spcAft>
                <a:spcPts val="0"/>
              </a:spcAft>
              <a:buSzPts val="8000"/>
              <a:buNone/>
              <a:defRPr sz="8000"/>
            </a:lvl9pPr>
          </a:lstStyle>
          <a:p>
            <a:r>
              <a:t>xx%</a:t>
            </a:r>
          </a:p>
        </p:txBody>
      </p:sp>
      <p:sp>
        <p:nvSpPr>
          <p:cNvPr id="148" name="Google Shape;148;p13"/>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149" name="Google Shape;149;p13"/>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50" name="Google Shape;150;p13"/>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1" name="Shape 151"/>
        <p:cNvGrpSpPr/>
        <p:nvPr/>
      </p:nvGrpSpPr>
      <p:grpSpPr>
        <a:xfrm>
          <a:off x="0" y="0"/>
          <a:ext cx="0" cy="0"/>
          <a:chOff x="0" y="0"/>
          <a:chExt cx="0" cy="0"/>
        </a:xfrm>
      </p:grpSpPr>
      <p:sp>
        <p:nvSpPr>
          <p:cNvPr id="152" name="Google Shape;152;p14"/>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53" name="Google Shape;153;p14"/>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rtl="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lt1"/>
                </a:solidFill>
                <a:latin typeface="Lato"/>
                <a:ea typeface="Lato"/>
                <a:cs typeface="Lato"/>
                <a:sym typeface="Lato"/>
              </a:defRPr>
            </a:lvl1pPr>
            <a:lvl2pPr lvl="1" rtl="0" algn="r">
              <a:buNone/>
              <a:defRPr sz="1000">
                <a:solidFill>
                  <a:schemeClr val="lt1"/>
                </a:solidFill>
                <a:latin typeface="Lato"/>
                <a:ea typeface="Lato"/>
                <a:cs typeface="Lato"/>
                <a:sym typeface="Lato"/>
              </a:defRPr>
            </a:lvl2pPr>
            <a:lvl3pPr lvl="2" rtl="0" algn="r">
              <a:buNone/>
              <a:defRPr sz="1000">
                <a:solidFill>
                  <a:schemeClr val="lt1"/>
                </a:solidFill>
                <a:latin typeface="Lato"/>
                <a:ea typeface="Lato"/>
                <a:cs typeface="Lato"/>
                <a:sym typeface="Lato"/>
              </a:defRPr>
            </a:lvl3pPr>
            <a:lvl4pPr lvl="3" rtl="0" algn="r">
              <a:buNone/>
              <a:defRPr sz="1000">
                <a:solidFill>
                  <a:schemeClr val="lt1"/>
                </a:solidFill>
                <a:latin typeface="Lato"/>
                <a:ea typeface="Lato"/>
                <a:cs typeface="Lato"/>
                <a:sym typeface="Lato"/>
              </a:defRPr>
            </a:lvl4pPr>
            <a:lvl5pPr lvl="4" rtl="0" algn="r">
              <a:buNone/>
              <a:defRPr sz="1000">
                <a:solidFill>
                  <a:schemeClr val="lt1"/>
                </a:solidFill>
                <a:latin typeface="Lato"/>
                <a:ea typeface="Lato"/>
                <a:cs typeface="Lato"/>
                <a:sym typeface="Lato"/>
              </a:defRPr>
            </a:lvl5pPr>
            <a:lvl6pPr lvl="5" rtl="0" algn="r">
              <a:buNone/>
              <a:defRPr sz="1000">
                <a:solidFill>
                  <a:schemeClr val="lt1"/>
                </a:solidFill>
                <a:latin typeface="Lato"/>
                <a:ea typeface="Lato"/>
                <a:cs typeface="Lato"/>
                <a:sym typeface="Lato"/>
              </a:defRPr>
            </a:lvl6pPr>
            <a:lvl7pPr lvl="6" rtl="0" algn="r">
              <a:buNone/>
              <a:defRPr sz="1000">
                <a:solidFill>
                  <a:schemeClr val="lt1"/>
                </a:solidFill>
                <a:latin typeface="Lato"/>
                <a:ea typeface="Lato"/>
                <a:cs typeface="Lato"/>
                <a:sym typeface="Lato"/>
              </a:defRPr>
            </a:lvl7pPr>
            <a:lvl8pPr lvl="7" rtl="0" algn="r">
              <a:buNone/>
              <a:defRPr sz="1000">
                <a:solidFill>
                  <a:schemeClr val="lt1"/>
                </a:solidFill>
                <a:latin typeface="Lato"/>
                <a:ea typeface="Lato"/>
                <a:cs typeface="Lato"/>
                <a:sym typeface="Lato"/>
              </a:defRPr>
            </a:lvl8pPr>
            <a:lvl9pPr lvl="8" rtl="0"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11.png"/><Relationship Id="rId6"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hyperlink" Target="https://poe.com/" TargetMode="External"/><Relationship Id="rId4" Type="http://schemas.openxmlformats.org/officeDocument/2006/relationships/hyperlink" Target="https://gpt.h2o.ai/" TargetMode="External"/><Relationship Id="rId5" Type="http://schemas.openxmlformats.org/officeDocument/2006/relationships/image" Target="../media/image13.png"/><Relationship Id="rId6"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hyperlink" Target="https://gpt.h2o.ai/" TargetMode="Externa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image" Target="../media/image18.png"/><Relationship Id="rId5" Type="http://schemas.openxmlformats.org/officeDocument/2006/relationships/hyperlink" Target="https://docs.google.com/presentation/d/1rdVYJyS7xLYDsoZwC99VyQSnnaKelUnsVG4j2rHWjFA/edit#slide=id.g1965a5f7f0a_0_44"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hyperlink" Target="https://github.com/eugeneyan/open-llms" TargetMode="External"/><Relationship Id="rId4" Type="http://schemas.openxmlformats.org/officeDocument/2006/relationships/hyperlink" Target="https://gpt.h2o.ai/" TargetMode="External"/><Relationship Id="rId5" Type="http://schemas.openxmlformats.org/officeDocument/2006/relationships/hyperlink" Target="https://huggingface.co/blog/large-language-model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hyperlink" Target="https://arxiv.org/pdf/2304.13712.pdf" TargetMode="Externa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1" Type="http://schemas.openxmlformats.org/officeDocument/2006/relationships/hyperlink" Target="https://huggingface.co/docs/peft/task_guides/ptuning-seq-classification" TargetMode="External"/><Relationship Id="rId10" Type="http://schemas.openxmlformats.org/officeDocument/2006/relationships/hyperlink" Target="https://huggingface.co/" TargetMode="External"/><Relationship Id="rId13" Type="http://schemas.openxmlformats.org/officeDocument/2006/relationships/hyperlink" Target="https://huggingface.co/docs/transformers/training" TargetMode="External"/><Relationship Id="rId12" Type="http://schemas.openxmlformats.org/officeDocument/2006/relationships/hyperlink" Target="https://huggingface.co/docs/peft/task_guides/clm-prompt-tuning" TargetMode="External"/><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hyperlink" Target="https://monsterapi.ai/" TargetMode="External"/><Relationship Id="rId4" Type="http://schemas.openxmlformats.org/officeDocument/2006/relationships/hyperlink" Target="https://monsterapi.ai/pricing" TargetMode="External"/><Relationship Id="rId9" Type="http://schemas.openxmlformats.org/officeDocument/2006/relationships/hyperlink" Target="https://h2o.ai/blog/2023/effortless-fine-tuning-of-large-language-models-with-open-source-h2o-llm-studio/" TargetMode="External"/><Relationship Id="rId14" Type="http://schemas.openxmlformats.org/officeDocument/2006/relationships/hyperlink" Target="https://huggingface.co/learn/nlp-course/chapter0/1?fw=pt" TargetMode="External"/><Relationship Id="rId5" Type="http://schemas.openxmlformats.org/officeDocument/2006/relationships/hyperlink" Target="https://blog.monsterapi.ai/no-code-fine-tuning-llm/" TargetMode="External"/><Relationship Id="rId6" Type="http://schemas.openxmlformats.org/officeDocument/2006/relationships/hyperlink" Target="https://docs.monsterapi.ai/fine-tune-a-large-language-model-llm/launch-a-fine-tuning-job" TargetMode="External"/><Relationship Id="rId7" Type="http://schemas.openxmlformats.org/officeDocument/2006/relationships/hyperlink" Target="https://gpt.h2o.ai/" TargetMode="External"/><Relationship Id="rId8" Type="http://schemas.openxmlformats.org/officeDocument/2006/relationships/hyperlink" Target="https://docs.h2o.ai/h2o-llmstudio/guide/experiments/experiment-setting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21.png"/><Relationship Id="rId4" Type="http://schemas.openxmlformats.org/officeDocument/2006/relationships/hyperlink" Target="https://medium.com/@kanikaadik07/generative-ai-project-life-cycle-55ce9092e24a"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ph type="ctrTitle"/>
          </p:nvPr>
        </p:nvSpPr>
        <p:spPr>
          <a:xfrm>
            <a:off x="3288225" y="1578375"/>
            <a:ext cx="5701800" cy="1578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Customized Knowledge for AI</a:t>
            </a:r>
            <a:endParaRPr sz="3988"/>
          </a:p>
        </p:txBody>
      </p:sp>
      <p:pic>
        <p:nvPicPr>
          <p:cNvPr id="159" name="Google Shape;159;p15"/>
          <p:cNvPicPr preferRelativeResize="0"/>
          <p:nvPr/>
        </p:nvPicPr>
        <p:blipFill>
          <a:blip r:embed="rId3">
            <a:alphaModFix/>
          </a:blip>
          <a:stretch>
            <a:fillRect/>
          </a:stretch>
        </p:blipFill>
        <p:spPr>
          <a:xfrm>
            <a:off x="5698875" y="2993200"/>
            <a:ext cx="1141225" cy="11412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6"/>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Terms of Use</a:t>
            </a:r>
            <a:endParaRPr/>
          </a:p>
        </p:txBody>
      </p:sp>
      <p:pic>
        <p:nvPicPr>
          <p:cNvPr id="165" name="Google Shape;165;p16"/>
          <p:cNvPicPr preferRelativeResize="0"/>
          <p:nvPr/>
        </p:nvPicPr>
        <p:blipFill>
          <a:blip r:embed="rId3">
            <a:alphaModFix/>
          </a:blip>
          <a:stretch>
            <a:fillRect/>
          </a:stretch>
        </p:blipFill>
        <p:spPr>
          <a:xfrm>
            <a:off x="5981726" y="2173675"/>
            <a:ext cx="2275450" cy="796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7"/>
          <p:cNvSpPr txBox="1"/>
          <p:nvPr>
            <p:ph type="title"/>
          </p:nvPr>
        </p:nvSpPr>
        <p:spPr>
          <a:xfrm>
            <a:off x="290275" y="164975"/>
            <a:ext cx="8748900" cy="1344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090">
                <a:solidFill>
                  <a:schemeClr val="dk1"/>
                </a:solidFill>
                <a:highlight>
                  <a:srgbClr val="FFFFFF"/>
                </a:highlight>
              </a:rPr>
              <a:t>Don’t ask your primary care physician about how to fix your motorbike</a:t>
            </a:r>
            <a:endParaRPr sz="2290">
              <a:solidFill>
                <a:schemeClr val="dk1"/>
              </a:solidFill>
              <a:highlight>
                <a:srgbClr val="FFFFFF"/>
              </a:highlight>
            </a:endParaRPr>
          </a:p>
        </p:txBody>
      </p:sp>
      <p:pic>
        <p:nvPicPr>
          <p:cNvPr id="171" name="Google Shape;171;p17"/>
          <p:cNvPicPr preferRelativeResize="0"/>
          <p:nvPr/>
        </p:nvPicPr>
        <p:blipFill>
          <a:blip r:embed="rId3">
            <a:alphaModFix/>
          </a:blip>
          <a:stretch>
            <a:fillRect/>
          </a:stretch>
        </p:blipFill>
        <p:spPr>
          <a:xfrm>
            <a:off x="1267700" y="1383200"/>
            <a:ext cx="2266949" cy="2266949"/>
          </a:xfrm>
          <a:prstGeom prst="rect">
            <a:avLst/>
          </a:prstGeom>
          <a:noFill/>
          <a:ln>
            <a:noFill/>
          </a:ln>
        </p:spPr>
      </p:pic>
      <p:pic>
        <p:nvPicPr>
          <p:cNvPr id="172" name="Google Shape;172;p17"/>
          <p:cNvPicPr preferRelativeResize="0"/>
          <p:nvPr/>
        </p:nvPicPr>
        <p:blipFill>
          <a:blip r:embed="rId4">
            <a:alphaModFix/>
          </a:blip>
          <a:stretch>
            <a:fillRect/>
          </a:stretch>
        </p:blipFill>
        <p:spPr>
          <a:xfrm>
            <a:off x="4959799" y="1383200"/>
            <a:ext cx="2266949" cy="2266949"/>
          </a:xfrm>
          <a:prstGeom prst="rect">
            <a:avLst/>
          </a:prstGeom>
          <a:noFill/>
          <a:ln>
            <a:noFill/>
          </a:ln>
        </p:spPr>
      </p:pic>
      <p:sp>
        <p:nvSpPr>
          <p:cNvPr id="173" name="Google Shape;173;p17"/>
          <p:cNvSpPr txBox="1"/>
          <p:nvPr/>
        </p:nvSpPr>
        <p:spPr>
          <a:xfrm>
            <a:off x="3960575" y="1755650"/>
            <a:ext cx="6843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0">
                <a:solidFill>
                  <a:srgbClr val="FF0000"/>
                </a:solidFill>
                <a:latin typeface="Lato"/>
                <a:ea typeface="Lato"/>
                <a:cs typeface="Lato"/>
                <a:sym typeface="Lato"/>
              </a:rPr>
              <a:t>?</a:t>
            </a:r>
            <a:endParaRPr sz="7000">
              <a:solidFill>
                <a:srgbClr val="FF0000"/>
              </a:solidFill>
              <a:latin typeface="Lato"/>
              <a:ea typeface="Lato"/>
              <a:cs typeface="Lato"/>
              <a:sym typeface="Lato"/>
            </a:endParaRPr>
          </a:p>
        </p:txBody>
      </p:sp>
      <p:sp>
        <p:nvSpPr>
          <p:cNvPr id="174" name="Google Shape;174;p17"/>
          <p:cNvSpPr txBox="1"/>
          <p:nvPr>
            <p:ph type="title"/>
          </p:nvPr>
        </p:nvSpPr>
        <p:spPr>
          <a:xfrm>
            <a:off x="290275" y="3558300"/>
            <a:ext cx="8748900" cy="1344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2990">
                <a:solidFill>
                  <a:schemeClr val="dk1"/>
                </a:solidFill>
                <a:highlight>
                  <a:srgbClr val="FFFFFF"/>
                </a:highlight>
              </a:rPr>
              <a:t>Neither should you depend on an </a:t>
            </a:r>
            <a:r>
              <a:rPr b="1" lang="en" sz="2990">
                <a:solidFill>
                  <a:schemeClr val="dk1"/>
                </a:solidFill>
                <a:highlight>
                  <a:srgbClr val="FFFFFF"/>
                </a:highlight>
              </a:rPr>
              <a:t>AI model </a:t>
            </a:r>
            <a:r>
              <a:rPr lang="en" sz="2990">
                <a:solidFill>
                  <a:schemeClr val="dk1"/>
                </a:solidFill>
                <a:highlight>
                  <a:srgbClr val="FFFFFF"/>
                </a:highlight>
              </a:rPr>
              <a:t>for something it isn’t </a:t>
            </a:r>
            <a:r>
              <a:rPr b="1" lang="en" sz="2990">
                <a:solidFill>
                  <a:schemeClr val="dk1"/>
                </a:solidFill>
                <a:highlight>
                  <a:srgbClr val="FFFFFF"/>
                </a:highlight>
              </a:rPr>
              <a:t>trained</a:t>
            </a:r>
            <a:r>
              <a:rPr lang="en" sz="2990">
                <a:solidFill>
                  <a:schemeClr val="dk1"/>
                </a:solidFill>
                <a:highlight>
                  <a:srgbClr val="FFFFFF"/>
                </a:highlight>
              </a:rPr>
              <a:t> for</a:t>
            </a:r>
            <a:endParaRPr sz="2190">
              <a:solidFill>
                <a:schemeClr val="dk1"/>
              </a:solidFill>
              <a:highlight>
                <a:srgbClr val="FFFFFF"/>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8"/>
          <p:cNvSpPr/>
          <p:nvPr/>
        </p:nvSpPr>
        <p:spPr>
          <a:xfrm rot="7592644">
            <a:off x="2639133" y="2258402"/>
            <a:ext cx="1445483" cy="1367842"/>
          </a:xfrm>
          <a:prstGeom prst="trapezoid">
            <a:avLst>
              <a:gd fmla="val 58416" name="adj"/>
            </a:avLst>
          </a:prstGeom>
          <a:solidFill>
            <a:srgbClr val="C9DAF8"/>
          </a:solidFill>
          <a:ln cap="flat" cmpd="sng" w="762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80" name="Google Shape;180;p18"/>
          <p:cNvSpPr/>
          <p:nvPr/>
        </p:nvSpPr>
        <p:spPr>
          <a:xfrm>
            <a:off x="3676000" y="2819100"/>
            <a:ext cx="1641300" cy="1563300"/>
          </a:xfrm>
          <a:prstGeom prst="rect">
            <a:avLst/>
          </a:prstGeom>
          <a:solidFill>
            <a:srgbClr val="6FA8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Lato"/>
              <a:ea typeface="Lato"/>
              <a:cs typeface="Lato"/>
              <a:sym typeface="Lato"/>
            </a:endParaRPr>
          </a:p>
        </p:txBody>
      </p:sp>
      <p:pic>
        <p:nvPicPr>
          <p:cNvPr id="181" name="Google Shape;181;p18"/>
          <p:cNvPicPr preferRelativeResize="0"/>
          <p:nvPr/>
        </p:nvPicPr>
        <p:blipFill>
          <a:blip r:embed="rId3">
            <a:alphaModFix/>
          </a:blip>
          <a:stretch>
            <a:fillRect/>
          </a:stretch>
        </p:blipFill>
        <p:spPr>
          <a:xfrm>
            <a:off x="3610775" y="2778625"/>
            <a:ext cx="1796649" cy="1796649"/>
          </a:xfrm>
          <a:prstGeom prst="rect">
            <a:avLst/>
          </a:prstGeom>
          <a:noFill/>
          <a:ln>
            <a:noFill/>
          </a:ln>
        </p:spPr>
      </p:pic>
      <p:sp>
        <p:nvSpPr>
          <p:cNvPr id="182" name="Google Shape;182;p18"/>
          <p:cNvSpPr/>
          <p:nvPr/>
        </p:nvSpPr>
        <p:spPr>
          <a:xfrm>
            <a:off x="5407425" y="3930100"/>
            <a:ext cx="2376900" cy="384900"/>
          </a:xfrm>
          <a:prstGeom prst="rect">
            <a:avLst/>
          </a:prstGeom>
          <a:solidFill>
            <a:srgbClr val="6FA8DC"/>
          </a:solidFill>
          <a:ln cap="flat" cmpd="sng" w="762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Lato"/>
              <a:ea typeface="Lato"/>
              <a:cs typeface="Lato"/>
              <a:sym typeface="Lato"/>
            </a:endParaRPr>
          </a:p>
          <a:p>
            <a:pPr indent="0" lvl="0" marL="0" rtl="0" algn="ctr">
              <a:spcBef>
                <a:spcPts val="0"/>
              </a:spcBef>
              <a:spcAft>
                <a:spcPts val="0"/>
              </a:spcAft>
              <a:buNone/>
            </a:pPr>
            <a:r>
              <a:t/>
            </a:r>
            <a:endParaRPr>
              <a:latin typeface="Lato"/>
              <a:ea typeface="Lato"/>
              <a:cs typeface="Lato"/>
              <a:sym typeface="Lato"/>
            </a:endParaRPr>
          </a:p>
        </p:txBody>
      </p:sp>
      <p:pic>
        <p:nvPicPr>
          <p:cNvPr id="183" name="Google Shape;183;p18"/>
          <p:cNvPicPr preferRelativeResize="0"/>
          <p:nvPr/>
        </p:nvPicPr>
        <p:blipFill>
          <a:blip r:embed="rId4">
            <a:alphaModFix/>
          </a:blip>
          <a:stretch>
            <a:fillRect/>
          </a:stretch>
        </p:blipFill>
        <p:spPr>
          <a:xfrm>
            <a:off x="5407424" y="2934100"/>
            <a:ext cx="2376906" cy="2376906"/>
          </a:xfrm>
          <a:prstGeom prst="rect">
            <a:avLst/>
          </a:prstGeom>
          <a:noFill/>
          <a:ln>
            <a:noFill/>
          </a:ln>
        </p:spPr>
      </p:pic>
      <p:sp>
        <p:nvSpPr>
          <p:cNvPr id="184" name="Google Shape;184;p18"/>
          <p:cNvSpPr txBox="1"/>
          <p:nvPr/>
        </p:nvSpPr>
        <p:spPr>
          <a:xfrm>
            <a:off x="1068075" y="609150"/>
            <a:ext cx="993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u="sng">
                <a:solidFill>
                  <a:schemeClr val="lt1"/>
                </a:solidFill>
                <a:latin typeface="Lato"/>
                <a:ea typeface="Lato"/>
                <a:cs typeface="Lato"/>
                <a:sym typeface="Lato"/>
              </a:rPr>
              <a:t>Input</a:t>
            </a:r>
            <a:endParaRPr b="1" sz="2200" u="sng">
              <a:solidFill>
                <a:schemeClr val="lt1"/>
              </a:solidFill>
              <a:latin typeface="Lato"/>
              <a:ea typeface="Lato"/>
              <a:cs typeface="Lato"/>
              <a:sym typeface="Lato"/>
            </a:endParaRPr>
          </a:p>
        </p:txBody>
      </p:sp>
      <p:sp>
        <p:nvSpPr>
          <p:cNvPr id="185" name="Google Shape;185;p18"/>
          <p:cNvSpPr txBox="1"/>
          <p:nvPr/>
        </p:nvSpPr>
        <p:spPr>
          <a:xfrm>
            <a:off x="6100450" y="2549200"/>
            <a:ext cx="15507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u="sng">
                <a:solidFill>
                  <a:schemeClr val="lt1"/>
                </a:solidFill>
                <a:latin typeface="Lato"/>
                <a:ea typeface="Lato"/>
                <a:cs typeface="Lato"/>
                <a:sym typeface="Lato"/>
              </a:rPr>
              <a:t>Output</a:t>
            </a:r>
            <a:endParaRPr b="1" sz="2200" u="sng">
              <a:solidFill>
                <a:schemeClr val="lt1"/>
              </a:solidFill>
              <a:latin typeface="Lato"/>
              <a:ea typeface="Lato"/>
              <a:cs typeface="Lato"/>
              <a:sym typeface="Lato"/>
            </a:endParaRPr>
          </a:p>
        </p:txBody>
      </p:sp>
      <p:sp>
        <p:nvSpPr>
          <p:cNvPr id="186" name="Google Shape;186;p18"/>
          <p:cNvSpPr/>
          <p:nvPr/>
        </p:nvSpPr>
        <p:spPr>
          <a:xfrm>
            <a:off x="3081800" y="4315000"/>
            <a:ext cx="2748900" cy="560100"/>
          </a:xfrm>
          <a:prstGeom prst="rect">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u="sng">
                <a:latin typeface="Lato"/>
                <a:ea typeface="Lato"/>
                <a:cs typeface="Lato"/>
                <a:sym typeface="Lato"/>
              </a:rPr>
              <a:t>Training Data</a:t>
            </a:r>
            <a:endParaRPr b="1" sz="2000" u="sng">
              <a:latin typeface="Lato"/>
              <a:ea typeface="Lato"/>
              <a:cs typeface="Lato"/>
              <a:sym typeface="Lato"/>
            </a:endParaRPr>
          </a:p>
          <a:p>
            <a:pPr indent="0" lvl="0" marL="0" rtl="0" algn="ctr">
              <a:spcBef>
                <a:spcPts val="0"/>
              </a:spcBef>
              <a:spcAft>
                <a:spcPts val="0"/>
              </a:spcAft>
              <a:buNone/>
            </a:pPr>
            <a:r>
              <a:t/>
            </a:r>
            <a:endParaRPr>
              <a:latin typeface="Lato"/>
              <a:ea typeface="Lato"/>
              <a:cs typeface="Lato"/>
              <a:sym typeface="Lato"/>
            </a:endParaRPr>
          </a:p>
        </p:txBody>
      </p:sp>
      <p:sp>
        <p:nvSpPr>
          <p:cNvPr id="187" name="Google Shape;187;p18"/>
          <p:cNvSpPr/>
          <p:nvPr/>
        </p:nvSpPr>
        <p:spPr>
          <a:xfrm rot="2370681">
            <a:off x="1989292" y="2018770"/>
            <a:ext cx="822814" cy="476304"/>
          </a:xfrm>
          <a:prstGeom prst="rightArrow">
            <a:avLst>
              <a:gd fmla="val 50000" name="adj1"/>
              <a:gd fmla="val 50000" name="adj2"/>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88" name="Google Shape;188;p18"/>
          <p:cNvSpPr/>
          <p:nvPr/>
        </p:nvSpPr>
        <p:spPr>
          <a:xfrm>
            <a:off x="5487090" y="3308618"/>
            <a:ext cx="773100" cy="300600"/>
          </a:xfrm>
          <a:prstGeom prst="rightArrow">
            <a:avLst>
              <a:gd fmla="val 50000" name="adj1"/>
              <a:gd fmla="val 50000" name="adj2"/>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189" name="Google Shape;189;p18"/>
          <p:cNvPicPr preferRelativeResize="0"/>
          <p:nvPr/>
        </p:nvPicPr>
        <p:blipFill>
          <a:blip r:embed="rId5">
            <a:alphaModFix/>
          </a:blip>
          <a:stretch>
            <a:fillRect/>
          </a:stretch>
        </p:blipFill>
        <p:spPr>
          <a:xfrm>
            <a:off x="3081825" y="4315000"/>
            <a:ext cx="560100" cy="560100"/>
          </a:xfrm>
          <a:prstGeom prst="rect">
            <a:avLst/>
          </a:prstGeom>
          <a:noFill/>
          <a:ln>
            <a:noFill/>
          </a:ln>
        </p:spPr>
      </p:pic>
      <p:pic>
        <p:nvPicPr>
          <p:cNvPr id="190" name="Google Shape;190;p18"/>
          <p:cNvPicPr preferRelativeResize="0"/>
          <p:nvPr/>
        </p:nvPicPr>
        <p:blipFill>
          <a:blip r:embed="rId5">
            <a:alphaModFix/>
          </a:blip>
          <a:stretch>
            <a:fillRect/>
          </a:stretch>
        </p:blipFill>
        <p:spPr>
          <a:xfrm>
            <a:off x="5270600" y="4315000"/>
            <a:ext cx="560100" cy="560100"/>
          </a:xfrm>
          <a:prstGeom prst="rect">
            <a:avLst/>
          </a:prstGeom>
          <a:noFill/>
          <a:ln>
            <a:noFill/>
          </a:ln>
        </p:spPr>
      </p:pic>
      <p:sp>
        <p:nvSpPr>
          <p:cNvPr id="191" name="Google Shape;191;p18"/>
          <p:cNvSpPr/>
          <p:nvPr/>
        </p:nvSpPr>
        <p:spPr>
          <a:xfrm>
            <a:off x="492700" y="1069525"/>
            <a:ext cx="2376900" cy="741900"/>
          </a:xfrm>
          <a:prstGeom prst="wedgeRoundRectCallout">
            <a:avLst>
              <a:gd fmla="val -4885" name="adj1"/>
              <a:gd fmla="val 104691" name="adj2"/>
              <a:gd fmla="val 0" name="adj3"/>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What is this?</a:t>
            </a:r>
            <a:endParaRPr>
              <a:latin typeface="Lato"/>
              <a:ea typeface="Lato"/>
              <a:cs typeface="Lato"/>
              <a:sym typeface="Lato"/>
            </a:endParaRPr>
          </a:p>
        </p:txBody>
      </p:sp>
      <p:sp>
        <p:nvSpPr>
          <p:cNvPr id="192" name="Google Shape;192;p18"/>
          <p:cNvSpPr/>
          <p:nvPr/>
        </p:nvSpPr>
        <p:spPr>
          <a:xfrm>
            <a:off x="6507225" y="3150825"/>
            <a:ext cx="1212300" cy="616200"/>
          </a:xfrm>
          <a:prstGeom prst="wedgeRoundRectCallout">
            <a:avLst>
              <a:gd fmla="val -33623" name="adj1"/>
              <a:gd fmla="val 69096" name="adj2"/>
              <a:gd fmla="val 0" name="adj3"/>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It’s an apple.</a:t>
            </a:r>
            <a:endParaRPr>
              <a:latin typeface="Lato"/>
              <a:ea typeface="Lato"/>
              <a:cs typeface="Lato"/>
              <a:sym typeface="Lato"/>
            </a:endParaRPr>
          </a:p>
        </p:txBody>
      </p:sp>
      <p:sp>
        <p:nvSpPr>
          <p:cNvPr id="193" name="Google Shape;193;p18"/>
          <p:cNvSpPr txBox="1"/>
          <p:nvPr/>
        </p:nvSpPr>
        <p:spPr>
          <a:xfrm>
            <a:off x="3676000" y="2310150"/>
            <a:ext cx="16713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u="sng">
                <a:solidFill>
                  <a:schemeClr val="lt1"/>
                </a:solidFill>
                <a:latin typeface="Lato"/>
                <a:ea typeface="Lato"/>
                <a:cs typeface="Lato"/>
                <a:sym typeface="Lato"/>
              </a:rPr>
              <a:t>Algorithms</a:t>
            </a:r>
            <a:endParaRPr b="1" sz="2200" u="sng">
              <a:solidFill>
                <a:schemeClr val="lt1"/>
              </a:solidFill>
              <a:latin typeface="Lato"/>
              <a:ea typeface="Lato"/>
              <a:cs typeface="Lato"/>
              <a:sym typeface="Lato"/>
            </a:endParaRPr>
          </a:p>
        </p:txBody>
      </p:sp>
      <p:sp>
        <p:nvSpPr>
          <p:cNvPr id="194" name="Google Shape;194;p18"/>
          <p:cNvSpPr txBox="1"/>
          <p:nvPr/>
        </p:nvSpPr>
        <p:spPr>
          <a:xfrm>
            <a:off x="0" y="92275"/>
            <a:ext cx="91440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lt1"/>
                </a:solidFill>
                <a:latin typeface="Montserrat"/>
                <a:ea typeface="Montserrat"/>
                <a:cs typeface="Montserrat"/>
                <a:sym typeface="Montserrat"/>
              </a:rPr>
              <a:t>What’s your use case? </a:t>
            </a:r>
            <a:endParaRPr sz="2800">
              <a:solidFill>
                <a:schemeClr val="lt1"/>
              </a:solidFill>
              <a:latin typeface="Montserrat"/>
              <a:ea typeface="Montserrat"/>
              <a:cs typeface="Montserrat"/>
              <a:sym typeface="Montserrat"/>
            </a:endParaRPr>
          </a:p>
          <a:p>
            <a:pPr indent="0" lvl="0" marL="0" rtl="0" algn="ctr">
              <a:spcBef>
                <a:spcPts val="0"/>
              </a:spcBef>
              <a:spcAft>
                <a:spcPts val="0"/>
              </a:spcAft>
              <a:buNone/>
            </a:pPr>
            <a:r>
              <a:rPr i="1" lang="en" sz="2000">
                <a:solidFill>
                  <a:srgbClr val="FF9900"/>
                </a:solidFill>
                <a:latin typeface="Montserrat"/>
                <a:ea typeface="Montserrat"/>
                <a:cs typeface="Montserrat"/>
                <a:sym typeface="Montserrat"/>
              </a:rPr>
              <a:t>Customized Knowledge</a:t>
            </a:r>
            <a:r>
              <a:rPr lang="en" sz="2000">
                <a:solidFill>
                  <a:schemeClr val="lt1"/>
                </a:solidFill>
                <a:latin typeface="Montserrat"/>
                <a:ea typeface="Montserrat"/>
                <a:cs typeface="Montserrat"/>
                <a:sym typeface="Montserrat"/>
              </a:rPr>
              <a:t> </a:t>
            </a:r>
            <a:endParaRPr sz="2000">
              <a:solidFill>
                <a:schemeClr val="lt1"/>
              </a:solidFill>
              <a:latin typeface="Montserrat"/>
              <a:ea typeface="Montserrat"/>
              <a:cs typeface="Montserrat"/>
              <a:sym typeface="Montserrat"/>
            </a:endParaRPr>
          </a:p>
        </p:txBody>
      </p:sp>
      <p:sp>
        <p:nvSpPr>
          <p:cNvPr id="195" name="Google Shape;195;p18"/>
          <p:cNvSpPr txBox="1"/>
          <p:nvPr/>
        </p:nvSpPr>
        <p:spPr>
          <a:xfrm>
            <a:off x="3156975" y="1092650"/>
            <a:ext cx="56622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rgbClr val="FF9900"/>
                </a:solidFill>
                <a:latin typeface="Montserrat"/>
                <a:ea typeface="Montserrat"/>
                <a:cs typeface="Montserrat"/>
                <a:sym typeface="Montserrat"/>
              </a:rPr>
              <a:t>My input questions are domain specific. </a:t>
            </a:r>
            <a:endParaRPr b="1" sz="1900">
              <a:solidFill>
                <a:srgbClr val="FF9900"/>
              </a:solidFill>
              <a:latin typeface="Montserrat"/>
              <a:ea typeface="Montserrat"/>
              <a:cs typeface="Montserrat"/>
              <a:sym typeface="Montserrat"/>
            </a:endParaRPr>
          </a:p>
        </p:txBody>
      </p:sp>
      <p:pic>
        <p:nvPicPr>
          <p:cNvPr id="196" name="Google Shape;196;p18"/>
          <p:cNvPicPr preferRelativeResize="0"/>
          <p:nvPr/>
        </p:nvPicPr>
        <p:blipFill>
          <a:blip r:embed="rId6">
            <a:alphaModFix/>
          </a:blip>
          <a:stretch>
            <a:fillRect/>
          </a:stretch>
        </p:blipFill>
        <p:spPr>
          <a:xfrm>
            <a:off x="1816200" y="1069524"/>
            <a:ext cx="853186" cy="7419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9"/>
          <p:cNvSpPr txBox="1"/>
          <p:nvPr>
            <p:ph type="title"/>
          </p:nvPr>
        </p:nvSpPr>
        <p:spPr>
          <a:xfrm>
            <a:off x="745300" y="459425"/>
            <a:ext cx="8403300" cy="3991500"/>
          </a:xfrm>
          <a:prstGeom prst="rect">
            <a:avLst/>
          </a:prstGeom>
        </p:spPr>
        <p:txBody>
          <a:bodyPr anchorCtr="0" anchor="ctr" bIns="91425" lIns="91425" spcFirstLastPara="1" rIns="91425" wrap="square" tIns="91425">
            <a:normAutofit/>
          </a:bodyPr>
          <a:lstStyle/>
          <a:p>
            <a:pPr indent="457200" lvl="0" marL="0" rtl="0" algn="l">
              <a:lnSpc>
                <a:spcPct val="100000"/>
              </a:lnSpc>
              <a:spcBef>
                <a:spcPts val="0"/>
              </a:spcBef>
              <a:spcAft>
                <a:spcPts val="0"/>
              </a:spcAft>
              <a:buNone/>
            </a:pPr>
            <a:r>
              <a:t/>
            </a:r>
            <a:endParaRPr sz="2100">
              <a:solidFill>
                <a:srgbClr val="282828"/>
              </a:solidFill>
              <a:highlight>
                <a:srgbClr val="FFFFFF"/>
              </a:highlight>
            </a:endParaRPr>
          </a:p>
          <a:p>
            <a:pPr indent="457200" lvl="0" marL="0" rtl="0" algn="l">
              <a:lnSpc>
                <a:spcPct val="100000"/>
              </a:lnSpc>
              <a:spcBef>
                <a:spcPts val="400"/>
              </a:spcBef>
              <a:spcAft>
                <a:spcPts val="0"/>
              </a:spcAft>
              <a:buNone/>
            </a:pPr>
            <a:r>
              <a:rPr lang="en" sz="2100">
                <a:solidFill>
                  <a:srgbClr val="282828"/>
                </a:solidFill>
                <a:highlight>
                  <a:srgbClr val="FFFFFF"/>
                </a:highlight>
              </a:rPr>
              <a:t>Prompt engineering</a:t>
            </a:r>
            <a:endParaRPr sz="2100">
              <a:solidFill>
                <a:srgbClr val="282828"/>
              </a:solidFill>
              <a:highlight>
                <a:srgbClr val="FFFFFF"/>
              </a:highlight>
            </a:endParaRPr>
          </a:p>
          <a:p>
            <a:pPr indent="457200" lvl="0" marL="0" rtl="0" algn="l">
              <a:lnSpc>
                <a:spcPct val="100000"/>
              </a:lnSpc>
              <a:spcBef>
                <a:spcPts val="400"/>
              </a:spcBef>
              <a:spcAft>
                <a:spcPts val="0"/>
              </a:spcAft>
              <a:buNone/>
            </a:pPr>
            <a:r>
              <a:t/>
            </a:r>
            <a:endParaRPr sz="2100">
              <a:solidFill>
                <a:srgbClr val="282828"/>
              </a:solidFill>
              <a:highlight>
                <a:srgbClr val="FFFFFF"/>
              </a:highlight>
            </a:endParaRPr>
          </a:p>
          <a:p>
            <a:pPr indent="457200" lvl="0" marL="0" rtl="0" algn="l">
              <a:lnSpc>
                <a:spcPct val="100000"/>
              </a:lnSpc>
              <a:spcBef>
                <a:spcPts val="400"/>
              </a:spcBef>
              <a:spcAft>
                <a:spcPts val="0"/>
              </a:spcAft>
              <a:buNone/>
            </a:pPr>
            <a:r>
              <a:rPr lang="en" sz="2100">
                <a:solidFill>
                  <a:srgbClr val="282828"/>
                </a:solidFill>
                <a:highlight>
                  <a:srgbClr val="FFFFFF"/>
                </a:highlight>
              </a:rPr>
              <a:t>Prompt-tuning </a:t>
            </a:r>
            <a:endParaRPr b="1" sz="1300">
              <a:solidFill>
                <a:srgbClr val="282828"/>
              </a:solidFill>
              <a:highlight>
                <a:srgbClr val="FFFFFF"/>
              </a:highlight>
            </a:endParaRPr>
          </a:p>
          <a:p>
            <a:pPr indent="0" lvl="0" marL="0" rtl="0" algn="l">
              <a:spcBef>
                <a:spcPts val="400"/>
              </a:spcBef>
              <a:spcAft>
                <a:spcPts val="0"/>
              </a:spcAft>
              <a:buNone/>
            </a:pPr>
            <a:r>
              <a:rPr lang="en" sz="2100">
                <a:solidFill>
                  <a:srgbClr val="282828"/>
                </a:solidFill>
                <a:highlight>
                  <a:srgbClr val="FFFFFF"/>
                </a:highlight>
              </a:rPr>
              <a:t>	</a:t>
            </a:r>
            <a:endParaRPr sz="2100">
              <a:solidFill>
                <a:srgbClr val="282828"/>
              </a:solidFill>
              <a:highlight>
                <a:srgbClr val="FFFFFF"/>
              </a:highlight>
            </a:endParaRPr>
          </a:p>
          <a:p>
            <a:pPr indent="0" lvl="0" marL="0" rtl="0" algn="l">
              <a:spcBef>
                <a:spcPts val="0"/>
              </a:spcBef>
              <a:spcAft>
                <a:spcPts val="0"/>
              </a:spcAft>
              <a:buNone/>
            </a:pPr>
            <a:r>
              <a:rPr lang="en" sz="2100">
                <a:solidFill>
                  <a:srgbClr val="282828"/>
                </a:solidFill>
                <a:highlight>
                  <a:srgbClr val="FFFFFF"/>
                </a:highlight>
              </a:rPr>
              <a:t>	Fine-tuning a model</a:t>
            </a:r>
            <a:endParaRPr sz="2100">
              <a:solidFill>
                <a:srgbClr val="282828"/>
              </a:solidFill>
              <a:highlight>
                <a:srgbClr val="FFFFFF"/>
              </a:highlight>
            </a:endParaRPr>
          </a:p>
          <a:p>
            <a:pPr indent="457200" lvl="0" marL="0" rtl="0" algn="l">
              <a:spcBef>
                <a:spcPts val="0"/>
              </a:spcBef>
              <a:spcAft>
                <a:spcPts val="0"/>
              </a:spcAft>
              <a:buNone/>
            </a:pPr>
            <a:r>
              <a:t/>
            </a:r>
            <a:endParaRPr sz="2100">
              <a:solidFill>
                <a:srgbClr val="282828"/>
              </a:solidFill>
              <a:highlight>
                <a:srgbClr val="FFFFFF"/>
              </a:highlight>
            </a:endParaRPr>
          </a:p>
          <a:p>
            <a:pPr indent="457200" lvl="0" marL="0" rtl="0" algn="l">
              <a:spcBef>
                <a:spcPts val="0"/>
              </a:spcBef>
              <a:spcAft>
                <a:spcPts val="0"/>
              </a:spcAft>
              <a:buNone/>
            </a:pPr>
            <a:r>
              <a:rPr lang="en" sz="2100">
                <a:solidFill>
                  <a:srgbClr val="282828"/>
                </a:solidFill>
                <a:highlight>
                  <a:srgbClr val="FFFFFF"/>
                </a:highlight>
              </a:rPr>
              <a:t>Training from Scratch</a:t>
            </a:r>
            <a:r>
              <a:rPr lang="en" sz="2100">
                <a:solidFill>
                  <a:srgbClr val="282828"/>
                </a:solidFill>
                <a:highlight>
                  <a:srgbClr val="FFFFFF"/>
                </a:highlight>
              </a:rPr>
              <a:t> </a:t>
            </a:r>
            <a:endParaRPr sz="1100"/>
          </a:p>
        </p:txBody>
      </p:sp>
      <p:sp>
        <p:nvSpPr>
          <p:cNvPr id="202" name="Google Shape;202;p19"/>
          <p:cNvSpPr/>
          <p:nvPr/>
        </p:nvSpPr>
        <p:spPr>
          <a:xfrm>
            <a:off x="4357125" y="1577550"/>
            <a:ext cx="406800" cy="472500"/>
          </a:xfrm>
          <a:prstGeom prst="rightArrow">
            <a:avLst>
              <a:gd fmla="val 50000" name="adj1"/>
              <a:gd fmla="val 50000" name="adj2"/>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3" name="Google Shape;203;p19"/>
          <p:cNvSpPr/>
          <p:nvPr/>
        </p:nvSpPr>
        <p:spPr>
          <a:xfrm>
            <a:off x="4357125" y="2303675"/>
            <a:ext cx="406800" cy="472500"/>
          </a:xfrm>
          <a:prstGeom prst="rightArrow">
            <a:avLst>
              <a:gd fmla="val 50000" name="adj1"/>
              <a:gd fmla="val 50000" name="adj2"/>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4" name="Google Shape;204;p19"/>
          <p:cNvSpPr/>
          <p:nvPr/>
        </p:nvSpPr>
        <p:spPr>
          <a:xfrm>
            <a:off x="4357125" y="3029800"/>
            <a:ext cx="406800" cy="472500"/>
          </a:xfrm>
          <a:prstGeom prst="rightArrow">
            <a:avLst>
              <a:gd fmla="val 50000" name="adj1"/>
              <a:gd fmla="val 50000" name="adj2"/>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5" name="Google Shape;205;p19"/>
          <p:cNvSpPr txBox="1"/>
          <p:nvPr/>
        </p:nvSpPr>
        <p:spPr>
          <a:xfrm>
            <a:off x="4957800" y="3697050"/>
            <a:ext cx="36075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highlight>
                  <a:srgbClr val="FFFFFF"/>
                </a:highlight>
                <a:latin typeface="Montserrat"/>
                <a:ea typeface="Montserrat"/>
                <a:cs typeface="Montserrat"/>
                <a:sym typeface="Montserrat"/>
              </a:rPr>
              <a:t>Make a whole new ChatGPT; this is p</a:t>
            </a:r>
            <a:r>
              <a:rPr lang="en" sz="1800">
                <a:solidFill>
                  <a:schemeClr val="lt1"/>
                </a:solidFill>
                <a:highlight>
                  <a:srgbClr val="FFFFFF"/>
                </a:highlight>
                <a:latin typeface="Montserrat"/>
                <a:ea typeface="Montserrat"/>
                <a:cs typeface="Montserrat"/>
                <a:sym typeface="Montserrat"/>
              </a:rPr>
              <a:t>rohibitively </a:t>
            </a:r>
            <a:r>
              <a:rPr b="1" lang="en" sz="1800">
                <a:solidFill>
                  <a:schemeClr val="lt1"/>
                </a:solidFill>
                <a:highlight>
                  <a:srgbClr val="FFFFFF"/>
                </a:highlight>
                <a:latin typeface="Montserrat"/>
                <a:ea typeface="Montserrat"/>
                <a:cs typeface="Montserrat"/>
                <a:sym typeface="Montserrat"/>
              </a:rPr>
              <a:t>expensive</a:t>
            </a:r>
            <a:endParaRPr b="1" sz="1800">
              <a:solidFill>
                <a:schemeClr val="lt1"/>
              </a:solidFill>
              <a:highlight>
                <a:srgbClr val="FFFFFF"/>
              </a:highlight>
              <a:latin typeface="Montserrat"/>
              <a:ea typeface="Montserrat"/>
              <a:cs typeface="Montserrat"/>
              <a:sym typeface="Montserrat"/>
            </a:endParaRPr>
          </a:p>
        </p:txBody>
      </p:sp>
      <p:sp>
        <p:nvSpPr>
          <p:cNvPr id="206" name="Google Shape;206;p19"/>
          <p:cNvSpPr txBox="1"/>
          <p:nvPr/>
        </p:nvSpPr>
        <p:spPr>
          <a:xfrm>
            <a:off x="4957800" y="2958150"/>
            <a:ext cx="37266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highlight>
                  <a:srgbClr val="FFFFFF"/>
                </a:highlight>
                <a:latin typeface="Montserrat"/>
                <a:ea typeface="Montserrat"/>
                <a:cs typeface="Montserrat"/>
                <a:sym typeface="Montserrat"/>
              </a:rPr>
              <a:t>Make the model better - but with a bit more </a:t>
            </a:r>
            <a:r>
              <a:rPr b="1" lang="en" sz="1800">
                <a:solidFill>
                  <a:schemeClr val="lt1"/>
                </a:solidFill>
                <a:highlight>
                  <a:srgbClr val="FFFFFF"/>
                </a:highlight>
                <a:latin typeface="Montserrat"/>
                <a:ea typeface="Montserrat"/>
                <a:cs typeface="Montserrat"/>
                <a:sym typeface="Montserrat"/>
              </a:rPr>
              <a:t>investment</a:t>
            </a:r>
            <a:endParaRPr b="1" sz="1800">
              <a:solidFill>
                <a:schemeClr val="lt1"/>
              </a:solidFill>
              <a:highlight>
                <a:srgbClr val="FFFFFF"/>
              </a:highlight>
              <a:latin typeface="Montserrat"/>
              <a:ea typeface="Montserrat"/>
              <a:cs typeface="Montserrat"/>
              <a:sym typeface="Montserrat"/>
            </a:endParaRPr>
          </a:p>
        </p:txBody>
      </p:sp>
      <p:sp>
        <p:nvSpPr>
          <p:cNvPr id="207" name="Google Shape;207;p19"/>
          <p:cNvSpPr txBox="1"/>
          <p:nvPr/>
        </p:nvSpPr>
        <p:spPr>
          <a:xfrm>
            <a:off x="4913700" y="2201250"/>
            <a:ext cx="38148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highlight>
                  <a:srgbClr val="FFFFFF"/>
                </a:highlight>
                <a:latin typeface="Montserrat"/>
                <a:ea typeface="Montserrat"/>
                <a:cs typeface="Montserrat"/>
                <a:sym typeface="Montserrat"/>
              </a:rPr>
              <a:t>Make the model </a:t>
            </a:r>
            <a:r>
              <a:rPr b="1" lang="en" sz="1800">
                <a:solidFill>
                  <a:schemeClr val="lt1"/>
                </a:solidFill>
                <a:highlight>
                  <a:srgbClr val="FFFFFF"/>
                </a:highlight>
                <a:latin typeface="Montserrat"/>
                <a:ea typeface="Montserrat"/>
                <a:cs typeface="Montserrat"/>
                <a:sym typeface="Montserrat"/>
              </a:rPr>
              <a:t>better</a:t>
            </a:r>
            <a:r>
              <a:rPr lang="en" sz="1800">
                <a:solidFill>
                  <a:schemeClr val="lt1"/>
                </a:solidFill>
                <a:highlight>
                  <a:srgbClr val="FFFFFF"/>
                </a:highlight>
                <a:latin typeface="Montserrat"/>
                <a:ea typeface="Montserrat"/>
                <a:cs typeface="Montserrat"/>
                <a:sym typeface="Montserrat"/>
              </a:rPr>
              <a:t> - but </a:t>
            </a:r>
            <a:r>
              <a:rPr b="1" lang="en" sz="1800">
                <a:solidFill>
                  <a:schemeClr val="lt1"/>
                </a:solidFill>
                <a:highlight>
                  <a:srgbClr val="FFFFFF"/>
                </a:highlight>
                <a:latin typeface="Montserrat"/>
                <a:ea typeface="Montserrat"/>
                <a:cs typeface="Montserrat"/>
                <a:sym typeface="Montserrat"/>
              </a:rPr>
              <a:t>efficiently</a:t>
            </a:r>
            <a:endParaRPr b="1" sz="1800">
              <a:solidFill>
                <a:schemeClr val="lt1"/>
              </a:solidFill>
              <a:highlight>
                <a:srgbClr val="FFFFFF"/>
              </a:highlight>
              <a:latin typeface="Montserrat"/>
              <a:ea typeface="Montserrat"/>
              <a:cs typeface="Montserrat"/>
              <a:sym typeface="Montserrat"/>
            </a:endParaRPr>
          </a:p>
        </p:txBody>
      </p:sp>
      <p:sp>
        <p:nvSpPr>
          <p:cNvPr id="208" name="Google Shape;208;p19"/>
          <p:cNvSpPr/>
          <p:nvPr/>
        </p:nvSpPr>
        <p:spPr>
          <a:xfrm rot="10800000">
            <a:off x="298175" y="1785300"/>
            <a:ext cx="486000" cy="2342400"/>
          </a:xfrm>
          <a:prstGeom prst="upDownArrow">
            <a:avLst>
              <a:gd fmla="val 50000" name="adj1"/>
              <a:gd fmla="val 50000" name="adj2"/>
            </a:avLst>
          </a:prstGeom>
          <a:gradFill>
            <a:gsLst>
              <a:gs pos="0">
                <a:srgbClr val="FFFFFF"/>
              </a:gs>
              <a:gs pos="57000">
                <a:srgbClr val="B8D4AB"/>
              </a:gs>
              <a:gs pos="100000">
                <a:srgbClr val="EA9999"/>
              </a:gs>
            </a:gsLst>
            <a:lin ang="16200038"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9" name="Google Shape;209;p19"/>
          <p:cNvSpPr txBox="1"/>
          <p:nvPr/>
        </p:nvSpPr>
        <p:spPr>
          <a:xfrm>
            <a:off x="38675" y="4074050"/>
            <a:ext cx="10050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lt1"/>
                </a:solidFill>
                <a:latin typeface="Lato"/>
                <a:ea typeface="Lato"/>
                <a:cs typeface="Lato"/>
                <a:sym typeface="Lato"/>
              </a:rPr>
              <a:t>Highest</a:t>
            </a:r>
            <a:endParaRPr sz="1300">
              <a:solidFill>
                <a:schemeClr val="lt1"/>
              </a:solidFill>
              <a:latin typeface="Lato"/>
              <a:ea typeface="Lato"/>
              <a:cs typeface="Lato"/>
              <a:sym typeface="Lato"/>
            </a:endParaRPr>
          </a:p>
          <a:p>
            <a:pPr indent="0" lvl="0" marL="0" rtl="0" algn="ctr">
              <a:spcBef>
                <a:spcPts val="0"/>
              </a:spcBef>
              <a:spcAft>
                <a:spcPts val="0"/>
              </a:spcAft>
              <a:buNone/>
            </a:pPr>
            <a:r>
              <a:rPr lang="en" sz="1300">
                <a:solidFill>
                  <a:schemeClr val="lt1"/>
                </a:solidFill>
                <a:latin typeface="Lato"/>
                <a:ea typeface="Lato"/>
                <a:cs typeface="Lato"/>
                <a:sym typeface="Lato"/>
              </a:rPr>
              <a:t>Investment</a:t>
            </a:r>
            <a:endParaRPr sz="1300">
              <a:solidFill>
                <a:schemeClr val="lt1"/>
              </a:solidFill>
              <a:latin typeface="Lato"/>
              <a:ea typeface="Lato"/>
              <a:cs typeface="Lato"/>
              <a:sym typeface="Lato"/>
            </a:endParaRPr>
          </a:p>
        </p:txBody>
      </p:sp>
      <p:sp>
        <p:nvSpPr>
          <p:cNvPr id="210" name="Google Shape;210;p19"/>
          <p:cNvSpPr txBox="1"/>
          <p:nvPr/>
        </p:nvSpPr>
        <p:spPr>
          <a:xfrm>
            <a:off x="38675" y="1264125"/>
            <a:ext cx="10050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lt1"/>
                </a:solidFill>
                <a:latin typeface="Lato"/>
                <a:ea typeface="Lato"/>
                <a:cs typeface="Lato"/>
                <a:sym typeface="Lato"/>
              </a:rPr>
              <a:t>Lowest</a:t>
            </a:r>
            <a:endParaRPr sz="1300">
              <a:solidFill>
                <a:schemeClr val="lt1"/>
              </a:solidFill>
              <a:latin typeface="Lato"/>
              <a:ea typeface="Lato"/>
              <a:cs typeface="Lato"/>
              <a:sym typeface="Lato"/>
            </a:endParaRPr>
          </a:p>
          <a:p>
            <a:pPr indent="0" lvl="0" marL="0" rtl="0" algn="ctr">
              <a:spcBef>
                <a:spcPts val="0"/>
              </a:spcBef>
              <a:spcAft>
                <a:spcPts val="0"/>
              </a:spcAft>
              <a:buNone/>
            </a:pPr>
            <a:r>
              <a:rPr lang="en" sz="1300">
                <a:solidFill>
                  <a:schemeClr val="lt1"/>
                </a:solidFill>
                <a:latin typeface="Lato"/>
                <a:ea typeface="Lato"/>
                <a:cs typeface="Lato"/>
                <a:sym typeface="Lato"/>
              </a:rPr>
              <a:t>Investment</a:t>
            </a:r>
            <a:endParaRPr sz="1300">
              <a:solidFill>
                <a:schemeClr val="lt1"/>
              </a:solidFill>
              <a:latin typeface="Lato"/>
              <a:ea typeface="Lato"/>
              <a:cs typeface="Lato"/>
              <a:sym typeface="Lato"/>
            </a:endParaRPr>
          </a:p>
        </p:txBody>
      </p:sp>
      <p:sp>
        <p:nvSpPr>
          <p:cNvPr id="211" name="Google Shape;211;p19"/>
          <p:cNvSpPr txBox="1"/>
          <p:nvPr/>
        </p:nvSpPr>
        <p:spPr>
          <a:xfrm>
            <a:off x="38675" y="4789500"/>
            <a:ext cx="78762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lt1"/>
                </a:solidFill>
                <a:latin typeface="Montserrat"/>
                <a:ea typeface="Montserrat"/>
                <a:cs typeface="Montserrat"/>
                <a:sym typeface="Montserrat"/>
              </a:rPr>
              <a:t>Sources: https://hbr.org/2023/07/how-to-train-generative-ai-using-your-companys-data</a:t>
            </a:r>
            <a:endParaRPr sz="1100">
              <a:solidFill>
                <a:schemeClr val="lt1"/>
              </a:solidFill>
              <a:latin typeface="Montserrat"/>
              <a:ea typeface="Montserrat"/>
              <a:cs typeface="Montserrat"/>
              <a:sym typeface="Montserrat"/>
            </a:endParaRPr>
          </a:p>
        </p:txBody>
      </p:sp>
      <p:sp>
        <p:nvSpPr>
          <p:cNvPr id="212" name="Google Shape;212;p19"/>
          <p:cNvSpPr/>
          <p:nvPr/>
        </p:nvSpPr>
        <p:spPr>
          <a:xfrm>
            <a:off x="4357125" y="3755925"/>
            <a:ext cx="406800" cy="472500"/>
          </a:xfrm>
          <a:prstGeom prst="rightArrow">
            <a:avLst>
              <a:gd fmla="val 50000" name="adj1"/>
              <a:gd fmla="val 50000" name="adj2"/>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13" name="Google Shape;213;p19"/>
          <p:cNvSpPr txBox="1"/>
          <p:nvPr/>
        </p:nvSpPr>
        <p:spPr>
          <a:xfrm>
            <a:off x="4913700" y="1444350"/>
            <a:ext cx="38148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highlight>
                  <a:srgbClr val="FFFFFF"/>
                </a:highlight>
                <a:latin typeface="Montserrat"/>
                <a:ea typeface="Montserrat"/>
                <a:cs typeface="Montserrat"/>
                <a:sym typeface="Montserrat"/>
              </a:rPr>
              <a:t>The user of the model asks </a:t>
            </a:r>
            <a:r>
              <a:rPr b="1" lang="en" sz="1800">
                <a:solidFill>
                  <a:schemeClr val="lt1"/>
                </a:solidFill>
                <a:highlight>
                  <a:srgbClr val="FFFFFF"/>
                </a:highlight>
                <a:latin typeface="Montserrat"/>
                <a:ea typeface="Montserrat"/>
                <a:cs typeface="Montserrat"/>
                <a:sym typeface="Montserrat"/>
              </a:rPr>
              <a:t>better questions</a:t>
            </a:r>
            <a:endParaRPr b="1" sz="1800">
              <a:solidFill>
                <a:schemeClr val="lt1"/>
              </a:solidFill>
              <a:highlight>
                <a:srgbClr val="FFFFFF"/>
              </a:highlight>
              <a:latin typeface="Montserrat"/>
              <a:ea typeface="Montserrat"/>
              <a:cs typeface="Montserrat"/>
              <a:sym typeface="Montserrat"/>
            </a:endParaRPr>
          </a:p>
        </p:txBody>
      </p:sp>
      <p:sp>
        <p:nvSpPr>
          <p:cNvPr id="214" name="Google Shape;214;p19"/>
          <p:cNvSpPr txBox="1"/>
          <p:nvPr/>
        </p:nvSpPr>
        <p:spPr>
          <a:xfrm>
            <a:off x="0" y="92275"/>
            <a:ext cx="9144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lt1"/>
                </a:solidFill>
                <a:latin typeface="Montserrat"/>
                <a:ea typeface="Montserrat"/>
                <a:cs typeface="Montserrat"/>
                <a:sym typeface="Montserrat"/>
              </a:rPr>
              <a:t>Getting a </a:t>
            </a:r>
            <a:r>
              <a:rPr b="1" lang="en" sz="2800">
                <a:solidFill>
                  <a:schemeClr val="lt1"/>
                </a:solidFill>
                <a:latin typeface="Montserrat"/>
                <a:ea typeface="Montserrat"/>
                <a:cs typeface="Montserrat"/>
                <a:sym typeface="Montserrat"/>
              </a:rPr>
              <a:t>better output</a:t>
            </a:r>
            <a:r>
              <a:rPr lang="en" sz="2800">
                <a:solidFill>
                  <a:schemeClr val="lt1"/>
                </a:solidFill>
                <a:latin typeface="Montserrat"/>
                <a:ea typeface="Montserrat"/>
                <a:cs typeface="Montserrat"/>
                <a:sym typeface="Montserrat"/>
              </a:rPr>
              <a:t> from a AI model</a:t>
            </a:r>
            <a:r>
              <a:rPr lang="en" sz="2800">
                <a:solidFill>
                  <a:srgbClr val="282828"/>
                </a:solidFill>
                <a:highlight>
                  <a:srgbClr val="FFFFFF"/>
                </a:highlight>
                <a:latin typeface="Montserrat"/>
                <a:ea typeface="Montserrat"/>
                <a:cs typeface="Montserrat"/>
                <a:sym typeface="Montserrat"/>
              </a:rPr>
              <a:t> </a:t>
            </a:r>
            <a:endParaRPr sz="2800">
              <a:solidFill>
                <a:schemeClr val="lt1"/>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0"/>
          <p:cNvSpPr txBox="1"/>
          <p:nvPr/>
        </p:nvSpPr>
        <p:spPr>
          <a:xfrm>
            <a:off x="0" y="92275"/>
            <a:ext cx="9144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lt1"/>
                </a:solidFill>
                <a:latin typeface="Montserrat"/>
                <a:ea typeface="Montserrat"/>
                <a:cs typeface="Montserrat"/>
                <a:sym typeface="Montserrat"/>
              </a:rPr>
              <a:t>Prompt Engineering</a:t>
            </a:r>
            <a:endParaRPr sz="2000">
              <a:solidFill>
                <a:schemeClr val="lt1"/>
              </a:solidFill>
              <a:latin typeface="Montserrat"/>
              <a:ea typeface="Montserrat"/>
              <a:cs typeface="Montserrat"/>
              <a:sym typeface="Montserrat"/>
            </a:endParaRPr>
          </a:p>
        </p:txBody>
      </p:sp>
      <p:sp>
        <p:nvSpPr>
          <p:cNvPr id="220" name="Google Shape;220;p20"/>
          <p:cNvSpPr/>
          <p:nvPr/>
        </p:nvSpPr>
        <p:spPr>
          <a:xfrm>
            <a:off x="3688225" y="1966225"/>
            <a:ext cx="5098800" cy="1382400"/>
          </a:xfrm>
          <a:prstGeom prst="wedgeRectCallout">
            <a:avLst>
              <a:gd fmla="val -63223" name="adj1"/>
              <a:gd fmla="val 16779" name="adj2"/>
            </a:avLst>
          </a:prstGeom>
          <a:solidFill>
            <a:srgbClr val="FFFF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1" name="Google Shape;221;p20"/>
          <p:cNvSpPr txBox="1"/>
          <p:nvPr>
            <p:ph type="title"/>
          </p:nvPr>
        </p:nvSpPr>
        <p:spPr>
          <a:xfrm>
            <a:off x="38675" y="639900"/>
            <a:ext cx="9105300" cy="432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t/>
            </a:r>
            <a:endParaRPr/>
          </a:p>
          <a:p>
            <a:pPr indent="0" lvl="0" marL="0" rtl="0" algn="ctr">
              <a:spcBef>
                <a:spcPts val="0"/>
              </a:spcBef>
              <a:spcAft>
                <a:spcPts val="0"/>
              </a:spcAft>
              <a:buNone/>
            </a:pPr>
            <a:r>
              <a:rPr lang="en"/>
              <a:t>Sometimes </a:t>
            </a:r>
            <a:r>
              <a:rPr lang="en"/>
              <a:t>it's</a:t>
            </a:r>
            <a:r>
              <a:rPr lang="en"/>
              <a:t> </a:t>
            </a:r>
            <a:r>
              <a:rPr lang="en" u="sng"/>
              <a:t>not the model</a:t>
            </a:r>
            <a:r>
              <a:rPr lang="en"/>
              <a:t> who needs training</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sz="3577"/>
              <a:t>I</a:t>
            </a:r>
            <a:r>
              <a:rPr lang="en" sz="3577"/>
              <a:t>t's the </a:t>
            </a:r>
            <a:r>
              <a:rPr lang="en" sz="3577" u="sng"/>
              <a:t>user</a:t>
            </a:r>
            <a:endParaRPr sz="3577" u="sng"/>
          </a:p>
        </p:txBody>
      </p:sp>
      <p:grpSp>
        <p:nvGrpSpPr>
          <p:cNvPr id="222" name="Google Shape;222;p20"/>
          <p:cNvGrpSpPr/>
          <p:nvPr/>
        </p:nvGrpSpPr>
        <p:grpSpPr>
          <a:xfrm>
            <a:off x="1564123" y="2368160"/>
            <a:ext cx="1662288" cy="1973626"/>
            <a:chOff x="10877550" y="3067050"/>
            <a:chExt cx="6400801" cy="7353300"/>
          </a:xfrm>
        </p:grpSpPr>
        <p:sp>
          <p:nvSpPr>
            <p:cNvPr id="223" name="Google Shape;223;p20"/>
            <p:cNvSpPr/>
            <p:nvPr/>
          </p:nvSpPr>
          <p:spPr>
            <a:xfrm>
              <a:off x="11372850" y="3067050"/>
              <a:ext cx="5448300" cy="3695700"/>
            </a:xfrm>
            <a:prstGeom prst="roundRect">
              <a:avLst>
                <a:gd fmla="val 16667" name="adj"/>
              </a:avLst>
            </a:prstGeom>
            <a:solidFill>
              <a:srgbClr val="D9D9D9"/>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0"/>
            <p:cNvSpPr/>
            <p:nvPr/>
          </p:nvSpPr>
          <p:spPr>
            <a:xfrm>
              <a:off x="11563350" y="3314700"/>
              <a:ext cx="5029200" cy="3238500"/>
            </a:xfrm>
            <a:prstGeom prst="roundRect">
              <a:avLst>
                <a:gd fmla="val 16667" name="adj"/>
              </a:avLst>
            </a:prstGeom>
            <a:solidFill>
              <a:srgbClr val="FFFFFF"/>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5" name="Google Shape;225;p20"/>
            <p:cNvPicPr preferRelativeResize="0"/>
            <p:nvPr/>
          </p:nvPicPr>
          <p:blipFill>
            <a:blip r:embed="rId3">
              <a:alphaModFix/>
            </a:blip>
            <a:stretch>
              <a:fillRect/>
            </a:stretch>
          </p:blipFill>
          <p:spPr>
            <a:xfrm>
              <a:off x="10877550" y="5562600"/>
              <a:ext cx="6400801" cy="4857750"/>
            </a:xfrm>
            <a:prstGeom prst="rect">
              <a:avLst/>
            </a:prstGeom>
            <a:noFill/>
            <a:ln>
              <a:noFill/>
            </a:ln>
          </p:spPr>
        </p:pic>
      </p:grpSp>
      <p:pic>
        <p:nvPicPr>
          <p:cNvPr id="226" name="Google Shape;226;p20"/>
          <p:cNvPicPr preferRelativeResize="0"/>
          <p:nvPr/>
        </p:nvPicPr>
        <p:blipFill rotWithShape="1">
          <a:blip r:embed="rId4">
            <a:alphaModFix/>
          </a:blip>
          <a:srcRect b="0" l="4742" r="13638" t="0"/>
          <a:stretch/>
        </p:blipFill>
        <p:spPr>
          <a:xfrm>
            <a:off x="3829825" y="2112450"/>
            <a:ext cx="4815600" cy="1089950"/>
          </a:xfrm>
          <a:prstGeom prst="rect">
            <a:avLst/>
          </a:prstGeom>
          <a:noFill/>
          <a:ln>
            <a:noFill/>
          </a:ln>
        </p:spPr>
      </p:pic>
      <p:pic>
        <p:nvPicPr>
          <p:cNvPr id="227" name="Google Shape;227;p20"/>
          <p:cNvPicPr preferRelativeResize="0"/>
          <p:nvPr/>
        </p:nvPicPr>
        <p:blipFill rotWithShape="1">
          <a:blip r:embed="rId4">
            <a:alphaModFix/>
          </a:blip>
          <a:srcRect b="0" l="4742" r="13638" t="0"/>
          <a:stretch/>
        </p:blipFill>
        <p:spPr>
          <a:xfrm>
            <a:off x="1792212" y="2741900"/>
            <a:ext cx="1206101" cy="272975"/>
          </a:xfrm>
          <a:prstGeom prst="rect">
            <a:avLst/>
          </a:prstGeom>
          <a:noFill/>
          <a:ln>
            <a:noFill/>
          </a:ln>
        </p:spPr>
      </p:pic>
      <p:sp>
        <p:nvSpPr>
          <p:cNvPr id="228" name="Google Shape;228;p20"/>
          <p:cNvSpPr txBox="1"/>
          <p:nvPr/>
        </p:nvSpPr>
        <p:spPr>
          <a:xfrm>
            <a:off x="38675" y="4789500"/>
            <a:ext cx="78762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lt1"/>
                </a:solidFill>
                <a:latin typeface="Montserrat"/>
                <a:ea typeface="Montserrat"/>
                <a:cs typeface="Montserrat"/>
                <a:sym typeface="Montserrat"/>
              </a:rPr>
              <a:t>Sources: Screenshot from chatGPT</a:t>
            </a:r>
            <a:endParaRPr sz="1100">
              <a:solidFill>
                <a:schemeClr val="lt1"/>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1"/>
          <p:cNvSpPr txBox="1"/>
          <p:nvPr>
            <p:ph type="title"/>
          </p:nvPr>
        </p:nvSpPr>
        <p:spPr>
          <a:xfrm>
            <a:off x="0" y="661675"/>
            <a:ext cx="9144000" cy="38499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2000">
                <a:solidFill>
                  <a:srgbClr val="202124"/>
                </a:solidFill>
                <a:highlight>
                  <a:srgbClr val="FFFFFF"/>
                </a:highlight>
              </a:rPr>
              <a:t>1. Know the model’s </a:t>
            </a:r>
            <a:r>
              <a:rPr b="1" lang="en" sz="2000">
                <a:solidFill>
                  <a:srgbClr val="202124"/>
                </a:solidFill>
                <a:highlight>
                  <a:srgbClr val="FFFFFF"/>
                </a:highlight>
              </a:rPr>
              <a:t>strengths and weaknesses</a:t>
            </a:r>
            <a:endParaRPr b="1" sz="2000">
              <a:solidFill>
                <a:srgbClr val="202124"/>
              </a:solidFill>
              <a:highlight>
                <a:srgbClr val="FFFFFF"/>
              </a:highlight>
            </a:endParaRPr>
          </a:p>
          <a:p>
            <a:pPr indent="0" lvl="0" marL="0" rtl="0" algn="l">
              <a:lnSpc>
                <a:spcPct val="115000"/>
              </a:lnSpc>
              <a:spcBef>
                <a:spcPts val="0"/>
              </a:spcBef>
              <a:spcAft>
                <a:spcPts val="0"/>
              </a:spcAft>
              <a:buNone/>
            </a:pPr>
            <a:r>
              <a:t/>
            </a:r>
            <a:endParaRPr b="1" sz="2000">
              <a:solidFill>
                <a:srgbClr val="202124"/>
              </a:solidFill>
              <a:highlight>
                <a:srgbClr val="FFFFFF"/>
              </a:highlight>
            </a:endParaRPr>
          </a:p>
          <a:p>
            <a:pPr indent="0" lvl="0" marL="0" rtl="0" algn="l">
              <a:lnSpc>
                <a:spcPct val="115000"/>
              </a:lnSpc>
              <a:spcBef>
                <a:spcPts val="0"/>
              </a:spcBef>
              <a:spcAft>
                <a:spcPts val="0"/>
              </a:spcAft>
              <a:buNone/>
            </a:pPr>
            <a:r>
              <a:rPr lang="en" sz="2000">
                <a:solidFill>
                  <a:srgbClr val="202124"/>
                </a:solidFill>
                <a:highlight>
                  <a:srgbClr val="FFFFFF"/>
                </a:highlight>
              </a:rPr>
              <a:t>2. Be as </a:t>
            </a:r>
            <a:r>
              <a:rPr b="1" lang="en" sz="2000">
                <a:solidFill>
                  <a:srgbClr val="202124"/>
                </a:solidFill>
                <a:highlight>
                  <a:srgbClr val="FFFFFF"/>
                </a:highlight>
              </a:rPr>
              <a:t>specific</a:t>
            </a:r>
            <a:r>
              <a:rPr lang="en" sz="2000">
                <a:solidFill>
                  <a:srgbClr val="202124"/>
                </a:solidFill>
                <a:highlight>
                  <a:srgbClr val="FFFFFF"/>
                </a:highlight>
              </a:rPr>
              <a:t> as possible</a:t>
            </a:r>
            <a:endParaRPr sz="2000">
              <a:solidFill>
                <a:srgbClr val="202124"/>
              </a:solidFill>
              <a:highlight>
                <a:srgbClr val="FFFFFF"/>
              </a:highlight>
            </a:endParaRPr>
          </a:p>
          <a:p>
            <a:pPr indent="0" lvl="0" marL="0" rtl="0" algn="l">
              <a:lnSpc>
                <a:spcPct val="115000"/>
              </a:lnSpc>
              <a:spcBef>
                <a:spcPts val="0"/>
              </a:spcBef>
              <a:spcAft>
                <a:spcPts val="0"/>
              </a:spcAft>
              <a:buNone/>
            </a:pPr>
            <a:r>
              <a:t/>
            </a:r>
            <a:endParaRPr sz="2000">
              <a:solidFill>
                <a:srgbClr val="202124"/>
              </a:solidFill>
              <a:highlight>
                <a:srgbClr val="FFFFFF"/>
              </a:highlight>
            </a:endParaRPr>
          </a:p>
          <a:p>
            <a:pPr indent="0" lvl="0" marL="0" rtl="0" algn="l">
              <a:lnSpc>
                <a:spcPct val="115000"/>
              </a:lnSpc>
              <a:spcBef>
                <a:spcPts val="0"/>
              </a:spcBef>
              <a:spcAft>
                <a:spcPts val="0"/>
              </a:spcAft>
              <a:buNone/>
            </a:pPr>
            <a:r>
              <a:rPr lang="en" sz="2000">
                <a:solidFill>
                  <a:srgbClr val="202124"/>
                </a:solidFill>
                <a:highlight>
                  <a:srgbClr val="FFFFFF"/>
                </a:highlight>
              </a:rPr>
              <a:t>3. Utilize </a:t>
            </a:r>
            <a:r>
              <a:rPr b="1" lang="en" sz="2000">
                <a:solidFill>
                  <a:srgbClr val="202124"/>
                </a:solidFill>
                <a:highlight>
                  <a:srgbClr val="FFFFFF"/>
                </a:highlight>
              </a:rPr>
              <a:t>contextual</a:t>
            </a:r>
            <a:r>
              <a:rPr lang="en" sz="2000">
                <a:solidFill>
                  <a:srgbClr val="202124"/>
                </a:solidFill>
                <a:highlight>
                  <a:srgbClr val="FFFFFF"/>
                </a:highlight>
              </a:rPr>
              <a:t> prompts</a:t>
            </a:r>
            <a:endParaRPr sz="2000">
              <a:solidFill>
                <a:srgbClr val="202124"/>
              </a:solidFill>
              <a:highlight>
                <a:srgbClr val="FFFFFF"/>
              </a:highlight>
            </a:endParaRPr>
          </a:p>
          <a:p>
            <a:pPr indent="0" lvl="0" marL="0" rtl="0" algn="l">
              <a:lnSpc>
                <a:spcPct val="115000"/>
              </a:lnSpc>
              <a:spcBef>
                <a:spcPts val="0"/>
              </a:spcBef>
              <a:spcAft>
                <a:spcPts val="0"/>
              </a:spcAft>
              <a:buNone/>
            </a:pPr>
            <a:r>
              <a:t/>
            </a:r>
            <a:endParaRPr sz="2000">
              <a:solidFill>
                <a:srgbClr val="202124"/>
              </a:solidFill>
              <a:highlight>
                <a:srgbClr val="FFFFFF"/>
              </a:highlight>
            </a:endParaRPr>
          </a:p>
          <a:p>
            <a:pPr indent="0" lvl="0" marL="0" rtl="0" algn="l">
              <a:lnSpc>
                <a:spcPct val="115000"/>
              </a:lnSpc>
              <a:spcBef>
                <a:spcPts val="0"/>
              </a:spcBef>
              <a:spcAft>
                <a:spcPts val="0"/>
              </a:spcAft>
              <a:buNone/>
            </a:pPr>
            <a:r>
              <a:rPr lang="en" sz="2000">
                <a:solidFill>
                  <a:srgbClr val="202124"/>
                </a:solidFill>
                <a:highlight>
                  <a:srgbClr val="FFFFFF"/>
                </a:highlight>
              </a:rPr>
              <a:t>4. Provide AI models with </a:t>
            </a:r>
            <a:r>
              <a:rPr b="1" lang="en" sz="2000">
                <a:solidFill>
                  <a:srgbClr val="202124"/>
                </a:solidFill>
                <a:highlight>
                  <a:srgbClr val="FFFFFF"/>
                </a:highlight>
              </a:rPr>
              <a:t>examples</a:t>
            </a:r>
            <a:r>
              <a:rPr lang="en" sz="2000">
                <a:solidFill>
                  <a:srgbClr val="202124"/>
                </a:solidFill>
                <a:highlight>
                  <a:srgbClr val="FFFFFF"/>
                </a:highlight>
              </a:rPr>
              <a:t> </a:t>
            </a:r>
            <a:endParaRPr sz="2000">
              <a:solidFill>
                <a:srgbClr val="202124"/>
              </a:solidFill>
              <a:highlight>
                <a:srgbClr val="FFFFFF"/>
              </a:highlight>
            </a:endParaRPr>
          </a:p>
          <a:p>
            <a:pPr indent="0" lvl="0" marL="0" rtl="0" algn="l">
              <a:lnSpc>
                <a:spcPct val="115000"/>
              </a:lnSpc>
              <a:spcBef>
                <a:spcPts val="0"/>
              </a:spcBef>
              <a:spcAft>
                <a:spcPts val="0"/>
              </a:spcAft>
              <a:buNone/>
            </a:pPr>
            <a:r>
              <a:t/>
            </a:r>
            <a:endParaRPr sz="2000">
              <a:solidFill>
                <a:srgbClr val="202124"/>
              </a:solidFill>
              <a:highlight>
                <a:srgbClr val="FFFFFF"/>
              </a:highlight>
            </a:endParaRPr>
          </a:p>
          <a:p>
            <a:pPr indent="0" lvl="0" marL="0" rtl="0" algn="l">
              <a:lnSpc>
                <a:spcPct val="115000"/>
              </a:lnSpc>
              <a:spcBef>
                <a:spcPts val="0"/>
              </a:spcBef>
              <a:spcAft>
                <a:spcPts val="0"/>
              </a:spcAft>
              <a:buNone/>
            </a:pPr>
            <a:r>
              <a:rPr lang="en" sz="2000">
                <a:solidFill>
                  <a:srgbClr val="202124"/>
                </a:solidFill>
                <a:highlight>
                  <a:srgbClr val="FFFFFF"/>
                </a:highlight>
              </a:rPr>
              <a:t>5. </a:t>
            </a:r>
            <a:r>
              <a:rPr b="1" lang="en" sz="2000">
                <a:solidFill>
                  <a:srgbClr val="202124"/>
                </a:solidFill>
                <a:highlight>
                  <a:srgbClr val="FFFFFF"/>
                </a:highlight>
              </a:rPr>
              <a:t>Experiment</a:t>
            </a:r>
            <a:r>
              <a:rPr lang="en" sz="2000">
                <a:solidFill>
                  <a:srgbClr val="202124"/>
                </a:solidFill>
                <a:highlight>
                  <a:srgbClr val="FFFFFF"/>
                </a:highlight>
              </a:rPr>
              <a:t> with prompts and personas</a:t>
            </a:r>
            <a:endParaRPr sz="2000">
              <a:solidFill>
                <a:srgbClr val="202124"/>
              </a:solidFill>
              <a:highlight>
                <a:srgbClr val="FFFFFF"/>
              </a:highlight>
            </a:endParaRPr>
          </a:p>
          <a:p>
            <a:pPr indent="0" lvl="0" marL="0" rtl="0" algn="l">
              <a:lnSpc>
                <a:spcPct val="115000"/>
              </a:lnSpc>
              <a:spcBef>
                <a:spcPts val="0"/>
              </a:spcBef>
              <a:spcAft>
                <a:spcPts val="0"/>
              </a:spcAft>
              <a:buNone/>
            </a:pPr>
            <a:r>
              <a:t/>
            </a:r>
            <a:endParaRPr sz="2000">
              <a:solidFill>
                <a:srgbClr val="202124"/>
              </a:solidFill>
              <a:highlight>
                <a:srgbClr val="FFFFFF"/>
              </a:highlight>
            </a:endParaRPr>
          </a:p>
          <a:p>
            <a:pPr indent="0" lvl="0" marL="0" rtl="0" algn="l">
              <a:lnSpc>
                <a:spcPct val="115000"/>
              </a:lnSpc>
              <a:spcBef>
                <a:spcPts val="0"/>
              </a:spcBef>
              <a:spcAft>
                <a:spcPts val="0"/>
              </a:spcAft>
              <a:buNone/>
            </a:pPr>
            <a:r>
              <a:rPr lang="en" sz="2000">
                <a:solidFill>
                  <a:srgbClr val="202124"/>
                </a:solidFill>
                <a:highlight>
                  <a:srgbClr val="FFFFFF"/>
                </a:highlight>
              </a:rPr>
              <a:t>6. Try </a:t>
            </a:r>
            <a:r>
              <a:rPr b="1" lang="en" sz="2000">
                <a:solidFill>
                  <a:srgbClr val="202124"/>
                </a:solidFill>
                <a:highlight>
                  <a:srgbClr val="FFFFFF"/>
                </a:highlight>
              </a:rPr>
              <a:t>chain-of-thought</a:t>
            </a:r>
            <a:r>
              <a:rPr lang="en" sz="2000">
                <a:solidFill>
                  <a:srgbClr val="202124"/>
                </a:solidFill>
                <a:highlight>
                  <a:srgbClr val="FFFFFF"/>
                </a:highlight>
              </a:rPr>
              <a:t> prompting</a:t>
            </a:r>
            <a:endParaRPr sz="2000"/>
          </a:p>
        </p:txBody>
      </p:sp>
      <p:sp>
        <p:nvSpPr>
          <p:cNvPr id="234" name="Google Shape;234;p21"/>
          <p:cNvSpPr txBox="1"/>
          <p:nvPr/>
        </p:nvSpPr>
        <p:spPr>
          <a:xfrm>
            <a:off x="43475" y="4458600"/>
            <a:ext cx="87711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t>Source: </a:t>
            </a:r>
            <a:r>
              <a:rPr lang="en" sz="1300"/>
              <a:t>https://cloud.google.com/blog/products/application-development/five-best-practices-for-prompt-engineering</a:t>
            </a:r>
            <a:endParaRPr sz="1300"/>
          </a:p>
        </p:txBody>
      </p:sp>
      <p:sp>
        <p:nvSpPr>
          <p:cNvPr id="235" name="Google Shape;235;p21"/>
          <p:cNvSpPr txBox="1"/>
          <p:nvPr/>
        </p:nvSpPr>
        <p:spPr>
          <a:xfrm>
            <a:off x="0" y="92275"/>
            <a:ext cx="9144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rgbClr val="202124"/>
                </a:solidFill>
                <a:highlight>
                  <a:srgbClr val="FFFFFF"/>
                </a:highlight>
                <a:latin typeface="Montserrat"/>
                <a:ea typeface="Montserrat"/>
                <a:cs typeface="Montserrat"/>
                <a:sym typeface="Montserrat"/>
              </a:rPr>
              <a:t>Best practices for </a:t>
            </a:r>
            <a:r>
              <a:rPr b="1" lang="en" sz="2800">
                <a:solidFill>
                  <a:srgbClr val="202124"/>
                </a:solidFill>
                <a:highlight>
                  <a:srgbClr val="FFFFFF"/>
                </a:highlight>
                <a:latin typeface="Montserrat"/>
                <a:ea typeface="Montserrat"/>
                <a:cs typeface="Montserrat"/>
                <a:sym typeface="Montserrat"/>
              </a:rPr>
              <a:t>prompt engineering</a:t>
            </a:r>
            <a:endParaRPr sz="2800">
              <a:solidFill>
                <a:schemeClr val="lt1"/>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2"/>
          <p:cNvSpPr txBox="1"/>
          <p:nvPr>
            <p:ph type="title"/>
          </p:nvPr>
        </p:nvSpPr>
        <p:spPr>
          <a:xfrm>
            <a:off x="151225" y="574800"/>
            <a:ext cx="8793900" cy="41877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t/>
            </a:r>
            <a:endParaRPr i="1" sz="2200"/>
          </a:p>
          <a:p>
            <a:pPr indent="0" lvl="0" marL="0" rtl="0" algn="ctr">
              <a:spcBef>
                <a:spcPts val="0"/>
              </a:spcBef>
              <a:spcAft>
                <a:spcPts val="0"/>
              </a:spcAft>
              <a:buNone/>
            </a:pPr>
            <a:r>
              <a:rPr lang="en" sz="2000" u="sng">
                <a:solidFill>
                  <a:schemeClr val="hlink"/>
                </a:solidFill>
                <a:hlinkClick r:id="rId3"/>
              </a:rPr>
              <a:t>https://poe.com/</a:t>
            </a:r>
            <a:r>
              <a:rPr lang="en" sz="2000"/>
              <a:t>  and </a:t>
            </a:r>
            <a:r>
              <a:rPr lang="en" sz="2000" u="sng">
                <a:solidFill>
                  <a:schemeClr val="hlink"/>
                </a:solidFill>
                <a:hlinkClick r:id="rId4"/>
              </a:rPr>
              <a:t>https://gpt.h2o.ai/</a:t>
            </a:r>
            <a:r>
              <a:rPr lang="en" sz="2000"/>
              <a:t> </a:t>
            </a:r>
            <a:endParaRPr sz="2000"/>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ctr">
              <a:spcBef>
                <a:spcPts val="0"/>
              </a:spcBef>
              <a:spcAft>
                <a:spcPts val="0"/>
              </a:spcAft>
              <a:buNone/>
            </a:pPr>
            <a:r>
              <a:rPr lang="en">
                <a:highlight>
                  <a:srgbClr val="FFFFFF"/>
                </a:highlight>
              </a:rPr>
              <a:t>Their </a:t>
            </a:r>
            <a:r>
              <a:rPr b="1" lang="en">
                <a:highlight>
                  <a:srgbClr val="FFFFFF"/>
                </a:highlight>
              </a:rPr>
              <a:t>differing training and algorithms</a:t>
            </a:r>
            <a:r>
              <a:rPr lang="en">
                <a:highlight>
                  <a:srgbClr val="FFFFFF"/>
                </a:highlight>
              </a:rPr>
              <a:t> will lead to differing results</a:t>
            </a:r>
            <a:endParaRPr>
              <a:highlight>
                <a:srgbClr val="FFFFFF"/>
              </a:highlight>
            </a:endParaRPr>
          </a:p>
        </p:txBody>
      </p:sp>
      <p:pic>
        <p:nvPicPr>
          <p:cNvPr id="241" name="Google Shape;241;p22"/>
          <p:cNvPicPr preferRelativeResize="0"/>
          <p:nvPr/>
        </p:nvPicPr>
        <p:blipFill>
          <a:blip r:embed="rId5">
            <a:alphaModFix/>
          </a:blip>
          <a:stretch>
            <a:fillRect/>
          </a:stretch>
        </p:blipFill>
        <p:spPr>
          <a:xfrm>
            <a:off x="463200" y="1619674"/>
            <a:ext cx="3625001" cy="1959426"/>
          </a:xfrm>
          <a:prstGeom prst="rect">
            <a:avLst/>
          </a:prstGeom>
          <a:noFill/>
          <a:ln>
            <a:noFill/>
          </a:ln>
        </p:spPr>
      </p:pic>
      <p:pic>
        <p:nvPicPr>
          <p:cNvPr id="242" name="Google Shape;242;p22"/>
          <p:cNvPicPr preferRelativeResize="0"/>
          <p:nvPr/>
        </p:nvPicPr>
        <p:blipFill>
          <a:blip r:embed="rId6">
            <a:alphaModFix/>
          </a:blip>
          <a:stretch>
            <a:fillRect/>
          </a:stretch>
        </p:blipFill>
        <p:spPr>
          <a:xfrm>
            <a:off x="5014678" y="1668275"/>
            <a:ext cx="3489495" cy="1959425"/>
          </a:xfrm>
          <a:prstGeom prst="rect">
            <a:avLst/>
          </a:prstGeom>
          <a:noFill/>
          <a:ln>
            <a:noFill/>
          </a:ln>
        </p:spPr>
      </p:pic>
      <p:sp>
        <p:nvSpPr>
          <p:cNvPr id="243" name="Google Shape;243;p22"/>
          <p:cNvSpPr txBox="1"/>
          <p:nvPr/>
        </p:nvSpPr>
        <p:spPr>
          <a:xfrm>
            <a:off x="0" y="0"/>
            <a:ext cx="9144000" cy="954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lt1"/>
                </a:solidFill>
                <a:latin typeface="Montserrat"/>
                <a:ea typeface="Montserrat"/>
                <a:cs typeface="Montserrat"/>
                <a:sym typeface="Montserrat"/>
              </a:rPr>
              <a:t>Test out prompts on </a:t>
            </a:r>
            <a:r>
              <a:rPr b="1" lang="en" sz="2800">
                <a:solidFill>
                  <a:schemeClr val="lt1"/>
                </a:solidFill>
                <a:latin typeface="Montserrat"/>
                <a:ea typeface="Montserrat"/>
                <a:cs typeface="Montserrat"/>
                <a:sym typeface="Montserrat"/>
              </a:rPr>
              <a:t>multiple AI platforms </a:t>
            </a:r>
            <a:endParaRPr b="1" sz="2800">
              <a:solidFill>
                <a:schemeClr val="lt1"/>
              </a:solidFill>
              <a:latin typeface="Montserrat"/>
              <a:ea typeface="Montserrat"/>
              <a:cs typeface="Montserrat"/>
              <a:sym typeface="Montserrat"/>
            </a:endParaRPr>
          </a:p>
          <a:p>
            <a:pPr indent="0" lvl="0" marL="0" rtl="0" algn="ctr">
              <a:spcBef>
                <a:spcPts val="0"/>
              </a:spcBef>
              <a:spcAft>
                <a:spcPts val="0"/>
              </a:spcAft>
              <a:buNone/>
            </a:pPr>
            <a:r>
              <a:rPr i="1" lang="en" sz="2200">
                <a:solidFill>
                  <a:schemeClr val="lt1"/>
                </a:solidFill>
                <a:latin typeface="Montserrat"/>
                <a:ea typeface="Montserrat"/>
                <a:cs typeface="Montserrat"/>
                <a:sym typeface="Montserrat"/>
              </a:rPr>
              <a:t>these websites have multiple competitors in one place</a:t>
            </a:r>
            <a:endParaRPr i="1" sz="2200">
              <a:solidFill>
                <a:schemeClr val="lt1"/>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3"/>
          <p:cNvSpPr txBox="1"/>
          <p:nvPr>
            <p:ph type="title"/>
          </p:nvPr>
        </p:nvSpPr>
        <p:spPr>
          <a:xfrm>
            <a:off x="278675" y="996300"/>
            <a:ext cx="8430300" cy="3021300"/>
          </a:xfrm>
          <a:prstGeom prst="rect">
            <a:avLst/>
          </a:prstGeom>
        </p:spPr>
        <p:txBody>
          <a:bodyPr anchorCtr="0" anchor="ctr" bIns="91425" lIns="91425" spcFirstLastPara="1" rIns="91425" wrap="square" tIns="91425">
            <a:noAutofit/>
          </a:bodyPr>
          <a:lstStyle/>
          <a:p>
            <a:pPr indent="-361950" lvl="0" marL="457200" rtl="0" algn="l">
              <a:lnSpc>
                <a:spcPct val="115000"/>
              </a:lnSpc>
              <a:spcBef>
                <a:spcPts val="0"/>
              </a:spcBef>
              <a:spcAft>
                <a:spcPts val="0"/>
              </a:spcAft>
              <a:buClr>
                <a:srgbClr val="202124"/>
              </a:buClr>
              <a:buSzPts val="2100"/>
              <a:buChar char="●"/>
            </a:pPr>
            <a:r>
              <a:rPr lang="en" sz="2100">
                <a:solidFill>
                  <a:srgbClr val="202124"/>
                </a:solidFill>
                <a:highlight>
                  <a:srgbClr val="FFFFFF"/>
                </a:highlight>
              </a:rPr>
              <a:t>Using prompts to help training LLMs</a:t>
            </a:r>
            <a:endParaRPr sz="2100">
              <a:solidFill>
                <a:srgbClr val="202124"/>
              </a:solidFill>
              <a:highlight>
                <a:srgbClr val="FFFFFF"/>
              </a:highlight>
            </a:endParaRPr>
          </a:p>
          <a:p>
            <a:pPr indent="0" lvl="0" marL="457200" rtl="0" algn="l">
              <a:lnSpc>
                <a:spcPct val="115000"/>
              </a:lnSpc>
              <a:spcBef>
                <a:spcPts val="0"/>
              </a:spcBef>
              <a:spcAft>
                <a:spcPts val="0"/>
              </a:spcAft>
              <a:buNone/>
            </a:pPr>
            <a:r>
              <a:t/>
            </a:r>
            <a:endParaRPr sz="2100">
              <a:solidFill>
                <a:srgbClr val="202124"/>
              </a:solidFill>
              <a:highlight>
                <a:srgbClr val="FFFFFF"/>
              </a:highlight>
            </a:endParaRPr>
          </a:p>
          <a:p>
            <a:pPr indent="-361950" lvl="0" marL="457200" rtl="0" algn="l">
              <a:lnSpc>
                <a:spcPct val="115000"/>
              </a:lnSpc>
              <a:spcBef>
                <a:spcPts val="0"/>
              </a:spcBef>
              <a:spcAft>
                <a:spcPts val="0"/>
              </a:spcAft>
              <a:buClr>
                <a:srgbClr val="202124"/>
              </a:buClr>
              <a:buSzPts val="2100"/>
              <a:buChar char="●"/>
            </a:pPr>
            <a:r>
              <a:rPr lang="en" sz="2100">
                <a:solidFill>
                  <a:srgbClr val="202124"/>
                </a:solidFill>
                <a:highlight>
                  <a:srgbClr val="FFFFFF"/>
                </a:highlight>
              </a:rPr>
              <a:t>More efficient than fine tuning</a:t>
            </a:r>
            <a:endParaRPr sz="2100">
              <a:solidFill>
                <a:srgbClr val="202124"/>
              </a:solidFill>
              <a:highlight>
                <a:srgbClr val="FFFFFF"/>
              </a:highlight>
            </a:endParaRPr>
          </a:p>
          <a:p>
            <a:pPr indent="0" lvl="0" marL="457200" rtl="0" algn="l">
              <a:lnSpc>
                <a:spcPct val="115000"/>
              </a:lnSpc>
              <a:spcBef>
                <a:spcPts val="0"/>
              </a:spcBef>
              <a:spcAft>
                <a:spcPts val="0"/>
              </a:spcAft>
              <a:buNone/>
            </a:pPr>
            <a:r>
              <a:t/>
            </a:r>
            <a:endParaRPr sz="2100">
              <a:solidFill>
                <a:srgbClr val="202124"/>
              </a:solidFill>
              <a:highlight>
                <a:srgbClr val="FFFFFF"/>
              </a:highlight>
            </a:endParaRPr>
          </a:p>
          <a:p>
            <a:pPr indent="-361950" lvl="0" marL="457200" rtl="0" algn="l">
              <a:lnSpc>
                <a:spcPct val="115000"/>
              </a:lnSpc>
              <a:spcBef>
                <a:spcPts val="0"/>
              </a:spcBef>
              <a:spcAft>
                <a:spcPts val="0"/>
              </a:spcAft>
              <a:buClr>
                <a:srgbClr val="202124"/>
              </a:buClr>
              <a:buSzPts val="2100"/>
              <a:buChar char="●"/>
            </a:pPr>
            <a:r>
              <a:rPr lang="en" sz="2100">
                <a:solidFill>
                  <a:srgbClr val="202124"/>
                </a:solidFill>
                <a:highlight>
                  <a:srgbClr val="FFFFFF"/>
                </a:highlight>
              </a:rPr>
              <a:t>But may or may not address your customization needs</a:t>
            </a:r>
            <a:endParaRPr sz="2100">
              <a:solidFill>
                <a:srgbClr val="202124"/>
              </a:solidFill>
              <a:highlight>
                <a:srgbClr val="FFFFFF"/>
              </a:highlight>
            </a:endParaRPr>
          </a:p>
          <a:p>
            <a:pPr indent="0" lvl="0" marL="457200" rtl="0" algn="l">
              <a:lnSpc>
                <a:spcPct val="115000"/>
              </a:lnSpc>
              <a:spcBef>
                <a:spcPts val="0"/>
              </a:spcBef>
              <a:spcAft>
                <a:spcPts val="0"/>
              </a:spcAft>
              <a:buNone/>
            </a:pPr>
            <a:r>
              <a:t/>
            </a:r>
            <a:endParaRPr sz="2100">
              <a:solidFill>
                <a:srgbClr val="202124"/>
              </a:solidFill>
              <a:highlight>
                <a:srgbClr val="FFFFFF"/>
              </a:highlight>
            </a:endParaRPr>
          </a:p>
          <a:p>
            <a:pPr indent="-361950" lvl="0" marL="457200" rtl="0" algn="l">
              <a:lnSpc>
                <a:spcPct val="115000"/>
              </a:lnSpc>
              <a:spcBef>
                <a:spcPts val="0"/>
              </a:spcBef>
              <a:spcAft>
                <a:spcPts val="0"/>
              </a:spcAft>
              <a:buClr>
                <a:srgbClr val="202124"/>
              </a:buClr>
              <a:buSzPts val="2100"/>
              <a:buChar char="●"/>
            </a:pPr>
            <a:r>
              <a:rPr lang="en" sz="2100">
                <a:solidFill>
                  <a:srgbClr val="202124"/>
                </a:solidFill>
                <a:highlight>
                  <a:srgbClr val="FFFFFF"/>
                </a:highlight>
              </a:rPr>
              <a:t>Like giving a crossword puzzle clue to the LLM </a:t>
            </a:r>
            <a:endParaRPr sz="2100">
              <a:solidFill>
                <a:srgbClr val="202124"/>
              </a:solidFill>
              <a:highlight>
                <a:srgbClr val="FFFFFF"/>
              </a:highlight>
            </a:endParaRPr>
          </a:p>
        </p:txBody>
      </p:sp>
      <p:sp>
        <p:nvSpPr>
          <p:cNvPr id="249" name="Google Shape;249;p23"/>
          <p:cNvSpPr txBox="1"/>
          <p:nvPr/>
        </p:nvSpPr>
        <p:spPr>
          <a:xfrm>
            <a:off x="108275" y="4450500"/>
            <a:ext cx="87711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t>Source: </a:t>
            </a:r>
            <a:r>
              <a:rPr lang="en" sz="1300"/>
              <a:t>https://research.ibm.com/blog/what-is-ai-prompt-tuning</a:t>
            </a:r>
            <a:endParaRPr sz="1300"/>
          </a:p>
        </p:txBody>
      </p:sp>
      <p:sp>
        <p:nvSpPr>
          <p:cNvPr id="250" name="Google Shape;250;p23"/>
          <p:cNvSpPr txBox="1"/>
          <p:nvPr/>
        </p:nvSpPr>
        <p:spPr>
          <a:xfrm>
            <a:off x="0" y="92275"/>
            <a:ext cx="9144000" cy="615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2800">
                <a:solidFill>
                  <a:srgbClr val="202124"/>
                </a:solidFill>
                <a:highlight>
                  <a:srgbClr val="FFFFFF"/>
                </a:highlight>
                <a:latin typeface="Montserrat"/>
                <a:ea typeface="Montserrat"/>
                <a:cs typeface="Montserrat"/>
                <a:sym typeface="Montserrat"/>
              </a:rPr>
              <a:t>Prompt tuning or</a:t>
            </a:r>
            <a:r>
              <a:rPr b="1" lang="en" sz="2800">
                <a:solidFill>
                  <a:srgbClr val="202124"/>
                </a:solidFill>
                <a:highlight>
                  <a:srgbClr val="FFFFFF"/>
                </a:highlight>
                <a:latin typeface="Montserrat"/>
                <a:ea typeface="Montserrat"/>
                <a:cs typeface="Montserrat"/>
                <a:sym typeface="Montserrat"/>
              </a:rPr>
              <a:t> “P-tuning”</a:t>
            </a:r>
            <a:endParaRPr sz="2800">
              <a:solidFill>
                <a:schemeClr val="lt1"/>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4"/>
          <p:cNvSpPr txBox="1"/>
          <p:nvPr>
            <p:ph type="title"/>
          </p:nvPr>
        </p:nvSpPr>
        <p:spPr>
          <a:xfrm>
            <a:off x="177450" y="550800"/>
            <a:ext cx="8824500" cy="7149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sz="2000"/>
              <a:t>A type or prompt tuning offered by </a:t>
            </a:r>
            <a:r>
              <a:rPr lang="en" sz="2000" u="sng">
                <a:solidFill>
                  <a:schemeClr val="hlink"/>
                </a:solidFill>
                <a:hlinkClick r:id="rId3"/>
              </a:rPr>
              <a:t>https://gpt.h2o.ai/</a:t>
            </a:r>
            <a:r>
              <a:rPr lang="en" sz="2000"/>
              <a:t> – go to the Expert tab</a:t>
            </a:r>
            <a:endParaRPr sz="2000"/>
          </a:p>
        </p:txBody>
      </p:sp>
      <p:pic>
        <p:nvPicPr>
          <p:cNvPr id="256" name="Google Shape;256;p24"/>
          <p:cNvPicPr preferRelativeResize="0"/>
          <p:nvPr/>
        </p:nvPicPr>
        <p:blipFill>
          <a:blip r:embed="rId4">
            <a:alphaModFix/>
          </a:blip>
          <a:stretch>
            <a:fillRect/>
          </a:stretch>
        </p:blipFill>
        <p:spPr>
          <a:xfrm>
            <a:off x="318738" y="1210926"/>
            <a:ext cx="8619919" cy="4032150"/>
          </a:xfrm>
          <a:prstGeom prst="rect">
            <a:avLst/>
          </a:prstGeom>
          <a:noFill/>
          <a:ln>
            <a:noFill/>
          </a:ln>
        </p:spPr>
      </p:pic>
      <p:sp>
        <p:nvSpPr>
          <p:cNvPr id="257" name="Google Shape;257;p24"/>
          <p:cNvSpPr txBox="1"/>
          <p:nvPr/>
        </p:nvSpPr>
        <p:spPr>
          <a:xfrm>
            <a:off x="0" y="0"/>
            <a:ext cx="9144000" cy="615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2800">
                <a:solidFill>
                  <a:srgbClr val="202124"/>
                </a:solidFill>
                <a:highlight>
                  <a:srgbClr val="FFFFFF"/>
                </a:highlight>
                <a:latin typeface="Montserrat"/>
                <a:ea typeface="Montserrat"/>
                <a:cs typeface="Montserrat"/>
                <a:sym typeface="Montserrat"/>
              </a:rPr>
              <a:t>Test out prompt tuning</a:t>
            </a:r>
            <a:endParaRPr sz="2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5"/>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Pictures from OpenMoji.org</a:t>
            </a:r>
            <a:endParaRPr/>
          </a:p>
        </p:txBody>
      </p:sp>
      <p:pic>
        <p:nvPicPr>
          <p:cNvPr id="263" name="Google Shape;263;p25"/>
          <p:cNvPicPr preferRelativeResize="0"/>
          <p:nvPr/>
        </p:nvPicPr>
        <p:blipFill>
          <a:blip r:embed="rId3">
            <a:alphaModFix/>
          </a:blip>
          <a:stretch>
            <a:fillRect/>
          </a:stretch>
        </p:blipFill>
        <p:spPr>
          <a:xfrm>
            <a:off x="1579450" y="1747987"/>
            <a:ext cx="2016675" cy="2016675"/>
          </a:xfrm>
          <a:prstGeom prst="rect">
            <a:avLst/>
          </a:prstGeom>
          <a:noFill/>
          <a:ln>
            <a:noFill/>
          </a:ln>
        </p:spPr>
      </p:pic>
      <p:sp>
        <p:nvSpPr>
          <p:cNvPr id="264" name="Google Shape;264;p25"/>
          <p:cNvSpPr txBox="1"/>
          <p:nvPr/>
        </p:nvSpPr>
        <p:spPr>
          <a:xfrm>
            <a:off x="536700" y="766138"/>
            <a:ext cx="79215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400"/>
              </a:spcAft>
              <a:buNone/>
            </a:pPr>
            <a:r>
              <a:rPr lang="en" sz="2100">
                <a:solidFill>
                  <a:srgbClr val="282828"/>
                </a:solidFill>
                <a:highlight>
                  <a:srgbClr val="FFFFFF"/>
                </a:highlight>
                <a:latin typeface="Montserrat"/>
                <a:ea typeface="Montserrat"/>
                <a:cs typeface="Montserrat"/>
                <a:sym typeface="Montserrat"/>
              </a:rPr>
              <a:t>Training a baby for a specialized education job would be costly and inefficient </a:t>
            </a:r>
            <a:endParaRPr sz="2100">
              <a:solidFill>
                <a:srgbClr val="282828"/>
              </a:solidFill>
              <a:highlight>
                <a:srgbClr val="FFFFFF"/>
              </a:highlight>
              <a:latin typeface="Montserrat"/>
              <a:ea typeface="Montserrat"/>
              <a:cs typeface="Montserrat"/>
              <a:sym typeface="Montserrat"/>
            </a:endParaRPr>
          </a:p>
        </p:txBody>
      </p:sp>
      <p:pic>
        <p:nvPicPr>
          <p:cNvPr id="265" name="Google Shape;265;p25"/>
          <p:cNvPicPr preferRelativeResize="0"/>
          <p:nvPr/>
        </p:nvPicPr>
        <p:blipFill>
          <a:blip r:embed="rId4">
            <a:alphaModFix/>
          </a:blip>
          <a:stretch>
            <a:fillRect/>
          </a:stretch>
        </p:blipFill>
        <p:spPr>
          <a:xfrm>
            <a:off x="4664275" y="1519862"/>
            <a:ext cx="2411801" cy="2411801"/>
          </a:xfrm>
          <a:prstGeom prst="rect">
            <a:avLst/>
          </a:prstGeom>
          <a:noFill/>
          <a:ln>
            <a:noFill/>
          </a:ln>
        </p:spPr>
      </p:pic>
      <p:sp>
        <p:nvSpPr>
          <p:cNvPr id="266" name="Google Shape;266;p25"/>
          <p:cNvSpPr txBox="1"/>
          <p:nvPr/>
        </p:nvSpPr>
        <p:spPr>
          <a:xfrm>
            <a:off x="658200" y="3803838"/>
            <a:ext cx="79215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400"/>
              </a:spcAft>
              <a:buNone/>
            </a:pPr>
            <a:r>
              <a:rPr lang="en" sz="2100">
                <a:solidFill>
                  <a:srgbClr val="282828"/>
                </a:solidFill>
                <a:highlight>
                  <a:srgbClr val="FFFFFF"/>
                </a:highlight>
                <a:latin typeface="Montserrat"/>
                <a:ea typeface="Montserrat"/>
                <a:cs typeface="Montserrat"/>
                <a:sym typeface="Montserrat"/>
              </a:rPr>
              <a:t>Instead, you find a person who has</a:t>
            </a:r>
            <a:r>
              <a:rPr b="1" lang="en" sz="2100">
                <a:solidFill>
                  <a:srgbClr val="282828"/>
                </a:solidFill>
                <a:highlight>
                  <a:srgbClr val="FFFFFF"/>
                </a:highlight>
                <a:latin typeface="Montserrat"/>
                <a:ea typeface="Montserrat"/>
                <a:cs typeface="Montserrat"/>
                <a:sym typeface="Montserrat"/>
              </a:rPr>
              <a:t> a lot of the training you need and then fine-tune</a:t>
            </a:r>
            <a:r>
              <a:rPr lang="en" sz="2100">
                <a:solidFill>
                  <a:srgbClr val="282828"/>
                </a:solidFill>
                <a:highlight>
                  <a:srgbClr val="FFFFFF"/>
                </a:highlight>
                <a:latin typeface="Montserrat"/>
                <a:ea typeface="Montserrat"/>
                <a:cs typeface="Montserrat"/>
                <a:sym typeface="Montserrat"/>
              </a:rPr>
              <a:t> their skills.</a:t>
            </a:r>
            <a:endParaRPr sz="2100">
              <a:solidFill>
                <a:srgbClr val="282828"/>
              </a:solidFill>
              <a:highlight>
                <a:srgbClr val="FFFFFF"/>
              </a:highlight>
              <a:latin typeface="Montserrat"/>
              <a:ea typeface="Montserrat"/>
              <a:cs typeface="Montserrat"/>
              <a:sym typeface="Montserrat"/>
            </a:endParaRPr>
          </a:p>
        </p:txBody>
      </p:sp>
      <p:sp>
        <p:nvSpPr>
          <p:cNvPr id="267" name="Google Shape;267;p25"/>
          <p:cNvSpPr txBox="1"/>
          <p:nvPr/>
        </p:nvSpPr>
        <p:spPr>
          <a:xfrm>
            <a:off x="3782275" y="2159525"/>
            <a:ext cx="882000" cy="1154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300">
                <a:solidFill>
                  <a:schemeClr val="lt1"/>
                </a:solidFill>
                <a:latin typeface="Lato"/>
                <a:ea typeface="Lato"/>
                <a:cs typeface="Lato"/>
                <a:sym typeface="Lato"/>
              </a:rPr>
              <a:t>&lt;</a:t>
            </a:r>
            <a:endParaRPr sz="6300">
              <a:solidFill>
                <a:schemeClr val="lt1"/>
              </a:solidFill>
              <a:latin typeface="Lato"/>
              <a:ea typeface="Lato"/>
              <a:cs typeface="Lato"/>
              <a:sym typeface="Lato"/>
            </a:endParaRPr>
          </a:p>
        </p:txBody>
      </p:sp>
      <p:sp>
        <p:nvSpPr>
          <p:cNvPr id="268" name="Google Shape;268;p25"/>
          <p:cNvSpPr txBox="1"/>
          <p:nvPr/>
        </p:nvSpPr>
        <p:spPr>
          <a:xfrm>
            <a:off x="8889525" y="2747525"/>
            <a:ext cx="13716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5"/>
              </a:rPr>
              <a:t>https://docs.google.com/presentation/d/1rdVYJyS7xLYDsoZwC99VyQSnnaKelUnsVG4j2rHWjFA/edit#slide=id.g1965a5f7f0a_0_44</a:t>
            </a:r>
            <a:endParaRPr sz="1300">
              <a:solidFill>
                <a:schemeClr val="lt1"/>
              </a:solidFill>
              <a:latin typeface="Lato"/>
              <a:ea typeface="Lato"/>
              <a:cs typeface="Lato"/>
              <a:sym typeface="Lato"/>
            </a:endParaRPr>
          </a:p>
        </p:txBody>
      </p:sp>
      <p:sp>
        <p:nvSpPr>
          <p:cNvPr id="269" name="Google Shape;269;p25"/>
          <p:cNvSpPr txBox="1"/>
          <p:nvPr/>
        </p:nvSpPr>
        <p:spPr>
          <a:xfrm>
            <a:off x="0" y="0"/>
            <a:ext cx="9144000" cy="615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2800">
                <a:solidFill>
                  <a:srgbClr val="202124"/>
                </a:solidFill>
                <a:highlight>
                  <a:srgbClr val="FFFFFF"/>
                </a:highlight>
                <a:latin typeface="Montserrat"/>
                <a:ea typeface="Montserrat"/>
                <a:cs typeface="Montserrat"/>
                <a:sym typeface="Montserrat"/>
              </a:rPr>
              <a:t>Training from </a:t>
            </a:r>
            <a:r>
              <a:rPr b="1" lang="en" sz="2800">
                <a:solidFill>
                  <a:srgbClr val="202124"/>
                </a:solidFill>
                <a:highlight>
                  <a:srgbClr val="FFFFFF"/>
                </a:highlight>
                <a:latin typeface="Montserrat"/>
                <a:ea typeface="Montserrat"/>
                <a:cs typeface="Montserrat"/>
                <a:sym typeface="Montserrat"/>
              </a:rPr>
              <a:t>scratch</a:t>
            </a:r>
            <a:r>
              <a:rPr lang="en" sz="2800">
                <a:solidFill>
                  <a:srgbClr val="202124"/>
                </a:solidFill>
                <a:highlight>
                  <a:srgbClr val="FFFFFF"/>
                </a:highlight>
                <a:latin typeface="Montserrat"/>
                <a:ea typeface="Montserrat"/>
                <a:cs typeface="Montserrat"/>
                <a:sym typeface="Montserrat"/>
              </a:rPr>
              <a:t> vs. </a:t>
            </a:r>
            <a:r>
              <a:rPr b="1" lang="en" sz="2800">
                <a:solidFill>
                  <a:srgbClr val="202124"/>
                </a:solidFill>
                <a:highlight>
                  <a:srgbClr val="FFFFFF"/>
                </a:highlight>
                <a:latin typeface="Montserrat"/>
                <a:ea typeface="Montserrat"/>
                <a:cs typeface="Montserrat"/>
                <a:sym typeface="Montserrat"/>
              </a:rPr>
              <a:t>fine tuning</a:t>
            </a:r>
            <a:endParaRPr b="1" sz="2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6"/>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Pictures from OpenMoji.org </a:t>
            </a:r>
            <a:endParaRPr/>
          </a:p>
          <a:p>
            <a:pPr indent="0" lvl="0" marL="0" rtl="0" algn="l">
              <a:spcBef>
                <a:spcPts val="0"/>
              </a:spcBef>
              <a:spcAft>
                <a:spcPts val="0"/>
              </a:spcAft>
              <a:buNone/>
            </a:pPr>
            <a:r>
              <a:rPr lang="en"/>
              <a:t>Source: https://www.wired.com/story/openai-ceo-sam-altman-the-age-of-giant-ai-models-is-already-over/</a:t>
            </a:r>
            <a:endParaRPr/>
          </a:p>
        </p:txBody>
      </p:sp>
      <p:pic>
        <p:nvPicPr>
          <p:cNvPr id="275" name="Google Shape;275;p26"/>
          <p:cNvPicPr preferRelativeResize="0"/>
          <p:nvPr/>
        </p:nvPicPr>
        <p:blipFill>
          <a:blip r:embed="rId3">
            <a:alphaModFix/>
          </a:blip>
          <a:stretch>
            <a:fillRect/>
          </a:stretch>
        </p:blipFill>
        <p:spPr>
          <a:xfrm>
            <a:off x="3817150" y="526376"/>
            <a:ext cx="831300" cy="831300"/>
          </a:xfrm>
          <a:prstGeom prst="rect">
            <a:avLst/>
          </a:prstGeom>
          <a:noFill/>
          <a:ln>
            <a:noFill/>
          </a:ln>
        </p:spPr>
      </p:pic>
      <p:sp>
        <p:nvSpPr>
          <p:cNvPr id="276" name="Google Shape;276;p26"/>
          <p:cNvSpPr txBox="1"/>
          <p:nvPr/>
        </p:nvSpPr>
        <p:spPr>
          <a:xfrm>
            <a:off x="762425" y="1641863"/>
            <a:ext cx="7473600" cy="232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rgbClr val="282828"/>
                </a:solidFill>
                <a:highlight>
                  <a:srgbClr val="FFFFFF"/>
                </a:highlight>
                <a:latin typeface="Montserrat"/>
                <a:ea typeface="Montserrat"/>
                <a:cs typeface="Montserrat"/>
                <a:sym typeface="Montserrat"/>
              </a:rPr>
              <a:t>ChatGPT cost ~$100 million to create </a:t>
            </a:r>
            <a:endParaRPr sz="2100">
              <a:solidFill>
                <a:srgbClr val="282828"/>
              </a:solidFill>
              <a:highlight>
                <a:srgbClr val="FFFFFF"/>
              </a:highlight>
              <a:latin typeface="Montserrat"/>
              <a:ea typeface="Montserrat"/>
              <a:cs typeface="Montserrat"/>
              <a:sym typeface="Montserrat"/>
            </a:endParaRPr>
          </a:p>
          <a:p>
            <a:pPr indent="0" lvl="0" marL="0" rtl="0" algn="l">
              <a:spcBef>
                <a:spcPts val="400"/>
              </a:spcBef>
              <a:spcAft>
                <a:spcPts val="0"/>
              </a:spcAft>
              <a:buNone/>
            </a:pPr>
            <a:r>
              <a:t/>
            </a:r>
            <a:endParaRPr sz="2100">
              <a:solidFill>
                <a:srgbClr val="282828"/>
              </a:solidFill>
              <a:highlight>
                <a:srgbClr val="FFFFFF"/>
              </a:highlight>
              <a:latin typeface="Montserrat"/>
              <a:ea typeface="Montserrat"/>
              <a:cs typeface="Montserrat"/>
              <a:sym typeface="Montserrat"/>
            </a:endParaRPr>
          </a:p>
          <a:p>
            <a:pPr indent="0" lvl="0" marL="0" rtl="0" algn="l">
              <a:spcBef>
                <a:spcPts val="400"/>
              </a:spcBef>
              <a:spcAft>
                <a:spcPts val="0"/>
              </a:spcAft>
              <a:buNone/>
            </a:pPr>
            <a:r>
              <a:rPr lang="en" sz="2100">
                <a:solidFill>
                  <a:srgbClr val="282828"/>
                </a:solidFill>
                <a:highlight>
                  <a:srgbClr val="FFFFFF"/>
                </a:highlight>
                <a:latin typeface="Montserrat"/>
                <a:ea typeface="Montserrat"/>
                <a:cs typeface="Montserrat"/>
                <a:sym typeface="Montserrat"/>
              </a:rPr>
              <a:t>Training models from scratch requires an insane amount of data and computing costs</a:t>
            </a:r>
            <a:endParaRPr sz="2100">
              <a:solidFill>
                <a:srgbClr val="282828"/>
              </a:solidFill>
              <a:highlight>
                <a:srgbClr val="FFFFFF"/>
              </a:highlight>
              <a:latin typeface="Montserrat"/>
              <a:ea typeface="Montserrat"/>
              <a:cs typeface="Montserrat"/>
              <a:sym typeface="Montserrat"/>
            </a:endParaRPr>
          </a:p>
          <a:p>
            <a:pPr indent="0" lvl="0" marL="0" rtl="0" algn="l">
              <a:spcBef>
                <a:spcPts val="400"/>
              </a:spcBef>
              <a:spcAft>
                <a:spcPts val="0"/>
              </a:spcAft>
              <a:buNone/>
            </a:pPr>
            <a:r>
              <a:t/>
            </a:r>
            <a:endParaRPr sz="2100">
              <a:solidFill>
                <a:srgbClr val="282828"/>
              </a:solidFill>
              <a:highlight>
                <a:srgbClr val="FFFFFF"/>
              </a:highlight>
              <a:latin typeface="Montserrat"/>
              <a:ea typeface="Montserrat"/>
              <a:cs typeface="Montserrat"/>
              <a:sym typeface="Montserrat"/>
            </a:endParaRPr>
          </a:p>
          <a:p>
            <a:pPr indent="0" lvl="0" marL="0" rtl="0" algn="l">
              <a:spcBef>
                <a:spcPts val="400"/>
              </a:spcBef>
              <a:spcAft>
                <a:spcPts val="400"/>
              </a:spcAft>
              <a:buNone/>
            </a:pPr>
            <a:r>
              <a:rPr lang="en" sz="2100">
                <a:solidFill>
                  <a:srgbClr val="282828"/>
                </a:solidFill>
                <a:highlight>
                  <a:srgbClr val="FFFFFF"/>
                </a:highlight>
                <a:latin typeface="Montserrat"/>
                <a:ea typeface="Montserrat"/>
                <a:cs typeface="Montserrat"/>
                <a:sym typeface="Montserrat"/>
              </a:rPr>
              <a:t>It’s </a:t>
            </a:r>
            <a:r>
              <a:rPr i="1" lang="en" sz="2100">
                <a:solidFill>
                  <a:srgbClr val="282828"/>
                </a:solidFill>
                <a:highlight>
                  <a:srgbClr val="FFFFFF"/>
                </a:highlight>
                <a:latin typeface="Montserrat"/>
                <a:ea typeface="Montserrat"/>
                <a:cs typeface="Montserrat"/>
                <a:sym typeface="Montserrat"/>
              </a:rPr>
              <a:t>almost never</a:t>
            </a:r>
            <a:r>
              <a:rPr lang="en" sz="2100">
                <a:solidFill>
                  <a:srgbClr val="282828"/>
                </a:solidFill>
                <a:highlight>
                  <a:srgbClr val="FFFFFF"/>
                </a:highlight>
                <a:latin typeface="Montserrat"/>
                <a:ea typeface="Montserrat"/>
                <a:cs typeface="Montserrat"/>
                <a:sym typeface="Montserrat"/>
              </a:rPr>
              <a:t> where you will want to start. </a:t>
            </a:r>
            <a:endParaRPr sz="2100">
              <a:solidFill>
                <a:srgbClr val="282828"/>
              </a:solidFill>
              <a:highlight>
                <a:srgbClr val="FFFFFF"/>
              </a:highlight>
              <a:latin typeface="Montserrat"/>
              <a:ea typeface="Montserrat"/>
              <a:cs typeface="Montserrat"/>
              <a:sym typeface="Montserrat"/>
            </a:endParaRPr>
          </a:p>
        </p:txBody>
      </p:sp>
      <p:sp>
        <p:nvSpPr>
          <p:cNvPr id="277" name="Google Shape;277;p26"/>
          <p:cNvSpPr txBox="1"/>
          <p:nvPr/>
        </p:nvSpPr>
        <p:spPr>
          <a:xfrm>
            <a:off x="0" y="0"/>
            <a:ext cx="9144000" cy="615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2800">
                <a:solidFill>
                  <a:srgbClr val="202124"/>
                </a:solidFill>
                <a:highlight>
                  <a:srgbClr val="FFFFFF"/>
                </a:highlight>
                <a:latin typeface="Montserrat"/>
                <a:ea typeface="Montserrat"/>
                <a:cs typeface="Montserrat"/>
                <a:sym typeface="Montserrat"/>
              </a:rPr>
              <a:t>Training from scratch</a:t>
            </a:r>
            <a:endParaRPr sz="2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7"/>
          <p:cNvSpPr txBox="1"/>
          <p:nvPr>
            <p:ph type="title"/>
          </p:nvPr>
        </p:nvSpPr>
        <p:spPr>
          <a:xfrm>
            <a:off x="823850" y="866775"/>
            <a:ext cx="7719900" cy="36162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solidFill>
                  <a:srgbClr val="282828"/>
                </a:solidFill>
                <a:highlight>
                  <a:srgbClr val="FFFFFF"/>
                </a:highlight>
              </a:rPr>
              <a:t>Before exploring fine tuning: </a:t>
            </a:r>
            <a:endParaRPr>
              <a:solidFill>
                <a:srgbClr val="282828"/>
              </a:solidFill>
              <a:highlight>
                <a:srgbClr val="FFFFFF"/>
              </a:highlight>
            </a:endParaRPr>
          </a:p>
          <a:p>
            <a:pPr indent="0" lvl="0" marL="0" rtl="0" algn="l">
              <a:spcBef>
                <a:spcPts val="400"/>
              </a:spcBef>
              <a:spcAft>
                <a:spcPts val="0"/>
              </a:spcAft>
              <a:buNone/>
            </a:pPr>
            <a:r>
              <a:t/>
            </a:r>
            <a:endParaRPr>
              <a:solidFill>
                <a:srgbClr val="282828"/>
              </a:solidFill>
              <a:highlight>
                <a:srgbClr val="FFFFFF"/>
              </a:highlight>
            </a:endParaRPr>
          </a:p>
          <a:p>
            <a:pPr indent="0" lvl="0" marL="0" rtl="0" algn="l">
              <a:spcBef>
                <a:spcPts val="400"/>
              </a:spcBef>
              <a:spcAft>
                <a:spcPts val="0"/>
              </a:spcAft>
              <a:buNone/>
            </a:pPr>
            <a:r>
              <a:rPr lang="en">
                <a:solidFill>
                  <a:srgbClr val="282828"/>
                </a:solidFill>
                <a:highlight>
                  <a:srgbClr val="FFFFFF"/>
                </a:highlight>
              </a:rPr>
              <a:t>Are you sure no other model works? </a:t>
            </a:r>
            <a:endParaRPr>
              <a:solidFill>
                <a:srgbClr val="282828"/>
              </a:solidFill>
              <a:highlight>
                <a:srgbClr val="FFFFFF"/>
              </a:highlight>
            </a:endParaRPr>
          </a:p>
          <a:p>
            <a:pPr indent="0" lvl="0" marL="0" rtl="0" algn="l">
              <a:spcBef>
                <a:spcPts val="400"/>
              </a:spcBef>
              <a:spcAft>
                <a:spcPts val="400"/>
              </a:spcAft>
              <a:buNone/>
            </a:pPr>
            <a:r>
              <a:rPr lang="en" sz="2200">
                <a:solidFill>
                  <a:srgbClr val="282828"/>
                </a:solidFill>
                <a:highlight>
                  <a:srgbClr val="FFFFFF"/>
                </a:highlight>
              </a:rPr>
              <a:t>(If you’ve only tried chatGPT go try other AI platforms) </a:t>
            </a:r>
            <a:endParaRPr sz="3500"/>
          </a:p>
        </p:txBody>
      </p:sp>
      <p:sp>
        <p:nvSpPr>
          <p:cNvPr id="283" name="Google Shape;283;p27"/>
          <p:cNvSpPr txBox="1"/>
          <p:nvPr/>
        </p:nvSpPr>
        <p:spPr>
          <a:xfrm>
            <a:off x="217100" y="4616575"/>
            <a:ext cx="45543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lt1"/>
                </a:solidFill>
              </a:rPr>
              <a:t>https://www.nature.com/articles/d41586-023-03023-4</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8"/>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https://huggingface.co/blog/large-language-models</a:t>
            </a:r>
            <a:endParaRPr/>
          </a:p>
        </p:txBody>
      </p:sp>
      <p:sp>
        <p:nvSpPr>
          <p:cNvPr id="289" name="Google Shape;289;p28"/>
          <p:cNvSpPr txBox="1"/>
          <p:nvPr/>
        </p:nvSpPr>
        <p:spPr>
          <a:xfrm>
            <a:off x="90750" y="942675"/>
            <a:ext cx="8800500" cy="385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rgbClr val="282828"/>
              </a:solidFill>
              <a:highlight>
                <a:srgbClr val="FFFFFF"/>
              </a:highlight>
              <a:latin typeface="Montserrat"/>
              <a:ea typeface="Montserrat"/>
              <a:cs typeface="Montserrat"/>
              <a:sym typeface="Montserrat"/>
            </a:endParaRPr>
          </a:p>
          <a:p>
            <a:pPr indent="0" lvl="0" marL="0" rtl="0" algn="l">
              <a:spcBef>
                <a:spcPts val="400"/>
              </a:spcBef>
              <a:spcAft>
                <a:spcPts val="0"/>
              </a:spcAft>
              <a:buNone/>
            </a:pPr>
            <a:r>
              <a:rPr lang="en" sz="2100" u="sng">
                <a:solidFill>
                  <a:schemeClr val="hlink"/>
                </a:solidFill>
                <a:highlight>
                  <a:srgbClr val="FFFFFF"/>
                </a:highlight>
                <a:latin typeface="Montserrat"/>
                <a:ea typeface="Montserrat"/>
                <a:cs typeface="Montserrat"/>
                <a:sym typeface="Montserrat"/>
                <a:hlinkClick r:id="rId3"/>
              </a:rPr>
              <a:t>Finding a base open source base model</a:t>
            </a:r>
            <a:r>
              <a:rPr lang="en" sz="2100">
                <a:solidFill>
                  <a:srgbClr val="282828"/>
                </a:solidFill>
                <a:highlight>
                  <a:srgbClr val="FFFFFF"/>
                </a:highlight>
                <a:latin typeface="Montserrat"/>
                <a:ea typeface="Montserrat"/>
                <a:cs typeface="Montserrat"/>
                <a:sym typeface="Montserrat"/>
              </a:rPr>
              <a:t> to train for your purposes:</a:t>
            </a:r>
            <a:endParaRPr sz="2100">
              <a:solidFill>
                <a:srgbClr val="282828"/>
              </a:solidFill>
              <a:highlight>
                <a:srgbClr val="FFFFFF"/>
              </a:highlight>
              <a:latin typeface="Montserrat"/>
              <a:ea typeface="Montserrat"/>
              <a:cs typeface="Montserrat"/>
              <a:sym typeface="Montserrat"/>
            </a:endParaRPr>
          </a:p>
          <a:p>
            <a:pPr indent="0" lvl="0" marL="914400" rtl="0" algn="l">
              <a:spcBef>
                <a:spcPts val="400"/>
              </a:spcBef>
              <a:spcAft>
                <a:spcPts val="0"/>
              </a:spcAft>
              <a:buNone/>
            </a:pPr>
            <a:r>
              <a:t/>
            </a:r>
            <a:endParaRPr sz="2100">
              <a:solidFill>
                <a:srgbClr val="282828"/>
              </a:solidFill>
              <a:highlight>
                <a:srgbClr val="FFFFFF"/>
              </a:highlight>
              <a:latin typeface="Montserrat"/>
              <a:ea typeface="Montserrat"/>
              <a:cs typeface="Montserrat"/>
              <a:sym typeface="Montserrat"/>
            </a:endParaRPr>
          </a:p>
          <a:p>
            <a:pPr indent="-361950" lvl="1" marL="1371600" rtl="0" algn="l">
              <a:spcBef>
                <a:spcPts val="400"/>
              </a:spcBef>
              <a:spcAft>
                <a:spcPts val="0"/>
              </a:spcAft>
              <a:buClr>
                <a:srgbClr val="282828"/>
              </a:buClr>
              <a:buSzPts val="2100"/>
              <a:buFont typeface="Montserrat"/>
              <a:buChar char="❏"/>
            </a:pPr>
            <a:r>
              <a:rPr lang="en" sz="2100">
                <a:solidFill>
                  <a:srgbClr val="282828"/>
                </a:solidFill>
                <a:highlight>
                  <a:srgbClr val="FFFFFF"/>
                </a:highlight>
                <a:latin typeface="Montserrat"/>
                <a:ea typeface="Montserrat"/>
                <a:cs typeface="Montserrat"/>
                <a:sym typeface="Montserrat"/>
              </a:rPr>
              <a:t>What AI model is trained on data most closely related to your application? </a:t>
            </a:r>
            <a:endParaRPr sz="2100">
              <a:solidFill>
                <a:srgbClr val="282828"/>
              </a:solidFill>
              <a:highlight>
                <a:srgbClr val="FFFFFF"/>
              </a:highlight>
              <a:latin typeface="Montserrat"/>
              <a:ea typeface="Montserrat"/>
              <a:cs typeface="Montserrat"/>
              <a:sym typeface="Montserrat"/>
            </a:endParaRPr>
          </a:p>
          <a:p>
            <a:pPr indent="-361950" lvl="1" marL="1371600" rtl="0" algn="l">
              <a:spcBef>
                <a:spcPts val="0"/>
              </a:spcBef>
              <a:spcAft>
                <a:spcPts val="0"/>
              </a:spcAft>
              <a:buClr>
                <a:srgbClr val="282828"/>
              </a:buClr>
              <a:buSzPts val="2100"/>
              <a:buFont typeface="Montserrat"/>
              <a:buChar char="❏"/>
            </a:pPr>
            <a:r>
              <a:rPr lang="en" sz="2100">
                <a:solidFill>
                  <a:srgbClr val="282828"/>
                </a:solidFill>
                <a:highlight>
                  <a:srgbClr val="FFFFFF"/>
                </a:highlight>
                <a:latin typeface="Montserrat"/>
                <a:ea typeface="Montserrat"/>
                <a:cs typeface="Montserrat"/>
                <a:sym typeface="Montserrat"/>
              </a:rPr>
              <a:t>Which based model performs best based on your prior testing? </a:t>
            </a:r>
            <a:r>
              <a:rPr lang="en" sz="2100" u="sng">
                <a:solidFill>
                  <a:schemeClr val="hlink"/>
                </a:solidFill>
                <a:highlight>
                  <a:srgbClr val="FFFFFF"/>
                </a:highlight>
                <a:latin typeface="Montserrat"/>
                <a:ea typeface="Montserrat"/>
                <a:cs typeface="Montserrat"/>
                <a:sym typeface="Montserrat"/>
                <a:hlinkClick r:id="rId4"/>
              </a:rPr>
              <a:t>Test LLM models on side by side here</a:t>
            </a:r>
            <a:endParaRPr sz="2100">
              <a:solidFill>
                <a:srgbClr val="282828"/>
              </a:solidFill>
              <a:highlight>
                <a:srgbClr val="FFFFFF"/>
              </a:highlight>
              <a:latin typeface="Montserrat"/>
              <a:ea typeface="Montserrat"/>
              <a:cs typeface="Montserrat"/>
              <a:sym typeface="Montserrat"/>
            </a:endParaRPr>
          </a:p>
          <a:p>
            <a:pPr indent="-361950" lvl="1" marL="1371600" rtl="0" algn="l">
              <a:spcBef>
                <a:spcPts val="0"/>
              </a:spcBef>
              <a:spcAft>
                <a:spcPts val="0"/>
              </a:spcAft>
              <a:buClr>
                <a:srgbClr val="282828"/>
              </a:buClr>
              <a:buSzPts val="2100"/>
              <a:buFont typeface="Montserrat"/>
              <a:buChar char="❏"/>
            </a:pPr>
            <a:r>
              <a:rPr lang="en" sz="2100">
                <a:solidFill>
                  <a:srgbClr val="282828"/>
                </a:solidFill>
                <a:highlight>
                  <a:srgbClr val="FFFFFF"/>
                </a:highlight>
                <a:latin typeface="Montserrat"/>
                <a:ea typeface="Montserrat"/>
                <a:cs typeface="Montserrat"/>
                <a:sym typeface="Montserrat"/>
              </a:rPr>
              <a:t>Choose the smallest one that you can get away with</a:t>
            </a:r>
            <a:endParaRPr sz="2100">
              <a:solidFill>
                <a:srgbClr val="282828"/>
              </a:solidFill>
              <a:highlight>
                <a:srgbClr val="FFFFFF"/>
              </a:highlight>
              <a:latin typeface="Montserrat"/>
              <a:ea typeface="Montserrat"/>
              <a:cs typeface="Montserrat"/>
              <a:sym typeface="Montserrat"/>
            </a:endParaRPr>
          </a:p>
          <a:p>
            <a:pPr indent="-361950" lvl="2" marL="1828800" rtl="0" algn="l">
              <a:spcBef>
                <a:spcPts val="0"/>
              </a:spcBef>
              <a:spcAft>
                <a:spcPts val="0"/>
              </a:spcAft>
              <a:buClr>
                <a:srgbClr val="282828"/>
              </a:buClr>
              <a:buSzPts val="2100"/>
              <a:buFont typeface="Montserrat"/>
              <a:buChar char="❏"/>
            </a:pPr>
            <a:r>
              <a:rPr lang="en" sz="2100" u="sng">
                <a:solidFill>
                  <a:schemeClr val="hlink"/>
                </a:solidFill>
                <a:highlight>
                  <a:srgbClr val="FFFFFF"/>
                </a:highlight>
                <a:latin typeface="Montserrat"/>
                <a:ea typeface="Montserrat"/>
                <a:cs typeface="Montserrat"/>
                <a:sym typeface="Montserrat"/>
                <a:hlinkClick r:id="rId5"/>
              </a:rPr>
              <a:t>Bigger doesn’t mean better performance</a:t>
            </a:r>
            <a:endParaRPr sz="2100">
              <a:solidFill>
                <a:srgbClr val="282828"/>
              </a:solidFill>
              <a:highlight>
                <a:srgbClr val="FFFFFF"/>
              </a:highlight>
              <a:latin typeface="Montserrat"/>
              <a:ea typeface="Montserrat"/>
              <a:cs typeface="Montserrat"/>
              <a:sym typeface="Montserrat"/>
            </a:endParaRPr>
          </a:p>
          <a:p>
            <a:pPr indent="0" lvl="0" marL="0" rtl="0" algn="l">
              <a:spcBef>
                <a:spcPts val="400"/>
              </a:spcBef>
              <a:spcAft>
                <a:spcPts val="400"/>
              </a:spcAft>
              <a:buNone/>
            </a:pPr>
            <a:r>
              <a:t/>
            </a:r>
            <a:endParaRPr sz="2100">
              <a:solidFill>
                <a:srgbClr val="282828"/>
              </a:solidFill>
              <a:highlight>
                <a:srgbClr val="FFFFFF"/>
              </a:highlight>
              <a:latin typeface="Montserrat"/>
              <a:ea typeface="Montserrat"/>
              <a:cs typeface="Montserrat"/>
              <a:sym typeface="Montserrat"/>
            </a:endParaRPr>
          </a:p>
        </p:txBody>
      </p:sp>
      <p:sp>
        <p:nvSpPr>
          <p:cNvPr id="290" name="Google Shape;290;p28"/>
          <p:cNvSpPr txBox="1"/>
          <p:nvPr/>
        </p:nvSpPr>
        <p:spPr>
          <a:xfrm>
            <a:off x="0" y="0"/>
            <a:ext cx="9144000" cy="1485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2800">
                <a:solidFill>
                  <a:srgbClr val="202124"/>
                </a:solidFill>
                <a:highlight>
                  <a:srgbClr val="FFFFFF"/>
                </a:highlight>
                <a:latin typeface="Montserrat"/>
                <a:ea typeface="Montserrat"/>
                <a:cs typeface="Montserrat"/>
                <a:sym typeface="Montserrat"/>
              </a:rPr>
              <a:t>Fine tuning</a:t>
            </a:r>
            <a:endParaRPr b="1" sz="2800">
              <a:solidFill>
                <a:srgbClr val="202124"/>
              </a:solidFill>
              <a:highlight>
                <a:srgbClr val="FFFFFF"/>
              </a:highlight>
              <a:latin typeface="Montserrat"/>
              <a:ea typeface="Montserrat"/>
              <a:cs typeface="Montserrat"/>
              <a:sym typeface="Montserrat"/>
            </a:endParaRPr>
          </a:p>
          <a:p>
            <a:pPr indent="0" lvl="0" marL="0" rtl="0" algn="ctr">
              <a:spcBef>
                <a:spcPts val="0"/>
              </a:spcBef>
              <a:spcAft>
                <a:spcPts val="0"/>
              </a:spcAft>
              <a:buNone/>
            </a:pPr>
            <a:r>
              <a:rPr i="1" lang="en" sz="2100">
                <a:solidFill>
                  <a:srgbClr val="282828"/>
                </a:solidFill>
                <a:highlight>
                  <a:srgbClr val="FFFFFF"/>
                </a:highlight>
                <a:latin typeface="Montserrat"/>
                <a:ea typeface="Montserrat"/>
                <a:cs typeface="Montserrat"/>
                <a:sym typeface="Montserrat"/>
              </a:rPr>
              <a:t>train an existing model to do the job better</a:t>
            </a:r>
            <a:endParaRPr i="1" sz="2100">
              <a:solidFill>
                <a:srgbClr val="282828"/>
              </a:solidFill>
              <a:highlight>
                <a:srgbClr val="FFFFFF"/>
              </a:highlight>
              <a:latin typeface="Montserrat"/>
              <a:ea typeface="Montserrat"/>
              <a:cs typeface="Montserrat"/>
              <a:sym typeface="Montserrat"/>
            </a:endParaRPr>
          </a:p>
          <a:p>
            <a:pPr indent="0" lvl="0" marL="0" rtl="0" algn="ctr">
              <a:lnSpc>
                <a:spcPct val="115000"/>
              </a:lnSpc>
              <a:spcBef>
                <a:spcPts val="400"/>
              </a:spcBef>
              <a:spcAft>
                <a:spcPts val="0"/>
              </a:spcAft>
              <a:buNone/>
            </a:pPr>
            <a:r>
              <a:t/>
            </a:r>
            <a:endParaRPr sz="2800">
              <a:solidFill>
                <a:srgbClr val="202124"/>
              </a:solidFill>
              <a:highlight>
                <a:srgbClr val="FFFFFF"/>
              </a:highlight>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9"/>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SzPts val="935"/>
              <a:buNone/>
            </a:pPr>
            <a:r>
              <a:rPr lang="en" sz="1090">
                <a:latin typeface="Arial"/>
                <a:ea typeface="Arial"/>
                <a:cs typeface="Arial"/>
                <a:sym typeface="Arial"/>
              </a:rPr>
              <a:t>https://s10251.pcdn.co/wp-content/uploads/2023/03/2023-Alan-D-Thompson-AI-Bubbles-Rev-7b.png</a:t>
            </a:r>
            <a:endParaRPr sz="1090">
              <a:latin typeface="Arial"/>
              <a:ea typeface="Arial"/>
              <a:cs typeface="Arial"/>
              <a:sym typeface="Arial"/>
            </a:endParaRPr>
          </a:p>
          <a:p>
            <a:pPr indent="0" lvl="0" marL="0" rtl="0" algn="l">
              <a:spcBef>
                <a:spcPts val="0"/>
              </a:spcBef>
              <a:spcAft>
                <a:spcPts val="0"/>
              </a:spcAft>
              <a:buSzPts val="935"/>
              <a:buNone/>
            </a:pPr>
            <a:r>
              <a:t/>
            </a:r>
            <a:endParaRPr sz="665"/>
          </a:p>
        </p:txBody>
      </p:sp>
      <p:pic>
        <p:nvPicPr>
          <p:cNvPr id="296" name="Google Shape;296;p29"/>
          <p:cNvPicPr preferRelativeResize="0"/>
          <p:nvPr/>
        </p:nvPicPr>
        <p:blipFill>
          <a:blip r:embed="rId3">
            <a:alphaModFix/>
          </a:blip>
          <a:stretch>
            <a:fillRect/>
          </a:stretch>
        </p:blipFill>
        <p:spPr>
          <a:xfrm>
            <a:off x="217600" y="304800"/>
            <a:ext cx="8232556" cy="43695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0"/>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https://arxiv.org/pdf/2304.13712.pdf</a:t>
            </a:r>
            <a:r>
              <a:rPr lang="en"/>
              <a:t> </a:t>
            </a:r>
            <a:endParaRPr/>
          </a:p>
        </p:txBody>
      </p:sp>
      <p:pic>
        <p:nvPicPr>
          <p:cNvPr id="302" name="Google Shape;302;p30"/>
          <p:cNvPicPr preferRelativeResize="0"/>
          <p:nvPr/>
        </p:nvPicPr>
        <p:blipFill rotWithShape="1">
          <a:blip r:embed="rId4">
            <a:alphaModFix/>
          </a:blip>
          <a:srcRect b="17280" l="0" r="0" t="0"/>
          <a:stretch/>
        </p:blipFill>
        <p:spPr>
          <a:xfrm>
            <a:off x="1713650" y="69425"/>
            <a:ext cx="6073326" cy="47991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1"/>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2000"/>
              <a:t>*More on these items in future chapters</a:t>
            </a:r>
            <a:endParaRPr sz="2000"/>
          </a:p>
        </p:txBody>
      </p:sp>
      <p:sp>
        <p:nvSpPr>
          <p:cNvPr id="308" name="Google Shape;308;p31"/>
          <p:cNvSpPr txBox="1"/>
          <p:nvPr/>
        </p:nvSpPr>
        <p:spPr>
          <a:xfrm>
            <a:off x="171750" y="1007025"/>
            <a:ext cx="8800500" cy="3299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2100">
              <a:solidFill>
                <a:srgbClr val="282828"/>
              </a:solidFill>
              <a:highlight>
                <a:srgbClr val="FFFFFF"/>
              </a:highlight>
              <a:latin typeface="Montserrat"/>
              <a:ea typeface="Montserrat"/>
              <a:cs typeface="Montserrat"/>
              <a:sym typeface="Montserrat"/>
            </a:endParaRPr>
          </a:p>
          <a:p>
            <a:pPr indent="-361950" lvl="0" marL="914400" rtl="0" algn="l">
              <a:spcBef>
                <a:spcPts val="400"/>
              </a:spcBef>
              <a:spcAft>
                <a:spcPts val="0"/>
              </a:spcAft>
              <a:buClr>
                <a:srgbClr val="282828"/>
              </a:buClr>
              <a:buSzPts val="2100"/>
              <a:buFont typeface="Montserrat"/>
              <a:buChar char="❏"/>
            </a:pPr>
            <a:r>
              <a:rPr lang="en" sz="2100">
                <a:solidFill>
                  <a:srgbClr val="282828"/>
                </a:solidFill>
                <a:highlight>
                  <a:srgbClr val="FFFFFF"/>
                </a:highlight>
                <a:latin typeface="Montserrat"/>
                <a:ea typeface="Montserrat"/>
                <a:cs typeface="Montserrat"/>
                <a:sym typeface="Montserrat"/>
              </a:rPr>
              <a:t>How will you evaluate an AI models performance?* </a:t>
            </a:r>
            <a:endParaRPr sz="2100">
              <a:solidFill>
                <a:srgbClr val="282828"/>
              </a:solidFill>
              <a:highlight>
                <a:srgbClr val="FFFFFF"/>
              </a:highlight>
              <a:latin typeface="Montserrat"/>
              <a:ea typeface="Montserrat"/>
              <a:cs typeface="Montserrat"/>
              <a:sym typeface="Montserrat"/>
            </a:endParaRPr>
          </a:p>
          <a:p>
            <a:pPr indent="0" lvl="0" marL="1828800" rtl="0" algn="l">
              <a:spcBef>
                <a:spcPts val="400"/>
              </a:spcBef>
              <a:spcAft>
                <a:spcPts val="0"/>
              </a:spcAft>
              <a:buNone/>
            </a:pPr>
            <a:r>
              <a:t/>
            </a:r>
            <a:endParaRPr sz="2100">
              <a:solidFill>
                <a:srgbClr val="282828"/>
              </a:solidFill>
              <a:highlight>
                <a:srgbClr val="FFFFFF"/>
              </a:highlight>
              <a:latin typeface="Montserrat"/>
              <a:ea typeface="Montserrat"/>
              <a:cs typeface="Montserrat"/>
              <a:sym typeface="Montserrat"/>
            </a:endParaRPr>
          </a:p>
          <a:p>
            <a:pPr indent="-361950" lvl="0" marL="914400" rtl="0" algn="l">
              <a:spcBef>
                <a:spcPts val="400"/>
              </a:spcBef>
              <a:spcAft>
                <a:spcPts val="0"/>
              </a:spcAft>
              <a:buClr>
                <a:srgbClr val="282828"/>
              </a:buClr>
              <a:buSzPts val="2100"/>
              <a:buFont typeface="Montserrat"/>
              <a:buChar char="❏"/>
            </a:pPr>
            <a:r>
              <a:rPr lang="en" sz="2100">
                <a:solidFill>
                  <a:srgbClr val="282828"/>
                </a:solidFill>
                <a:highlight>
                  <a:srgbClr val="FFFFFF"/>
                </a:highlight>
                <a:latin typeface="Montserrat"/>
                <a:ea typeface="Montserrat"/>
                <a:cs typeface="Montserrat"/>
                <a:sym typeface="Montserrat"/>
              </a:rPr>
              <a:t>Where do the existing models fall short?</a:t>
            </a:r>
            <a:endParaRPr sz="2100">
              <a:solidFill>
                <a:srgbClr val="282828"/>
              </a:solidFill>
              <a:highlight>
                <a:srgbClr val="FFFFFF"/>
              </a:highlight>
              <a:latin typeface="Montserrat"/>
              <a:ea typeface="Montserrat"/>
              <a:cs typeface="Montserrat"/>
              <a:sym typeface="Montserrat"/>
            </a:endParaRPr>
          </a:p>
          <a:p>
            <a:pPr indent="-361950" lvl="1" marL="1828800" rtl="0" algn="l">
              <a:spcBef>
                <a:spcPts val="0"/>
              </a:spcBef>
              <a:spcAft>
                <a:spcPts val="0"/>
              </a:spcAft>
              <a:buClr>
                <a:srgbClr val="282828"/>
              </a:buClr>
              <a:buSzPts val="2100"/>
              <a:buFont typeface="Montserrat"/>
              <a:buChar char="❏"/>
            </a:pPr>
            <a:r>
              <a:rPr lang="en" sz="2100">
                <a:solidFill>
                  <a:srgbClr val="282828"/>
                </a:solidFill>
                <a:highlight>
                  <a:srgbClr val="FFFFFF"/>
                </a:highlight>
                <a:latin typeface="Montserrat"/>
                <a:ea typeface="Montserrat"/>
                <a:cs typeface="Montserrat"/>
                <a:sym typeface="Montserrat"/>
              </a:rPr>
              <a:t>What information does it need to perform better? </a:t>
            </a:r>
            <a:endParaRPr sz="2100">
              <a:solidFill>
                <a:srgbClr val="282828"/>
              </a:solidFill>
              <a:highlight>
                <a:srgbClr val="FFFFFF"/>
              </a:highlight>
              <a:latin typeface="Montserrat"/>
              <a:ea typeface="Montserrat"/>
              <a:cs typeface="Montserrat"/>
              <a:sym typeface="Montserrat"/>
            </a:endParaRPr>
          </a:p>
          <a:p>
            <a:pPr indent="-361950" lvl="2" marL="2286000" rtl="0" algn="l">
              <a:spcBef>
                <a:spcPts val="0"/>
              </a:spcBef>
              <a:spcAft>
                <a:spcPts val="0"/>
              </a:spcAft>
              <a:buClr>
                <a:srgbClr val="282828"/>
              </a:buClr>
              <a:buSzPts val="2100"/>
              <a:buFont typeface="Montserrat"/>
              <a:buChar char="❏"/>
            </a:pPr>
            <a:r>
              <a:rPr lang="en" sz="2100">
                <a:solidFill>
                  <a:srgbClr val="282828"/>
                </a:solidFill>
                <a:highlight>
                  <a:srgbClr val="FFFFFF"/>
                </a:highlight>
                <a:latin typeface="Montserrat"/>
                <a:ea typeface="Montserrat"/>
                <a:cs typeface="Montserrat"/>
                <a:sym typeface="Montserrat"/>
              </a:rPr>
              <a:t>Do you have this data? </a:t>
            </a:r>
            <a:endParaRPr sz="2100">
              <a:solidFill>
                <a:srgbClr val="282828"/>
              </a:solidFill>
              <a:highlight>
                <a:srgbClr val="FFFFFF"/>
              </a:highlight>
              <a:latin typeface="Montserrat"/>
              <a:ea typeface="Montserrat"/>
              <a:cs typeface="Montserrat"/>
              <a:sym typeface="Montserrat"/>
            </a:endParaRPr>
          </a:p>
          <a:p>
            <a:pPr indent="-361950" lvl="2" marL="2286000" rtl="0" algn="l">
              <a:spcBef>
                <a:spcPts val="0"/>
              </a:spcBef>
              <a:spcAft>
                <a:spcPts val="0"/>
              </a:spcAft>
              <a:buClr>
                <a:srgbClr val="282828"/>
              </a:buClr>
              <a:buSzPts val="2100"/>
              <a:buFont typeface="Montserrat"/>
              <a:buChar char="❏"/>
            </a:pPr>
            <a:r>
              <a:rPr lang="en" sz="2100">
                <a:solidFill>
                  <a:srgbClr val="282828"/>
                </a:solidFill>
                <a:highlight>
                  <a:srgbClr val="FFFFFF"/>
                </a:highlight>
                <a:latin typeface="Montserrat"/>
                <a:ea typeface="Montserrat"/>
                <a:cs typeface="Montserrat"/>
                <a:sym typeface="Montserrat"/>
              </a:rPr>
              <a:t>How much cleaning will it need?</a:t>
            </a:r>
            <a:endParaRPr sz="2100">
              <a:solidFill>
                <a:srgbClr val="282828"/>
              </a:solidFill>
              <a:highlight>
                <a:srgbClr val="FFFFFF"/>
              </a:highlight>
              <a:latin typeface="Montserrat"/>
              <a:ea typeface="Montserrat"/>
              <a:cs typeface="Montserrat"/>
              <a:sym typeface="Montserrat"/>
            </a:endParaRPr>
          </a:p>
          <a:p>
            <a:pPr indent="-361950" lvl="2" marL="2286000" rtl="0" algn="l">
              <a:spcBef>
                <a:spcPts val="0"/>
              </a:spcBef>
              <a:spcAft>
                <a:spcPts val="0"/>
              </a:spcAft>
              <a:buClr>
                <a:srgbClr val="282828"/>
              </a:buClr>
              <a:buSzPts val="2100"/>
              <a:buFont typeface="Montserrat"/>
              <a:buChar char="❏"/>
            </a:pPr>
            <a:r>
              <a:rPr lang="en" sz="2100">
                <a:solidFill>
                  <a:srgbClr val="282828"/>
                </a:solidFill>
                <a:highlight>
                  <a:srgbClr val="FFFFFF"/>
                </a:highlight>
                <a:latin typeface="Montserrat"/>
                <a:ea typeface="Montserrat"/>
                <a:cs typeface="Montserrat"/>
                <a:sym typeface="Montserrat"/>
              </a:rPr>
              <a:t>Is it unprotected?* </a:t>
            </a:r>
            <a:endParaRPr sz="2100">
              <a:solidFill>
                <a:srgbClr val="282828"/>
              </a:solidFill>
              <a:highlight>
                <a:srgbClr val="FFFFFF"/>
              </a:highlight>
              <a:latin typeface="Montserrat"/>
              <a:ea typeface="Montserrat"/>
              <a:cs typeface="Montserrat"/>
              <a:sym typeface="Montserrat"/>
            </a:endParaRPr>
          </a:p>
          <a:p>
            <a:pPr indent="0" lvl="0" marL="0" rtl="0" algn="l">
              <a:spcBef>
                <a:spcPts val="400"/>
              </a:spcBef>
              <a:spcAft>
                <a:spcPts val="400"/>
              </a:spcAft>
              <a:buNone/>
            </a:pPr>
            <a:r>
              <a:t/>
            </a:r>
            <a:endParaRPr sz="2100">
              <a:solidFill>
                <a:srgbClr val="282828"/>
              </a:solidFill>
              <a:highlight>
                <a:srgbClr val="FFFFFF"/>
              </a:highlight>
              <a:latin typeface="Montserrat"/>
              <a:ea typeface="Montserrat"/>
              <a:cs typeface="Montserrat"/>
              <a:sym typeface="Montserrat"/>
            </a:endParaRPr>
          </a:p>
        </p:txBody>
      </p:sp>
      <p:sp>
        <p:nvSpPr>
          <p:cNvPr id="309" name="Google Shape;309;p31"/>
          <p:cNvSpPr txBox="1"/>
          <p:nvPr/>
        </p:nvSpPr>
        <p:spPr>
          <a:xfrm>
            <a:off x="0" y="0"/>
            <a:ext cx="9144000" cy="1485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2800">
                <a:solidFill>
                  <a:srgbClr val="202124"/>
                </a:solidFill>
                <a:highlight>
                  <a:srgbClr val="FFFFFF"/>
                </a:highlight>
                <a:latin typeface="Montserrat"/>
                <a:ea typeface="Montserrat"/>
                <a:cs typeface="Montserrat"/>
                <a:sym typeface="Montserrat"/>
              </a:rPr>
              <a:t>Fine tuning</a:t>
            </a:r>
            <a:endParaRPr b="1" sz="2800">
              <a:solidFill>
                <a:srgbClr val="202124"/>
              </a:solidFill>
              <a:highlight>
                <a:srgbClr val="FFFFFF"/>
              </a:highlight>
              <a:latin typeface="Montserrat"/>
              <a:ea typeface="Montserrat"/>
              <a:cs typeface="Montserrat"/>
              <a:sym typeface="Montserrat"/>
            </a:endParaRPr>
          </a:p>
          <a:p>
            <a:pPr indent="0" lvl="0" marL="0" rtl="0" algn="ctr">
              <a:spcBef>
                <a:spcPts val="0"/>
              </a:spcBef>
              <a:spcAft>
                <a:spcPts val="0"/>
              </a:spcAft>
              <a:buNone/>
            </a:pPr>
            <a:r>
              <a:rPr i="1" lang="en" sz="2100">
                <a:solidFill>
                  <a:srgbClr val="282828"/>
                </a:solidFill>
                <a:highlight>
                  <a:srgbClr val="FFFFFF"/>
                </a:highlight>
                <a:latin typeface="Montserrat"/>
                <a:ea typeface="Montserrat"/>
                <a:cs typeface="Montserrat"/>
                <a:sym typeface="Montserrat"/>
              </a:rPr>
              <a:t>train an existing model to do the job better</a:t>
            </a:r>
            <a:endParaRPr i="1" sz="2100">
              <a:solidFill>
                <a:srgbClr val="282828"/>
              </a:solidFill>
              <a:highlight>
                <a:srgbClr val="FFFFFF"/>
              </a:highlight>
              <a:latin typeface="Montserrat"/>
              <a:ea typeface="Montserrat"/>
              <a:cs typeface="Montserrat"/>
              <a:sym typeface="Montserrat"/>
            </a:endParaRPr>
          </a:p>
          <a:p>
            <a:pPr indent="0" lvl="0" marL="0" rtl="0" algn="ctr">
              <a:lnSpc>
                <a:spcPct val="115000"/>
              </a:lnSpc>
              <a:spcBef>
                <a:spcPts val="400"/>
              </a:spcBef>
              <a:spcAft>
                <a:spcPts val="0"/>
              </a:spcAft>
              <a:buNone/>
            </a:pPr>
            <a:r>
              <a:t/>
            </a:r>
            <a:endParaRPr sz="2800">
              <a:solidFill>
                <a:srgbClr val="202124"/>
              </a:solidFill>
              <a:highlight>
                <a:srgbClr val="FFFFFF"/>
              </a:highlight>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2"/>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1600"/>
              <a:t>*More on this in the next chapter</a:t>
            </a:r>
            <a:endParaRPr sz="1600"/>
          </a:p>
        </p:txBody>
      </p:sp>
      <p:graphicFrame>
        <p:nvGraphicFramePr>
          <p:cNvPr id="315" name="Google Shape;315;p32"/>
          <p:cNvGraphicFramePr/>
          <p:nvPr/>
        </p:nvGraphicFramePr>
        <p:xfrm>
          <a:off x="218825" y="800025"/>
          <a:ext cx="3000000" cy="3000000"/>
        </p:xfrm>
        <a:graphic>
          <a:graphicData uri="http://schemas.openxmlformats.org/drawingml/2006/table">
            <a:tbl>
              <a:tblPr>
                <a:noFill/>
                <a:tableStyleId>{01A4E23A-55A2-4EFC-A902-2F1D10B056DA}</a:tableStyleId>
              </a:tblPr>
              <a:tblGrid>
                <a:gridCol w="1428600"/>
                <a:gridCol w="1640300"/>
                <a:gridCol w="1938500"/>
                <a:gridCol w="2323950"/>
                <a:gridCol w="1469150"/>
              </a:tblGrid>
              <a:tr h="532300">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1200">
                          <a:latin typeface="Montserrat"/>
                          <a:ea typeface="Montserrat"/>
                          <a:cs typeface="Montserrat"/>
                          <a:sym typeface="Montserrat"/>
                        </a:rPr>
                        <a:t>What is needed</a:t>
                      </a:r>
                      <a:endParaRPr sz="12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1200">
                          <a:latin typeface="Montserrat"/>
                          <a:ea typeface="Montserrat"/>
                          <a:cs typeface="Montserrat"/>
                          <a:sym typeface="Montserrat"/>
                        </a:rPr>
                        <a:t>P-tuning Docs</a:t>
                      </a:r>
                      <a:endParaRPr sz="12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1200">
                          <a:latin typeface="Montserrat"/>
                          <a:ea typeface="Montserrat"/>
                          <a:cs typeface="Montserrat"/>
                          <a:sym typeface="Montserrat"/>
                        </a:rPr>
                        <a:t>Fine Tuning Docs</a:t>
                      </a:r>
                      <a:endParaRPr sz="12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1200">
                          <a:latin typeface="Montserrat"/>
                          <a:ea typeface="Montserrat"/>
                          <a:cs typeface="Montserrat"/>
                          <a:sym typeface="Montserrat"/>
                        </a:rPr>
                        <a:t>For use with protected data?</a:t>
                      </a:r>
                      <a:endParaRPr sz="1200">
                        <a:latin typeface="Montserrat"/>
                        <a:ea typeface="Montserrat"/>
                        <a:cs typeface="Montserrat"/>
                        <a:sym typeface="Montserrat"/>
                      </a:endParaRPr>
                    </a:p>
                  </a:txBody>
                  <a:tcPr marT="91425" marB="91425" marR="91425" marL="91425"/>
                </a:tc>
              </a:tr>
              <a:tr h="1178800">
                <a:tc>
                  <a:txBody>
                    <a:bodyPr/>
                    <a:lstStyle/>
                    <a:p>
                      <a:pPr indent="0" lvl="0" marL="0" rtl="0" algn="l">
                        <a:spcBef>
                          <a:spcPts val="0"/>
                        </a:spcBef>
                        <a:spcAft>
                          <a:spcPts val="0"/>
                        </a:spcAft>
                        <a:buNone/>
                      </a:pPr>
                      <a:r>
                        <a:rPr lang="en" sz="1200" u="sng">
                          <a:solidFill>
                            <a:schemeClr val="hlink"/>
                          </a:solidFill>
                          <a:latin typeface="Montserrat"/>
                          <a:ea typeface="Montserrat"/>
                          <a:cs typeface="Montserrat"/>
                          <a:sym typeface="Montserrat"/>
                          <a:hlinkClick r:id="rId3"/>
                        </a:rPr>
                        <a:t>Monster API</a:t>
                      </a:r>
                      <a:r>
                        <a:rPr lang="en" sz="1200">
                          <a:latin typeface="Montserrat"/>
                          <a:ea typeface="Montserrat"/>
                          <a:cs typeface="Montserrat"/>
                          <a:sym typeface="Montserrat"/>
                        </a:rPr>
                        <a:t> </a:t>
                      </a:r>
                      <a:endParaRPr sz="12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1200">
                          <a:latin typeface="Montserrat"/>
                          <a:ea typeface="Montserrat"/>
                          <a:cs typeface="Montserrat"/>
                          <a:sym typeface="Montserrat"/>
                        </a:rPr>
                        <a:t>No code needed</a:t>
                      </a:r>
                      <a:endParaRPr sz="1200">
                        <a:latin typeface="Montserrat"/>
                        <a:ea typeface="Montserrat"/>
                        <a:cs typeface="Montserrat"/>
                        <a:sym typeface="Montserrat"/>
                      </a:endParaRPr>
                    </a:p>
                    <a:p>
                      <a:pPr indent="0" lvl="0" marL="0" rtl="0" algn="l">
                        <a:spcBef>
                          <a:spcPts val="0"/>
                        </a:spcBef>
                        <a:spcAft>
                          <a:spcPts val="0"/>
                        </a:spcAft>
                        <a:buNone/>
                      </a:pPr>
                      <a:r>
                        <a:rPr lang="en" sz="1200" u="sng">
                          <a:solidFill>
                            <a:schemeClr val="hlink"/>
                          </a:solidFill>
                          <a:latin typeface="Montserrat"/>
                          <a:ea typeface="Montserrat"/>
                          <a:cs typeface="Montserrat"/>
                          <a:sym typeface="Montserrat"/>
                          <a:hlinkClick r:id="rId4"/>
                        </a:rPr>
                        <a:t>Subscription fees</a:t>
                      </a:r>
                      <a:endParaRPr sz="1200">
                        <a:latin typeface="Montserrat"/>
                        <a:ea typeface="Montserrat"/>
                        <a:cs typeface="Montserrat"/>
                        <a:sym typeface="Montserrat"/>
                      </a:endParaRPr>
                    </a:p>
                    <a:p>
                      <a:pPr indent="0" lvl="0" marL="0" rtl="0" algn="l">
                        <a:spcBef>
                          <a:spcPts val="0"/>
                        </a:spcBef>
                        <a:spcAft>
                          <a:spcPts val="0"/>
                        </a:spcAft>
                        <a:buClr>
                          <a:schemeClr val="lt1"/>
                        </a:buClr>
                        <a:buSzPts val="1100"/>
                        <a:buFont typeface="Arial"/>
                        <a:buNone/>
                      </a:pPr>
                      <a:r>
                        <a:rPr lang="en" sz="1200">
                          <a:solidFill>
                            <a:schemeClr val="lt1"/>
                          </a:solidFill>
                          <a:latin typeface="Montserrat"/>
                          <a:ea typeface="Montserrat"/>
                          <a:cs typeface="Montserrat"/>
                          <a:sym typeface="Montserrat"/>
                        </a:rPr>
                        <a:t>Data cleaning likely needed</a:t>
                      </a:r>
                      <a:endParaRPr sz="12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t/>
                      </a:r>
                      <a:endParaRPr sz="12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1200" u="sng">
                          <a:solidFill>
                            <a:schemeClr val="hlink"/>
                          </a:solidFill>
                          <a:latin typeface="Montserrat"/>
                          <a:ea typeface="Montserrat"/>
                          <a:cs typeface="Montserrat"/>
                          <a:sym typeface="Montserrat"/>
                          <a:hlinkClick r:id="rId5"/>
                        </a:rPr>
                        <a:t>Introducing no-code LLM FineTuning with Monster API</a:t>
                      </a:r>
                      <a:r>
                        <a:rPr lang="en" sz="1200">
                          <a:latin typeface="Montserrat"/>
                          <a:ea typeface="Montserrat"/>
                          <a:cs typeface="Montserrat"/>
                          <a:sym typeface="Montserrat"/>
                        </a:rPr>
                        <a:t> </a:t>
                      </a:r>
                      <a:endParaRPr sz="1200">
                        <a:latin typeface="Montserrat"/>
                        <a:ea typeface="Montserrat"/>
                        <a:cs typeface="Montserrat"/>
                        <a:sym typeface="Montserrat"/>
                      </a:endParaRPr>
                    </a:p>
                    <a:p>
                      <a:pPr indent="0" lvl="0" marL="0" rtl="0" algn="l">
                        <a:spcBef>
                          <a:spcPts val="0"/>
                        </a:spcBef>
                        <a:spcAft>
                          <a:spcPts val="0"/>
                        </a:spcAft>
                        <a:buNone/>
                      </a:pPr>
                      <a:r>
                        <a:rPr lang="en" sz="1200" u="sng">
                          <a:solidFill>
                            <a:schemeClr val="hlink"/>
                          </a:solidFill>
                          <a:latin typeface="Montserrat"/>
                          <a:ea typeface="Montserrat"/>
                          <a:cs typeface="Montserrat"/>
                          <a:sym typeface="Montserrat"/>
                          <a:hlinkClick r:id="rId6"/>
                        </a:rPr>
                        <a:t>Launch a Fine-Tuning Job - Monster API Docs</a:t>
                      </a:r>
                      <a:r>
                        <a:rPr lang="en" sz="1200">
                          <a:latin typeface="Montserrat"/>
                          <a:ea typeface="Montserrat"/>
                          <a:cs typeface="Montserrat"/>
                          <a:sym typeface="Montserrat"/>
                        </a:rPr>
                        <a:t> </a:t>
                      </a:r>
                      <a:endParaRPr sz="12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1200">
                          <a:latin typeface="Montserrat"/>
                          <a:ea typeface="Montserrat"/>
                          <a:cs typeface="Montserrat"/>
                          <a:sym typeface="Montserrat"/>
                        </a:rPr>
                        <a:t>No</a:t>
                      </a:r>
                      <a:endParaRPr sz="1200">
                        <a:latin typeface="Montserrat"/>
                        <a:ea typeface="Montserrat"/>
                        <a:cs typeface="Montserrat"/>
                        <a:sym typeface="Montserrat"/>
                      </a:endParaRPr>
                    </a:p>
                  </a:txBody>
                  <a:tcPr marT="91425" marB="91425" marR="91425" marL="91425"/>
                </a:tc>
              </a:tr>
              <a:tr h="1064625">
                <a:tc>
                  <a:txBody>
                    <a:bodyPr/>
                    <a:lstStyle/>
                    <a:p>
                      <a:pPr indent="0" lvl="0" marL="0" rtl="0" algn="l">
                        <a:spcBef>
                          <a:spcPts val="0"/>
                        </a:spcBef>
                        <a:spcAft>
                          <a:spcPts val="0"/>
                        </a:spcAft>
                        <a:buNone/>
                      </a:pPr>
                      <a:r>
                        <a:rPr lang="en" sz="1200" u="sng">
                          <a:solidFill>
                            <a:schemeClr val="hlink"/>
                          </a:solidFill>
                          <a:latin typeface="Montserrat"/>
                          <a:ea typeface="Montserrat"/>
                          <a:cs typeface="Montserrat"/>
                          <a:sym typeface="Montserrat"/>
                          <a:hlinkClick r:id="rId7"/>
                        </a:rPr>
                        <a:t>h2oGPT</a:t>
                      </a:r>
                      <a:r>
                        <a:rPr lang="en" sz="1200">
                          <a:latin typeface="Montserrat"/>
                          <a:ea typeface="Montserrat"/>
                          <a:cs typeface="Montserrat"/>
                          <a:sym typeface="Montserrat"/>
                        </a:rPr>
                        <a:t> </a:t>
                      </a:r>
                      <a:endParaRPr sz="12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1200">
                          <a:latin typeface="Montserrat"/>
                          <a:ea typeface="Montserrat"/>
                          <a:cs typeface="Montserrat"/>
                          <a:sym typeface="Montserrat"/>
                        </a:rPr>
                        <a:t>Can be used from GUI or command line</a:t>
                      </a:r>
                      <a:endParaRPr sz="1200">
                        <a:latin typeface="Montserrat"/>
                        <a:ea typeface="Montserrat"/>
                        <a:cs typeface="Montserrat"/>
                        <a:sym typeface="Montserrat"/>
                      </a:endParaRPr>
                    </a:p>
                    <a:p>
                      <a:pPr indent="0" lvl="0" marL="0" rtl="0" algn="l">
                        <a:spcBef>
                          <a:spcPts val="0"/>
                        </a:spcBef>
                        <a:spcAft>
                          <a:spcPts val="0"/>
                        </a:spcAft>
                        <a:buNone/>
                      </a:pPr>
                      <a:r>
                        <a:rPr lang="en" sz="1200">
                          <a:latin typeface="Montserrat"/>
                          <a:ea typeface="Montserrat"/>
                          <a:cs typeface="Montserrat"/>
                          <a:sym typeface="Montserrat"/>
                        </a:rPr>
                        <a:t>Data cleaning likely needed</a:t>
                      </a:r>
                      <a:endParaRPr sz="12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1200" u="sng">
                          <a:solidFill>
                            <a:schemeClr val="hlink"/>
                          </a:solidFill>
                          <a:latin typeface="Montserrat"/>
                          <a:ea typeface="Montserrat"/>
                          <a:cs typeface="Montserrat"/>
                          <a:sym typeface="Montserrat"/>
                          <a:hlinkClick r:id="rId8"/>
                        </a:rPr>
                        <a:t>Experiment settings | H2O LLM Studio</a:t>
                      </a:r>
                      <a:r>
                        <a:rPr lang="en" sz="1200">
                          <a:latin typeface="Montserrat"/>
                          <a:ea typeface="Montserrat"/>
                          <a:cs typeface="Montserrat"/>
                          <a:sym typeface="Montserrat"/>
                        </a:rPr>
                        <a:t> </a:t>
                      </a:r>
                      <a:endParaRPr sz="12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1200" u="sng">
                          <a:solidFill>
                            <a:schemeClr val="hlink"/>
                          </a:solidFill>
                          <a:latin typeface="Montserrat"/>
                          <a:ea typeface="Montserrat"/>
                          <a:cs typeface="Montserrat"/>
                          <a:sym typeface="Montserrat"/>
                          <a:hlinkClick r:id="rId9"/>
                        </a:rPr>
                        <a:t>Effortless Fine-Tuning of Large Language Models with Open-Source H2O LLM Studio</a:t>
                      </a:r>
                      <a:r>
                        <a:rPr lang="en" sz="1200">
                          <a:latin typeface="Montserrat"/>
                          <a:ea typeface="Montserrat"/>
                          <a:cs typeface="Montserrat"/>
                          <a:sym typeface="Montserrat"/>
                        </a:rPr>
                        <a:t> </a:t>
                      </a:r>
                      <a:endParaRPr sz="12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1200">
                          <a:latin typeface="Montserrat"/>
                          <a:ea typeface="Montserrat"/>
                          <a:cs typeface="Montserrat"/>
                          <a:sym typeface="Montserrat"/>
                        </a:rPr>
                        <a:t>Not from the GUI but the command line could if built right</a:t>
                      </a:r>
                      <a:endParaRPr sz="1200">
                        <a:latin typeface="Montserrat"/>
                        <a:ea typeface="Montserrat"/>
                        <a:cs typeface="Montserrat"/>
                        <a:sym typeface="Montserrat"/>
                      </a:endParaRPr>
                    </a:p>
                  </a:txBody>
                  <a:tcPr marT="91425" marB="91425" marR="91425" marL="91425"/>
                </a:tc>
              </a:tr>
              <a:tr h="1182425">
                <a:tc>
                  <a:txBody>
                    <a:bodyPr/>
                    <a:lstStyle/>
                    <a:p>
                      <a:pPr indent="0" lvl="0" marL="0" rtl="0" algn="l">
                        <a:spcBef>
                          <a:spcPts val="0"/>
                        </a:spcBef>
                        <a:spcAft>
                          <a:spcPts val="0"/>
                        </a:spcAft>
                        <a:buNone/>
                      </a:pPr>
                      <a:r>
                        <a:rPr lang="en" sz="1200" u="sng">
                          <a:solidFill>
                            <a:schemeClr val="hlink"/>
                          </a:solidFill>
                          <a:latin typeface="Montserrat"/>
                          <a:ea typeface="Montserrat"/>
                          <a:cs typeface="Montserrat"/>
                          <a:sym typeface="Montserrat"/>
                          <a:hlinkClick r:id="rId10"/>
                        </a:rPr>
                        <a:t>HuggingFace</a:t>
                      </a:r>
                      <a:endParaRPr sz="12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1200">
                          <a:latin typeface="Montserrat"/>
                          <a:ea typeface="Montserrat"/>
                          <a:cs typeface="Montserrat"/>
                          <a:sym typeface="Montserrat"/>
                        </a:rPr>
                        <a:t>Python needed</a:t>
                      </a:r>
                      <a:endParaRPr sz="1200">
                        <a:latin typeface="Montserrat"/>
                        <a:ea typeface="Montserrat"/>
                        <a:cs typeface="Montserrat"/>
                        <a:sym typeface="Montserrat"/>
                      </a:endParaRPr>
                    </a:p>
                    <a:p>
                      <a:pPr indent="0" lvl="0" marL="0" rtl="0" algn="l">
                        <a:spcBef>
                          <a:spcPts val="0"/>
                        </a:spcBef>
                        <a:spcAft>
                          <a:spcPts val="0"/>
                        </a:spcAft>
                        <a:buClr>
                          <a:schemeClr val="lt1"/>
                        </a:buClr>
                        <a:buSzPts val="1100"/>
                        <a:buFont typeface="Arial"/>
                        <a:buNone/>
                      </a:pPr>
                      <a:r>
                        <a:rPr lang="en" sz="1200">
                          <a:solidFill>
                            <a:schemeClr val="lt1"/>
                          </a:solidFill>
                          <a:latin typeface="Montserrat"/>
                          <a:ea typeface="Montserrat"/>
                          <a:cs typeface="Montserrat"/>
                          <a:sym typeface="Montserrat"/>
                        </a:rPr>
                        <a:t>Data cleaning likely needed</a:t>
                      </a:r>
                      <a:endParaRPr sz="12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1200" u="sng">
                          <a:solidFill>
                            <a:schemeClr val="hlink"/>
                          </a:solidFill>
                          <a:latin typeface="Montserrat"/>
                          <a:ea typeface="Montserrat"/>
                          <a:cs typeface="Montserrat"/>
                          <a:sym typeface="Montserrat"/>
                          <a:hlinkClick r:id="rId11"/>
                        </a:rPr>
                        <a:t>P-tuning for sequence classification</a:t>
                      </a:r>
                      <a:r>
                        <a:rPr lang="en" sz="1200">
                          <a:latin typeface="Montserrat"/>
                          <a:ea typeface="Montserrat"/>
                          <a:cs typeface="Montserrat"/>
                          <a:sym typeface="Montserrat"/>
                        </a:rPr>
                        <a:t> </a:t>
                      </a:r>
                      <a:endParaRPr sz="1200">
                        <a:latin typeface="Montserrat"/>
                        <a:ea typeface="Montserrat"/>
                        <a:cs typeface="Montserrat"/>
                        <a:sym typeface="Montserrat"/>
                      </a:endParaRPr>
                    </a:p>
                    <a:p>
                      <a:pPr indent="0" lvl="0" marL="0" rtl="0" algn="l">
                        <a:spcBef>
                          <a:spcPts val="0"/>
                        </a:spcBef>
                        <a:spcAft>
                          <a:spcPts val="0"/>
                        </a:spcAft>
                        <a:buNone/>
                      </a:pPr>
                      <a:r>
                        <a:rPr lang="en" sz="1200" u="sng">
                          <a:solidFill>
                            <a:schemeClr val="hlink"/>
                          </a:solidFill>
                          <a:latin typeface="Montserrat"/>
                          <a:ea typeface="Montserrat"/>
                          <a:cs typeface="Montserrat"/>
                          <a:sym typeface="Montserrat"/>
                          <a:hlinkClick r:id="rId12"/>
                        </a:rPr>
                        <a:t>Prompt tuning for causal language modeling</a:t>
                      </a:r>
                      <a:r>
                        <a:rPr lang="en" sz="1200">
                          <a:latin typeface="Montserrat"/>
                          <a:ea typeface="Montserrat"/>
                          <a:cs typeface="Montserrat"/>
                          <a:sym typeface="Montserrat"/>
                        </a:rPr>
                        <a:t> </a:t>
                      </a:r>
                      <a:endParaRPr sz="12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1200" u="sng">
                          <a:solidFill>
                            <a:schemeClr val="hlink"/>
                          </a:solidFill>
                          <a:latin typeface="Montserrat"/>
                          <a:ea typeface="Montserrat"/>
                          <a:cs typeface="Montserrat"/>
                          <a:sym typeface="Montserrat"/>
                          <a:hlinkClick r:id="rId13"/>
                        </a:rPr>
                        <a:t>Fine-tune a pretrained model</a:t>
                      </a:r>
                      <a:r>
                        <a:rPr lang="en" sz="1200">
                          <a:latin typeface="Montserrat"/>
                          <a:ea typeface="Montserrat"/>
                          <a:cs typeface="Montserrat"/>
                          <a:sym typeface="Montserrat"/>
                        </a:rPr>
                        <a:t> </a:t>
                      </a:r>
                      <a:endParaRPr sz="1200">
                        <a:latin typeface="Montserrat"/>
                        <a:ea typeface="Montserrat"/>
                        <a:cs typeface="Montserrat"/>
                        <a:sym typeface="Montserrat"/>
                      </a:endParaRPr>
                    </a:p>
                    <a:p>
                      <a:pPr indent="0" lvl="0" marL="0" rtl="0" algn="l">
                        <a:spcBef>
                          <a:spcPts val="0"/>
                        </a:spcBef>
                        <a:spcAft>
                          <a:spcPts val="0"/>
                        </a:spcAft>
                        <a:buNone/>
                      </a:pPr>
                      <a:r>
                        <a:rPr lang="en" sz="1200" u="sng">
                          <a:solidFill>
                            <a:schemeClr val="hlink"/>
                          </a:solidFill>
                          <a:latin typeface="Montserrat"/>
                          <a:ea typeface="Montserrat"/>
                          <a:cs typeface="Montserrat"/>
                          <a:sym typeface="Montserrat"/>
                          <a:hlinkClick r:id="rId14"/>
                        </a:rPr>
                        <a:t>Introduction - Hugging Face NLP Course</a:t>
                      </a:r>
                      <a:r>
                        <a:rPr lang="en" sz="1200">
                          <a:latin typeface="Montserrat"/>
                          <a:ea typeface="Montserrat"/>
                          <a:cs typeface="Montserrat"/>
                          <a:sym typeface="Montserrat"/>
                        </a:rPr>
                        <a:t> </a:t>
                      </a:r>
                      <a:endParaRPr sz="12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n" sz="1200">
                          <a:latin typeface="Montserrat"/>
                          <a:ea typeface="Montserrat"/>
                          <a:cs typeface="Montserrat"/>
                          <a:sym typeface="Montserrat"/>
                        </a:rPr>
                        <a:t>If you build it right*</a:t>
                      </a:r>
                      <a:endParaRPr sz="1200">
                        <a:latin typeface="Montserrat"/>
                        <a:ea typeface="Montserrat"/>
                        <a:cs typeface="Montserrat"/>
                        <a:sym typeface="Montserrat"/>
                      </a:endParaRPr>
                    </a:p>
                  </a:txBody>
                  <a:tcPr marT="91425" marB="91425" marR="91425" marL="91425"/>
                </a:tc>
              </a:tr>
            </a:tbl>
          </a:graphicData>
        </a:graphic>
      </p:graphicFrame>
      <p:sp>
        <p:nvSpPr>
          <p:cNvPr id="316" name="Google Shape;316;p32"/>
          <p:cNvSpPr txBox="1"/>
          <p:nvPr/>
        </p:nvSpPr>
        <p:spPr>
          <a:xfrm>
            <a:off x="0" y="0"/>
            <a:ext cx="9144000" cy="99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100">
                <a:solidFill>
                  <a:srgbClr val="282828"/>
                </a:solidFill>
                <a:highlight>
                  <a:srgbClr val="FFFFFF"/>
                </a:highlight>
                <a:latin typeface="Montserrat"/>
                <a:ea typeface="Montserrat"/>
                <a:cs typeface="Montserrat"/>
                <a:sym typeface="Montserrat"/>
              </a:rPr>
              <a:t>Example </a:t>
            </a:r>
            <a:r>
              <a:rPr lang="en" sz="2100">
                <a:solidFill>
                  <a:srgbClr val="282828"/>
                </a:solidFill>
                <a:highlight>
                  <a:srgbClr val="FFFFFF"/>
                </a:highlight>
                <a:latin typeface="Montserrat"/>
                <a:ea typeface="Montserrat"/>
                <a:cs typeface="Montserrat"/>
                <a:sym typeface="Montserrat"/>
              </a:rPr>
              <a:t>starting points for Fine or P-tuning</a:t>
            </a:r>
            <a:endParaRPr i="1" sz="2100">
              <a:solidFill>
                <a:srgbClr val="282828"/>
              </a:solidFill>
              <a:highlight>
                <a:srgbClr val="FFFFFF"/>
              </a:highlight>
              <a:latin typeface="Montserrat"/>
              <a:ea typeface="Montserrat"/>
              <a:cs typeface="Montserrat"/>
              <a:sym typeface="Montserrat"/>
            </a:endParaRPr>
          </a:p>
          <a:p>
            <a:pPr indent="0" lvl="0" marL="0" rtl="0" algn="ctr">
              <a:lnSpc>
                <a:spcPct val="115000"/>
              </a:lnSpc>
              <a:spcBef>
                <a:spcPts val="400"/>
              </a:spcBef>
              <a:spcAft>
                <a:spcPts val="0"/>
              </a:spcAft>
              <a:buNone/>
            </a:pPr>
            <a:r>
              <a:t/>
            </a:r>
            <a:endParaRPr sz="2800">
              <a:solidFill>
                <a:srgbClr val="202124"/>
              </a:solidFill>
              <a:highlight>
                <a:srgbClr val="FFFFFF"/>
              </a:highlight>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pic>
        <p:nvPicPr>
          <p:cNvPr id="321" name="Google Shape;321;p33"/>
          <p:cNvPicPr preferRelativeResize="0"/>
          <p:nvPr/>
        </p:nvPicPr>
        <p:blipFill rotWithShape="1">
          <a:blip r:embed="rId3">
            <a:alphaModFix/>
          </a:blip>
          <a:srcRect b="16737" l="6268" r="5943" t="8372"/>
          <a:stretch/>
        </p:blipFill>
        <p:spPr>
          <a:xfrm>
            <a:off x="618875" y="811400"/>
            <a:ext cx="7935301" cy="3167076"/>
          </a:xfrm>
          <a:prstGeom prst="rect">
            <a:avLst/>
          </a:prstGeom>
          <a:noFill/>
          <a:ln>
            <a:noFill/>
          </a:ln>
        </p:spPr>
      </p:pic>
      <p:sp>
        <p:nvSpPr>
          <p:cNvPr id="322" name="Google Shape;322;p33"/>
          <p:cNvSpPr txBox="1"/>
          <p:nvPr/>
        </p:nvSpPr>
        <p:spPr>
          <a:xfrm>
            <a:off x="398825" y="4743300"/>
            <a:ext cx="8975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4"/>
              </a:rPr>
              <a:t>https://medium.com/@kanikaadik07/generative-ai-project-life-cycle-55ce9092e24a</a:t>
            </a:r>
            <a:r>
              <a:rPr lang="en"/>
              <a:t> </a:t>
            </a:r>
            <a:endParaRPr/>
          </a:p>
        </p:txBody>
      </p:sp>
      <p:sp>
        <p:nvSpPr>
          <p:cNvPr id="323" name="Google Shape;323;p33"/>
          <p:cNvSpPr/>
          <p:nvPr/>
        </p:nvSpPr>
        <p:spPr>
          <a:xfrm>
            <a:off x="3590750" y="533750"/>
            <a:ext cx="679200" cy="630900"/>
          </a:xfrm>
          <a:prstGeom prst="down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24" name="Google Shape;324;p33"/>
          <p:cNvSpPr txBox="1"/>
          <p:nvPr/>
        </p:nvSpPr>
        <p:spPr>
          <a:xfrm>
            <a:off x="3321350" y="64950"/>
            <a:ext cx="20895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lt1"/>
                </a:solidFill>
                <a:latin typeface="Lato"/>
                <a:ea typeface="Lato"/>
                <a:cs typeface="Lato"/>
                <a:sym typeface="Lato"/>
              </a:rPr>
              <a:t>You are here</a:t>
            </a:r>
            <a:endParaRPr sz="1700">
              <a:solidFill>
                <a:schemeClr val="lt1"/>
              </a:solidFill>
              <a:latin typeface="Lato"/>
              <a:ea typeface="Lato"/>
              <a:cs typeface="Lato"/>
              <a:sym typeface="Lato"/>
            </a:endParaRPr>
          </a:p>
        </p:txBody>
      </p:sp>
      <p:sp>
        <p:nvSpPr>
          <p:cNvPr id="325" name="Google Shape;325;p33"/>
          <p:cNvSpPr/>
          <p:nvPr/>
        </p:nvSpPr>
        <p:spPr>
          <a:xfrm>
            <a:off x="1045200" y="3809500"/>
            <a:ext cx="6862500" cy="878400"/>
          </a:xfrm>
          <a:prstGeom prst="leftRightArrow">
            <a:avLst>
              <a:gd fmla="val 50000" name="adj1"/>
              <a:gd fmla="val 50000" name="adj2"/>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rgbClr val="FFFFFF"/>
                </a:solidFill>
                <a:latin typeface="Lato"/>
                <a:ea typeface="Lato"/>
                <a:cs typeface="Lato"/>
                <a:sym typeface="Lato"/>
              </a:rPr>
              <a:t>Ongoing monitoring throughout the project</a:t>
            </a:r>
            <a:endParaRPr>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000000"/>
      </a:lt1>
      <a:dk2>
        <a:srgbClr val="000000"/>
      </a:dk2>
      <a:lt2>
        <a:srgbClr val="000000"/>
      </a:lt2>
      <a:accent1>
        <a:srgbClr val="1B365D"/>
      </a:accent1>
      <a:accent2>
        <a:srgbClr val="00C1D5"/>
      </a:accent2>
      <a:accent3>
        <a:srgbClr val="FFB500"/>
      </a:accent3>
      <a:accent4>
        <a:srgbClr val="AA4AC4"/>
      </a:accent4>
      <a:accent5>
        <a:srgbClr val="0A799A"/>
      </a:accent5>
      <a:accent6>
        <a:srgbClr val="F4F4F4"/>
      </a:accent6>
      <a:hlink>
        <a:srgbClr val="00C1D5"/>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