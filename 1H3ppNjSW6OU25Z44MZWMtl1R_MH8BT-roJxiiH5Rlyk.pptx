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of your first tasks when creating an </a:t>
            </a:r>
            <a:r>
              <a:rPr lang="en">
                <a:solidFill>
                  <a:schemeClr val="dk1"/>
                </a:solidFill>
              </a:rPr>
              <a:t>aigh eye</a:t>
            </a:r>
            <a:r>
              <a:rPr lang="en"/>
              <a:t> policy is to build a team to advise you. Let’s discuss who you might recruit.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Except where otherwise indicated, the contents of this video are available for use under C C B Y 4 point 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a83edd52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a83edd52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thoughts and ideas presented in this course are not to be substituted for legal or ethical advice. They are only meant to give you a starting point for gathering information about </a:t>
            </a:r>
            <a:r>
              <a:rPr lang="en">
                <a:solidFill>
                  <a:schemeClr val="dk1"/>
                </a:solidFill>
              </a:rPr>
              <a:t>aigh eye</a:t>
            </a:r>
            <a:r>
              <a:rPr lang="en"/>
              <a:t> policy and regulations to consider.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a0db34665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a0db34665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aigh eye</a:t>
            </a:r>
            <a:r>
              <a:rPr b="1" lang="en" sz="1200">
                <a:solidFill>
                  <a:srgbClr val="1B212C"/>
                </a:solidFill>
              </a:rPr>
              <a:t> Policy is a teamwork endeavor. </a:t>
            </a:r>
            <a:r>
              <a:rPr lang="en" sz="1200">
                <a:solidFill>
                  <a:srgbClr val="1B212C"/>
                </a:solidFill>
              </a:rPr>
              <a:t>Experts from many different fields need to come together to bring the latest updates. </a:t>
            </a:r>
            <a:r>
              <a:rPr lang="en" sz="1200">
                <a:solidFill>
                  <a:schemeClr val="dk1"/>
                </a:solidFill>
              </a:rPr>
              <a:t>As someone in charge of making sure your organization is using </a:t>
            </a:r>
            <a:r>
              <a:rPr lang="en">
                <a:solidFill>
                  <a:schemeClr val="dk1"/>
                </a:solidFill>
              </a:rPr>
              <a:t>aigh eye</a:t>
            </a:r>
            <a:r>
              <a:rPr lang="en" sz="1200">
                <a:solidFill>
                  <a:schemeClr val="dk1"/>
                </a:solidFill>
              </a:rPr>
              <a:t> wisely and properly, staying up-to-date on the laws, regulations, and computational resources is vital. It’s also something that is really difficult to do alone. </a:t>
            </a:r>
            <a:r>
              <a:rPr lang="en">
                <a:solidFill>
                  <a:schemeClr val="dk1"/>
                </a:solidFill>
              </a:rPr>
              <a:t>Building a team of individuals that can help you confidently navigate the evolving landscape should be one of your top priorities as a leader.</a:t>
            </a:r>
            <a:endParaRPr>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965a5f7f0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965a5f7f0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multiple possible roles that you could fill, depending on your organization’s </a:t>
            </a:r>
            <a:r>
              <a:rPr lang="en">
                <a:solidFill>
                  <a:schemeClr val="dk1"/>
                </a:solidFill>
              </a:rPr>
              <a:t>aigh eye</a:t>
            </a:r>
            <a:r>
              <a:rPr lang="en"/>
              <a:t> needs and uses. Having representation from technical, policy and social science backgrounds helps ensure a multidisciplinary, holistic approach to building and overseeing responsible </a:t>
            </a:r>
            <a:r>
              <a:rPr lang="en">
                <a:solidFill>
                  <a:schemeClr val="dk1"/>
                </a:solidFill>
              </a:rPr>
              <a:t>aigh eye</a:t>
            </a:r>
            <a:r>
              <a:rPr lang="en"/>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a83edd52b2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a83edd52b2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list is a starting point for you when deciding what sort of roles you need for your own team and is not written in any particular order. This is not an exhaustive list of all possible experts that you can gather. You should consult with your legal counsel, board members, and other oversight staff in order to properly address your own specialized needs.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a83edd52b2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a83edd52b2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Legal counsel that understands </a:t>
            </a:r>
            <a:r>
              <a:rPr lang="en">
                <a:solidFill>
                  <a:schemeClr val="dk1"/>
                </a:solidFill>
              </a:rPr>
              <a:t>aigh eye</a:t>
            </a:r>
            <a:r>
              <a:rPr lang="en"/>
              <a:t> and the nuances of the rapidly changing laws can advise on regulations relevant to your organization.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a83edd52b2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a83edd52b2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Policy and governance analysts can research and draft internal policies on transparency, auditability, harm mitigation, and appropriate </a:t>
            </a:r>
            <a:r>
              <a:rPr lang="en">
                <a:solidFill>
                  <a:schemeClr val="dk1"/>
                </a:solidFill>
              </a:rPr>
              <a:t>aigh eye</a:t>
            </a:r>
            <a:r>
              <a:rPr lang="en"/>
              <a:t> uses. They can also advise and assist with compliance.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a83edd52b2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a83edd52b2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Data protection officers who can aid with implementing privacy-by-design principles and handling personally identifiable information legally and securely are especially important for organizations that deal with personal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a83edd52b2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a83edd52b2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Ethicists are experts who can provide guidance on ethical issues and review systems for potential biases, risks, and policy compliance.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a83edd52b2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a83edd52b2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Trainers and educators can create and run programs aimed at keeping all employees aware of responsibilities in developing and using </a:t>
            </a:r>
            <a:r>
              <a:rPr lang="en">
                <a:solidFill>
                  <a:schemeClr val="dk1"/>
                </a:solidFill>
              </a:rPr>
              <a:t>aigh eye</a:t>
            </a:r>
            <a:r>
              <a:rPr lang="en"/>
              <a:t> respectfully and in compliance with </a:t>
            </a:r>
            <a:r>
              <a:rPr lang="en">
                <a:solidFill>
                  <a:schemeClr val="dk1"/>
                </a:solidFill>
              </a:rPr>
              <a:t>aigh eye</a:t>
            </a:r>
            <a:r>
              <a:rPr lang="en"/>
              <a:t> policies and regulations.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a83edd52b2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a83edd52b2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Oversight committee </a:t>
            </a:r>
            <a:r>
              <a:rPr lang="en"/>
              <a:t>members are experts who review research studies (both before a study begins and while it is ongoing). Their job is to make sure researchers are protecting the welfare, rights, and privacy of research subjects. Oversight committees like institutional review boards are especially important for organizations involved in any human research that uses </a:t>
            </a:r>
            <a:r>
              <a:rPr lang="en">
                <a:solidFill>
                  <a:schemeClr val="dk1"/>
                </a:solidFill>
              </a:rPr>
              <a:t>aigh eye</a:t>
            </a:r>
            <a:r>
              <a:rPr lang="en"/>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a83edd52b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a83edd52b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Technical experts understand how to design, build, and deploy </a:t>
            </a:r>
            <a:r>
              <a:rPr lang="en">
                <a:solidFill>
                  <a:schemeClr val="dk1"/>
                </a:solidFill>
              </a:rPr>
              <a:t>aigh eye</a:t>
            </a:r>
            <a:r>
              <a:rPr lang="en">
                <a:solidFill>
                  <a:schemeClr val="dk1"/>
                </a:solidFill>
              </a:rPr>
              <a:t> </a:t>
            </a:r>
            <a:r>
              <a:rPr lang="en"/>
              <a:t>models. They can also offer advice on the algorithms, data, and computational infrastructure your organization might need. They might be </a:t>
            </a:r>
            <a:r>
              <a:rPr lang="en">
                <a:solidFill>
                  <a:schemeClr val="dk1"/>
                </a:solidFill>
              </a:rPr>
              <a:t>aigh eye</a:t>
            </a:r>
            <a:r>
              <a:rPr lang="en"/>
              <a:t> or machine learning experts, data scientists, Dev Ops engineers, cloud architects, or systems engineers.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a83edd52b2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a83edd52b2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Information security architects are vital for identifying and mitigating the security risks associated with </a:t>
            </a:r>
            <a:r>
              <a:rPr lang="en">
                <a:solidFill>
                  <a:schemeClr val="dk1"/>
                </a:solidFill>
              </a:rPr>
              <a:t>aigh eye</a:t>
            </a:r>
            <a:r>
              <a:rPr lang="en"/>
              <a:t> systems. They can provide advice on data privacy measures, security weak points, and incident response plans.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a83edd52b2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a83edd52b2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specific roles and their required skill sets will vary depending on the size, industry, and aigh eye maturity of the company. Having a balanced team with both technical and strategic expertise is key to successfully implementing aigh eye policies in your organization. Remember, effective communication and collaboration between these roles is crucial for a successful aigh eye implementation.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4.png"/><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12.png"/><Relationship Id="rId7" Type="http://schemas.openxmlformats.org/officeDocument/2006/relationships/image" Target="../media/image10.png"/><Relationship Id="rId8"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ctrTitle"/>
          </p:nvPr>
        </p:nvSpPr>
        <p:spPr>
          <a:xfrm>
            <a:off x="3288225" y="1578375"/>
            <a:ext cx="57018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Building an AI advisory team</a:t>
            </a:r>
            <a:endParaRPr sz="3988"/>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64" name="Google Shape;164;p16"/>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idx="4294967295" type="title"/>
          </p:nvPr>
        </p:nvSpPr>
        <p:spPr>
          <a:xfrm>
            <a:off x="230700" y="1003350"/>
            <a:ext cx="8793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990"/>
              <a:buFont typeface="Arial"/>
              <a:buNone/>
            </a:pPr>
            <a:r>
              <a:rPr b="1" lang="en">
                <a:solidFill>
                  <a:srgbClr val="333333"/>
                </a:solidFill>
                <a:highlight>
                  <a:srgbClr val="FFFFFF"/>
                </a:highlight>
              </a:rPr>
              <a:t>Disclaimer:</a:t>
            </a:r>
            <a:r>
              <a:rPr lang="en">
                <a:solidFill>
                  <a:srgbClr val="333333"/>
                </a:solidFill>
                <a:highlight>
                  <a:srgbClr val="FFFFFF"/>
                </a:highlight>
              </a:rPr>
              <a:t> The thoughts and ideas presented in this course are not to be substituted for legal or ethical advice and are only meant to give you a starting point for gathering information about AI policy and regulations to consider.</a:t>
            </a:r>
            <a:endParaRPr/>
          </a:p>
        </p:txBody>
      </p:sp>
      <p:sp>
        <p:nvSpPr>
          <p:cNvPr id="170" name="Google Shape;170;p17"/>
          <p:cNvSpPr/>
          <p:nvPr/>
        </p:nvSpPr>
        <p:spPr>
          <a:xfrm>
            <a:off x="0" y="791300"/>
            <a:ext cx="9144000" cy="2601600"/>
          </a:xfrm>
          <a:prstGeom prst="rect">
            <a:avLst/>
          </a:prstGeom>
          <a:noFill/>
          <a:ln cap="flat" cmpd="sng" w="381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1" name="Google Shape;171;p17"/>
          <p:cNvSpPr/>
          <p:nvPr/>
        </p:nvSpPr>
        <p:spPr>
          <a:xfrm>
            <a:off x="76200" y="867500"/>
            <a:ext cx="8948400" cy="24537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idx="4294967295" type="title"/>
          </p:nvPr>
        </p:nvSpPr>
        <p:spPr>
          <a:xfrm>
            <a:off x="266175" y="842000"/>
            <a:ext cx="6177000" cy="391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2690">
                <a:solidFill>
                  <a:schemeClr val="dk1"/>
                </a:solidFill>
              </a:rPr>
              <a:t>AI Policy is a teamwork endeavor </a:t>
            </a:r>
            <a:endParaRPr b="1" sz="2690">
              <a:solidFill>
                <a:schemeClr val="dk1"/>
              </a:solidFill>
            </a:endParaRPr>
          </a:p>
          <a:p>
            <a:pPr indent="0" lvl="0" marL="0" rtl="0" algn="l">
              <a:spcBef>
                <a:spcPts val="0"/>
              </a:spcBef>
              <a:spcAft>
                <a:spcPts val="0"/>
              </a:spcAft>
              <a:buSzPts val="1100"/>
              <a:buNone/>
            </a:pPr>
            <a:r>
              <a:t/>
            </a:r>
            <a:endParaRPr sz="2690">
              <a:solidFill>
                <a:schemeClr val="dk1"/>
              </a:solidFill>
            </a:endParaRPr>
          </a:p>
          <a:p>
            <a:pPr indent="0" lvl="0" marL="0" rtl="0" algn="l">
              <a:spcBef>
                <a:spcPts val="0"/>
              </a:spcBef>
              <a:spcAft>
                <a:spcPts val="0"/>
              </a:spcAft>
              <a:buSzPts val="1100"/>
              <a:buNone/>
            </a:pPr>
            <a:r>
              <a:t/>
            </a:r>
            <a:endParaRPr sz="2690">
              <a:solidFill>
                <a:schemeClr val="dk1"/>
              </a:solidFill>
            </a:endParaRPr>
          </a:p>
          <a:p>
            <a:pPr indent="0" lvl="0" marL="0" rtl="0" algn="l">
              <a:spcBef>
                <a:spcPts val="0"/>
              </a:spcBef>
              <a:spcAft>
                <a:spcPts val="0"/>
              </a:spcAft>
              <a:buClr>
                <a:schemeClr val="dk1"/>
              </a:buClr>
              <a:buSzPts val="1100"/>
              <a:buFont typeface="Arial"/>
              <a:buNone/>
            </a:pPr>
            <a:r>
              <a:rPr lang="en" sz="2690">
                <a:solidFill>
                  <a:schemeClr val="dk1"/>
                </a:solidFill>
              </a:rPr>
              <a:t>Experts from many different fields need to come together to bring the latest updates</a:t>
            </a:r>
            <a:endParaRPr sz="2690">
              <a:solidFill>
                <a:schemeClr val="dk1"/>
              </a:solidFill>
            </a:endParaRPr>
          </a:p>
        </p:txBody>
      </p:sp>
      <p:pic>
        <p:nvPicPr>
          <p:cNvPr id="177" name="Google Shape;177;p18"/>
          <p:cNvPicPr preferRelativeResize="0"/>
          <p:nvPr/>
        </p:nvPicPr>
        <p:blipFill>
          <a:blip r:embed="rId3">
            <a:alphaModFix/>
          </a:blip>
          <a:stretch>
            <a:fillRect/>
          </a:stretch>
        </p:blipFill>
        <p:spPr>
          <a:xfrm>
            <a:off x="5848225" y="1377387"/>
            <a:ext cx="2388724" cy="2388725"/>
          </a:xfrm>
          <a:prstGeom prst="rect">
            <a:avLst/>
          </a:prstGeom>
          <a:noFill/>
          <a:ln>
            <a:noFill/>
          </a:ln>
        </p:spPr>
      </p:pic>
      <p:sp>
        <p:nvSpPr>
          <p:cNvPr id="178" name="Google Shape;178;p18"/>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9"/>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184" name="Google Shape;184;p19"/>
          <p:cNvSpPr txBox="1"/>
          <p:nvPr/>
        </p:nvSpPr>
        <p:spPr>
          <a:xfrm>
            <a:off x="741025" y="628300"/>
            <a:ext cx="74958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lt1"/>
                </a:solidFill>
                <a:latin typeface="Montserrat"/>
                <a:ea typeface="Montserrat"/>
                <a:cs typeface="Montserrat"/>
                <a:sym typeface="Montserrat"/>
              </a:rPr>
              <a:t>M</a:t>
            </a:r>
            <a:r>
              <a:rPr lang="en" sz="3000">
                <a:solidFill>
                  <a:schemeClr val="lt1"/>
                </a:solidFill>
                <a:latin typeface="Montserrat"/>
                <a:ea typeface="Montserrat"/>
                <a:cs typeface="Montserrat"/>
                <a:sym typeface="Montserrat"/>
              </a:rPr>
              <a:t>ultidisciplinary approach is key </a:t>
            </a:r>
            <a:endParaRPr sz="30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30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3000">
              <a:solidFill>
                <a:schemeClr val="lt1"/>
              </a:solidFill>
              <a:latin typeface="Montserrat"/>
              <a:ea typeface="Montserrat"/>
              <a:cs typeface="Montserrat"/>
              <a:sym typeface="Montserrat"/>
            </a:endParaRPr>
          </a:p>
          <a:p>
            <a:pPr indent="-419100" lvl="0" marL="457200" rtl="0" algn="l">
              <a:spcBef>
                <a:spcPts val="0"/>
              </a:spcBef>
              <a:spcAft>
                <a:spcPts val="0"/>
              </a:spcAft>
              <a:buClr>
                <a:schemeClr val="lt1"/>
              </a:buClr>
              <a:buSzPts val="3000"/>
              <a:buFont typeface="Montserrat"/>
              <a:buChar char="●"/>
            </a:pPr>
            <a:r>
              <a:rPr lang="en" sz="3000">
                <a:solidFill>
                  <a:schemeClr val="lt1"/>
                </a:solidFill>
                <a:latin typeface="Montserrat"/>
                <a:ea typeface="Montserrat"/>
                <a:cs typeface="Montserrat"/>
                <a:sym typeface="Montserrat"/>
              </a:rPr>
              <a:t>Technical</a:t>
            </a:r>
            <a:endParaRPr sz="3000">
              <a:solidFill>
                <a:schemeClr val="lt1"/>
              </a:solidFill>
              <a:latin typeface="Montserrat"/>
              <a:ea typeface="Montserrat"/>
              <a:cs typeface="Montserrat"/>
              <a:sym typeface="Montserrat"/>
            </a:endParaRPr>
          </a:p>
          <a:p>
            <a:pPr indent="-419100" lvl="0" marL="457200" rtl="0" algn="l">
              <a:spcBef>
                <a:spcPts val="0"/>
              </a:spcBef>
              <a:spcAft>
                <a:spcPts val="0"/>
              </a:spcAft>
              <a:buClr>
                <a:schemeClr val="lt1"/>
              </a:buClr>
              <a:buSzPts val="3000"/>
              <a:buFont typeface="Montserrat"/>
              <a:buChar char="●"/>
            </a:pPr>
            <a:r>
              <a:rPr lang="en" sz="3000">
                <a:solidFill>
                  <a:schemeClr val="lt1"/>
                </a:solidFill>
                <a:latin typeface="Montserrat"/>
                <a:ea typeface="Montserrat"/>
                <a:cs typeface="Montserrat"/>
                <a:sym typeface="Montserrat"/>
              </a:rPr>
              <a:t>Policy </a:t>
            </a:r>
            <a:endParaRPr sz="3000">
              <a:solidFill>
                <a:schemeClr val="lt1"/>
              </a:solidFill>
              <a:latin typeface="Montserrat"/>
              <a:ea typeface="Montserrat"/>
              <a:cs typeface="Montserrat"/>
              <a:sym typeface="Montserrat"/>
            </a:endParaRPr>
          </a:p>
          <a:p>
            <a:pPr indent="-419100" lvl="0" marL="457200" rtl="0" algn="l">
              <a:spcBef>
                <a:spcPts val="0"/>
              </a:spcBef>
              <a:spcAft>
                <a:spcPts val="0"/>
              </a:spcAft>
              <a:buClr>
                <a:schemeClr val="lt1"/>
              </a:buClr>
              <a:buSzPts val="3000"/>
              <a:buFont typeface="Montserrat"/>
              <a:buChar char="●"/>
            </a:pPr>
            <a:r>
              <a:rPr lang="en" sz="3000">
                <a:solidFill>
                  <a:schemeClr val="lt1"/>
                </a:solidFill>
                <a:latin typeface="Montserrat"/>
                <a:ea typeface="Montserrat"/>
                <a:cs typeface="Montserrat"/>
                <a:sym typeface="Montserrat"/>
              </a:rPr>
              <a:t>Social Sciences</a:t>
            </a:r>
            <a:endParaRPr sz="3000">
              <a:solidFill>
                <a:schemeClr val="lt1"/>
              </a:solidFill>
              <a:latin typeface="Montserrat"/>
              <a:ea typeface="Montserrat"/>
              <a:cs typeface="Montserrat"/>
              <a:sym typeface="Montserrat"/>
            </a:endParaRPr>
          </a:p>
        </p:txBody>
      </p:sp>
      <p:pic>
        <p:nvPicPr>
          <p:cNvPr id="185" name="Google Shape;185;p19"/>
          <p:cNvPicPr preferRelativeResize="0"/>
          <p:nvPr/>
        </p:nvPicPr>
        <p:blipFill>
          <a:blip r:embed="rId3">
            <a:alphaModFix/>
          </a:blip>
          <a:stretch>
            <a:fillRect/>
          </a:stretch>
        </p:blipFill>
        <p:spPr>
          <a:xfrm>
            <a:off x="5410200" y="1600200"/>
            <a:ext cx="2324100" cy="2324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0"/>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191" name="Google Shape;191;p20"/>
          <p:cNvSpPr txBox="1"/>
          <p:nvPr/>
        </p:nvSpPr>
        <p:spPr>
          <a:xfrm>
            <a:off x="105750" y="167400"/>
            <a:ext cx="8932500" cy="505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rgbClr val="333333"/>
                </a:solidFill>
                <a:highlight>
                  <a:srgbClr val="FFFFFF"/>
                </a:highlight>
                <a:latin typeface="Montserrat"/>
                <a:ea typeface="Montserrat"/>
                <a:cs typeface="Montserrat"/>
                <a:sym typeface="Montserrat"/>
              </a:rPr>
              <a:t>Individuals you will likely need on your policy team</a:t>
            </a:r>
            <a:endParaRPr sz="2500">
              <a:solidFill>
                <a:srgbClr val="333333"/>
              </a:solidFill>
              <a:highlight>
                <a:srgbClr val="FFFFFF"/>
              </a:highlight>
              <a:latin typeface="Montserrat"/>
              <a:ea typeface="Montserrat"/>
              <a:cs typeface="Montserrat"/>
              <a:sym typeface="Montserrat"/>
            </a:endParaRPr>
          </a:p>
          <a:p>
            <a:pPr indent="0" lvl="0" marL="914400" rtl="0" algn="l">
              <a:lnSpc>
                <a:spcPct val="100000"/>
              </a:lnSpc>
              <a:spcBef>
                <a:spcPts val="1000"/>
              </a:spcBef>
              <a:spcAft>
                <a:spcPts val="0"/>
              </a:spcAft>
              <a:buNone/>
            </a:pPr>
            <a:r>
              <a:rPr lang="en" sz="2300">
                <a:solidFill>
                  <a:srgbClr val="333333"/>
                </a:solidFill>
                <a:highlight>
                  <a:srgbClr val="FFFFFF"/>
                </a:highlight>
                <a:latin typeface="Montserrat"/>
                <a:ea typeface="Montserrat"/>
                <a:cs typeface="Montserrat"/>
                <a:sym typeface="Montserrat"/>
              </a:rPr>
              <a:t>Legal counsel </a:t>
            </a:r>
            <a:endParaRPr sz="2300">
              <a:solidFill>
                <a:srgbClr val="333333"/>
              </a:solidFill>
              <a:highlight>
                <a:srgbClr val="FFFFFF"/>
              </a:highlight>
              <a:latin typeface="Montserrat"/>
              <a:ea typeface="Montserrat"/>
              <a:cs typeface="Montserrat"/>
              <a:sym typeface="Montserrat"/>
            </a:endParaRPr>
          </a:p>
          <a:p>
            <a:pPr indent="0" lvl="0" marL="914400" rtl="0" algn="l">
              <a:lnSpc>
                <a:spcPct val="100000"/>
              </a:lnSpc>
              <a:spcBef>
                <a:spcPts val="1000"/>
              </a:spcBef>
              <a:spcAft>
                <a:spcPts val="0"/>
              </a:spcAft>
              <a:buNone/>
            </a:pPr>
            <a:r>
              <a:rPr lang="en" sz="2300">
                <a:solidFill>
                  <a:srgbClr val="333333"/>
                </a:solidFill>
                <a:highlight>
                  <a:srgbClr val="FFFFFF"/>
                </a:highlight>
                <a:latin typeface="Montserrat"/>
                <a:ea typeface="Montserrat"/>
                <a:cs typeface="Montserrat"/>
                <a:sym typeface="Montserrat"/>
              </a:rPr>
              <a:t>Policy and governance analysts </a:t>
            </a:r>
            <a:endParaRPr sz="2300">
              <a:solidFill>
                <a:srgbClr val="333333"/>
              </a:solidFill>
              <a:highlight>
                <a:srgbClr val="FFFFFF"/>
              </a:highlight>
              <a:latin typeface="Montserrat"/>
              <a:ea typeface="Montserrat"/>
              <a:cs typeface="Montserrat"/>
              <a:sym typeface="Montserrat"/>
            </a:endParaRPr>
          </a:p>
          <a:p>
            <a:pPr indent="0" lvl="0" marL="914400" rtl="0" algn="l">
              <a:lnSpc>
                <a:spcPct val="100000"/>
              </a:lnSpc>
              <a:spcBef>
                <a:spcPts val="1000"/>
              </a:spcBef>
              <a:spcAft>
                <a:spcPts val="0"/>
              </a:spcAft>
              <a:buNone/>
            </a:pPr>
            <a:r>
              <a:rPr lang="en" sz="2300">
                <a:solidFill>
                  <a:srgbClr val="333333"/>
                </a:solidFill>
                <a:highlight>
                  <a:srgbClr val="FFFFFF"/>
                </a:highlight>
                <a:latin typeface="Montserrat"/>
                <a:ea typeface="Montserrat"/>
                <a:cs typeface="Montserrat"/>
                <a:sym typeface="Montserrat"/>
              </a:rPr>
              <a:t>Data protection officers </a:t>
            </a:r>
            <a:endParaRPr sz="2300">
              <a:solidFill>
                <a:srgbClr val="333333"/>
              </a:solidFill>
              <a:highlight>
                <a:srgbClr val="FFFFFF"/>
              </a:highlight>
              <a:latin typeface="Montserrat"/>
              <a:ea typeface="Montserrat"/>
              <a:cs typeface="Montserrat"/>
              <a:sym typeface="Montserrat"/>
            </a:endParaRPr>
          </a:p>
          <a:p>
            <a:pPr indent="0" lvl="0" marL="914400" rtl="0" algn="l">
              <a:lnSpc>
                <a:spcPct val="100000"/>
              </a:lnSpc>
              <a:spcBef>
                <a:spcPts val="1000"/>
              </a:spcBef>
              <a:spcAft>
                <a:spcPts val="0"/>
              </a:spcAft>
              <a:buNone/>
            </a:pPr>
            <a:r>
              <a:rPr lang="en" sz="2300">
                <a:solidFill>
                  <a:srgbClr val="333333"/>
                </a:solidFill>
                <a:highlight>
                  <a:srgbClr val="FFFFFF"/>
                </a:highlight>
                <a:latin typeface="Montserrat"/>
                <a:ea typeface="Montserrat"/>
                <a:cs typeface="Montserrat"/>
                <a:sym typeface="Montserrat"/>
              </a:rPr>
              <a:t>Ethicists and oversight board members</a:t>
            </a:r>
            <a:endParaRPr sz="2300">
              <a:solidFill>
                <a:srgbClr val="333333"/>
              </a:solidFill>
              <a:highlight>
                <a:srgbClr val="FFFFFF"/>
              </a:highlight>
              <a:latin typeface="Montserrat"/>
              <a:ea typeface="Montserrat"/>
              <a:cs typeface="Montserrat"/>
              <a:sym typeface="Montserrat"/>
            </a:endParaRPr>
          </a:p>
          <a:p>
            <a:pPr indent="0" lvl="0" marL="914400" rtl="0" algn="l">
              <a:lnSpc>
                <a:spcPct val="100000"/>
              </a:lnSpc>
              <a:spcBef>
                <a:spcPts val="1000"/>
              </a:spcBef>
              <a:spcAft>
                <a:spcPts val="0"/>
              </a:spcAft>
              <a:buNone/>
            </a:pPr>
            <a:r>
              <a:rPr lang="en" sz="2300">
                <a:solidFill>
                  <a:srgbClr val="333333"/>
                </a:solidFill>
                <a:highlight>
                  <a:srgbClr val="FFFFFF"/>
                </a:highlight>
                <a:latin typeface="Montserrat"/>
                <a:ea typeface="Montserrat"/>
                <a:cs typeface="Montserrat"/>
                <a:sym typeface="Montserrat"/>
              </a:rPr>
              <a:t>Trainers and educators </a:t>
            </a:r>
            <a:endParaRPr sz="2300">
              <a:solidFill>
                <a:srgbClr val="333333"/>
              </a:solidFill>
              <a:highlight>
                <a:srgbClr val="FFFFFF"/>
              </a:highlight>
              <a:latin typeface="Montserrat"/>
              <a:ea typeface="Montserrat"/>
              <a:cs typeface="Montserrat"/>
              <a:sym typeface="Montserrat"/>
            </a:endParaRPr>
          </a:p>
          <a:p>
            <a:pPr indent="0" lvl="0" marL="914400" rtl="0" algn="l">
              <a:lnSpc>
                <a:spcPct val="100000"/>
              </a:lnSpc>
              <a:spcBef>
                <a:spcPts val="1000"/>
              </a:spcBef>
              <a:spcAft>
                <a:spcPts val="0"/>
              </a:spcAft>
              <a:buNone/>
            </a:pPr>
            <a:r>
              <a:rPr lang="en" sz="2300">
                <a:solidFill>
                  <a:srgbClr val="333333"/>
                </a:solidFill>
                <a:highlight>
                  <a:srgbClr val="FFFFFF"/>
                </a:highlight>
                <a:latin typeface="Montserrat"/>
                <a:ea typeface="Montserrat"/>
                <a:cs typeface="Montserrat"/>
                <a:sym typeface="Montserrat"/>
              </a:rPr>
              <a:t>Oversight committee members </a:t>
            </a:r>
            <a:endParaRPr sz="2300">
              <a:solidFill>
                <a:srgbClr val="333333"/>
              </a:solidFill>
              <a:highlight>
                <a:srgbClr val="FFFFFF"/>
              </a:highlight>
              <a:latin typeface="Montserrat"/>
              <a:ea typeface="Montserrat"/>
              <a:cs typeface="Montserrat"/>
              <a:sym typeface="Montserrat"/>
            </a:endParaRPr>
          </a:p>
          <a:p>
            <a:pPr indent="0" lvl="0" marL="914400" rtl="0" algn="l">
              <a:lnSpc>
                <a:spcPct val="100000"/>
              </a:lnSpc>
              <a:spcBef>
                <a:spcPts val="1000"/>
              </a:spcBef>
              <a:spcAft>
                <a:spcPts val="0"/>
              </a:spcAft>
              <a:buNone/>
            </a:pPr>
            <a:r>
              <a:rPr lang="en" sz="2300">
                <a:solidFill>
                  <a:srgbClr val="333333"/>
                </a:solidFill>
                <a:highlight>
                  <a:srgbClr val="FFFFFF"/>
                </a:highlight>
                <a:latin typeface="Montserrat"/>
                <a:ea typeface="Montserrat"/>
                <a:cs typeface="Montserrat"/>
                <a:sym typeface="Montserrat"/>
              </a:rPr>
              <a:t>Technical experts</a:t>
            </a:r>
            <a:endParaRPr sz="2300">
              <a:solidFill>
                <a:srgbClr val="333333"/>
              </a:solidFill>
              <a:highlight>
                <a:srgbClr val="FFFFFF"/>
              </a:highlight>
              <a:latin typeface="Montserrat"/>
              <a:ea typeface="Montserrat"/>
              <a:cs typeface="Montserrat"/>
              <a:sym typeface="Montserrat"/>
            </a:endParaRPr>
          </a:p>
          <a:p>
            <a:pPr indent="0" lvl="0" marL="914400" rtl="0" algn="l">
              <a:lnSpc>
                <a:spcPct val="115000"/>
              </a:lnSpc>
              <a:spcBef>
                <a:spcPts val="1000"/>
              </a:spcBef>
              <a:spcAft>
                <a:spcPts val="0"/>
              </a:spcAft>
              <a:buNone/>
            </a:pPr>
            <a:r>
              <a:rPr lang="en" sz="2300">
                <a:solidFill>
                  <a:srgbClr val="333333"/>
                </a:solidFill>
                <a:highlight>
                  <a:srgbClr val="FFFFFF"/>
                </a:highlight>
                <a:latin typeface="Montserrat"/>
                <a:ea typeface="Montserrat"/>
                <a:cs typeface="Montserrat"/>
                <a:sym typeface="Montserrat"/>
              </a:rPr>
              <a:t>Information security architects</a:t>
            </a:r>
            <a:endParaRPr sz="2300">
              <a:solidFill>
                <a:srgbClr val="333333"/>
              </a:solidFill>
              <a:highlight>
                <a:srgbClr val="FFFFFF"/>
              </a:highlight>
              <a:latin typeface="Montserrat"/>
              <a:ea typeface="Montserrat"/>
              <a:cs typeface="Montserrat"/>
              <a:sym typeface="Montserrat"/>
            </a:endParaRPr>
          </a:p>
          <a:p>
            <a:pPr indent="0" lvl="0" marL="0" rtl="0" algn="l">
              <a:lnSpc>
                <a:spcPct val="115000"/>
              </a:lnSpc>
              <a:spcBef>
                <a:spcPts val="1000"/>
              </a:spcBef>
              <a:spcAft>
                <a:spcPts val="1000"/>
              </a:spcAft>
              <a:buNone/>
            </a:pPr>
            <a:r>
              <a:rPr i="1" lang="en" sz="2500">
                <a:solidFill>
                  <a:srgbClr val="333333"/>
                </a:solidFill>
                <a:latin typeface="Montserrat"/>
                <a:ea typeface="Montserrat"/>
                <a:cs typeface="Montserrat"/>
                <a:sym typeface="Montserrat"/>
              </a:rPr>
              <a:t>                    </a:t>
            </a:r>
            <a:r>
              <a:rPr i="1" lang="en" sz="2500">
                <a:solidFill>
                  <a:schemeClr val="accent2"/>
                </a:solidFill>
                <a:latin typeface="Montserrat"/>
                <a:ea typeface="Montserrat"/>
                <a:cs typeface="Montserrat"/>
                <a:sym typeface="Montserrat"/>
              </a:rPr>
              <a:t>  </a:t>
            </a:r>
            <a:r>
              <a:rPr b="1" i="1" lang="en" sz="2500">
                <a:solidFill>
                  <a:schemeClr val="accent2"/>
                </a:solidFill>
                <a:latin typeface="Montserrat"/>
                <a:ea typeface="Montserrat"/>
                <a:cs typeface="Montserrat"/>
                <a:sym typeface="Montserrat"/>
              </a:rPr>
              <a:t>This list is not exhaustive!</a:t>
            </a:r>
            <a:endParaRPr b="1" i="1" sz="2500">
              <a:solidFill>
                <a:schemeClr val="accent2"/>
              </a:solidFill>
              <a:latin typeface="Montserrat"/>
              <a:ea typeface="Montserrat"/>
              <a:cs typeface="Montserrat"/>
              <a:sym typeface="Montserrat"/>
            </a:endParaRPr>
          </a:p>
        </p:txBody>
      </p:sp>
      <p:pic>
        <p:nvPicPr>
          <p:cNvPr id="192" name="Google Shape;192;p20"/>
          <p:cNvPicPr preferRelativeResize="0"/>
          <p:nvPr/>
        </p:nvPicPr>
        <p:blipFill>
          <a:blip r:embed="rId3">
            <a:alphaModFix/>
          </a:blip>
          <a:stretch>
            <a:fillRect/>
          </a:stretch>
        </p:blipFill>
        <p:spPr>
          <a:xfrm>
            <a:off x="3236925" y="739226"/>
            <a:ext cx="451701" cy="451701"/>
          </a:xfrm>
          <a:prstGeom prst="rect">
            <a:avLst/>
          </a:prstGeom>
          <a:noFill/>
          <a:ln>
            <a:noFill/>
          </a:ln>
        </p:spPr>
      </p:pic>
      <p:pic>
        <p:nvPicPr>
          <p:cNvPr id="193" name="Google Shape;193;p20"/>
          <p:cNvPicPr preferRelativeResize="0"/>
          <p:nvPr/>
        </p:nvPicPr>
        <p:blipFill>
          <a:blip r:embed="rId4">
            <a:alphaModFix/>
          </a:blip>
          <a:stretch>
            <a:fillRect/>
          </a:stretch>
        </p:blipFill>
        <p:spPr>
          <a:xfrm>
            <a:off x="5762650" y="1257750"/>
            <a:ext cx="334617" cy="356424"/>
          </a:xfrm>
          <a:prstGeom prst="rect">
            <a:avLst/>
          </a:prstGeom>
          <a:noFill/>
          <a:ln>
            <a:noFill/>
          </a:ln>
        </p:spPr>
      </p:pic>
      <p:pic>
        <p:nvPicPr>
          <p:cNvPr id="194" name="Google Shape;194;p20"/>
          <p:cNvPicPr preferRelativeResize="0"/>
          <p:nvPr/>
        </p:nvPicPr>
        <p:blipFill>
          <a:blip r:embed="rId5">
            <a:alphaModFix/>
          </a:blip>
          <a:stretch>
            <a:fillRect/>
          </a:stretch>
        </p:blipFill>
        <p:spPr>
          <a:xfrm>
            <a:off x="6062858" y="1347383"/>
            <a:ext cx="250467" cy="266793"/>
          </a:xfrm>
          <a:prstGeom prst="rect">
            <a:avLst/>
          </a:prstGeom>
          <a:noFill/>
          <a:ln>
            <a:noFill/>
          </a:ln>
        </p:spPr>
      </p:pic>
      <p:pic>
        <p:nvPicPr>
          <p:cNvPr id="195" name="Google Shape;195;p20"/>
          <p:cNvPicPr preferRelativeResize="0"/>
          <p:nvPr/>
        </p:nvPicPr>
        <p:blipFill>
          <a:blip r:embed="rId4">
            <a:alphaModFix/>
          </a:blip>
          <a:stretch>
            <a:fillRect/>
          </a:stretch>
        </p:blipFill>
        <p:spPr>
          <a:xfrm>
            <a:off x="4894918" y="1781225"/>
            <a:ext cx="368445" cy="356424"/>
          </a:xfrm>
          <a:prstGeom prst="rect">
            <a:avLst/>
          </a:prstGeom>
          <a:noFill/>
          <a:ln>
            <a:noFill/>
          </a:ln>
        </p:spPr>
      </p:pic>
      <p:pic>
        <p:nvPicPr>
          <p:cNvPr id="196" name="Google Shape;196;p20"/>
          <p:cNvPicPr preferRelativeResize="0"/>
          <p:nvPr/>
        </p:nvPicPr>
        <p:blipFill>
          <a:blip r:embed="rId6">
            <a:alphaModFix/>
          </a:blip>
          <a:stretch>
            <a:fillRect/>
          </a:stretch>
        </p:blipFill>
        <p:spPr>
          <a:xfrm>
            <a:off x="4615363" y="1795276"/>
            <a:ext cx="339396" cy="328323"/>
          </a:xfrm>
          <a:prstGeom prst="rect">
            <a:avLst/>
          </a:prstGeom>
          <a:noFill/>
          <a:ln>
            <a:noFill/>
          </a:ln>
        </p:spPr>
      </p:pic>
      <p:pic>
        <p:nvPicPr>
          <p:cNvPr id="197" name="Google Shape;197;p20"/>
          <p:cNvPicPr preferRelativeResize="0"/>
          <p:nvPr/>
        </p:nvPicPr>
        <p:blipFill>
          <a:blip r:embed="rId7">
            <a:alphaModFix/>
          </a:blip>
          <a:stretch>
            <a:fillRect/>
          </a:stretch>
        </p:blipFill>
        <p:spPr>
          <a:xfrm>
            <a:off x="6905650" y="2237750"/>
            <a:ext cx="451701" cy="451701"/>
          </a:xfrm>
          <a:prstGeom prst="rect">
            <a:avLst/>
          </a:prstGeom>
          <a:noFill/>
          <a:ln>
            <a:noFill/>
          </a:ln>
        </p:spPr>
      </p:pic>
      <p:pic>
        <p:nvPicPr>
          <p:cNvPr id="198" name="Google Shape;198;p20"/>
          <p:cNvPicPr preferRelativeResize="0"/>
          <p:nvPr/>
        </p:nvPicPr>
        <p:blipFill>
          <a:blip r:embed="rId8">
            <a:alphaModFix/>
          </a:blip>
          <a:stretch>
            <a:fillRect/>
          </a:stretch>
        </p:blipFill>
        <p:spPr>
          <a:xfrm>
            <a:off x="4559213" y="2670373"/>
            <a:ext cx="451701" cy="451701"/>
          </a:xfrm>
          <a:prstGeom prst="rect">
            <a:avLst/>
          </a:prstGeom>
          <a:noFill/>
          <a:ln>
            <a:noFill/>
          </a:ln>
        </p:spPr>
      </p:pic>
      <p:pic>
        <p:nvPicPr>
          <p:cNvPr id="199" name="Google Shape;199;p20"/>
          <p:cNvPicPr preferRelativeResize="0"/>
          <p:nvPr/>
        </p:nvPicPr>
        <p:blipFill>
          <a:blip r:embed="rId9">
            <a:alphaModFix/>
          </a:blip>
          <a:stretch>
            <a:fillRect/>
          </a:stretch>
        </p:blipFill>
        <p:spPr>
          <a:xfrm>
            <a:off x="5865375" y="3171025"/>
            <a:ext cx="523800" cy="523800"/>
          </a:xfrm>
          <a:prstGeom prst="rect">
            <a:avLst/>
          </a:prstGeom>
          <a:noFill/>
          <a:ln>
            <a:noFill/>
          </a:ln>
        </p:spPr>
      </p:pic>
      <p:pic>
        <p:nvPicPr>
          <p:cNvPr id="200" name="Google Shape;200;p20"/>
          <p:cNvPicPr preferRelativeResize="0"/>
          <p:nvPr/>
        </p:nvPicPr>
        <p:blipFill>
          <a:blip r:embed="rId10">
            <a:alphaModFix/>
          </a:blip>
          <a:stretch>
            <a:fillRect/>
          </a:stretch>
        </p:blipFill>
        <p:spPr>
          <a:xfrm>
            <a:off x="3679525" y="3600775"/>
            <a:ext cx="523800" cy="523800"/>
          </a:xfrm>
          <a:prstGeom prst="rect">
            <a:avLst/>
          </a:prstGeom>
          <a:noFill/>
          <a:ln>
            <a:noFill/>
          </a:ln>
        </p:spPr>
      </p:pic>
      <p:pic>
        <p:nvPicPr>
          <p:cNvPr id="201" name="Google Shape;201;p20"/>
          <p:cNvPicPr preferRelativeResize="0"/>
          <p:nvPr/>
        </p:nvPicPr>
        <p:blipFill>
          <a:blip r:embed="rId11">
            <a:alphaModFix/>
          </a:blip>
          <a:stretch>
            <a:fillRect/>
          </a:stretch>
        </p:blipFill>
        <p:spPr>
          <a:xfrm>
            <a:off x="5645577" y="4111120"/>
            <a:ext cx="451701" cy="45170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txBox="1"/>
          <p:nvPr>
            <p:ph type="title"/>
          </p:nvPr>
        </p:nvSpPr>
        <p:spPr>
          <a:xfrm>
            <a:off x="1297500" y="393750"/>
            <a:ext cx="78072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rPr>
              <a:t>Legal Counsel familiar with AI</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None/>
            </a:pPr>
            <a:r>
              <a:rPr lang="en" sz="3490">
                <a:solidFill>
                  <a:schemeClr val="dk1"/>
                </a:solidFill>
              </a:rPr>
              <a:t>U</a:t>
            </a:r>
            <a:r>
              <a:rPr lang="en" sz="3490">
                <a:solidFill>
                  <a:schemeClr val="dk1"/>
                </a:solidFill>
              </a:rPr>
              <a:t>nderstands AI and rapidly changing laws </a:t>
            </a:r>
            <a:endParaRPr sz="3490">
              <a:solidFill>
                <a:schemeClr val="dk1"/>
              </a:solidFill>
            </a:endParaRPr>
          </a:p>
        </p:txBody>
      </p:sp>
      <p:pic>
        <p:nvPicPr>
          <p:cNvPr id="207" name="Google Shape;207;p21"/>
          <p:cNvPicPr preferRelativeResize="0"/>
          <p:nvPr/>
        </p:nvPicPr>
        <p:blipFill>
          <a:blip r:embed="rId3">
            <a:alphaModFix/>
          </a:blip>
          <a:stretch>
            <a:fillRect/>
          </a:stretch>
        </p:blipFill>
        <p:spPr>
          <a:xfrm>
            <a:off x="6260725" y="2571750"/>
            <a:ext cx="2162826" cy="21628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type="title"/>
          </p:nvPr>
        </p:nvSpPr>
        <p:spPr>
          <a:xfrm>
            <a:off x="1297500" y="393750"/>
            <a:ext cx="78072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rPr>
              <a:t>Policy</a:t>
            </a:r>
            <a:r>
              <a:rPr lang="en" sz="3490">
                <a:solidFill>
                  <a:schemeClr val="dk1"/>
                </a:solidFill>
              </a:rPr>
              <a:t> and governance analyst</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None/>
            </a:pPr>
            <a:r>
              <a:rPr lang="en" sz="3490">
                <a:solidFill>
                  <a:schemeClr val="dk1"/>
                </a:solidFill>
              </a:rPr>
              <a:t>D</a:t>
            </a:r>
            <a:r>
              <a:rPr lang="en" sz="3490">
                <a:solidFill>
                  <a:schemeClr val="dk1"/>
                </a:solidFill>
              </a:rPr>
              <a:t>raft internal policies on appropriate AI uses</a:t>
            </a:r>
            <a:endParaRPr sz="3490">
              <a:solidFill>
                <a:schemeClr val="dk1"/>
              </a:solidFill>
            </a:endParaRPr>
          </a:p>
        </p:txBody>
      </p:sp>
      <p:pic>
        <p:nvPicPr>
          <p:cNvPr id="213" name="Google Shape;213;p22"/>
          <p:cNvPicPr preferRelativeResize="0"/>
          <p:nvPr/>
        </p:nvPicPr>
        <p:blipFill>
          <a:blip r:embed="rId3">
            <a:alphaModFix/>
          </a:blip>
          <a:stretch>
            <a:fillRect/>
          </a:stretch>
        </p:blipFill>
        <p:spPr>
          <a:xfrm>
            <a:off x="5448937" y="2703962"/>
            <a:ext cx="1905486" cy="1905486"/>
          </a:xfrm>
          <a:prstGeom prst="rect">
            <a:avLst/>
          </a:prstGeom>
          <a:noFill/>
          <a:ln>
            <a:noFill/>
          </a:ln>
        </p:spPr>
      </p:pic>
      <p:pic>
        <p:nvPicPr>
          <p:cNvPr id="214" name="Google Shape;214;p22"/>
          <p:cNvPicPr preferRelativeResize="0"/>
          <p:nvPr/>
        </p:nvPicPr>
        <p:blipFill>
          <a:blip r:embed="rId4">
            <a:alphaModFix/>
          </a:blip>
          <a:stretch>
            <a:fillRect/>
          </a:stretch>
        </p:blipFill>
        <p:spPr>
          <a:xfrm>
            <a:off x="7158476" y="3183151"/>
            <a:ext cx="1426299" cy="14262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3"/>
          <p:cNvSpPr txBox="1"/>
          <p:nvPr>
            <p:ph type="title"/>
          </p:nvPr>
        </p:nvSpPr>
        <p:spPr>
          <a:xfrm>
            <a:off x="1297500" y="393750"/>
            <a:ext cx="78072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rPr>
              <a:t>Data protection officer</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Clr>
                <a:schemeClr val="dk1"/>
              </a:buClr>
              <a:buSzPts val="1100"/>
              <a:buFont typeface="Arial"/>
              <a:buNone/>
            </a:pPr>
            <a:r>
              <a:rPr lang="en" sz="3490">
                <a:solidFill>
                  <a:schemeClr val="dk1"/>
                </a:solidFill>
              </a:rPr>
              <a:t>Implements </a:t>
            </a:r>
            <a:r>
              <a:rPr lang="en" sz="3490">
                <a:solidFill>
                  <a:schemeClr val="dk1"/>
                </a:solidFill>
              </a:rPr>
              <a:t>privacy-by-design principles for protected data concerns</a:t>
            </a:r>
            <a:endParaRPr sz="3490">
              <a:solidFill>
                <a:schemeClr val="dk1"/>
              </a:solidFill>
            </a:endParaRPr>
          </a:p>
        </p:txBody>
      </p:sp>
      <p:pic>
        <p:nvPicPr>
          <p:cNvPr id="220" name="Google Shape;220;p23"/>
          <p:cNvPicPr preferRelativeResize="0"/>
          <p:nvPr/>
        </p:nvPicPr>
        <p:blipFill>
          <a:blip r:embed="rId3">
            <a:alphaModFix/>
          </a:blip>
          <a:stretch>
            <a:fillRect/>
          </a:stretch>
        </p:blipFill>
        <p:spPr>
          <a:xfrm>
            <a:off x="6312125" y="2857500"/>
            <a:ext cx="1858851" cy="1858851"/>
          </a:xfrm>
          <a:prstGeom prst="rect">
            <a:avLst/>
          </a:prstGeom>
          <a:noFill/>
          <a:ln>
            <a:noFill/>
          </a:ln>
        </p:spPr>
      </p:pic>
      <p:pic>
        <p:nvPicPr>
          <p:cNvPr id="221" name="Google Shape;221;p23"/>
          <p:cNvPicPr preferRelativeResize="0"/>
          <p:nvPr/>
        </p:nvPicPr>
        <p:blipFill>
          <a:blip r:embed="rId4">
            <a:alphaModFix/>
          </a:blip>
          <a:stretch>
            <a:fillRect/>
          </a:stretch>
        </p:blipFill>
        <p:spPr>
          <a:xfrm>
            <a:off x="4901725" y="2930775"/>
            <a:ext cx="1712301" cy="17123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4"/>
          <p:cNvSpPr txBox="1"/>
          <p:nvPr>
            <p:ph type="title"/>
          </p:nvPr>
        </p:nvSpPr>
        <p:spPr>
          <a:xfrm>
            <a:off x="1190625" y="393750"/>
            <a:ext cx="79140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rPr>
              <a:t>Ethicist</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None/>
            </a:pPr>
            <a:r>
              <a:rPr lang="en" sz="3490">
                <a:solidFill>
                  <a:schemeClr val="dk1"/>
                </a:solidFill>
              </a:rPr>
              <a:t>P</a:t>
            </a:r>
            <a:r>
              <a:rPr lang="en" sz="3490">
                <a:solidFill>
                  <a:schemeClr val="dk1"/>
                </a:solidFill>
              </a:rPr>
              <a:t>rovide guidance on ethical issues and review systems for potential biases, risks</a:t>
            </a:r>
            <a:endParaRPr sz="3490">
              <a:solidFill>
                <a:schemeClr val="dk1"/>
              </a:solidFill>
            </a:endParaRPr>
          </a:p>
        </p:txBody>
      </p:sp>
      <p:pic>
        <p:nvPicPr>
          <p:cNvPr id="227" name="Google Shape;227;p24"/>
          <p:cNvPicPr preferRelativeResize="0"/>
          <p:nvPr/>
        </p:nvPicPr>
        <p:blipFill>
          <a:blip r:embed="rId3">
            <a:alphaModFix/>
          </a:blip>
          <a:stretch>
            <a:fillRect/>
          </a:stretch>
        </p:blipFill>
        <p:spPr>
          <a:xfrm>
            <a:off x="4451075" y="2773225"/>
            <a:ext cx="2162925" cy="2162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type="title"/>
          </p:nvPr>
        </p:nvSpPr>
        <p:spPr>
          <a:xfrm>
            <a:off x="1282200" y="393750"/>
            <a:ext cx="75102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rPr>
              <a:t>Trainer/Educator</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None/>
            </a:pPr>
            <a:r>
              <a:rPr lang="en" sz="3490">
                <a:solidFill>
                  <a:schemeClr val="dk1"/>
                </a:solidFill>
              </a:rPr>
              <a:t>C</a:t>
            </a:r>
            <a:r>
              <a:rPr lang="en" sz="3490">
                <a:solidFill>
                  <a:schemeClr val="dk1"/>
                </a:solidFill>
              </a:rPr>
              <a:t>reate and run programs aimed at keeping all employees aware of responsibilities</a:t>
            </a:r>
            <a:endParaRPr sz="3490">
              <a:solidFill>
                <a:schemeClr val="dk1"/>
              </a:solidFill>
            </a:endParaRPr>
          </a:p>
        </p:txBody>
      </p:sp>
      <p:pic>
        <p:nvPicPr>
          <p:cNvPr id="233" name="Google Shape;233;p25"/>
          <p:cNvPicPr preferRelativeResize="0"/>
          <p:nvPr/>
        </p:nvPicPr>
        <p:blipFill>
          <a:blip r:embed="rId3">
            <a:alphaModFix/>
          </a:blip>
          <a:stretch>
            <a:fillRect/>
          </a:stretch>
        </p:blipFill>
        <p:spPr>
          <a:xfrm>
            <a:off x="5414600" y="2839175"/>
            <a:ext cx="2078649" cy="20786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6"/>
          <p:cNvSpPr txBox="1"/>
          <p:nvPr>
            <p:ph type="title"/>
          </p:nvPr>
        </p:nvSpPr>
        <p:spPr>
          <a:xfrm>
            <a:off x="1114325" y="393750"/>
            <a:ext cx="78072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rPr>
              <a:t>Oversight committee member</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None/>
            </a:pPr>
            <a:r>
              <a:rPr lang="en" sz="3190">
                <a:solidFill>
                  <a:schemeClr val="dk1"/>
                </a:solidFill>
              </a:rPr>
              <a:t>M</a:t>
            </a:r>
            <a:r>
              <a:rPr lang="en" sz="3190">
                <a:solidFill>
                  <a:schemeClr val="dk1"/>
                </a:solidFill>
              </a:rPr>
              <a:t>ake sure researchers are protecting the welfare, rights, and privacy of research subjects.</a:t>
            </a:r>
            <a:endParaRPr sz="3190">
              <a:solidFill>
                <a:schemeClr val="dk1"/>
              </a:solidFill>
            </a:endParaRPr>
          </a:p>
        </p:txBody>
      </p:sp>
      <p:pic>
        <p:nvPicPr>
          <p:cNvPr id="239" name="Google Shape;239;p26"/>
          <p:cNvPicPr preferRelativeResize="0"/>
          <p:nvPr/>
        </p:nvPicPr>
        <p:blipFill>
          <a:blip r:embed="rId3">
            <a:alphaModFix/>
          </a:blip>
          <a:stretch>
            <a:fillRect/>
          </a:stretch>
        </p:blipFill>
        <p:spPr>
          <a:xfrm>
            <a:off x="6874850" y="3058975"/>
            <a:ext cx="1657350" cy="1657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7"/>
          <p:cNvSpPr txBox="1"/>
          <p:nvPr>
            <p:ph type="title"/>
          </p:nvPr>
        </p:nvSpPr>
        <p:spPr>
          <a:xfrm>
            <a:off x="1077675" y="393750"/>
            <a:ext cx="78072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rPr>
              <a:t>Technical Expert</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None/>
            </a:pPr>
            <a:r>
              <a:rPr lang="en" sz="3490">
                <a:solidFill>
                  <a:schemeClr val="dk1"/>
                </a:solidFill>
              </a:rPr>
              <a:t>O</a:t>
            </a:r>
            <a:r>
              <a:rPr lang="en" sz="3490">
                <a:solidFill>
                  <a:schemeClr val="dk1"/>
                </a:solidFill>
              </a:rPr>
              <a:t>ffer advice on the algorithms, data, and computational infrastructure</a:t>
            </a:r>
            <a:endParaRPr sz="3490">
              <a:solidFill>
                <a:schemeClr val="dk1"/>
              </a:solidFill>
            </a:endParaRPr>
          </a:p>
        </p:txBody>
      </p:sp>
      <p:pic>
        <p:nvPicPr>
          <p:cNvPr id="245" name="Google Shape;245;p27"/>
          <p:cNvPicPr preferRelativeResize="0"/>
          <p:nvPr/>
        </p:nvPicPr>
        <p:blipFill>
          <a:blip r:embed="rId3">
            <a:alphaModFix/>
          </a:blip>
          <a:stretch>
            <a:fillRect/>
          </a:stretch>
        </p:blipFill>
        <p:spPr>
          <a:xfrm>
            <a:off x="6688000" y="2571750"/>
            <a:ext cx="1961424" cy="19614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8"/>
          <p:cNvSpPr txBox="1"/>
          <p:nvPr>
            <p:ph type="title"/>
          </p:nvPr>
        </p:nvSpPr>
        <p:spPr>
          <a:xfrm>
            <a:off x="1297500" y="393750"/>
            <a:ext cx="77238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rPr>
              <a:t>Information security architect</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Clr>
                <a:schemeClr val="dk1"/>
              </a:buClr>
              <a:buSzPts val="1100"/>
              <a:buFont typeface="Arial"/>
              <a:buNone/>
            </a:pPr>
            <a:r>
              <a:rPr lang="en" sz="3490">
                <a:solidFill>
                  <a:schemeClr val="dk1"/>
                </a:solidFill>
              </a:rPr>
              <a:t>I</a:t>
            </a:r>
            <a:r>
              <a:rPr lang="en" sz="3490">
                <a:solidFill>
                  <a:schemeClr val="dk1"/>
                </a:solidFill>
              </a:rPr>
              <a:t>dentifying and mitigating the security risks associated with AI systems</a:t>
            </a:r>
            <a:endParaRPr sz="3490">
              <a:solidFill>
                <a:schemeClr val="dk1"/>
              </a:solidFill>
            </a:endParaRPr>
          </a:p>
        </p:txBody>
      </p:sp>
      <p:pic>
        <p:nvPicPr>
          <p:cNvPr id="251" name="Google Shape;251;p28"/>
          <p:cNvPicPr preferRelativeResize="0"/>
          <p:nvPr/>
        </p:nvPicPr>
        <p:blipFill>
          <a:blip r:embed="rId3">
            <a:alphaModFix/>
          </a:blip>
          <a:stretch>
            <a:fillRect/>
          </a:stretch>
        </p:blipFill>
        <p:spPr>
          <a:xfrm>
            <a:off x="3970628" y="2692650"/>
            <a:ext cx="2377551" cy="2377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9"/>
          <p:cNvSpPr txBox="1"/>
          <p:nvPr>
            <p:ph type="title"/>
          </p:nvPr>
        </p:nvSpPr>
        <p:spPr>
          <a:xfrm>
            <a:off x="1297500" y="393750"/>
            <a:ext cx="78072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rPr>
              <a:t>A balanced team with both strategic and technical expertise is vital</a:t>
            </a:r>
            <a:endParaRPr sz="2690">
              <a:solidFill>
                <a:schemeClr val="dk1"/>
              </a:solidFill>
            </a:endParaRPr>
          </a:p>
        </p:txBody>
      </p:sp>
      <p:pic>
        <p:nvPicPr>
          <p:cNvPr id="257" name="Google Shape;257;p29"/>
          <p:cNvPicPr preferRelativeResize="0"/>
          <p:nvPr/>
        </p:nvPicPr>
        <p:blipFill>
          <a:blip r:embed="rId3">
            <a:alphaModFix/>
          </a:blip>
          <a:stretch>
            <a:fillRect/>
          </a:stretch>
        </p:blipFill>
        <p:spPr>
          <a:xfrm>
            <a:off x="3377550" y="1764150"/>
            <a:ext cx="3159525" cy="3159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