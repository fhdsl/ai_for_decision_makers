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aigh eye</a:t>
            </a:r>
            <a:r>
              <a:rPr lang="en" sz="1200">
                <a:solidFill>
                  <a:srgbClr val="333333"/>
                </a:solidFill>
                <a:highlight>
                  <a:srgbClr val="FFFFFF"/>
                </a:highlight>
              </a:rPr>
              <a:t> tools are already changing how we work, and they will continue to do so for years. Creating an </a:t>
            </a:r>
            <a:r>
              <a:rPr lang="en">
                <a:solidFill>
                  <a:schemeClr val="dk1"/>
                </a:solidFill>
              </a:rPr>
              <a:t>aigh eye</a:t>
            </a:r>
            <a:r>
              <a:rPr lang="en" sz="1200">
                <a:solidFill>
                  <a:srgbClr val="333333"/>
                </a:solidFill>
                <a:highlight>
                  <a:srgbClr val="FFFFFF"/>
                </a:highlight>
              </a:rPr>
              <a:t> policy for your organization can help your employees confidently navigate this new work landscape.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Except where otherwise indicated, the contents of this video are available for use under C C B Y 4 point 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3830f99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3830f99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thoughts and ideas presented in this course are not to be substituted for legal or ethical advice. They are only meant to give you a starting point for gathering information about </a:t>
            </a:r>
            <a:r>
              <a:rPr lang="en">
                <a:solidFill>
                  <a:schemeClr val="dk1"/>
                </a:solidFill>
              </a:rPr>
              <a:t>aigh eye</a:t>
            </a:r>
            <a:r>
              <a:rPr lang="en"/>
              <a:t> policy and regulations to consider.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42a7f2d76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42a7f2d76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Big technological shifts always trigger a period of explosive growth where the technology and what’s possible changes incredibly quickly. We’re in that stage right now with </a:t>
            </a:r>
            <a:r>
              <a:rPr lang="en">
                <a:solidFill>
                  <a:schemeClr val="dk1"/>
                </a:solidFill>
              </a:rPr>
              <a:t>aigh eye</a:t>
            </a:r>
            <a:r>
              <a:rPr lang="en"/>
              <a:t> systems. Everyone is curious, scared, and interested in </a:t>
            </a:r>
            <a:r>
              <a:rPr lang="en">
                <a:solidFill>
                  <a:schemeClr val="dk1"/>
                </a:solidFill>
              </a:rPr>
              <a:t>aigh eye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a847b11aec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a847b11aec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Chat G P T accumulated 100 million users in 2 months, which is faster than many other major apps.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a847b11aec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a847b11aec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future workforce is using </a:t>
            </a:r>
            <a:r>
              <a:rPr lang="en">
                <a:solidFill>
                  <a:schemeClr val="dk1"/>
                </a:solidFill>
              </a:rPr>
              <a:t>aigh eye</a:t>
            </a:r>
            <a:r>
              <a:rPr lang="en"/>
              <a:t> and bans will not be effective. Over 40% of university students use Chat G P T for coursework.</a:t>
            </a:r>
            <a:endParaRPr/>
          </a:p>
          <a:p>
            <a:pPr indent="0" lvl="0" marL="0" rtl="0" algn="l">
              <a:spcBef>
                <a:spcPts val="0"/>
              </a:spcBef>
              <a:spcAft>
                <a:spcPts val="0"/>
              </a:spcAft>
              <a:buClr>
                <a:schemeClr val="dk1"/>
              </a:buClr>
              <a:buSzPts val="1100"/>
              <a:buFont typeface="Arial"/>
              <a:buNone/>
            </a:pPr>
            <a:r>
              <a:rPr lang="en"/>
              <a:t>39% of prospective students say they wouldn’t consider going to a college that banned Chat G P T and other El eI ems.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3830f997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a3830f997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33333"/>
                </a:solidFill>
                <a:highlight>
                  <a:srgbClr val="FFFFFF"/>
                </a:highlight>
              </a:rPr>
              <a:t>Each month regularly brings new opportunities and surprises, many of which we can’t anticipate and require organizations to adapt quickly. Everyone is using </a:t>
            </a:r>
            <a:r>
              <a:rPr lang="en">
                <a:solidFill>
                  <a:schemeClr val="dk1"/>
                </a:solidFill>
              </a:rPr>
              <a:t>aigh eye</a:t>
            </a:r>
            <a:r>
              <a:rPr lang="en" sz="1200">
                <a:solidFill>
                  <a:srgbClr val="333333"/>
                </a:solidFill>
                <a:highlight>
                  <a:srgbClr val="FFFFFF"/>
                </a:highlight>
              </a:rPr>
              <a:t> but not everyone knows how to use it properly. The rapid changes are making new capabilities feasible while also bringing to light new and unique concerns. How can we keep up with what is appropriate for </a:t>
            </a:r>
            <a:r>
              <a:rPr lang="en">
                <a:solidFill>
                  <a:schemeClr val="dk1"/>
                </a:solidFill>
              </a:rPr>
              <a:t>aigh eye</a:t>
            </a:r>
            <a:r>
              <a:rPr lang="en" sz="1200">
                <a:solidFill>
                  <a:srgbClr val="333333"/>
                </a:solidFill>
                <a:highlight>
                  <a:srgbClr val="FFFFFF"/>
                </a:highlight>
              </a:rPr>
              <a:t> use?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642a7f2d76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642a7f2d76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a:t>
            </a:r>
            <a:r>
              <a:rPr lang="en">
                <a:solidFill>
                  <a:schemeClr val="dk1"/>
                </a:solidFill>
              </a:rPr>
              <a:t>dopting this new technology at the right time and in a way that minimizes mistakes and bad outcomes can make great things happen for your organization.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It’s a bit like catching the tail of a rocket ship that just being launched, but catching it in a way that doesn’t burn you to a crisp.</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cf1264c74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cf1264c74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New technology </a:t>
            </a:r>
            <a:r>
              <a:rPr lang="en"/>
              <a:t>adoption</a:t>
            </a:r>
            <a:r>
              <a:rPr lang="en"/>
              <a:t> is scary, and while caution is advisable, all-out bans are not practical. </a:t>
            </a:r>
            <a:r>
              <a:rPr lang="en"/>
              <a:t>Thirty or so years ago, we had a similar technological shift with the advent of the Internet. At the time, using the Internet for common, everyday tasks was a big deal, and there was fear about how it would change how we work. Now, we have accepted the Internet as a way of life and it’s a normal experience to look things up on Google or shop on the internet. In 30 years, </a:t>
            </a:r>
            <a:r>
              <a:rPr lang="en">
                <a:solidFill>
                  <a:schemeClr val="dk1"/>
                </a:solidFill>
              </a:rPr>
              <a:t>aigh eye</a:t>
            </a:r>
            <a:r>
              <a:rPr lang="en"/>
              <a:t> systems will be the same.</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a3830f997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a3830f997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Employees will use aigh eye and this will make them more effective. Thoughtful aigh eye</a:t>
            </a:r>
            <a:r>
              <a:rPr lang="en">
                <a:solidFill>
                  <a:schemeClr val="dk1"/>
                </a:solidFill>
              </a:rPr>
              <a:t> </a:t>
            </a:r>
            <a:r>
              <a:rPr lang="en">
                <a:solidFill>
                  <a:schemeClr val="dk1"/>
                </a:solidFill>
              </a:rPr>
              <a:t>policies can balance your employees’ use with safety and security measures.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364425" y="1578375"/>
            <a:ext cx="53922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Why do I need an AI policy?</a:t>
            </a:r>
            <a:endParaRPr sz="3988"/>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idx="4294967295" type="title"/>
          </p:nvPr>
        </p:nvSpPr>
        <p:spPr>
          <a:xfrm>
            <a:off x="230700" y="1003350"/>
            <a:ext cx="8793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990"/>
              <a:buFont typeface="Arial"/>
              <a:buNone/>
            </a:pPr>
            <a:r>
              <a:rPr b="1" lang="en">
                <a:solidFill>
                  <a:srgbClr val="333333"/>
                </a:solidFill>
                <a:highlight>
                  <a:srgbClr val="FFFFFF"/>
                </a:highlight>
              </a:rPr>
              <a:t>Disclaimer:</a:t>
            </a:r>
            <a:r>
              <a:rPr lang="en">
                <a:solidFill>
                  <a:srgbClr val="333333"/>
                </a:solidFill>
                <a:highlight>
                  <a:srgbClr val="FFFFFF"/>
                </a:highlight>
              </a:rPr>
              <a:t> The thoughts and ideas presented in this course are not to be substituted for legal or ethical advice and are only meant to give you a starting point for gathering information about AI policy and regulations to consider.</a:t>
            </a:r>
            <a:endParaRPr/>
          </a:p>
        </p:txBody>
      </p:sp>
      <p:sp>
        <p:nvSpPr>
          <p:cNvPr id="170" name="Google Shape;170;p17"/>
          <p:cNvSpPr/>
          <p:nvPr/>
        </p:nvSpPr>
        <p:spPr>
          <a:xfrm>
            <a:off x="0" y="791300"/>
            <a:ext cx="9144000" cy="26016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1" name="Google Shape;171;p17"/>
          <p:cNvSpPr/>
          <p:nvPr/>
        </p:nvSpPr>
        <p:spPr>
          <a:xfrm>
            <a:off x="76200" y="867500"/>
            <a:ext cx="8948400" cy="24537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266175" y="673775"/>
            <a:ext cx="8565000" cy="113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highlight>
                  <a:srgbClr val="FFFFFF"/>
                </a:highlight>
              </a:rPr>
              <a:t>AI systems are in a period of explosive growth</a:t>
            </a:r>
            <a:endParaRPr sz="2690">
              <a:solidFill>
                <a:schemeClr val="dk1"/>
              </a:solidFill>
              <a:highlight>
                <a:srgbClr val="FFFFFF"/>
              </a:highlight>
            </a:endParaRPr>
          </a:p>
        </p:txBody>
      </p:sp>
      <p:pic>
        <p:nvPicPr>
          <p:cNvPr id="177" name="Google Shape;177;p18"/>
          <p:cNvPicPr preferRelativeResize="0"/>
          <p:nvPr/>
        </p:nvPicPr>
        <p:blipFill>
          <a:blip r:embed="rId3">
            <a:alphaModFix/>
          </a:blip>
          <a:stretch>
            <a:fillRect/>
          </a:stretch>
        </p:blipFill>
        <p:spPr>
          <a:xfrm>
            <a:off x="509348" y="2189600"/>
            <a:ext cx="6950226" cy="2276149"/>
          </a:xfrm>
          <a:prstGeom prst="rect">
            <a:avLst/>
          </a:prstGeom>
          <a:noFill/>
          <a:ln>
            <a:noFill/>
          </a:ln>
        </p:spPr>
      </p:pic>
      <p:sp>
        <p:nvSpPr>
          <p:cNvPr id="178" name="Google Shape;178;p18"/>
          <p:cNvSpPr txBox="1"/>
          <p:nvPr/>
        </p:nvSpPr>
        <p:spPr>
          <a:xfrm>
            <a:off x="747125" y="3066075"/>
            <a:ext cx="4339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latin typeface="Lato"/>
                <a:ea typeface="Lato"/>
                <a:cs typeface="Lato"/>
                <a:sym typeface="Lato"/>
              </a:rPr>
              <a:t>Google searches for “AI” </a:t>
            </a:r>
            <a:endParaRPr b="1" sz="22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9"/>
          <p:cNvSpPr txBox="1"/>
          <p:nvPr>
            <p:ph type="title"/>
          </p:nvPr>
        </p:nvSpPr>
        <p:spPr>
          <a:xfrm>
            <a:off x="0" y="4713050"/>
            <a:ext cx="7556100" cy="35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1100"/>
              <a:t>https://twitter.com/EconomyApp/status/1622029832099082241?ref=assemblyai.com</a:t>
            </a:r>
            <a:endParaRPr sz="1100"/>
          </a:p>
        </p:txBody>
      </p:sp>
      <p:pic>
        <p:nvPicPr>
          <p:cNvPr id="184" name="Google Shape;184;p19"/>
          <p:cNvPicPr preferRelativeResize="0"/>
          <p:nvPr/>
        </p:nvPicPr>
        <p:blipFill>
          <a:blip r:embed="rId3">
            <a:alphaModFix/>
          </a:blip>
          <a:stretch>
            <a:fillRect/>
          </a:stretch>
        </p:blipFill>
        <p:spPr>
          <a:xfrm>
            <a:off x="540250" y="152400"/>
            <a:ext cx="7848516" cy="4408250"/>
          </a:xfrm>
          <a:prstGeom prst="rect">
            <a:avLst/>
          </a:prstGeom>
          <a:noFill/>
          <a:ln>
            <a:noFill/>
          </a:ln>
        </p:spPr>
      </p:pic>
      <p:sp>
        <p:nvSpPr>
          <p:cNvPr id="185" name="Google Shape;185;p19"/>
          <p:cNvSpPr/>
          <p:nvPr/>
        </p:nvSpPr>
        <p:spPr>
          <a:xfrm>
            <a:off x="7457850" y="1337550"/>
            <a:ext cx="466200" cy="1357800"/>
          </a:xfrm>
          <a:prstGeom prst="downArrow">
            <a:avLst>
              <a:gd fmla="val 50000" name="adj1"/>
              <a:gd fmla="val 50000" name="adj2"/>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ph type="title"/>
          </p:nvPr>
        </p:nvSpPr>
        <p:spPr>
          <a:xfrm>
            <a:off x="466125" y="567450"/>
            <a:ext cx="7883400" cy="4195200"/>
          </a:xfrm>
          <a:prstGeom prst="rect">
            <a:avLst/>
          </a:prstGeom>
        </p:spPr>
        <p:txBody>
          <a:bodyPr anchorCtr="0" anchor="ctr" bIns="91425" lIns="91425" spcFirstLastPara="1" rIns="91425" wrap="square" tIns="91425">
            <a:noAutofit/>
          </a:bodyPr>
          <a:lstStyle/>
          <a:p>
            <a:pPr indent="0" lvl="0" marL="0" rtl="0" algn="l">
              <a:lnSpc>
                <a:spcPct val="115000"/>
              </a:lnSpc>
              <a:spcBef>
                <a:spcPts val="1800"/>
              </a:spcBef>
              <a:spcAft>
                <a:spcPts val="0"/>
              </a:spcAft>
              <a:buNone/>
            </a:pPr>
            <a:r>
              <a:rPr b="1" lang="en" sz="2500">
                <a:solidFill>
                  <a:srgbClr val="232323"/>
                </a:solidFill>
                <a:highlight>
                  <a:srgbClr val="FFFFFF"/>
                </a:highlight>
              </a:rPr>
              <a:t>The future workforce is using AI and bans are not effective:</a:t>
            </a:r>
            <a:endParaRPr b="1" sz="2500">
              <a:solidFill>
                <a:srgbClr val="232323"/>
              </a:solidFill>
              <a:highlight>
                <a:srgbClr val="FFFFFF"/>
              </a:highlight>
            </a:endParaRPr>
          </a:p>
          <a:p>
            <a:pPr indent="-387350" lvl="0" marL="457200" rtl="0" algn="l">
              <a:lnSpc>
                <a:spcPct val="115000"/>
              </a:lnSpc>
              <a:spcBef>
                <a:spcPts val="1800"/>
              </a:spcBef>
              <a:spcAft>
                <a:spcPts val="0"/>
              </a:spcAft>
              <a:buClr>
                <a:srgbClr val="232323"/>
              </a:buClr>
              <a:buSzPts val="2500"/>
              <a:buFont typeface="Lato"/>
              <a:buChar char="●"/>
            </a:pPr>
            <a:r>
              <a:rPr b="1" lang="en" sz="2500">
                <a:solidFill>
                  <a:srgbClr val="232323"/>
                </a:solidFill>
                <a:highlight>
                  <a:srgbClr val="FFFFFF"/>
                </a:highlight>
                <a:latin typeface="Lato"/>
                <a:ea typeface="Lato"/>
                <a:cs typeface="Lato"/>
                <a:sym typeface="Lato"/>
              </a:rPr>
              <a:t>Over 40%</a:t>
            </a:r>
            <a:r>
              <a:rPr lang="en" sz="2500">
                <a:solidFill>
                  <a:srgbClr val="232323"/>
                </a:solidFill>
                <a:highlight>
                  <a:srgbClr val="FFFFFF"/>
                </a:highlight>
                <a:latin typeface="Lato"/>
                <a:ea typeface="Lato"/>
                <a:cs typeface="Lato"/>
                <a:sym typeface="Lato"/>
              </a:rPr>
              <a:t> of university students use ChatGPT for coursework.</a:t>
            </a:r>
            <a:endParaRPr sz="2500">
              <a:solidFill>
                <a:srgbClr val="232323"/>
              </a:solidFill>
              <a:highlight>
                <a:srgbClr val="FFFFFF"/>
              </a:highlight>
              <a:latin typeface="Lato"/>
              <a:ea typeface="Lato"/>
              <a:cs typeface="Lato"/>
              <a:sym typeface="Lato"/>
            </a:endParaRPr>
          </a:p>
          <a:p>
            <a:pPr indent="-387350" lvl="0" marL="457200" rtl="0" algn="l">
              <a:lnSpc>
                <a:spcPct val="115000"/>
              </a:lnSpc>
              <a:spcBef>
                <a:spcPts val="0"/>
              </a:spcBef>
              <a:spcAft>
                <a:spcPts val="0"/>
              </a:spcAft>
              <a:buClr>
                <a:srgbClr val="232323"/>
              </a:buClr>
              <a:buSzPts val="2500"/>
              <a:buFont typeface="Lato"/>
              <a:buChar char="●"/>
            </a:pPr>
            <a:r>
              <a:rPr b="1" lang="en" sz="2500">
                <a:solidFill>
                  <a:srgbClr val="232323"/>
                </a:solidFill>
                <a:highlight>
                  <a:srgbClr val="FFFFFF"/>
                </a:highlight>
                <a:latin typeface="Lato"/>
                <a:ea typeface="Lato"/>
                <a:cs typeface="Lato"/>
                <a:sym typeface="Lato"/>
              </a:rPr>
              <a:t>39% of prospective students</a:t>
            </a:r>
            <a:r>
              <a:rPr lang="en" sz="2500">
                <a:solidFill>
                  <a:srgbClr val="232323"/>
                </a:solidFill>
                <a:highlight>
                  <a:srgbClr val="FFFFFF"/>
                </a:highlight>
                <a:latin typeface="Lato"/>
                <a:ea typeface="Lato"/>
                <a:cs typeface="Lato"/>
                <a:sym typeface="Lato"/>
              </a:rPr>
              <a:t> say they wouldn’t consider going to a college that banned ChatGPT and other AI</a:t>
            </a:r>
            <a:endParaRPr sz="2500">
              <a:solidFill>
                <a:srgbClr val="232323"/>
              </a:solidFill>
              <a:highlight>
                <a:srgbClr val="FFFFFF"/>
              </a:highlight>
              <a:latin typeface="Lato"/>
              <a:ea typeface="Lato"/>
              <a:cs typeface="Lato"/>
              <a:sym typeface="Lato"/>
            </a:endParaRPr>
          </a:p>
          <a:p>
            <a:pPr indent="0" lvl="0" marL="0" rtl="0" algn="l">
              <a:lnSpc>
                <a:spcPct val="115000"/>
              </a:lnSpc>
              <a:spcBef>
                <a:spcPts val="1800"/>
              </a:spcBef>
              <a:spcAft>
                <a:spcPts val="0"/>
              </a:spcAft>
              <a:buNone/>
            </a:pPr>
            <a:r>
              <a:t/>
            </a:r>
            <a:endParaRPr sz="2500">
              <a:solidFill>
                <a:srgbClr val="232323"/>
              </a:solidFill>
              <a:highlight>
                <a:srgbClr val="FFFFFF"/>
              </a:highlight>
              <a:latin typeface="Lato"/>
              <a:ea typeface="Lato"/>
              <a:cs typeface="Lato"/>
              <a:sym typeface="Lato"/>
            </a:endParaRPr>
          </a:p>
          <a:p>
            <a:pPr indent="0" lvl="0" marL="0" rtl="0" algn="l">
              <a:lnSpc>
                <a:spcPct val="115000"/>
              </a:lnSpc>
              <a:spcBef>
                <a:spcPts val="1800"/>
              </a:spcBef>
              <a:spcAft>
                <a:spcPts val="1800"/>
              </a:spcAft>
              <a:buNone/>
            </a:pPr>
            <a:r>
              <a:rPr lang="en" sz="1400">
                <a:solidFill>
                  <a:srgbClr val="232323"/>
                </a:solidFill>
                <a:highlight>
                  <a:srgbClr val="FFFFFF"/>
                </a:highlight>
                <a:latin typeface="Lato"/>
                <a:ea typeface="Lato"/>
                <a:cs typeface="Lato"/>
                <a:sym typeface="Lato"/>
              </a:rPr>
              <a:t>https://study.com/resources/chatgpt-in-the-classroom</a:t>
            </a:r>
            <a:endParaRPr sz="1400">
              <a:solidFill>
                <a:srgbClr val="232323"/>
              </a:solidFill>
              <a:highlight>
                <a:srgbClr val="FFFFFF"/>
              </a:highlight>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96" name="Google Shape;196;p21"/>
          <p:cNvSpPr txBox="1"/>
          <p:nvPr>
            <p:ph idx="4294967295" type="title"/>
          </p:nvPr>
        </p:nvSpPr>
        <p:spPr>
          <a:xfrm>
            <a:off x="418425" y="932225"/>
            <a:ext cx="7723800" cy="163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lt1"/>
              </a:buClr>
              <a:buSzPct val="30091"/>
              <a:buFont typeface="Arial"/>
              <a:buNone/>
            </a:pPr>
            <a:r>
              <a:rPr lang="en" sz="3290">
                <a:solidFill>
                  <a:schemeClr val="dk1"/>
                </a:solidFill>
              </a:rPr>
              <a:t>Everyone is using it – but no one knows how to use it properly. </a:t>
            </a:r>
            <a:endParaRPr sz="3290">
              <a:solidFill>
                <a:schemeClr val="dk1"/>
              </a:solidFill>
            </a:endParaRPr>
          </a:p>
          <a:p>
            <a:pPr indent="0" lvl="0" marL="0" rtl="0" algn="l">
              <a:spcBef>
                <a:spcPts val="0"/>
              </a:spcBef>
              <a:spcAft>
                <a:spcPts val="0"/>
              </a:spcAft>
              <a:buClr>
                <a:schemeClr val="lt1"/>
              </a:buClr>
              <a:buSzPct val="30091"/>
              <a:buFont typeface="Arial"/>
              <a:buNone/>
            </a:pPr>
            <a:r>
              <a:t/>
            </a:r>
            <a:endParaRPr sz="3290">
              <a:solidFill>
                <a:schemeClr val="dk1"/>
              </a:solidFill>
            </a:endParaRPr>
          </a:p>
          <a:p>
            <a:pPr indent="0" lvl="0" marL="0" rtl="0" algn="l">
              <a:spcBef>
                <a:spcPts val="0"/>
              </a:spcBef>
              <a:spcAft>
                <a:spcPts val="0"/>
              </a:spcAft>
              <a:buClr>
                <a:schemeClr val="lt1"/>
              </a:buClr>
              <a:buSzPct val="30091"/>
              <a:buFont typeface="Arial"/>
              <a:buNone/>
            </a:pPr>
            <a:r>
              <a:rPr lang="en" sz="3290">
                <a:solidFill>
                  <a:schemeClr val="dk1"/>
                </a:solidFill>
              </a:rPr>
              <a:t>In this rapidly changing environment how can we know what is appropriate for AI usage?</a:t>
            </a:r>
            <a:endParaRPr sz="3290">
              <a:solidFill>
                <a:schemeClr val="dk1"/>
              </a:solidFill>
            </a:endParaRPr>
          </a:p>
          <a:p>
            <a:pPr indent="0" lvl="0" marL="0" rtl="0" algn="l">
              <a:spcBef>
                <a:spcPts val="0"/>
              </a:spcBef>
              <a:spcAft>
                <a:spcPts val="0"/>
              </a:spcAft>
              <a:buClr>
                <a:schemeClr val="lt1"/>
              </a:buClr>
              <a:buSzPct val="30091"/>
              <a:buFont typeface="Arial"/>
              <a:buNone/>
            </a:pPr>
            <a:r>
              <a:t/>
            </a:r>
            <a:endParaRPr sz="3290">
              <a:solidFill>
                <a:schemeClr val="dk1"/>
              </a:solidFill>
            </a:endParaRPr>
          </a:p>
          <a:p>
            <a:pPr indent="0" lvl="0" marL="0" rtl="0" algn="l">
              <a:spcBef>
                <a:spcPts val="0"/>
              </a:spcBef>
              <a:spcAft>
                <a:spcPts val="0"/>
              </a:spcAft>
              <a:buClr>
                <a:schemeClr val="lt1"/>
              </a:buClr>
              <a:buSzPct val="30091"/>
              <a:buFont typeface="Arial"/>
              <a:buNone/>
            </a:pPr>
            <a:r>
              <a:t/>
            </a:r>
            <a:endParaRPr sz="329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 from StableDiffusionXL on Poe.com</a:t>
            </a:r>
            <a:endParaRPr/>
          </a:p>
        </p:txBody>
      </p:sp>
      <p:sp>
        <p:nvSpPr>
          <p:cNvPr id="202" name="Google Shape;202;p22"/>
          <p:cNvSpPr txBox="1"/>
          <p:nvPr>
            <p:ph idx="4294967295" type="title"/>
          </p:nvPr>
        </p:nvSpPr>
        <p:spPr>
          <a:xfrm>
            <a:off x="266175" y="741175"/>
            <a:ext cx="4305900" cy="11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Adopting AI systems at the right time can benefit your organization</a:t>
            </a:r>
            <a:endParaRPr sz="2690">
              <a:solidFill>
                <a:schemeClr val="dk1"/>
              </a:solidFill>
            </a:endParaRPr>
          </a:p>
        </p:txBody>
      </p:sp>
      <p:pic>
        <p:nvPicPr>
          <p:cNvPr id="203" name="Google Shape;203;p22"/>
          <p:cNvPicPr preferRelativeResize="0"/>
          <p:nvPr/>
        </p:nvPicPr>
        <p:blipFill>
          <a:blip r:embed="rId3">
            <a:alphaModFix/>
          </a:blip>
          <a:stretch>
            <a:fillRect/>
          </a:stretch>
        </p:blipFill>
        <p:spPr>
          <a:xfrm>
            <a:off x="4038600" y="76200"/>
            <a:ext cx="4838700"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3"/>
          <p:cNvSpPr txBox="1"/>
          <p:nvPr>
            <p:ph type="title"/>
          </p:nvPr>
        </p:nvSpPr>
        <p:spPr>
          <a:xfrm>
            <a:off x="1053825" y="170850"/>
            <a:ext cx="7962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lt1"/>
              </a:buClr>
              <a:buSzPct val="28366"/>
              <a:buFont typeface="Arial"/>
              <a:buNone/>
            </a:pPr>
            <a:r>
              <a:rPr lang="en" sz="3490">
                <a:solidFill>
                  <a:schemeClr val="dk1"/>
                </a:solidFill>
              </a:rPr>
              <a:t>New technology </a:t>
            </a:r>
            <a:r>
              <a:rPr lang="en" sz="3490">
                <a:solidFill>
                  <a:schemeClr val="dk1"/>
                </a:solidFill>
              </a:rPr>
              <a:t>adoption</a:t>
            </a:r>
            <a:r>
              <a:rPr lang="en" sz="3490">
                <a:solidFill>
                  <a:schemeClr val="dk1"/>
                </a:solidFill>
              </a:rPr>
              <a:t> is scary</a:t>
            </a:r>
            <a:endParaRPr sz="3490">
              <a:solidFill>
                <a:schemeClr val="dk1"/>
              </a:solidFill>
            </a:endParaRPr>
          </a:p>
          <a:p>
            <a:pPr indent="0" lvl="0" marL="0" rtl="0" algn="l">
              <a:spcBef>
                <a:spcPts val="0"/>
              </a:spcBef>
              <a:spcAft>
                <a:spcPts val="0"/>
              </a:spcAft>
              <a:buClr>
                <a:schemeClr val="lt1"/>
              </a:buClr>
              <a:buSzPct val="28366"/>
              <a:buFont typeface="Arial"/>
              <a:buNone/>
            </a:pPr>
            <a:r>
              <a:t/>
            </a:r>
            <a:endParaRPr sz="3490">
              <a:solidFill>
                <a:schemeClr val="dk1"/>
              </a:solidFill>
            </a:endParaRPr>
          </a:p>
        </p:txBody>
      </p:sp>
      <p:pic>
        <p:nvPicPr>
          <p:cNvPr id="209" name="Google Shape;209;p23"/>
          <p:cNvPicPr preferRelativeResize="0"/>
          <p:nvPr/>
        </p:nvPicPr>
        <p:blipFill>
          <a:blip r:embed="rId3">
            <a:alphaModFix/>
          </a:blip>
          <a:stretch>
            <a:fillRect/>
          </a:stretch>
        </p:blipFill>
        <p:spPr>
          <a:xfrm>
            <a:off x="1292688" y="806325"/>
            <a:ext cx="6558622" cy="3530849"/>
          </a:xfrm>
          <a:prstGeom prst="rect">
            <a:avLst/>
          </a:prstGeom>
          <a:noFill/>
          <a:ln>
            <a:noFill/>
          </a:ln>
        </p:spPr>
      </p:pic>
      <p:sp>
        <p:nvSpPr>
          <p:cNvPr id="210" name="Google Shape;210;p23"/>
          <p:cNvSpPr txBox="1"/>
          <p:nvPr>
            <p:ph type="title"/>
          </p:nvPr>
        </p:nvSpPr>
        <p:spPr>
          <a:xfrm>
            <a:off x="304000" y="4337175"/>
            <a:ext cx="8712600" cy="80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891"/>
              <a:buFont typeface="Arial"/>
              <a:buNone/>
            </a:pPr>
            <a:r>
              <a:rPr lang="en" sz="2641">
                <a:solidFill>
                  <a:schemeClr val="dk1"/>
                </a:solidFill>
              </a:rPr>
              <a:t>Caution is advisable; all out bans are not practical</a:t>
            </a:r>
            <a:endParaRPr sz="2641">
              <a:solidFill>
                <a:schemeClr val="dk1"/>
              </a:solidFill>
            </a:endParaRPr>
          </a:p>
          <a:p>
            <a:pPr indent="0" lvl="0" marL="0" rtl="0" algn="l">
              <a:spcBef>
                <a:spcPts val="0"/>
              </a:spcBef>
              <a:spcAft>
                <a:spcPts val="0"/>
              </a:spcAft>
              <a:buClr>
                <a:schemeClr val="lt1"/>
              </a:buClr>
              <a:buSzPts val="891"/>
              <a:buFont typeface="Arial"/>
              <a:buNone/>
            </a:pPr>
            <a:r>
              <a:rPr lang="en" sz="1241">
                <a:solidFill>
                  <a:schemeClr val="dk1"/>
                </a:solidFill>
              </a:rPr>
              <a:t>https://medium.com/pronouncedkyle/new-technology-is-always-scary-8bf977a13773</a:t>
            </a:r>
            <a:endParaRPr sz="1241">
              <a:solidFill>
                <a:schemeClr val="dk1"/>
              </a:solidFill>
            </a:endParaRPr>
          </a:p>
          <a:p>
            <a:pPr indent="0" lvl="0" marL="0" rtl="0" algn="l">
              <a:spcBef>
                <a:spcPts val="0"/>
              </a:spcBef>
              <a:spcAft>
                <a:spcPts val="0"/>
              </a:spcAft>
              <a:buClr>
                <a:schemeClr val="lt1"/>
              </a:buClr>
              <a:buSzPts val="891"/>
              <a:buFont typeface="Arial"/>
              <a:buNone/>
            </a:pPr>
            <a:r>
              <a:t/>
            </a:r>
            <a:endParaRPr sz="264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4"/>
          <p:cNvSpPr txBox="1"/>
          <p:nvPr>
            <p:ph type="title"/>
          </p:nvPr>
        </p:nvSpPr>
        <p:spPr>
          <a:xfrm>
            <a:off x="266175" y="1274575"/>
            <a:ext cx="8671200" cy="262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highlight>
                  <a:srgbClr val="FFFFFF"/>
                </a:highlight>
              </a:rPr>
              <a:t>Employees </a:t>
            </a:r>
            <a:r>
              <a:rPr b="1" lang="en" sz="3490" u="sng">
                <a:solidFill>
                  <a:schemeClr val="dk1"/>
                </a:solidFill>
                <a:highlight>
                  <a:srgbClr val="FFFFFF"/>
                </a:highlight>
              </a:rPr>
              <a:t>will use</a:t>
            </a:r>
            <a:r>
              <a:rPr lang="en" sz="3490">
                <a:solidFill>
                  <a:schemeClr val="dk1"/>
                </a:solidFill>
                <a:highlight>
                  <a:srgbClr val="FFFFFF"/>
                </a:highlight>
              </a:rPr>
              <a:t> AI – and this can make them more effective!</a:t>
            </a:r>
            <a:endParaRPr sz="3490">
              <a:solidFill>
                <a:schemeClr val="dk1"/>
              </a:solidFill>
              <a:highlight>
                <a:srgbClr val="FFFFFF"/>
              </a:highlight>
            </a:endParaRPr>
          </a:p>
          <a:p>
            <a:pPr indent="0" lvl="0" marL="0" rtl="0" algn="l">
              <a:spcBef>
                <a:spcPts val="0"/>
              </a:spcBef>
              <a:spcAft>
                <a:spcPts val="0"/>
              </a:spcAft>
              <a:buSzPts val="990"/>
              <a:buNone/>
            </a:pPr>
            <a:r>
              <a:t/>
            </a:r>
            <a:endParaRPr sz="3490">
              <a:solidFill>
                <a:schemeClr val="dk1"/>
              </a:solidFill>
              <a:highlight>
                <a:srgbClr val="FFFFFF"/>
              </a:highlight>
            </a:endParaRPr>
          </a:p>
          <a:p>
            <a:pPr indent="0" lvl="0" marL="0" rtl="0" algn="l">
              <a:spcBef>
                <a:spcPts val="0"/>
              </a:spcBef>
              <a:spcAft>
                <a:spcPts val="0"/>
              </a:spcAft>
              <a:buSzPts val="990"/>
              <a:buNone/>
            </a:pPr>
            <a:r>
              <a:rPr lang="en" sz="3490">
                <a:solidFill>
                  <a:schemeClr val="dk1"/>
                </a:solidFill>
                <a:highlight>
                  <a:srgbClr val="FFFFFF"/>
                </a:highlight>
              </a:rPr>
              <a:t>But, AI policies can balance their use with safety and security measures</a:t>
            </a:r>
            <a:endParaRPr sz="3490">
              <a:solidFill>
                <a:schemeClr val="dk1"/>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