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B80F8E7-B656-48E8-BDD9-CA8F38D6F824}">
  <a:tblStyle styleId="{5B80F8E7-B656-48E8-BDD9-CA8F38D6F82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chapter we will discussed customized security solutions for eh I tools.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This page describes the terms of use for this content.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a642e30eae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a642e30eae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Customized security needs are perhaps one of the largest barriers keeping individuals in certain fields from using AI tools to their full potential. There are many legitimate reasons certain commercial AI tools cannot and should not be used with protected data.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Commercial AI products often do not have data use agreements. At this time, they do not necessarily have to tell you what they do with your data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a7074cd2cf_3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a7074cd2cf_3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rgbClr val="FF0000"/>
                </a:solidFill>
                <a:highlight>
                  <a:schemeClr val="lt1"/>
                </a:highlight>
              </a:rPr>
              <a:t>Protected data needs should always be taken seriously! Before employing any AI solutions that involve protected data consult your legal experts and IRB!</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a642e30eae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a642e30eae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 all data types are safe to share for a variety of reasons. To protect patients or customers, Personal Identifiable Information (PII) Protected Health Information (PHI) cannot be used with online AI services or shared with others. Controlled Unclassified Information is another type of protected data that may be related to national security matters.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a642e30eae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a642e30eae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But protected data projects could highly benefit from eh I! Eh I analysis tools as helpful diagnostic aids for use with health data, imaging data, genomic data. Eh I chatbots as an aid for financial or health guidance for patients or customers. Eh I to help detect when protected data has been leaked.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a642e30ea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a642e30ea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Protected data might be useful as training data for a problem and/or patients or customers may want to input data into a secure eh I tool.</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ed48fdd46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ed48fdd46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we dive into AI related solutions, it's a good idea that we remind ourselves of some of the best practices for data privacy</a:t>
            </a:r>
            <a:endParaRPr/>
          </a:p>
          <a:p>
            <a:pPr indent="0" lvl="0" marL="0" rtl="0" algn="l">
              <a:spcBef>
                <a:spcPts val="0"/>
              </a:spcBef>
              <a:spcAft>
                <a:spcPts val="0"/>
              </a:spcAft>
              <a:buClr>
                <a:schemeClr val="dk1"/>
              </a:buClr>
              <a:buSzPts val="1100"/>
              <a:buFont typeface="Arial"/>
              <a:buNone/>
            </a:pPr>
            <a:r>
              <a:rPr lang="en"/>
              <a:t>- Fewest individuals have access to the data as possible</a:t>
            </a:r>
            <a:endParaRPr/>
          </a:p>
          <a:p>
            <a:pPr indent="0" lvl="0" marL="0" rtl="0" algn="l">
              <a:spcBef>
                <a:spcPts val="0"/>
              </a:spcBef>
              <a:spcAft>
                <a:spcPts val="0"/>
              </a:spcAft>
              <a:buClr>
                <a:schemeClr val="dk1"/>
              </a:buClr>
              <a:buSzPts val="1100"/>
              <a:buFont typeface="Arial"/>
              <a:buNone/>
            </a:pPr>
            <a:r>
              <a:rPr lang="en"/>
              <a:t>- Least privileges as needed to complete a task. This is known as the "principles of least privilege".</a:t>
            </a:r>
            <a:endParaRPr/>
          </a:p>
          <a:p>
            <a:pPr indent="0" lvl="0" marL="0" rtl="0" algn="l">
              <a:spcBef>
                <a:spcPts val="0"/>
              </a:spcBef>
              <a:spcAft>
                <a:spcPts val="0"/>
              </a:spcAft>
              <a:buClr>
                <a:schemeClr val="dk1"/>
              </a:buClr>
              <a:buSzPts val="1100"/>
              <a:buFont typeface="Arial"/>
              <a:buNone/>
            </a:pPr>
            <a:r>
              <a:rPr lang="en"/>
              <a:t>- Individuals who do have access should have to provide authentication to make sure only authorized individuals can see the data.</a:t>
            </a:r>
            <a:endParaRPr/>
          </a:p>
          <a:p>
            <a:pPr indent="0" lvl="0" marL="0" rtl="0" algn="l">
              <a:spcBef>
                <a:spcPts val="0"/>
              </a:spcBef>
              <a:spcAft>
                <a:spcPts val="0"/>
              </a:spcAft>
              <a:buClr>
                <a:schemeClr val="dk1"/>
              </a:buClr>
              <a:buSzPts val="1100"/>
              <a:buFont typeface="Arial"/>
              <a:buNone/>
            </a:pPr>
            <a:r>
              <a:rPr lang="en"/>
              <a:t>- Data use agreements need to be used when individuals need to be added to the authorized list</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a642e30eae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a642e30eae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Solutions exist for AI tools for protected data -- some require more careful planning thought and expertise. Here we have ordered these example strategies in order of least to most investment.</a:t>
            </a:r>
            <a:endParaRPr/>
          </a:p>
          <a:p>
            <a:pPr indent="0" lvl="0" marL="0" rtl="0" algn="l">
              <a:spcBef>
                <a:spcPts val="0"/>
              </a:spcBef>
              <a:spcAft>
                <a:spcPts val="0"/>
              </a:spcAft>
              <a:buClr>
                <a:schemeClr val="dk1"/>
              </a:buClr>
              <a:buSzPts val="1100"/>
              <a:buFont typeface="Arial"/>
              <a:buNone/>
            </a:pPr>
            <a:r>
              <a:rPr lang="en"/>
              <a:t>Whenever possible consult data security and legal experts to be sure that you are not exposing patients or customers' data and risking their privacy or finances.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Use AI services that keep data private -- some AI tools have specialized tools that allow you to keep data private. Be sure to carefully read their terms of use to gain an understanding of how they keep the data secure. Consult security</a:t>
            </a:r>
            <a:endParaRPr/>
          </a:p>
          <a:p>
            <a:pPr indent="0" lvl="0" marL="0" rtl="0" algn="l">
              <a:spcBef>
                <a:spcPts val="0"/>
              </a:spcBef>
              <a:spcAft>
                <a:spcPts val="0"/>
              </a:spcAft>
              <a:buClr>
                <a:schemeClr val="dk1"/>
              </a:buClr>
              <a:buSzPts val="1100"/>
              <a:buFont typeface="Arial"/>
              <a:buNone/>
            </a:pPr>
            <a:r>
              <a:rPr lang="en"/>
              <a:t>- Obscure protected data type by hand and use AI models. In some cases this is not possible to do and still have meaningful data. And, care must be taken to make sure that data it thoroughly and properly secured.</a:t>
            </a:r>
            <a:endParaRPr/>
          </a:p>
          <a:p>
            <a:pPr indent="0" lvl="0" marL="0" rtl="0" algn="l">
              <a:spcBef>
                <a:spcPts val="0"/>
              </a:spcBef>
              <a:spcAft>
                <a:spcPts val="0"/>
              </a:spcAft>
              <a:buClr>
                <a:schemeClr val="dk1"/>
              </a:buClr>
              <a:buSzPts val="1100"/>
              <a:buFont typeface="Arial"/>
              <a:buNone/>
            </a:pPr>
            <a:r>
              <a:rPr lang="en"/>
              <a:t>- Deploy existing model on secure servers. This takes the most technical expertise to carry out.</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ed48fdd46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1ed48fdd46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Whether you have an AI service perform this or you do it yourself (or both) there are multiple strategies for obscuring data. It is often not a bad idea to employ multiple safety nets to keep data safe.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In summary, here's just a few of the techniques that can help make data sharing HIPAA compliant. Data Aggregation - summarize values to a higher level of grouping. Data Masking - Replace data with symbols. Data Anonymization - Replace data with fake data. Data Redaction - Remove the sensitive data</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fb980df1e9a8f0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fb980df1e9a8f0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toy example will illustrate roughly how a given technique may obscure the original data in the top row. This can give you a sense that some types of data are better for certain types of obscuring methods than others. But this also depends on what your goals for your AI project are. Keep in mind that data anonymization may be more difficult with smaller datasets because of a concept called K anonymity. This principles means that you need to make sure that k number of individuals share the same attributes so that it is nearly impossible to identify any specific subject.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ed48fdd461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1ed48fdd461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strategy you choose should definitely include these two questions: </a:t>
            </a:r>
            <a:endParaRPr/>
          </a:p>
          <a:p>
            <a:pPr indent="0" lvl="0" marL="0" rtl="0" algn="l">
              <a:spcBef>
                <a:spcPts val="0"/>
              </a:spcBef>
              <a:spcAft>
                <a:spcPts val="0"/>
              </a:spcAft>
              <a:buClr>
                <a:schemeClr val="dk1"/>
              </a:buClr>
              <a:buSzPts val="1100"/>
              <a:buFont typeface="Arial"/>
              <a:buNone/>
            </a:pPr>
            <a:r>
              <a:rPr lang="en"/>
              <a:t>1) What protected items are included in your data </a:t>
            </a:r>
            <a:endParaRPr/>
          </a:p>
          <a:p>
            <a:pPr indent="0" lvl="0" marL="0" rtl="0" algn="l">
              <a:spcBef>
                <a:spcPts val="0"/>
              </a:spcBef>
              <a:spcAft>
                <a:spcPts val="0"/>
              </a:spcAft>
              <a:buClr>
                <a:schemeClr val="dk1"/>
              </a:buClr>
              <a:buSzPts val="1100"/>
              <a:buFont typeface="Arial"/>
              <a:buNone/>
            </a:pPr>
            <a:r>
              <a:rPr lang="en"/>
              <a:t>2) Your goals with said data with AI -- what is the minimum amount of information you could include in the AI model or input in order to achieve the desired goals? </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a642e30eae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a642e30eae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table below we show three examples illustrating example strategies for using AI tools with protected data. These examples are in the order of least to most amount of technical expertise needed to implement.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ed48fdd461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1ed48fdd461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PrivateAI is a platform that allows you to use various AI models with private data. It works by detecting and redacting information that is likely protected like PII and PHI. It also has containerization options that allow you to run AI but not on their or other's servers. It requires the least technical expertise to implement, but care must be taken to make sure that it will properly deal with your project's particular type of protected data.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ed48fdd461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1ed48fdd461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Deidentify</a:t>
            </a:r>
            <a:r>
              <a:rPr lang="en"/>
              <a:t>is a Python package that can assist with deidentifying medical records using natural language programming. This is illustrative of one way you might attempt to deidentify data before using it with AI tools. Care must be taken to make sure that the deidentification process is thorough. You may also want to couple this with other tools that can detect PII or PHI data before you submit to an AI tool. As always you will want to make sure that it properly handles your project's data and that before you submit the data you've deidentified you have other reputable sources double or triple check that no protected information is being leaked.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ed48fdd461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1ed48fdd461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Amazon web services (and its competitors) generally offer HIPAA compliant computing solutions. Whether you use this service, an institutional cluster, or some other server is a decision you will have to make on a case by case basis. But regardless, this is the most technically involved solution. This is most likely the strategy you'd need to employ if security is not your *only* customization you need. In this instance you would borrow a model and set up from HuggingFace and build your AI tool more or less from scratch (but don't build the model from scratch)</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a642e30eae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a642e30eae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opposed to other types of AI customizations, the strategies we've discussed in this chapter are the most imperative that you get cleared through the proper channels before deploying (if you do this incorrectly it may be illegal). It is a matter of privacy and safety for patients/customers that you get this right. So it makes sent to check with your in-house experts like institutional review boards and data security experts!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7561746" y="4517201"/>
            <a:ext cx="1147827" cy="5061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1">
    <p:spTree>
      <p:nvGrpSpPr>
        <p:cNvPr id="20" name="Shape 20"/>
        <p:cNvGrpSpPr/>
        <p:nvPr/>
      </p:nvGrpSpPr>
      <p:grpSpPr>
        <a:xfrm>
          <a:off x="0" y="0"/>
          <a:ext cx="0" cy="0"/>
          <a:chOff x="0" y="0"/>
          <a:chExt cx="0" cy="0"/>
        </a:xfrm>
      </p:grpSpPr>
      <p:grpSp>
        <p:nvGrpSpPr>
          <p:cNvPr id="21" name="Google Shape;21;p3"/>
          <p:cNvGrpSpPr/>
          <p:nvPr/>
        </p:nvGrpSpPr>
        <p:grpSpPr>
          <a:xfrm>
            <a:off x="0" y="490"/>
            <a:ext cx="5153705" cy="5134399"/>
            <a:chOff x="0" y="75"/>
            <a:chExt cx="5153705" cy="5152950"/>
          </a:xfrm>
        </p:grpSpPr>
        <p:sp>
          <p:nvSpPr>
            <p:cNvPr id="22" name="Google Shape;22;p3"/>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28" name="Google Shape;28;p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29" name="Google Shape;29;p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30" name="Google Shape;30;p3"/>
          <p:cNvPicPr preferRelativeResize="0"/>
          <p:nvPr/>
        </p:nvPicPr>
        <p:blipFill rotWithShape="1">
          <a:blip r:embed="rId2">
            <a:alphaModFix/>
          </a:blip>
          <a:srcRect b="0" l="22785" r="21708" t="0"/>
          <a:stretch/>
        </p:blipFill>
        <p:spPr>
          <a:xfrm>
            <a:off x="6786250" y="4589350"/>
            <a:ext cx="2040327" cy="4615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grpSp>
        <p:nvGrpSpPr>
          <p:cNvPr id="32" name="Google Shape;32;p4"/>
          <p:cNvGrpSpPr/>
          <p:nvPr/>
        </p:nvGrpSpPr>
        <p:grpSpPr>
          <a:xfrm>
            <a:off x="4406400" y="0"/>
            <a:ext cx="4737600" cy="5143065"/>
            <a:chOff x="4406400" y="0"/>
            <a:chExt cx="4737600" cy="5143065"/>
          </a:xfrm>
        </p:grpSpPr>
        <p:sp>
          <p:nvSpPr>
            <p:cNvPr id="33" name="Google Shape;33;p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 name="Google Shape;51;p4"/>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4" name="Shape 54"/>
        <p:cNvGrpSpPr/>
        <p:nvPr/>
      </p:nvGrpSpPr>
      <p:grpSpPr>
        <a:xfrm>
          <a:off x="0" y="0"/>
          <a:ext cx="0" cy="0"/>
          <a:chOff x="0" y="0"/>
          <a:chExt cx="0" cy="0"/>
        </a:xfrm>
      </p:grpSpPr>
      <p:grpSp>
        <p:nvGrpSpPr>
          <p:cNvPr id="55" name="Google Shape;55;p5"/>
          <p:cNvGrpSpPr/>
          <p:nvPr/>
        </p:nvGrpSpPr>
        <p:grpSpPr>
          <a:xfrm>
            <a:off x="0" y="381001"/>
            <a:ext cx="1037850" cy="1016287"/>
            <a:chOff x="0" y="381001"/>
            <a:chExt cx="1037850" cy="1016287"/>
          </a:xfrm>
        </p:grpSpPr>
        <p:sp>
          <p:nvSpPr>
            <p:cNvPr id="56" name="Google Shape;56;p5"/>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 name="Google Shape;58;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9" name="Google Shape;59;p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60" name="Google Shape;60;p5"/>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5"/>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 name="Shape 62"/>
        <p:cNvGrpSpPr/>
        <p:nvPr/>
      </p:nvGrpSpPr>
      <p:grpSpPr>
        <a:xfrm>
          <a:off x="0" y="0"/>
          <a:ext cx="0" cy="0"/>
          <a:chOff x="0" y="0"/>
          <a:chExt cx="0" cy="0"/>
        </a:xfrm>
      </p:grpSpPr>
      <p:sp>
        <p:nvSpPr>
          <p:cNvPr id="63" name="Google Shape;63;p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4" name="Google Shape;64;p6"/>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chemeClr val="hlink"/>
                </a:solidFill>
                <a:latin typeface="Lato"/>
                <a:ea typeface="Lato"/>
                <a:cs typeface="Lato"/>
                <a:sym typeface="Lato"/>
                <a:hlinkClick r:id="rId2"/>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Fred Hutchinson Cancer Center Data Science Lab. </a:t>
            </a:r>
            <a:r>
              <a:rPr lang="en" u="sng">
                <a:solidFill>
                  <a:schemeClr val="hlink"/>
                </a:solidFill>
                <a:latin typeface="Lato"/>
                <a:ea typeface="Lato"/>
                <a:cs typeface="Lato"/>
                <a:sym typeface="Lato"/>
                <a:hlinkClick r:id="rId3"/>
              </a:rPr>
              <a:t>CC-BY 4.0</a:t>
            </a:r>
            <a:endParaRPr>
              <a:latin typeface="Lato"/>
              <a:ea typeface="Lato"/>
              <a:cs typeface="Lato"/>
              <a:sym typeface="Lato"/>
            </a:endParaRPr>
          </a:p>
        </p:txBody>
      </p:sp>
      <p:pic>
        <p:nvPicPr>
          <p:cNvPr id="65" name="Google Shape;65;p6"/>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6" name="Google Shape;66;p6"/>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67" name="Google Shape;67;p6"/>
          <p:cNvGrpSpPr/>
          <p:nvPr/>
        </p:nvGrpSpPr>
        <p:grpSpPr>
          <a:xfrm>
            <a:off x="0" y="381001"/>
            <a:ext cx="1037850" cy="1016287"/>
            <a:chOff x="0" y="381001"/>
            <a:chExt cx="1037850" cy="1016287"/>
          </a:xfrm>
        </p:grpSpPr>
        <p:sp>
          <p:nvSpPr>
            <p:cNvPr id="68" name="Google Shape;68;p6"/>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7"/>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72" name="Google Shape;72;p7"/>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7"/>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74" name="Google Shape;74;p7"/>
          <p:cNvGrpSpPr/>
          <p:nvPr/>
        </p:nvGrpSpPr>
        <p:grpSpPr>
          <a:xfrm>
            <a:off x="0" y="381001"/>
            <a:ext cx="1037850" cy="1016287"/>
            <a:chOff x="0" y="381001"/>
            <a:chExt cx="1037850" cy="1016287"/>
          </a:xfrm>
        </p:grpSpPr>
        <p:sp>
          <p:nvSpPr>
            <p:cNvPr id="75" name="Google Shape;75;p7"/>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7"/>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 name="Shape 77"/>
        <p:cNvGrpSpPr/>
        <p:nvPr/>
      </p:nvGrpSpPr>
      <p:grpSpPr>
        <a:xfrm>
          <a:off x="0" y="0"/>
          <a:ext cx="0" cy="0"/>
          <a:chOff x="0" y="0"/>
          <a:chExt cx="0" cy="0"/>
        </a:xfrm>
      </p:grpSpPr>
      <p:sp>
        <p:nvSpPr>
          <p:cNvPr id="78" name="Google Shape;78;p8"/>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9" name="Google Shape;79;p8"/>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80" name="Google Shape;80;p8"/>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8"/>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82" name="Google Shape;82;p8"/>
          <p:cNvGrpSpPr/>
          <p:nvPr/>
        </p:nvGrpSpPr>
        <p:grpSpPr>
          <a:xfrm>
            <a:off x="0" y="381001"/>
            <a:ext cx="1037850" cy="1016287"/>
            <a:chOff x="0" y="381001"/>
            <a:chExt cx="1037850" cy="1016287"/>
          </a:xfrm>
        </p:grpSpPr>
        <p:sp>
          <p:nvSpPr>
            <p:cNvPr id="83" name="Google Shape;83;p8"/>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grpSp>
        <p:nvGrpSpPr>
          <p:cNvPr id="86" name="Google Shape;86;p9"/>
          <p:cNvGrpSpPr/>
          <p:nvPr/>
        </p:nvGrpSpPr>
        <p:grpSpPr>
          <a:xfrm>
            <a:off x="4406400" y="0"/>
            <a:ext cx="4737600" cy="5143500"/>
            <a:chOff x="4406400" y="0"/>
            <a:chExt cx="4737600" cy="5143500"/>
          </a:xfrm>
        </p:grpSpPr>
        <p:sp>
          <p:nvSpPr>
            <p:cNvPr id="87" name="Google Shape;87;p9"/>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9"/>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9"/>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9"/>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9"/>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9"/>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6908099" y="2069680"/>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9"/>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9"/>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9"/>
            <p:cNvSpPr/>
            <p:nvPr/>
          </p:nvSpPr>
          <p:spPr>
            <a:xfrm rot="-5400000">
              <a:off x="7227414" y="3711189"/>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9"/>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9"/>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9"/>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9"/>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6" name="Google Shape;106;p9"/>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9"/>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8" name="Shape 108"/>
        <p:cNvGrpSpPr/>
        <p:nvPr/>
      </p:nvGrpSpPr>
      <p:grpSpPr>
        <a:xfrm>
          <a:off x="0" y="0"/>
          <a:ext cx="0" cy="0"/>
          <a:chOff x="0" y="0"/>
          <a:chExt cx="0" cy="0"/>
        </a:xfrm>
      </p:grpSpPr>
      <p:sp>
        <p:nvSpPr>
          <p:cNvPr id="109" name="Google Shape;109;p10"/>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0" name="Google Shape;110;p10"/>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11" name="Google Shape;111;p10"/>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grpSp>
        <p:nvGrpSpPr>
          <p:cNvPr id="112" name="Google Shape;112;p10"/>
          <p:cNvGrpSpPr/>
          <p:nvPr/>
        </p:nvGrpSpPr>
        <p:grpSpPr>
          <a:xfrm>
            <a:off x="0" y="381001"/>
            <a:ext cx="1037850" cy="1016287"/>
            <a:chOff x="0" y="381001"/>
            <a:chExt cx="1037850" cy="1016287"/>
          </a:xfrm>
        </p:grpSpPr>
        <p:sp>
          <p:nvSpPr>
            <p:cNvPr id="113" name="Google Shape;113;p10"/>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0"/>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APTION_ONLY">
    <p:spTree>
      <p:nvGrpSpPr>
        <p:cNvPr id="115" name="Shape 115"/>
        <p:cNvGrpSpPr/>
        <p:nvPr/>
      </p:nvGrpSpPr>
      <p:grpSpPr>
        <a:xfrm>
          <a:off x="0" y="0"/>
          <a:ext cx="0" cy="0"/>
          <a:chOff x="0" y="0"/>
          <a:chExt cx="0" cy="0"/>
        </a:xfrm>
      </p:grpSpPr>
      <p:grpSp>
        <p:nvGrpSpPr>
          <p:cNvPr id="116" name="Google Shape;116;p11"/>
          <p:cNvGrpSpPr/>
          <p:nvPr/>
        </p:nvGrpSpPr>
        <p:grpSpPr>
          <a:xfrm>
            <a:off x="43237" y="4724428"/>
            <a:ext cx="428721" cy="393609"/>
            <a:chOff x="0" y="3785672"/>
            <a:chExt cx="698925" cy="684657"/>
          </a:xfrm>
        </p:grpSpPr>
        <p:sp>
          <p:nvSpPr>
            <p:cNvPr id="117" name="Google Shape;117;p11"/>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0" name="Google Shape;120;p11"/>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1"/>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2">
  <p:cSld name="CAPTION_ONLY_1">
    <p:spTree>
      <p:nvGrpSpPr>
        <p:cNvPr id="122" name="Shape 122"/>
        <p:cNvGrpSpPr/>
        <p:nvPr/>
      </p:nvGrpSpPr>
      <p:grpSpPr>
        <a:xfrm>
          <a:off x="0" y="0"/>
          <a:ext cx="0" cy="0"/>
          <a:chOff x="0" y="0"/>
          <a:chExt cx="0" cy="0"/>
        </a:xfrm>
      </p:grpSpPr>
      <p:sp>
        <p:nvSpPr>
          <p:cNvPr id="123" name="Google Shape;123;p12"/>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4" name="Google Shape;124;p1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5" name="Google Shape;125;p12"/>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pic>
        <p:nvPicPr>
          <p:cNvPr id="126" name="Google Shape;126;p12"/>
          <p:cNvPicPr preferRelativeResize="0"/>
          <p:nvPr/>
        </p:nvPicPr>
        <p:blipFill>
          <a:blip r:embed="rId2">
            <a:alphaModFix/>
          </a:blip>
          <a:stretch>
            <a:fillRect/>
          </a:stretch>
        </p:blipFill>
        <p:spPr>
          <a:xfrm>
            <a:off x="122450" y="4791197"/>
            <a:ext cx="295975" cy="29006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 name="Shape 127"/>
        <p:cNvGrpSpPr/>
        <p:nvPr/>
      </p:nvGrpSpPr>
      <p:grpSpPr>
        <a:xfrm>
          <a:off x="0" y="0"/>
          <a:ext cx="0" cy="0"/>
          <a:chOff x="0" y="0"/>
          <a:chExt cx="0" cy="0"/>
        </a:xfrm>
      </p:grpSpPr>
      <p:grpSp>
        <p:nvGrpSpPr>
          <p:cNvPr id="128" name="Google Shape;128;p13"/>
          <p:cNvGrpSpPr/>
          <p:nvPr/>
        </p:nvGrpSpPr>
        <p:grpSpPr>
          <a:xfrm>
            <a:off x="4406400" y="0"/>
            <a:ext cx="4737600" cy="5143065"/>
            <a:chOff x="4406400" y="0"/>
            <a:chExt cx="4737600" cy="5143065"/>
          </a:xfrm>
        </p:grpSpPr>
        <p:sp>
          <p:nvSpPr>
            <p:cNvPr id="129" name="Google Shape;129;p1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3"/>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3"/>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 name="Google Shape;147;p13"/>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48" name="Google Shape;148;p13"/>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49" name="Google Shape;149;p1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0" name="Google Shape;150;p13"/>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1" name="Shape 151"/>
        <p:cNvGrpSpPr/>
        <p:nvPr/>
      </p:nvGrpSpPr>
      <p:grpSpPr>
        <a:xfrm>
          <a:off x="0" y="0"/>
          <a:ext cx="0" cy="0"/>
          <a:chOff x="0" y="0"/>
          <a:chExt cx="0" cy="0"/>
        </a:xfrm>
      </p:grpSpPr>
      <p:sp>
        <p:nvSpPr>
          <p:cNvPr id="152" name="Google Shape;152;p1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1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hyperlink" Target="https://itechindia.co/us/blog/data-masking-and-data-anonymization-for-healthcare-ai/"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itechindia.co/us/blog/data-masking-and-data-anonymization-for-healthcare-ai/"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hyperlink" Target="https://www.private-ai.com/pricing/#privategpt" TargetMode="External"/><Relationship Id="rId4" Type="http://schemas.openxmlformats.org/officeDocument/2006/relationships/hyperlink" Target="https://pypi.org/project/deidentify/" TargetMode="External"/><Relationship Id="rId5" Type="http://schemas.openxmlformats.org/officeDocument/2006/relationships/hyperlink" Target="https://aws.amazon.com/compliance/hipaa-complianc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hyperlink" Target="https://www.private-ai.com/pricing/#privategpt" TargetMode="External"/><Relationship Id="rId4" Type="http://schemas.openxmlformats.org/officeDocument/2006/relationships/hyperlink" Target="https://pypi.org/project/deidentify/" TargetMode="External"/><Relationship Id="rId5" Type="http://schemas.openxmlformats.org/officeDocument/2006/relationships/hyperlink" Target="https://aws.amazon.com/compliance/hipaa-complianc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hyperlink" Target="https://www.private-ai.com/pricing/#privategpt" TargetMode="External"/><Relationship Id="rId4" Type="http://schemas.openxmlformats.org/officeDocument/2006/relationships/hyperlink" Target="https://pypi.org/project/deidentify/" TargetMode="External"/><Relationship Id="rId5" Type="http://schemas.openxmlformats.org/officeDocument/2006/relationships/hyperlink" Target="https://aws.amazon.com/compliance/hipaa-compliance/"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hyperlink" Target="https://www.private-ai.com/pricing/#privategpt" TargetMode="External"/><Relationship Id="rId4" Type="http://schemas.openxmlformats.org/officeDocument/2006/relationships/hyperlink" Target="https://pypi.org/project/deidentify/" TargetMode="External"/><Relationship Id="rId5" Type="http://schemas.openxmlformats.org/officeDocument/2006/relationships/hyperlink" Target="https://aws.amazon.com/compliance/hipaa-complianc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type="ctrTitle"/>
          </p:nvPr>
        </p:nvSpPr>
        <p:spPr>
          <a:xfrm>
            <a:off x="3288225" y="1578375"/>
            <a:ext cx="57018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Customized Security for AI</a:t>
            </a:r>
            <a:endParaRPr sz="3988"/>
          </a:p>
        </p:txBody>
      </p:sp>
      <p:pic>
        <p:nvPicPr>
          <p:cNvPr id="159" name="Google Shape;159;p15"/>
          <p:cNvPicPr preferRelativeResize="0"/>
          <p:nvPr/>
        </p:nvPicPr>
        <p:blipFill>
          <a:blip r:embed="rId3">
            <a:alphaModFix/>
          </a:blip>
          <a:stretch>
            <a:fillRect/>
          </a:stretch>
        </p:blipFill>
        <p:spPr>
          <a:xfrm>
            <a:off x="5624899" y="3107949"/>
            <a:ext cx="1028449" cy="1028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65" name="Google Shape;165;p16"/>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7"/>
          <p:cNvSpPr txBox="1"/>
          <p:nvPr>
            <p:ph type="title"/>
          </p:nvPr>
        </p:nvSpPr>
        <p:spPr>
          <a:xfrm>
            <a:off x="823850" y="779650"/>
            <a:ext cx="7275900" cy="3608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Commercial AI products do not necessarily have data use agreements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i="1" lang="en"/>
              <a:t>At this time, t</a:t>
            </a:r>
            <a:r>
              <a:rPr i="1" lang="en"/>
              <a:t>hey do not necessarily have to tell you what they do with your data</a:t>
            </a:r>
            <a:endParaRPr i="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8"/>
          <p:cNvSpPr txBox="1"/>
          <p:nvPr>
            <p:ph type="title"/>
          </p:nvPr>
        </p:nvSpPr>
        <p:spPr>
          <a:xfrm>
            <a:off x="823850" y="1673025"/>
            <a:ext cx="7527000" cy="2715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rgbClr val="FF0000"/>
                </a:solidFill>
                <a:highlight>
                  <a:srgbClr val="FFFFFF"/>
                </a:highlight>
              </a:rPr>
              <a:t>* Protected data needs should always be taken seriously! Before employing any AI solutions that involve protected data consult your legal experts and IRB!</a:t>
            </a:r>
            <a:endParaRPr>
              <a:solidFill>
                <a:srgbClr val="FF0000"/>
              </a:solidFill>
              <a:highlight>
                <a:srgbClr val="FFFFFF"/>
              </a:highlight>
            </a:endParaRPr>
          </a:p>
        </p:txBody>
      </p:sp>
      <p:pic>
        <p:nvPicPr>
          <p:cNvPr id="176" name="Google Shape;176;p18"/>
          <p:cNvPicPr preferRelativeResize="0"/>
          <p:nvPr/>
        </p:nvPicPr>
        <p:blipFill>
          <a:blip r:embed="rId3">
            <a:alphaModFix/>
          </a:blip>
          <a:stretch>
            <a:fillRect/>
          </a:stretch>
        </p:blipFill>
        <p:spPr>
          <a:xfrm>
            <a:off x="3245100" y="67575"/>
            <a:ext cx="1922749" cy="19227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9"/>
          <p:cNvSpPr txBox="1"/>
          <p:nvPr>
            <p:ph type="title"/>
          </p:nvPr>
        </p:nvSpPr>
        <p:spPr>
          <a:xfrm>
            <a:off x="823850" y="433125"/>
            <a:ext cx="7817100" cy="426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a:t>Not all data is safe to share</a:t>
            </a:r>
            <a:endParaRPr/>
          </a:p>
          <a:p>
            <a:pPr indent="0" lvl="0" marL="0" rtl="0" algn="l">
              <a:spcBef>
                <a:spcPts val="0"/>
              </a:spcBef>
              <a:spcAft>
                <a:spcPts val="0"/>
              </a:spcAft>
              <a:buNone/>
            </a:pPr>
            <a:r>
              <a:t/>
            </a:r>
            <a:endParaRPr u="sng">
              <a:highlight>
                <a:srgbClr val="FFFFFF"/>
              </a:highlight>
            </a:endParaRPr>
          </a:p>
          <a:p>
            <a:pPr indent="-406400" lvl="0" marL="457200" rtl="0" algn="l">
              <a:spcBef>
                <a:spcPts val="0"/>
              </a:spcBef>
              <a:spcAft>
                <a:spcPts val="0"/>
              </a:spcAft>
              <a:buSzPts val="2800"/>
              <a:buChar char="●"/>
            </a:pPr>
            <a:r>
              <a:rPr lang="en">
                <a:highlight>
                  <a:srgbClr val="FFFFFF"/>
                </a:highlight>
              </a:rPr>
              <a:t>Personal I</a:t>
            </a:r>
            <a:r>
              <a:rPr lang="en">
                <a:highlight>
                  <a:srgbClr val="FFFFFF"/>
                </a:highlight>
              </a:rPr>
              <a:t>dentifiable Information </a:t>
            </a:r>
            <a:endParaRPr>
              <a:highlight>
                <a:srgbClr val="FFFFFF"/>
              </a:highlight>
            </a:endParaRPr>
          </a:p>
          <a:p>
            <a:pPr indent="-406400" lvl="0" marL="457200" rtl="0" algn="l">
              <a:spcBef>
                <a:spcPts val="0"/>
              </a:spcBef>
              <a:spcAft>
                <a:spcPts val="0"/>
              </a:spcAft>
              <a:buSzPts val="2800"/>
              <a:buChar char="●"/>
            </a:pPr>
            <a:r>
              <a:rPr lang="en">
                <a:highlight>
                  <a:srgbClr val="FFFFFF"/>
                </a:highlight>
              </a:rPr>
              <a:t>Protected Health Information </a:t>
            </a:r>
            <a:endParaRPr u="sng">
              <a:highlight>
                <a:srgbClr val="FFFFFF"/>
              </a:highlight>
            </a:endParaRPr>
          </a:p>
          <a:p>
            <a:pPr indent="-406400" lvl="0" marL="457200" rtl="0" algn="l">
              <a:spcBef>
                <a:spcPts val="0"/>
              </a:spcBef>
              <a:spcAft>
                <a:spcPts val="0"/>
              </a:spcAft>
              <a:buSzPts val="2800"/>
              <a:buChar char="●"/>
            </a:pPr>
            <a:r>
              <a:rPr lang="en">
                <a:highlight>
                  <a:srgbClr val="FFFFFF"/>
                </a:highlight>
              </a:rPr>
              <a:t>Controlled Unclassified Information</a:t>
            </a:r>
            <a:endParaRPr>
              <a:highlight>
                <a:srgbClr val="FFFFFF"/>
              </a:highlight>
            </a:endParaRPr>
          </a:p>
          <a:p>
            <a:pPr indent="0" lvl="0" marL="0" rtl="0" algn="l">
              <a:spcBef>
                <a:spcPts val="0"/>
              </a:spcBef>
              <a:spcAft>
                <a:spcPts val="0"/>
              </a:spcAft>
              <a:buNone/>
            </a:pPr>
            <a:r>
              <a:t/>
            </a:r>
            <a:endParaRPr>
              <a:highlight>
                <a:srgbClr val="FFFFFF"/>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0"/>
          <p:cNvSpPr txBox="1"/>
          <p:nvPr>
            <p:ph type="title"/>
          </p:nvPr>
        </p:nvSpPr>
        <p:spPr>
          <a:xfrm>
            <a:off x="791375" y="455275"/>
            <a:ext cx="7524900" cy="4179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highlight>
                  <a:srgbClr val="FFFFFF"/>
                </a:highlight>
              </a:rPr>
              <a:t>But protected data projects would highly benefit from AI!</a:t>
            </a:r>
            <a:endParaRPr/>
          </a:p>
          <a:p>
            <a:pPr indent="0" lvl="0" marL="0" rtl="0" algn="l">
              <a:spcBef>
                <a:spcPts val="0"/>
              </a:spcBef>
              <a:spcAft>
                <a:spcPts val="0"/>
              </a:spcAft>
              <a:buNone/>
            </a:pPr>
            <a:r>
              <a:t/>
            </a:r>
            <a:endParaRPr/>
          </a:p>
          <a:p>
            <a:pPr indent="-406400" lvl="0" marL="457200" rtl="0" algn="l">
              <a:spcBef>
                <a:spcPts val="0"/>
              </a:spcBef>
              <a:spcAft>
                <a:spcPts val="0"/>
              </a:spcAft>
              <a:buSzPts val="2800"/>
              <a:buChar char="●"/>
            </a:pPr>
            <a:r>
              <a:rPr lang="en"/>
              <a:t>AI as a diagnostic tool </a:t>
            </a:r>
            <a:endParaRPr/>
          </a:p>
          <a:p>
            <a:pPr indent="-406400" lvl="0" marL="457200" rtl="0" algn="l">
              <a:spcBef>
                <a:spcPts val="0"/>
              </a:spcBef>
              <a:spcAft>
                <a:spcPts val="0"/>
              </a:spcAft>
              <a:buSzPts val="2800"/>
              <a:buChar char="●"/>
            </a:pPr>
            <a:r>
              <a:rPr lang="en"/>
              <a:t>AI as an aid for financial or health guidance for patients </a:t>
            </a:r>
            <a:endParaRPr/>
          </a:p>
          <a:p>
            <a:pPr indent="-406400" lvl="0" marL="457200" rtl="0" algn="l">
              <a:spcBef>
                <a:spcPts val="0"/>
              </a:spcBef>
              <a:spcAft>
                <a:spcPts val="0"/>
              </a:spcAft>
              <a:buSzPts val="2800"/>
              <a:buChar char="●"/>
            </a:pPr>
            <a:r>
              <a:rPr lang="en"/>
              <a:t>AI to help detect when protected data has been leaked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1"/>
          <p:cNvSpPr/>
          <p:nvPr/>
        </p:nvSpPr>
        <p:spPr>
          <a:xfrm>
            <a:off x="236225" y="730175"/>
            <a:ext cx="2748900" cy="1224300"/>
          </a:xfrm>
          <a:prstGeom prst="rect">
            <a:avLst/>
          </a:prstGeom>
          <a:noFill/>
          <a:ln cap="flat" cmpd="sng" w="38100">
            <a:solidFill>
              <a:srgbClr val="FF99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2" name="Google Shape;192;p21"/>
          <p:cNvSpPr/>
          <p:nvPr/>
        </p:nvSpPr>
        <p:spPr>
          <a:xfrm rot="7592644">
            <a:off x="2639133" y="2258402"/>
            <a:ext cx="1445483" cy="1367842"/>
          </a:xfrm>
          <a:prstGeom prst="trapezoid">
            <a:avLst>
              <a:gd fmla="val 58416" name="adj"/>
            </a:avLst>
          </a:prstGeom>
          <a:solidFill>
            <a:srgbClr val="C9DAF8"/>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3" name="Google Shape;193;p21"/>
          <p:cNvSpPr/>
          <p:nvPr/>
        </p:nvSpPr>
        <p:spPr>
          <a:xfrm>
            <a:off x="3676000" y="2819100"/>
            <a:ext cx="1641300" cy="1563300"/>
          </a:xfrm>
          <a:prstGeom prst="rect">
            <a:avLst/>
          </a:prstGeom>
          <a:solidFill>
            <a:srgbClr val="6FA8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ato"/>
              <a:ea typeface="Lato"/>
              <a:cs typeface="Lato"/>
              <a:sym typeface="Lato"/>
            </a:endParaRPr>
          </a:p>
        </p:txBody>
      </p:sp>
      <p:pic>
        <p:nvPicPr>
          <p:cNvPr id="194" name="Google Shape;194;p21"/>
          <p:cNvPicPr preferRelativeResize="0"/>
          <p:nvPr/>
        </p:nvPicPr>
        <p:blipFill>
          <a:blip r:embed="rId3">
            <a:alphaModFix/>
          </a:blip>
          <a:stretch>
            <a:fillRect/>
          </a:stretch>
        </p:blipFill>
        <p:spPr>
          <a:xfrm>
            <a:off x="3610775" y="2778625"/>
            <a:ext cx="1796649" cy="1796649"/>
          </a:xfrm>
          <a:prstGeom prst="rect">
            <a:avLst/>
          </a:prstGeom>
          <a:noFill/>
          <a:ln>
            <a:noFill/>
          </a:ln>
        </p:spPr>
      </p:pic>
      <p:sp>
        <p:nvSpPr>
          <p:cNvPr id="195" name="Google Shape;195;p21"/>
          <p:cNvSpPr/>
          <p:nvPr/>
        </p:nvSpPr>
        <p:spPr>
          <a:xfrm>
            <a:off x="5407425" y="3930100"/>
            <a:ext cx="2376900" cy="384900"/>
          </a:xfrm>
          <a:prstGeom prst="rect">
            <a:avLst/>
          </a:prstGeom>
          <a:solidFill>
            <a:srgbClr val="6FA8DC"/>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pic>
        <p:nvPicPr>
          <p:cNvPr id="196" name="Google Shape;196;p21"/>
          <p:cNvPicPr preferRelativeResize="0"/>
          <p:nvPr/>
        </p:nvPicPr>
        <p:blipFill>
          <a:blip r:embed="rId4">
            <a:alphaModFix/>
          </a:blip>
          <a:stretch>
            <a:fillRect/>
          </a:stretch>
        </p:blipFill>
        <p:spPr>
          <a:xfrm>
            <a:off x="5407424" y="2934100"/>
            <a:ext cx="2376906" cy="2376906"/>
          </a:xfrm>
          <a:prstGeom prst="rect">
            <a:avLst/>
          </a:prstGeom>
          <a:noFill/>
          <a:ln>
            <a:noFill/>
          </a:ln>
        </p:spPr>
      </p:pic>
      <p:sp>
        <p:nvSpPr>
          <p:cNvPr id="197" name="Google Shape;197;p21"/>
          <p:cNvSpPr txBox="1"/>
          <p:nvPr/>
        </p:nvSpPr>
        <p:spPr>
          <a:xfrm>
            <a:off x="1068075" y="609150"/>
            <a:ext cx="993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u="sng">
                <a:solidFill>
                  <a:schemeClr val="lt1"/>
                </a:solidFill>
                <a:latin typeface="Lato"/>
                <a:ea typeface="Lato"/>
                <a:cs typeface="Lato"/>
                <a:sym typeface="Lato"/>
              </a:rPr>
              <a:t>Input</a:t>
            </a:r>
            <a:endParaRPr b="1" sz="2200" u="sng">
              <a:solidFill>
                <a:schemeClr val="lt1"/>
              </a:solidFill>
              <a:latin typeface="Lato"/>
              <a:ea typeface="Lato"/>
              <a:cs typeface="Lato"/>
              <a:sym typeface="Lato"/>
            </a:endParaRPr>
          </a:p>
        </p:txBody>
      </p:sp>
      <p:sp>
        <p:nvSpPr>
          <p:cNvPr id="198" name="Google Shape;198;p21"/>
          <p:cNvSpPr txBox="1"/>
          <p:nvPr/>
        </p:nvSpPr>
        <p:spPr>
          <a:xfrm>
            <a:off x="6100450" y="2549200"/>
            <a:ext cx="15507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u="sng">
                <a:solidFill>
                  <a:schemeClr val="lt1"/>
                </a:solidFill>
                <a:latin typeface="Lato"/>
                <a:ea typeface="Lato"/>
                <a:cs typeface="Lato"/>
                <a:sym typeface="Lato"/>
              </a:rPr>
              <a:t>Output</a:t>
            </a:r>
            <a:endParaRPr b="1" sz="2200" u="sng">
              <a:solidFill>
                <a:schemeClr val="lt1"/>
              </a:solidFill>
              <a:latin typeface="Lato"/>
              <a:ea typeface="Lato"/>
              <a:cs typeface="Lato"/>
              <a:sym typeface="Lato"/>
            </a:endParaRPr>
          </a:p>
        </p:txBody>
      </p:sp>
      <p:sp>
        <p:nvSpPr>
          <p:cNvPr id="199" name="Google Shape;199;p21"/>
          <p:cNvSpPr/>
          <p:nvPr/>
        </p:nvSpPr>
        <p:spPr>
          <a:xfrm>
            <a:off x="3081800" y="4315000"/>
            <a:ext cx="2748900" cy="560100"/>
          </a:xfrm>
          <a:prstGeom prst="rect">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u="sng">
                <a:latin typeface="Lato"/>
                <a:ea typeface="Lato"/>
                <a:cs typeface="Lato"/>
                <a:sym typeface="Lato"/>
              </a:rPr>
              <a:t>Training Data</a:t>
            </a:r>
            <a:endParaRPr b="1" sz="2000" u="sng">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sp>
        <p:nvSpPr>
          <p:cNvPr id="200" name="Google Shape;200;p21"/>
          <p:cNvSpPr/>
          <p:nvPr/>
        </p:nvSpPr>
        <p:spPr>
          <a:xfrm rot="2370681">
            <a:off x="1989292" y="2018770"/>
            <a:ext cx="822814" cy="476304"/>
          </a:xfrm>
          <a:prstGeom prst="rightArrow">
            <a:avLst>
              <a:gd fmla="val 50000" name="adj1"/>
              <a:gd fmla="val 50000" name="adj2"/>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1" name="Google Shape;201;p21"/>
          <p:cNvSpPr/>
          <p:nvPr/>
        </p:nvSpPr>
        <p:spPr>
          <a:xfrm>
            <a:off x="5487090" y="3308618"/>
            <a:ext cx="773100" cy="300600"/>
          </a:xfrm>
          <a:prstGeom prst="rightArrow">
            <a:avLst>
              <a:gd fmla="val 50000" name="adj1"/>
              <a:gd fmla="val 50000" name="adj2"/>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02" name="Google Shape;202;p21"/>
          <p:cNvPicPr preferRelativeResize="0"/>
          <p:nvPr/>
        </p:nvPicPr>
        <p:blipFill>
          <a:blip r:embed="rId5">
            <a:alphaModFix/>
          </a:blip>
          <a:stretch>
            <a:fillRect/>
          </a:stretch>
        </p:blipFill>
        <p:spPr>
          <a:xfrm>
            <a:off x="3081825" y="4315000"/>
            <a:ext cx="560100" cy="560100"/>
          </a:xfrm>
          <a:prstGeom prst="rect">
            <a:avLst/>
          </a:prstGeom>
          <a:noFill/>
          <a:ln>
            <a:noFill/>
          </a:ln>
        </p:spPr>
      </p:pic>
      <p:pic>
        <p:nvPicPr>
          <p:cNvPr id="203" name="Google Shape;203;p21"/>
          <p:cNvPicPr preferRelativeResize="0"/>
          <p:nvPr/>
        </p:nvPicPr>
        <p:blipFill>
          <a:blip r:embed="rId5">
            <a:alphaModFix/>
          </a:blip>
          <a:stretch>
            <a:fillRect/>
          </a:stretch>
        </p:blipFill>
        <p:spPr>
          <a:xfrm>
            <a:off x="5270600" y="4315000"/>
            <a:ext cx="560100" cy="560100"/>
          </a:xfrm>
          <a:prstGeom prst="rect">
            <a:avLst/>
          </a:prstGeom>
          <a:noFill/>
          <a:ln>
            <a:noFill/>
          </a:ln>
        </p:spPr>
      </p:pic>
      <p:sp>
        <p:nvSpPr>
          <p:cNvPr id="204" name="Google Shape;204;p21"/>
          <p:cNvSpPr/>
          <p:nvPr/>
        </p:nvSpPr>
        <p:spPr>
          <a:xfrm>
            <a:off x="492700" y="1069525"/>
            <a:ext cx="2376900" cy="741900"/>
          </a:xfrm>
          <a:prstGeom prst="wedgeRoundRectCallout">
            <a:avLst>
              <a:gd fmla="val -4885" name="adj1"/>
              <a:gd fmla="val 104691" name="adj2"/>
              <a:gd fmla="val 0" name="adj3"/>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Can you do math on my social security number ***-**-**** ? </a:t>
            </a:r>
            <a:endParaRPr>
              <a:latin typeface="Lato"/>
              <a:ea typeface="Lato"/>
              <a:cs typeface="Lato"/>
              <a:sym typeface="Lato"/>
            </a:endParaRPr>
          </a:p>
        </p:txBody>
      </p:sp>
      <p:sp>
        <p:nvSpPr>
          <p:cNvPr id="205" name="Google Shape;205;p21"/>
          <p:cNvSpPr/>
          <p:nvPr/>
        </p:nvSpPr>
        <p:spPr>
          <a:xfrm>
            <a:off x="6585650" y="3150825"/>
            <a:ext cx="1065600" cy="616200"/>
          </a:xfrm>
          <a:prstGeom prst="wedgeRoundRectCallout">
            <a:avLst>
              <a:gd fmla="val -33623" name="adj1"/>
              <a:gd fmla="val 69096" name="adj2"/>
              <a:gd fmla="val 0" name="adj3"/>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It’s a pear.</a:t>
            </a:r>
            <a:endParaRPr>
              <a:latin typeface="Lato"/>
              <a:ea typeface="Lato"/>
              <a:cs typeface="Lato"/>
              <a:sym typeface="Lato"/>
            </a:endParaRPr>
          </a:p>
        </p:txBody>
      </p:sp>
      <p:sp>
        <p:nvSpPr>
          <p:cNvPr id="206" name="Google Shape;206;p21"/>
          <p:cNvSpPr txBox="1"/>
          <p:nvPr/>
        </p:nvSpPr>
        <p:spPr>
          <a:xfrm>
            <a:off x="3676000" y="2310150"/>
            <a:ext cx="1671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u="sng">
                <a:solidFill>
                  <a:schemeClr val="lt1"/>
                </a:solidFill>
                <a:latin typeface="Lato"/>
                <a:ea typeface="Lato"/>
                <a:cs typeface="Lato"/>
                <a:sym typeface="Lato"/>
              </a:rPr>
              <a:t>Algorithms</a:t>
            </a:r>
            <a:endParaRPr b="1" sz="2200" u="sng">
              <a:solidFill>
                <a:schemeClr val="lt1"/>
              </a:solidFill>
              <a:latin typeface="Lato"/>
              <a:ea typeface="Lato"/>
              <a:cs typeface="Lato"/>
              <a:sym typeface="Lato"/>
            </a:endParaRPr>
          </a:p>
        </p:txBody>
      </p:sp>
      <p:sp>
        <p:nvSpPr>
          <p:cNvPr id="207" name="Google Shape;207;p21"/>
          <p:cNvSpPr txBox="1"/>
          <p:nvPr/>
        </p:nvSpPr>
        <p:spPr>
          <a:xfrm>
            <a:off x="0" y="95600"/>
            <a:ext cx="91440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lt1"/>
                </a:solidFill>
                <a:latin typeface="Montserrat"/>
                <a:ea typeface="Montserrat"/>
                <a:cs typeface="Montserrat"/>
                <a:sym typeface="Montserrat"/>
              </a:rPr>
              <a:t>What’s your use case?</a:t>
            </a:r>
            <a:endParaRPr sz="2800">
              <a:solidFill>
                <a:schemeClr val="lt1"/>
              </a:solidFill>
              <a:latin typeface="Montserrat"/>
              <a:ea typeface="Montserrat"/>
              <a:cs typeface="Montserrat"/>
              <a:sym typeface="Montserrat"/>
            </a:endParaRPr>
          </a:p>
          <a:p>
            <a:pPr indent="0" lvl="0" marL="0" rtl="0" algn="ctr">
              <a:spcBef>
                <a:spcPts val="0"/>
              </a:spcBef>
              <a:spcAft>
                <a:spcPts val="0"/>
              </a:spcAft>
              <a:buNone/>
            </a:pPr>
            <a:r>
              <a:rPr lang="en" sz="2000">
                <a:solidFill>
                  <a:schemeClr val="lt1"/>
                </a:solidFill>
                <a:latin typeface="Montserrat"/>
                <a:ea typeface="Montserrat"/>
                <a:cs typeface="Montserrat"/>
                <a:sym typeface="Montserrat"/>
              </a:rPr>
              <a:t> </a:t>
            </a:r>
            <a:r>
              <a:rPr i="1" lang="en" sz="2000">
                <a:solidFill>
                  <a:srgbClr val="FF9900"/>
                </a:solidFill>
                <a:latin typeface="Montserrat"/>
                <a:ea typeface="Montserrat"/>
                <a:cs typeface="Montserrat"/>
                <a:sym typeface="Montserrat"/>
              </a:rPr>
              <a:t>Customized Security</a:t>
            </a:r>
            <a:endParaRPr sz="2000">
              <a:solidFill>
                <a:srgbClr val="FF9900"/>
              </a:solidFill>
              <a:latin typeface="Montserrat"/>
              <a:ea typeface="Montserrat"/>
              <a:cs typeface="Montserrat"/>
              <a:sym typeface="Montserrat"/>
            </a:endParaRPr>
          </a:p>
        </p:txBody>
      </p:sp>
      <p:sp>
        <p:nvSpPr>
          <p:cNvPr id="208" name="Google Shape;208;p21"/>
          <p:cNvSpPr txBox="1"/>
          <p:nvPr/>
        </p:nvSpPr>
        <p:spPr>
          <a:xfrm>
            <a:off x="3500575" y="1214500"/>
            <a:ext cx="51597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FF9900"/>
                </a:solidFill>
                <a:latin typeface="Lato"/>
                <a:ea typeface="Lato"/>
                <a:cs typeface="Lato"/>
                <a:sym typeface="Lato"/>
              </a:rPr>
              <a:t>There is protected data involved</a:t>
            </a:r>
            <a:endParaRPr b="1" sz="1900">
              <a:solidFill>
                <a:srgbClr val="FF9900"/>
              </a:solidFill>
              <a:latin typeface="Lato"/>
              <a:ea typeface="Lato"/>
              <a:cs typeface="Lato"/>
              <a:sym typeface="Lato"/>
            </a:endParaRPr>
          </a:p>
        </p:txBody>
      </p:sp>
      <p:sp>
        <p:nvSpPr>
          <p:cNvPr id="209" name="Google Shape;209;p21"/>
          <p:cNvSpPr/>
          <p:nvPr/>
        </p:nvSpPr>
        <p:spPr>
          <a:xfrm>
            <a:off x="2985125" y="4182875"/>
            <a:ext cx="2959800" cy="891000"/>
          </a:xfrm>
          <a:prstGeom prst="rect">
            <a:avLst/>
          </a:prstGeom>
          <a:noFill/>
          <a:ln cap="flat" cmpd="sng" w="38100">
            <a:solidFill>
              <a:srgbClr val="FF99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2"/>
          <p:cNvSpPr txBox="1"/>
          <p:nvPr>
            <p:ph type="title"/>
          </p:nvPr>
        </p:nvSpPr>
        <p:spPr>
          <a:xfrm>
            <a:off x="823850" y="866775"/>
            <a:ext cx="8098800" cy="3521100"/>
          </a:xfrm>
          <a:prstGeom prst="rect">
            <a:avLst/>
          </a:prstGeom>
        </p:spPr>
        <p:txBody>
          <a:bodyPr anchorCtr="0" anchor="ctr" bIns="91425" lIns="91425" spcFirstLastPara="1" rIns="91425" wrap="square" tIns="91425">
            <a:normAutofit fontScale="90000"/>
          </a:bodyPr>
          <a:lstStyle/>
          <a:p>
            <a:pPr indent="-388620" lvl="0" marL="457200" rtl="0" algn="l">
              <a:spcBef>
                <a:spcPts val="0"/>
              </a:spcBef>
              <a:spcAft>
                <a:spcPts val="0"/>
              </a:spcAft>
              <a:buSzPct val="100000"/>
              <a:buChar char="●"/>
            </a:pPr>
            <a:r>
              <a:rPr lang="en">
                <a:highlight>
                  <a:srgbClr val="FFFFFF"/>
                </a:highlight>
              </a:rPr>
              <a:t>Fewest individuals have access as possible</a:t>
            </a:r>
            <a:endParaRPr>
              <a:highlight>
                <a:srgbClr val="FFFFFF"/>
              </a:highlight>
            </a:endParaRPr>
          </a:p>
          <a:p>
            <a:pPr indent="0" lvl="0" marL="457200" rtl="0" algn="l">
              <a:spcBef>
                <a:spcPts val="0"/>
              </a:spcBef>
              <a:spcAft>
                <a:spcPts val="0"/>
              </a:spcAft>
              <a:buNone/>
            </a:pPr>
            <a:r>
              <a:t/>
            </a:r>
            <a:endParaRPr>
              <a:highlight>
                <a:srgbClr val="FFFFFF"/>
              </a:highlight>
            </a:endParaRPr>
          </a:p>
          <a:p>
            <a:pPr indent="-388620" lvl="0" marL="457200" rtl="0" algn="l">
              <a:spcBef>
                <a:spcPts val="0"/>
              </a:spcBef>
              <a:spcAft>
                <a:spcPts val="0"/>
              </a:spcAft>
              <a:buSzPct val="100000"/>
              <a:buChar char="●"/>
            </a:pPr>
            <a:r>
              <a:rPr lang="en">
                <a:highlight>
                  <a:srgbClr val="FFFFFF"/>
                </a:highlight>
              </a:rPr>
              <a:t>Least privileges as needed to complete a task</a:t>
            </a:r>
            <a:endParaRPr>
              <a:highlight>
                <a:srgbClr val="FFFFFF"/>
              </a:highlight>
            </a:endParaRPr>
          </a:p>
          <a:p>
            <a:pPr indent="0" lvl="0" marL="457200" rtl="0" algn="l">
              <a:spcBef>
                <a:spcPts val="0"/>
              </a:spcBef>
              <a:spcAft>
                <a:spcPts val="0"/>
              </a:spcAft>
              <a:buNone/>
            </a:pPr>
            <a:r>
              <a:t/>
            </a:r>
            <a:endParaRPr>
              <a:highlight>
                <a:srgbClr val="FFFFFF"/>
              </a:highlight>
            </a:endParaRPr>
          </a:p>
          <a:p>
            <a:pPr indent="-388620" lvl="0" marL="457200" rtl="0" algn="l">
              <a:spcBef>
                <a:spcPts val="0"/>
              </a:spcBef>
              <a:spcAft>
                <a:spcPts val="0"/>
              </a:spcAft>
              <a:buSzPct val="100000"/>
              <a:buChar char="●"/>
            </a:pPr>
            <a:r>
              <a:rPr lang="en">
                <a:highlight>
                  <a:srgbClr val="FFFFFF"/>
                </a:highlight>
              </a:rPr>
              <a:t>Authentication to make sure only authorized individuals can see the data</a:t>
            </a:r>
            <a:endParaRPr>
              <a:highlight>
                <a:srgbClr val="FFFFFF"/>
              </a:highlight>
            </a:endParaRPr>
          </a:p>
          <a:p>
            <a:pPr indent="0" lvl="0" marL="457200" rtl="0" algn="l">
              <a:spcBef>
                <a:spcPts val="0"/>
              </a:spcBef>
              <a:spcAft>
                <a:spcPts val="0"/>
              </a:spcAft>
              <a:buNone/>
            </a:pPr>
            <a:r>
              <a:t/>
            </a:r>
            <a:endParaRPr>
              <a:highlight>
                <a:srgbClr val="FFFFFF"/>
              </a:highlight>
            </a:endParaRPr>
          </a:p>
          <a:p>
            <a:pPr indent="-388620" lvl="0" marL="457200" rtl="0" algn="l">
              <a:spcBef>
                <a:spcPts val="0"/>
              </a:spcBef>
              <a:spcAft>
                <a:spcPts val="0"/>
              </a:spcAft>
              <a:buSzPct val="100000"/>
              <a:buChar char="●"/>
            </a:pPr>
            <a:r>
              <a:rPr lang="en">
                <a:highlight>
                  <a:srgbClr val="FFFFFF"/>
                </a:highlight>
              </a:rPr>
              <a:t>Data use agreements when individuals need to be added to the authorized list</a:t>
            </a:r>
            <a:endParaRPr>
              <a:highlight>
                <a:srgbClr val="FFFFFF"/>
              </a:highlight>
            </a:endParaRPr>
          </a:p>
        </p:txBody>
      </p:sp>
      <p:sp>
        <p:nvSpPr>
          <p:cNvPr id="215" name="Google Shape;215;p22"/>
          <p:cNvSpPr txBox="1"/>
          <p:nvPr/>
        </p:nvSpPr>
        <p:spPr>
          <a:xfrm>
            <a:off x="0" y="4743300"/>
            <a:ext cx="7644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Source: </a:t>
            </a:r>
            <a:r>
              <a:rPr lang="en" sz="1200"/>
              <a:t>https://hutchdatascience.org/Ethical_Data_Handling_for_Cancer_Research/data-security.html</a:t>
            </a:r>
            <a:endParaRPr sz="1200"/>
          </a:p>
        </p:txBody>
      </p:sp>
      <p:sp>
        <p:nvSpPr>
          <p:cNvPr id="216" name="Google Shape;216;p22"/>
          <p:cNvSpPr txBox="1"/>
          <p:nvPr/>
        </p:nvSpPr>
        <p:spPr>
          <a:xfrm>
            <a:off x="0" y="0"/>
            <a:ext cx="9144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400"/>
              </a:spcAft>
              <a:buNone/>
            </a:pPr>
            <a:r>
              <a:rPr lang="en" sz="2800">
                <a:solidFill>
                  <a:srgbClr val="282828"/>
                </a:solidFill>
                <a:highlight>
                  <a:srgbClr val="FFFFFF"/>
                </a:highlight>
                <a:latin typeface="Montserrat"/>
                <a:ea typeface="Montserrat"/>
                <a:cs typeface="Montserrat"/>
                <a:sym typeface="Montserrat"/>
              </a:rPr>
              <a:t>Best practices for </a:t>
            </a:r>
            <a:r>
              <a:rPr b="1" lang="en" sz="2800">
                <a:solidFill>
                  <a:srgbClr val="282828"/>
                </a:solidFill>
                <a:highlight>
                  <a:srgbClr val="FFFFFF"/>
                </a:highlight>
                <a:latin typeface="Montserrat"/>
                <a:ea typeface="Montserrat"/>
                <a:cs typeface="Montserrat"/>
                <a:sym typeface="Montserrat"/>
              </a:rPr>
              <a:t>data security</a:t>
            </a:r>
            <a:endParaRPr b="1" sz="2800">
              <a:solidFill>
                <a:srgbClr val="282828"/>
              </a:solidFill>
              <a:highlight>
                <a:srgbClr val="FFFFFF"/>
              </a:highlight>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3"/>
          <p:cNvSpPr txBox="1"/>
          <p:nvPr>
            <p:ph type="title"/>
          </p:nvPr>
        </p:nvSpPr>
        <p:spPr>
          <a:xfrm>
            <a:off x="745300" y="459425"/>
            <a:ext cx="8403300" cy="3991500"/>
          </a:xfrm>
          <a:prstGeom prst="rect">
            <a:avLst/>
          </a:prstGeom>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None/>
            </a:pPr>
            <a:r>
              <a:t/>
            </a:r>
            <a:endParaRPr sz="2100">
              <a:solidFill>
                <a:srgbClr val="282828"/>
              </a:solidFill>
              <a:highlight>
                <a:srgbClr val="FFFFFF"/>
              </a:highlight>
            </a:endParaRPr>
          </a:p>
          <a:p>
            <a:pPr indent="457200" lvl="0" marL="0" rtl="0" algn="l">
              <a:spcBef>
                <a:spcPts val="400"/>
              </a:spcBef>
              <a:spcAft>
                <a:spcPts val="0"/>
              </a:spcAft>
              <a:buClr>
                <a:schemeClr val="lt1"/>
              </a:buClr>
              <a:buSzPct val="52380"/>
              <a:buFont typeface="Arial"/>
              <a:buNone/>
            </a:pPr>
            <a:r>
              <a:rPr lang="en" sz="2100">
                <a:solidFill>
                  <a:srgbClr val="282828"/>
                </a:solidFill>
                <a:highlight>
                  <a:srgbClr val="FFFFFF"/>
                </a:highlight>
              </a:rPr>
              <a:t>Use AI services that </a:t>
            </a:r>
            <a:endParaRPr sz="2100">
              <a:solidFill>
                <a:srgbClr val="282828"/>
              </a:solidFill>
              <a:highlight>
                <a:srgbClr val="FFFFFF"/>
              </a:highlight>
            </a:endParaRPr>
          </a:p>
          <a:p>
            <a:pPr indent="457200" lvl="0" marL="0" rtl="0" algn="l">
              <a:spcBef>
                <a:spcPts val="400"/>
              </a:spcBef>
              <a:spcAft>
                <a:spcPts val="0"/>
              </a:spcAft>
              <a:buClr>
                <a:schemeClr val="lt1"/>
              </a:buClr>
              <a:buSzPct val="52380"/>
              <a:buFont typeface="Arial"/>
              <a:buNone/>
            </a:pPr>
            <a:r>
              <a:rPr lang="en" sz="2100">
                <a:solidFill>
                  <a:srgbClr val="282828"/>
                </a:solidFill>
                <a:highlight>
                  <a:srgbClr val="FFFFFF"/>
                </a:highlight>
              </a:rPr>
              <a:t>keep data private</a:t>
            </a:r>
            <a:endParaRPr sz="2100">
              <a:solidFill>
                <a:srgbClr val="282828"/>
              </a:solidFill>
              <a:highlight>
                <a:srgbClr val="FFFFFF"/>
              </a:highlight>
            </a:endParaRPr>
          </a:p>
          <a:p>
            <a:pPr indent="457200" lvl="0" marL="0" rtl="0" algn="l">
              <a:lnSpc>
                <a:spcPct val="100000"/>
              </a:lnSpc>
              <a:spcBef>
                <a:spcPts val="400"/>
              </a:spcBef>
              <a:spcAft>
                <a:spcPts val="0"/>
              </a:spcAft>
              <a:buNone/>
            </a:pPr>
            <a:r>
              <a:t/>
            </a:r>
            <a:endParaRPr sz="2100">
              <a:solidFill>
                <a:srgbClr val="282828"/>
              </a:solidFill>
              <a:highlight>
                <a:srgbClr val="FFFFFF"/>
              </a:highlight>
            </a:endParaRPr>
          </a:p>
          <a:p>
            <a:pPr indent="457200" lvl="0" marL="0" rtl="0" algn="l">
              <a:lnSpc>
                <a:spcPct val="100000"/>
              </a:lnSpc>
              <a:spcBef>
                <a:spcPts val="400"/>
              </a:spcBef>
              <a:spcAft>
                <a:spcPts val="0"/>
              </a:spcAft>
              <a:buNone/>
            </a:pPr>
            <a:r>
              <a:rPr lang="en" sz="2100">
                <a:solidFill>
                  <a:srgbClr val="282828"/>
                </a:solidFill>
                <a:highlight>
                  <a:srgbClr val="FFFFFF"/>
                </a:highlight>
              </a:rPr>
              <a:t>Obscure protected </a:t>
            </a:r>
            <a:endParaRPr sz="2100">
              <a:solidFill>
                <a:srgbClr val="282828"/>
              </a:solidFill>
              <a:highlight>
                <a:srgbClr val="FFFFFF"/>
              </a:highlight>
            </a:endParaRPr>
          </a:p>
          <a:p>
            <a:pPr indent="457200" lvl="0" marL="0" rtl="0" algn="l">
              <a:lnSpc>
                <a:spcPct val="100000"/>
              </a:lnSpc>
              <a:spcBef>
                <a:spcPts val="400"/>
              </a:spcBef>
              <a:spcAft>
                <a:spcPts val="0"/>
              </a:spcAft>
              <a:buNone/>
            </a:pPr>
            <a:r>
              <a:rPr lang="en" sz="2100">
                <a:solidFill>
                  <a:srgbClr val="282828"/>
                </a:solidFill>
                <a:highlight>
                  <a:srgbClr val="FFFFFF"/>
                </a:highlight>
              </a:rPr>
              <a:t>data type by hand</a:t>
            </a:r>
            <a:endParaRPr sz="2100">
              <a:solidFill>
                <a:srgbClr val="282828"/>
              </a:solidFill>
              <a:highlight>
                <a:srgbClr val="FFFFFF"/>
              </a:highlight>
            </a:endParaRPr>
          </a:p>
          <a:p>
            <a:pPr indent="0" lvl="0" marL="0" rtl="0" algn="l">
              <a:lnSpc>
                <a:spcPct val="100000"/>
              </a:lnSpc>
              <a:spcBef>
                <a:spcPts val="400"/>
              </a:spcBef>
              <a:spcAft>
                <a:spcPts val="0"/>
              </a:spcAft>
              <a:buNone/>
            </a:pPr>
            <a:r>
              <a:t/>
            </a:r>
            <a:endParaRPr sz="2100">
              <a:solidFill>
                <a:srgbClr val="282828"/>
              </a:solidFill>
              <a:highlight>
                <a:srgbClr val="FFFFFF"/>
              </a:highlight>
            </a:endParaRPr>
          </a:p>
          <a:p>
            <a:pPr indent="457200" lvl="0" marL="0" rtl="0" algn="l">
              <a:lnSpc>
                <a:spcPct val="100000"/>
              </a:lnSpc>
              <a:spcBef>
                <a:spcPts val="400"/>
              </a:spcBef>
              <a:spcAft>
                <a:spcPts val="0"/>
              </a:spcAft>
              <a:buNone/>
            </a:pPr>
            <a:r>
              <a:rPr lang="en" sz="2100">
                <a:solidFill>
                  <a:srgbClr val="282828"/>
                </a:solidFill>
                <a:highlight>
                  <a:srgbClr val="FFFFFF"/>
                </a:highlight>
              </a:rPr>
              <a:t>Deploy existing model </a:t>
            </a:r>
            <a:endParaRPr sz="2100">
              <a:solidFill>
                <a:srgbClr val="282828"/>
              </a:solidFill>
              <a:highlight>
                <a:srgbClr val="FFFFFF"/>
              </a:highlight>
            </a:endParaRPr>
          </a:p>
          <a:p>
            <a:pPr indent="457200" lvl="0" marL="0" rtl="0" algn="l">
              <a:lnSpc>
                <a:spcPct val="100000"/>
              </a:lnSpc>
              <a:spcBef>
                <a:spcPts val="400"/>
              </a:spcBef>
              <a:spcAft>
                <a:spcPts val="0"/>
              </a:spcAft>
              <a:buNone/>
            </a:pPr>
            <a:r>
              <a:rPr lang="en" sz="2100">
                <a:solidFill>
                  <a:srgbClr val="282828"/>
                </a:solidFill>
                <a:highlight>
                  <a:srgbClr val="FFFFFF"/>
                </a:highlight>
              </a:rPr>
              <a:t>on secure servers</a:t>
            </a:r>
            <a:endParaRPr sz="2100">
              <a:solidFill>
                <a:srgbClr val="282828"/>
              </a:solidFill>
              <a:highlight>
                <a:srgbClr val="FFFFFF"/>
              </a:highlight>
            </a:endParaRPr>
          </a:p>
          <a:p>
            <a:pPr indent="457200" lvl="0" marL="0" rtl="0" algn="l">
              <a:lnSpc>
                <a:spcPct val="100000"/>
              </a:lnSpc>
              <a:spcBef>
                <a:spcPts val="400"/>
              </a:spcBef>
              <a:spcAft>
                <a:spcPts val="0"/>
              </a:spcAft>
              <a:buNone/>
            </a:pPr>
            <a:r>
              <a:t/>
            </a:r>
            <a:endParaRPr sz="2100">
              <a:solidFill>
                <a:srgbClr val="282828"/>
              </a:solidFill>
              <a:highlight>
                <a:srgbClr val="FFFFFF"/>
              </a:highlight>
            </a:endParaRPr>
          </a:p>
          <a:p>
            <a:pPr indent="457200" lvl="0" marL="0" rtl="0" algn="l">
              <a:lnSpc>
                <a:spcPct val="100000"/>
              </a:lnSpc>
              <a:spcBef>
                <a:spcPts val="400"/>
              </a:spcBef>
              <a:spcAft>
                <a:spcPts val="0"/>
              </a:spcAft>
              <a:buNone/>
            </a:pPr>
            <a:r>
              <a:t/>
            </a:r>
            <a:endParaRPr sz="2100">
              <a:solidFill>
                <a:srgbClr val="282828"/>
              </a:solidFill>
              <a:highlight>
                <a:srgbClr val="FFFFFF"/>
              </a:highlight>
            </a:endParaRPr>
          </a:p>
          <a:p>
            <a:pPr indent="457200" lvl="0" marL="0" rtl="0" algn="l">
              <a:lnSpc>
                <a:spcPct val="100000"/>
              </a:lnSpc>
              <a:spcBef>
                <a:spcPts val="400"/>
              </a:spcBef>
              <a:spcAft>
                <a:spcPts val="0"/>
              </a:spcAft>
              <a:buNone/>
            </a:pPr>
            <a:r>
              <a:t/>
            </a:r>
            <a:endParaRPr sz="2100">
              <a:solidFill>
                <a:srgbClr val="282828"/>
              </a:solidFill>
              <a:highlight>
                <a:srgbClr val="FFFFFF"/>
              </a:highlight>
            </a:endParaRPr>
          </a:p>
          <a:p>
            <a:pPr indent="457200" lvl="0" marL="0" rtl="0" algn="l">
              <a:spcBef>
                <a:spcPts val="400"/>
              </a:spcBef>
              <a:spcAft>
                <a:spcPts val="0"/>
              </a:spcAft>
              <a:buNone/>
            </a:pPr>
            <a:r>
              <a:rPr lang="en" sz="2100">
                <a:solidFill>
                  <a:srgbClr val="282828"/>
                </a:solidFill>
                <a:highlight>
                  <a:srgbClr val="FFFFFF"/>
                </a:highlight>
              </a:rPr>
              <a:t>	</a:t>
            </a:r>
            <a:endParaRPr sz="2100">
              <a:solidFill>
                <a:srgbClr val="282828"/>
              </a:solidFill>
              <a:highlight>
                <a:srgbClr val="FFFFFF"/>
              </a:highlight>
            </a:endParaRPr>
          </a:p>
          <a:p>
            <a:pPr indent="457200" lvl="0" marL="0" rtl="0" algn="l">
              <a:spcBef>
                <a:spcPts val="0"/>
              </a:spcBef>
              <a:spcAft>
                <a:spcPts val="0"/>
              </a:spcAft>
              <a:buNone/>
            </a:pPr>
            <a:r>
              <a:t/>
            </a:r>
            <a:endParaRPr sz="2100">
              <a:solidFill>
                <a:srgbClr val="282828"/>
              </a:solidFill>
              <a:highlight>
                <a:srgbClr val="FFFFFF"/>
              </a:highlight>
            </a:endParaRPr>
          </a:p>
          <a:p>
            <a:pPr indent="457200" lvl="0" marL="0" rtl="0" algn="l">
              <a:spcBef>
                <a:spcPts val="0"/>
              </a:spcBef>
              <a:spcAft>
                <a:spcPts val="0"/>
              </a:spcAft>
              <a:buNone/>
            </a:pPr>
            <a:r>
              <a:t/>
            </a:r>
            <a:endParaRPr sz="1100"/>
          </a:p>
        </p:txBody>
      </p:sp>
      <p:sp>
        <p:nvSpPr>
          <p:cNvPr id="222" name="Google Shape;222;p23"/>
          <p:cNvSpPr/>
          <p:nvPr/>
        </p:nvSpPr>
        <p:spPr>
          <a:xfrm>
            <a:off x="4324650" y="2394725"/>
            <a:ext cx="406800" cy="472500"/>
          </a:xfrm>
          <a:prstGeom prst="rightArrow">
            <a:avLst>
              <a:gd fmla="val 50000" name="adj1"/>
              <a:gd fmla="val 50000" name="adj2"/>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3" name="Google Shape;223;p23"/>
          <p:cNvSpPr/>
          <p:nvPr/>
        </p:nvSpPr>
        <p:spPr>
          <a:xfrm rot="10800000">
            <a:off x="298175" y="1785300"/>
            <a:ext cx="486000" cy="2342400"/>
          </a:xfrm>
          <a:prstGeom prst="upDownArrow">
            <a:avLst>
              <a:gd fmla="val 50000" name="adj1"/>
              <a:gd fmla="val 50000" name="adj2"/>
            </a:avLst>
          </a:prstGeom>
          <a:gradFill>
            <a:gsLst>
              <a:gs pos="0">
                <a:srgbClr val="FFFFFF"/>
              </a:gs>
              <a:gs pos="57000">
                <a:srgbClr val="B8D4AB"/>
              </a:gs>
              <a:gs pos="100000">
                <a:srgbClr val="EA9999"/>
              </a:gs>
            </a:gsLst>
            <a:lin ang="16200038"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4" name="Google Shape;224;p23"/>
          <p:cNvSpPr txBox="1"/>
          <p:nvPr/>
        </p:nvSpPr>
        <p:spPr>
          <a:xfrm>
            <a:off x="38675" y="4074050"/>
            <a:ext cx="1005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Lato"/>
                <a:ea typeface="Lato"/>
                <a:cs typeface="Lato"/>
                <a:sym typeface="Lato"/>
              </a:rPr>
              <a:t>Highest</a:t>
            </a:r>
            <a:endParaRPr sz="1300">
              <a:solidFill>
                <a:schemeClr val="lt1"/>
              </a:solidFill>
              <a:latin typeface="Lato"/>
              <a:ea typeface="Lato"/>
              <a:cs typeface="Lato"/>
              <a:sym typeface="Lato"/>
            </a:endParaRPr>
          </a:p>
          <a:p>
            <a:pPr indent="0" lvl="0" marL="0" rtl="0" algn="ctr">
              <a:spcBef>
                <a:spcPts val="0"/>
              </a:spcBef>
              <a:spcAft>
                <a:spcPts val="0"/>
              </a:spcAft>
              <a:buNone/>
            </a:pPr>
            <a:r>
              <a:rPr lang="en" sz="1300">
                <a:solidFill>
                  <a:schemeClr val="lt1"/>
                </a:solidFill>
                <a:latin typeface="Lato"/>
                <a:ea typeface="Lato"/>
                <a:cs typeface="Lato"/>
                <a:sym typeface="Lato"/>
              </a:rPr>
              <a:t>Investment</a:t>
            </a:r>
            <a:endParaRPr sz="1300">
              <a:solidFill>
                <a:schemeClr val="lt1"/>
              </a:solidFill>
              <a:latin typeface="Lato"/>
              <a:ea typeface="Lato"/>
              <a:cs typeface="Lato"/>
              <a:sym typeface="Lato"/>
            </a:endParaRPr>
          </a:p>
        </p:txBody>
      </p:sp>
      <p:sp>
        <p:nvSpPr>
          <p:cNvPr id="225" name="Google Shape;225;p23"/>
          <p:cNvSpPr txBox="1"/>
          <p:nvPr/>
        </p:nvSpPr>
        <p:spPr>
          <a:xfrm>
            <a:off x="38675" y="1264125"/>
            <a:ext cx="1005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Lato"/>
                <a:ea typeface="Lato"/>
                <a:cs typeface="Lato"/>
                <a:sym typeface="Lato"/>
              </a:rPr>
              <a:t>Lowest</a:t>
            </a:r>
            <a:endParaRPr sz="1300">
              <a:solidFill>
                <a:schemeClr val="lt1"/>
              </a:solidFill>
              <a:latin typeface="Lato"/>
              <a:ea typeface="Lato"/>
              <a:cs typeface="Lato"/>
              <a:sym typeface="Lato"/>
            </a:endParaRPr>
          </a:p>
          <a:p>
            <a:pPr indent="0" lvl="0" marL="0" rtl="0" algn="ctr">
              <a:spcBef>
                <a:spcPts val="0"/>
              </a:spcBef>
              <a:spcAft>
                <a:spcPts val="0"/>
              </a:spcAft>
              <a:buNone/>
            </a:pPr>
            <a:r>
              <a:rPr lang="en" sz="1300">
                <a:solidFill>
                  <a:schemeClr val="lt1"/>
                </a:solidFill>
                <a:latin typeface="Lato"/>
                <a:ea typeface="Lato"/>
                <a:cs typeface="Lato"/>
                <a:sym typeface="Lato"/>
              </a:rPr>
              <a:t>Investment</a:t>
            </a:r>
            <a:endParaRPr sz="1300">
              <a:solidFill>
                <a:schemeClr val="lt1"/>
              </a:solidFill>
              <a:latin typeface="Lato"/>
              <a:ea typeface="Lato"/>
              <a:cs typeface="Lato"/>
              <a:sym typeface="Lato"/>
            </a:endParaRPr>
          </a:p>
        </p:txBody>
      </p:sp>
      <p:sp>
        <p:nvSpPr>
          <p:cNvPr id="226" name="Google Shape;226;p23"/>
          <p:cNvSpPr txBox="1"/>
          <p:nvPr/>
        </p:nvSpPr>
        <p:spPr>
          <a:xfrm>
            <a:off x="38675" y="4789500"/>
            <a:ext cx="7876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latin typeface="Montserrat"/>
                <a:ea typeface="Montserrat"/>
                <a:cs typeface="Montserrat"/>
                <a:sym typeface="Montserrat"/>
              </a:rPr>
              <a:t>Sources: https://hbr.org/2023/07/how-to-train-generative-ai-using-your-companys-data</a:t>
            </a:r>
            <a:endParaRPr sz="1100">
              <a:solidFill>
                <a:schemeClr val="lt1"/>
              </a:solidFill>
              <a:latin typeface="Montserrat"/>
              <a:ea typeface="Montserrat"/>
              <a:cs typeface="Montserrat"/>
              <a:sym typeface="Montserrat"/>
            </a:endParaRPr>
          </a:p>
        </p:txBody>
      </p:sp>
      <p:sp>
        <p:nvSpPr>
          <p:cNvPr id="227" name="Google Shape;227;p23"/>
          <p:cNvSpPr/>
          <p:nvPr/>
        </p:nvSpPr>
        <p:spPr>
          <a:xfrm>
            <a:off x="4324650" y="3376325"/>
            <a:ext cx="406800" cy="472500"/>
          </a:xfrm>
          <a:prstGeom prst="rightArrow">
            <a:avLst>
              <a:gd fmla="val 50000" name="adj1"/>
              <a:gd fmla="val 50000" name="adj2"/>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8" name="Google Shape;228;p23"/>
          <p:cNvSpPr txBox="1"/>
          <p:nvPr/>
        </p:nvSpPr>
        <p:spPr>
          <a:xfrm>
            <a:off x="4913700" y="2174900"/>
            <a:ext cx="38148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highlight>
                  <a:srgbClr val="FFFFFF"/>
                </a:highlight>
                <a:latin typeface="Montserrat"/>
                <a:ea typeface="Montserrat"/>
                <a:cs typeface="Montserrat"/>
                <a:sym typeface="Montserrat"/>
              </a:rPr>
              <a:t>Not always possible. </a:t>
            </a:r>
            <a:endParaRPr sz="1800">
              <a:solidFill>
                <a:schemeClr val="lt1"/>
              </a:solidFill>
              <a:highlight>
                <a:srgbClr val="FFFFFF"/>
              </a:highlight>
              <a:latin typeface="Montserrat"/>
              <a:ea typeface="Montserrat"/>
              <a:cs typeface="Montserrat"/>
              <a:sym typeface="Montserrat"/>
            </a:endParaRPr>
          </a:p>
          <a:p>
            <a:pPr indent="0" lvl="0" marL="0" rtl="0" algn="l">
              <a:spcBef>
                <a:spcPts val="0"/>
              </a:spcBef>
              <a:spcAft>
                <a:spcPts val="0"/>
              </a:spcAft>
              <a:buNone/>
            </a:pPr>
            <a:r>
              <a:rPr lang="en" sz="1800">
                <a:solidFill>
                  <a:schemeClr val="lt1"/>
                </a:solidFill>
                <a:highlight>
                  <a:srgbClr val="FFFFFF"/>
                </a:highlight>
                <a:latin typeface="Montserrat"/>
                <a:ea typeface="Montserrat"/>
                <a:cs typeface="Montserrat"/>
                <a:sym typeface="Montserrat"/>
              </a:rPr>
              <a:t>Care must be taken to ensure the data is properly obscured</a:t>
            </a:r>
            <a:endParaRPr sz="1800">
              <a:solidFill>
                <a:schemeClr val="lt1"/>
              </a:solidFill>
              <a:highlight>
                <a:srgbClr val="FFFFFF"/>
              </a:highlight>
              <a:latin typeface="Montserrat"/>
              <a:ea typeface="Montserrat"/>
              <a:cs typeface="Montserrat"/>
              <a:sym typeface="Montserrat"/>
            </a:endParaRPr>
          </a:p>
        </p:txBody>
      </p:sp>
      <p:sp>
        <p:nvSpPr>
          <p:cNvPr id="229" name="Google Shape;229;p23"/>
          <p:cNvSpPr txBox="1"/>
          <p:nvPr/>
        </p:nvSpPr>
        <p:spPr>
          <a:xfrm>
            <a:off x="4968650" y="3254800"/>
            <a:ext cx="38148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highlight>
                  <a:srgbClr val="FFFFFF"/>
                </a:highlight>
                <a:latin typeface="Montserrat"/>
                <a:ea typeface="Montserrat"/>
                <a:cs typeface="Montserrat"/>
                <a:sym typeface="Montserrat"/>
              </a:rPr>
              <a:t>Requires the most technical expertise but is probably safer if done right</a:t>
            </a:r>
            <a:endParaRPr sz="1800">
              <a:solidFill>
                <a:schemeClr val="lt1"/>
              </a:solidFill>
              <a:highlight>
                <a:srgbClr val="FFFFFF"/>
              </a:highlight>
              <a:latin typeface="Montserrat"/>
              <a:ea typeface="Montserrat"/>
              <a:cs typeface="Montserrat"/>
              <a:sym typeface="Montserrat"/>
            </a:endParaRPr>
          </a:p>
        </p:txBody>
      </p:sp>
      <p:sp>
        <p:nvSpPr>
          <p:cNvPr id="230" name="Google Shape;230;p23"/>
          <p:cNvSpPr/>
          <p:nvPr/>
        </p:nvSpPr>
        <p:spPr>
          <a:xfrm>
            <a:off x="4368600" y="1320375"/>
            <a:ext cx="406800" cy="472500"/>
          </a:xfrm>
          <a:prstGeom prst="rightArrow">
            <a:avLst>
              <a:gd fmla="val 50000" name="adj1"/>
              <a:gd fmla="val 50000" name="adj2"/>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1" name="Google Shape;231;p23"/>
          <p:cNvSpPr txBox="1"/>
          <p:nvPr/>
        </p:nvSpPr>
        <p:spPr>
          <a:xfrm>
            <a:off x="4968650" y="1048725"/>
            <a:ext cx="38148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highlight>
                  <a:srgbClr val="FFFFFF"/>
                </a:highlight>
                <a:latin typeface="Montserrat"/>
                <a:ea typeface="Montserrat"/>
                <a:cs typeface="Montserrat"/>
                <a:sym typeface="Montserrat"/>
              </a:rPr>
              <a:t>Least amount of expertise but other customizing may not be possible</a:t>
            </a:r>
            <a:endParaRPr sz="1800">
              <a:solidFill>
                <a:schemeClr val="lt1"/>
              </a:solidFill>
              <a:highlight>
                <a:srgbClr val="FFFFFF"/>
              </a:highlight>
              <a:latin typeface="Montserrat"/>
              <a:ea typeface="Montserrat"/>
              <a:cs typeface="Montserrat"/>
              <a:sym typeface="Montserrat"/>
            </a:endParaRPr>
          </a:p>
        </p:txBody>
      </p:sp>
      <p:sp>
        <p:nvSpPr>
          <p:cNvPr id="232" name="Google Shape;232;p23"/>
          <p:cNvSpPr txBox="1"/>
          <p:nvPr/>
        </p:nvSpPr>
        <p:spPr>
          <a:xfrm>
            <a:off x="0" y="0"/>
            <a:ext cx="9144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lt1"/>
                </a:solidFill>
                <a:latin typeface="Montserrat"/>
                <a:ea typeface="Montserrat"/>
                <a:cs typeface="Montserrat"/>
                <a:sym typeface="Montserrat"/>
              </a:rPr>
              <a:t>Secure AI solutions for protected data</a:t>
            </a:r>
            <a:endParaRPr b="1" sz="2800">
              <a:solidFill>
                <a:srgbClr val="282828"/>
              </a:solidFill>
              <a:highlight>
                <a:srgbClr val="FFFFFF"/>
              </a:highlight>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4"/>
          <p:cNvSpPr txBox="1"/>
          <p:nvPr>
            <p:ph type="title"/>
          </p:nvPr>
        </p:nvSpPr>
        <p:spPr>
          <a:xfrm>
            <a:off x="638875" y="866775"/>
            <a:ext cx="8505300" cy="3529500"/>
          </a:xfrm>
          <a:prstGeom prst="rect">
            <a:avLst/>
          </a:prstGeom>
        </p:spPr>
        <p:txBody>
          <a:bodyPr anchorCtr="0" anchor="ctr" bIns="91425" lIns="91425" spcFirstLastPara="1" rIns="91425" wrap="square" tIns="91425">
            <a:normAutofit/>
          </a:bodyPr>
          <a:lstStyle/>
          <a:p>
            <a:pPr indent="-368300" lvl="0" marL="457200" rtl="0" algn="l">
              <a:spcBef>
                <a:spcPts val="0"/>
              </a:spcBef>
              <a:spcAft>
                <a:spcPts val="0"/>
              </a:spcAft>
              <a:buSzPts val="2200"/>
              <a:buChar char="●"/>
            </a:pPr>
            <a:r>
              <a:rPr lang="en" sz="2200">
                <a:highlight>
                  <a:srgbClr val="FFFFFF"/>
                </a:highlight>
              </a:rPr>
              <a:t>Data Aggregation - summarize values to a higher level of grouping</a:t>
            </a:r>
            <a:endParaRPr sz="2200">
              <a:highlight>
                <a:srgbClr val="FFFFFF"/>
              </a:highlight>
            </a:endParaRPr>
          </a:p>
          <a:p>
            <a:pPr indent="0" lvl="0" marL="457200" rtl="0" algn="l">
              <a:spcBef>
                <a:spcPts val="0"/>
              </a:spcBef>
              <a:spcAft>
                <a:spcPts val="0"/>
              </a:spcAft>
              <a:buNone/>
            </a:pPr>
            <a:r>
              <a:t/>
            </a:r>
            <a:endParaRPr sz="2200">
              <a:highlight>
                <a:srgbClr val="FFFFFF"/>
              </a:highlight>
            </a:endParaRPr>
          </a:p>
          <a:p>
            <a:pPr indent="-368300" lvl="0" marL="457200" rtl="0" algn="l">
              <a:spcBef>
                <a:spcPts val="0"/>
              </a:spcBef>
              <a:spcAft>
                <a:spcPts val="0"/>
              </a:spcAft>
              <a:buSzPts val="2200"/>
              <a:buChar char="●"/>
            </a:pPr>
            <a:r>
              <a:rPr lang="en" sz="2200">
                <a:highlight>
                  <a:srgbClr val="FFFFFF"/>
                </a:highlight>
              </a:rPr>
              <a:t>Data Masking - Replace data with symbols</a:t>
            </a:r>
            <a:endParaRPr sz="2200">
              <a:highlight>
                <a:srgbClr val="FFFFFF"/>
              </a:highlight>
            </a:endParaRPr>
          </a:p>
          <a:p>
            <a:pPr indent="0" lvl="0" marL="457200" rtl="0" algn="l">
              <a:spcBef>
                <a:spcPts val="0"/>
              </a:spcBef>
              <a:spcAft>
                <a:spcPts val="0"/>
              </a:spcAft>
              <a:buNone/>
            </a:pPr>
            <a:r>
              <a:t/>
            </a:r>
            <a:endParaRPr sz="2200">
              <a:highlight>
                <a:srgbClr val="FFFFFF"/>
              </a:highlight>
            </a:endParaRPr>
          </a:p>
          <a:p>
            <a:pPr indent="-368300" lvl="0" marL="457200" rtl="0" algn="l">
              <a:spcBef>
                <a:spcPts val="0"/>
              </a:spcBef>
              <a:spcAft>
                <a:spcPts val="0"/>
              </a:spcAft>
              <a:buSzPts val="2200"/>
              <a:buChar char="●"/>
            </a:pPr>
            <a:r>
              <a:rPr lang="en" sz="2200">
                <a:highlight>
                  <a:srgbClr val="FFFFFF"/>
                </a:highlight>
              </a:rPr>
              <a:t>Data Anonymization - Replace data with fake data</a:t>
            </a:r>
            <a:endParaRPr sz="2200">
              <a:highlight>
                <a:srgbClr val="FFFFFF"/>
              </a:highlight>
            </a:endParaRPr>
          </a:p>
          <a:p>
            <a:pPr indent="0" lvl="0" marL="457200" rtl="0" algn="l">
              <a:spcBef>
                <a:spcPts val="0"/>
              </a:spcBef>
              <a:spcAft>
                <a:spcPts val="0"/>
              </a:spcAft>
              <a:buNone/>
            </a:pPr>
            <a:r>
              <a:t/>
            </a:r>
            <a:endParaRPr sz="2200">
              <a:highlight>
                <a:srgbClr val="FFFFFF"/>
              </a:highlight>
            </a:endParaRPr>
          </a:p>
          <a:p>
            <a:pPr indent="-368300" lvl="0" marL="457200" rtl="0" algn="l">
              <a:spcBef>
                <a:spcPts val="0"/>
              </a:spcBef>
              <a:spcAft>
                <a:spcPts val="0"/>
              </a:spcAft>
              <a:buSzPts val="2200"/>
              <a:buChar char="●"/>
            </a:pPr>
            <a:r>
              <a:rPr lang="en" sz="2200">
                <a:highlight>
                  <a:srgbClr val="FFFFFF"/>
                </a:highlight>
              </a:rPr>
              <a:t>Data Redaction - </a:t>
            </a:r>
            <a:r>
              <a:rPr lang="en" sz="2200">
                <a:highlight>
                  <a:srgbClr val="FFFFFF"/>
                </a:highlight>
              </a:rPr>
              <a:t>Remove</a:t>
            </a:r>
            <a:r>
              <a:rPr lang="en" sz="2200">
                <a:highlight>
                  <a:srgbClr val="FFFFFF"/>
                </a:highlight>
              </a:rPr>
              <a:t> the sensitive data</a:t>
            </a:r>
            <a:endParaRPr sz="2200">
              <a:highlight>
                <a:srgbClr val="FFFFFF"/>
              </a:highlight>
            </a:endParaRPr>
          </a:p>
        </p:txBody>
      </p:sp>
      <p:sp>
        <p:nvSpPr>
          <p:cNvPr id="238" name="Google Shape;238;p24"/>
          <p:cNvSpPr txBox="1"/>
          <p:nvPr/>
        </p:nvSpPr>
        <p:spPr>
          <a:xfrm>
            <a:off x="98275" y="4743300"/>
            <a:ext cx="8217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Source: </a:t>
            </a:r>
            <a:r>
              <a:rPr lang="en" sz="1100" u="sng">
                <a:solidFill>
                  <a:schemeClr val="accent2"/>
                </a:solidFill>
                <a:latin typeface="Montserrat"/>
                <a:ea typeface="Montserrat"/>
                <a:cs typeface="Montserrat"/>
                <a:sym typeface="Montserrat"/>
                <a:hlinkClick r:id="rId3">
                  <a:extLst>
                    <a:ext uri="{A12FA001-AC4F-418D-AE19-62706E023703}">
                      <ahyp:hlinkClr val="tx"/>
                    </a:ext>
                  </a:extLst>
                </a:hlinkClick>
              </a:rPr>
              <a:t>https://itechindia.co/us/blog/data-masking-and-data-anonymization-for-healthcare-ai/</a:t>
            </a:r>
            <a:r>
              <a:rPr lang="en" sz="1100">
                <a:solidFill>
                  <a:schemeClr val="lt1"/>
                </a:solidFill>
                <a:latin typeface="Montserrat"/>
                <a:ea typeface="Montserrat"/>
                <a:cs typeface="Montserrat"/>
                <a:sym typeface="Montserrat"/>
              </a:rPr>
              <a:t> </a:t>
            </a:r>
            <a:endParaRPr sz="1100"/>
          </a:p>
        </p:txBody>
      </p:sp>
      <p:sp>
        <p:nvSpPr>
          <p:cNvPr id="239" name="Google Shape;239;p24"/>
          <p:cNvSpPr txBox="1"/>
          <p:nvPr/>
        </p:nvSpPr>
        <p:spPr>
          <a:xfrm>
            <a:off x="0" y="0"/>
            <a:ext cx="9144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lt1"/>
                </a:solidFill>
                <a:latin typeface="Montserrat"/>
                <a:ea typeface="Montserrat"/>
                <a:cs typeface="Montserrat"/>
                <a:sym typeface="Montserrat"/>
              </a:rPr>
              <a:t>Data obscuring techniques</a:t>
            </a:r>
            <a:endParaRPr sz="2800">
              <a:solidFill>
                <a:srgbClr val="282828"/>
              </a:solidFill>
              <a:highlight>
                <a:srgbClr val="FFFFFF"/>
              </a:highlight>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5"/>
          <p:cNvSpPr txBox="1"/>
          <p:nvPr/>
        </p:nvSpPr>
        <p:spPr>
          <a:xfrm>
            <a:off x="98275" y="4743300"/>
            <a:ext cx="8217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Source: </a:t>
            </a:r>
            <a:r>
              <a:rPr lang="en" sz="1100" u="sng">
                <a:solidFill>
                  <a:schemeClr val="accent2"/>
                </a:solidFill>
                <a:latin typeface="Montserrat"/>
                <a:ea typeface="Montserrat"/>
                <a:cs typeface="Montserrat"/>
                <a:sym typeface="Montserrat"/>
                <a:hlinkClick r:id="rId3">
                  <a:extLst>
                    <a:ext uri="{A12FA001-AC4F-418D-AE19-62706E023703}">
                      <ahyp:hlinkClr val="tx"/>
                    </a:ext>
                  </a:extLst>
                </a:hlinkClick>
              </a:rPr>
              <a:t>https://itechindia.co/us/blog/data-masking-and-data-anonymization-for-healthcare-ai/</a:t>
            </a:r>
            <a:r>
              <a:rPr lang="en" sz="1100">
                <a:solidFill>
                  <a:schemeClr val="lt1"/>
                </a:solidFill>
                <a:latin typeface="Montserrat"/>
                <a:ea typeface="Montserrat"/>
                <a:cs typeface="Montserrat"/>
                <a:sym typeface="Montserrat"/>
              </a:rPr>
              <a:t> </a:t>
            </a:r>
            <a:endParaRPr sz="1100"/>
          </a:p>
        </p:txBody>
      </p:sp>
      <p:graphicFrame>
        <p:nvGraphicFramePr>
          <p:cNvPr id="245" name="Google Shape;245;p25"/>
          <p:cNvGraphicFramePr/>
          <p:nvPr/>
        </p:nvGraphicFramePr>
        <p:xfrm>
          <a:off x="542325" y="886525"/>
          <a:ext cx="3000000" cy="3000000"/>
        </p:xfrm>
        <a:graphic>
          <a:graphicData uri="http://schemas.openxmlformats.org/drawingml/2006/table">
            <a:tbl>
              <a:tblPr>
                <a:noFill/>
                <a:tableStyleId>{5B80F8E7-B656-48E8-BDD9-CA8F38D6F824}</a:tableStyleId>
              </a:tblPr>
              <a:tblGrid>
                <a:gridCol w="1677350"/>
                <a:gridCol w="1677350"/>
                <a:gridCol w="1677350"/>
                <a:gridCol w="1677350"/>
                <a:gridCol w="1677350"/>
              </a:tblGrid>
              <a:tr h="381000">
                <a:tc rowSpan="2">
                  <a:txBody>
                    <a:bodyPr/>
                    <a:lstStyle/>
                    <a:p>
                      <a:pPr indent="0" lvl="0" marL="0" rtl="0" algn="l">
                        <a:spcBef>
                          <a:spcPts val="0"/>
                        </a:spcBef>
                        <a:spcAft>
                          <a:spcPts val="0"/>
                        </a:spcAft>
                        <a:buNone/>
                      </a:pPr>
                      <a:r>
                        <a:rPr lang="en"/>
                        <a:t>Original Data</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Jane Doe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57</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Breast cancer</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734 555 1234</a:t>
                      </a:r>
                      <a:endParaRPr/>
                    </a:p>
                  </a:txBody>
                  <a:tcPr marT="91425" marB="91425" marR="91425" marL="91425">
                    <a:solidFill>
                      <a:srgbClr val="FFFFFF"/>
                    </a:solidFill>
                  </a:tcPr>
                </a:tc>
              </a:tr>
              <a:tr h="381000">
                <a:tc vMerge="1"/>
                <a:tc>
                  <a:txBody>
                    <a:bodyPr/>
                    <a:lstStyle/>
                    <a:p>
                      <a:pPr indent="0" lvl="0" marL="0" rtl="0" algn="l">
                        <a:spcBef>
                          <a:spcPts val="0"/>
                        </a:spcBef>
                        <a:spcAft>
                          <a:spcPts val="0"/>
                        </a:spcAft>
                        <a:buNone/>
                      </a:pPr>
                      <a:r>
                        <a:rPr lang="en"/>
                        <a:t>Sam Johnson</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45</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Breast cancer</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734 555 4321</a:t>
                      </a:r>
                      <a:endParaRPr/>
                    </a:p>
                  </a:txBody>
                  <a:tcPr marT="91425" marB="91425" marR="91425" marL="91425">
                    <a:solidFill>
                      <a:srgbClr val="FFFFFF"/>
                    </a:solidFill>
                  </a:tcPr>
                </a:tc>
              </a:tr>
              <a:tr h="381000">
                <a:tc>
                  <a:txBody>
                    <a:bodyPr/>
                    <a:lstStyle/>
                    <a:p>
                      <a:pPr indent="0" lvl="0" marL="0" rtl="0" algn="l">
                        <a:spcBef>
                          <a:spcPts val="0"/>
                        </a:spcBef>
                        <a:spcAft>
                          <a:spcPts val="0"/>
                        </a:spcAft>
                        <a:buNone/>
                      </a:pPr>
                      <a:r>
                        <a:rPr lang="en"/>
                        <a:t>Data Summarization</a:t>
                      </a:r>
                      <a:endParaRPr/>
                    </a:p>
                  </a:txBody>
                  <a:tcPr marT="91425" marB="91425" marR="91425" marL="91425">
                    <a:solidFill>
                      <a:srgbClr val="D9EAD3"/>
                    </a:solidFill>
                  </a:tcPr>
                </a:tc>
                <a:tc>
                  <a:txBody>
                    <a:bodyPr/>
                    <a:lstStyle/>
                    <a:p>
                      <a:pPr indent="0" lvl="0" marL="0" rtl="0" algn="l">
                        <a:spcBef>
                          <a:spcPts val="0"/>
                        </a:spcBef>
                        <a:spcAft>
                          <a:spcPts val="0"/>
                        </a:spcAft>
                        <a:buNone/>
                      </a:pPr>
                      <a:r>
                        <a:rPr lang="en"/>
                        <a:t>N = 2</a:t>
                      </a:r>
                      <a:endParaRPr/>
                    </a:p>
                  </a:txBody>
                  <a:tcPr marT="91425" marB="91425" marR="91425" marL="91425">
                    <a:solidFill>
                      <a:srgbClr val="D9EAD3"/>
                    </a:solidFill>
                  </a:tcPr>
                </a:tc>
                <a:tc>
                  <a:txBody>
                    <a:bodyPr/>
                    <a:lstStyle/>
                    <a:p>
                      <a:pPr indent="0" lvl="0" marL="0" rtl="0" algn="l">
                        <a:spcBef>
                          <a:spcPts val="0"/>
                        </a:spcBef>
                        <a:spcAft>
                          <a:spcPts val="0"/>
                        </a:spcAft>
                        <a:buNone/>
                      </a:pPr>
                      <a:r>
                        <a:rPr lang="en"/>
                        <a:t>Mean = 51</a:t>
                      </a:r>
                      <a:endParaRPr/>
                    </a:p>
                  </a:txBody>
                  <a:tcPr marT="91425" marB="91425" marR="91425" marL="91425">
                    <a:solidFill>
                      <a:srgbClr val="D9EAD3"/>
                    </a:solidFill>
                  </a:tcPr>
                </a:tc>
                <a:tc>
                  <a:txBody>
                    <a:bodyPr/>
                    <a:lstStyle/>
                    <a:p>
                      <a:pPr indent="0" lvl="0" marL="0" rtl="0" algn="l">
                        <a:spcBef>
                          <a:spcPts val="0"/>
                        </a:spcBef>
                        <a:spcAft>
                          <a:spcPts val="0"/>
                        </a:spcAft>
                        <a:buNone/>
                      </a:pPr>
                      <a:r>
                        <a:rPr lang="en"/>
                        <a:t>Breast cancer (2)</a:t>
                      </a:r>
                      <a:endParaRPr/>
                    </a:p>
                  </a:txBody>
                  <a:tcPr marT="91425" marB="91425" marR="91425" marL="91425">
                    <a:solidFill>
                      <a:srgbClr val="D9EAD3"/>
                    </a:solidFill>
                  </a:tcPr>
                </a:tc>
                <a:tc>
                  <a:txBody>
                    <a:bodyPr/>
                    <a:lstStyle/>
                    <a:p>
                      <a:pPr indent="0" lvl="0" marL="0" rtl="0" algn="l">
                        <a:spcBef>
                          <a:spcPts val="0"/>
                        </a:spcBef>
                        <a:spcAft>
                          <a:spcPts val="0"/>
                        </a:spcAft>
                        <a:buNone/>
                      </a:pPr>
                      <a:r>
                        <a:rPr lang="en"/>
                        <a:t>NA</a:t>
                      </a:r>
                      <a:endParaRPr/>
                    </a:p>
                  </a:txBody>
                  <a:tcPr marT="91425" marB="91425" marR="91425" marL="91425">
                    <a:solidFill>
                      <a:srgbClr val="D9EAD3"/>
                    </a:solidFill>
                  </a:tcPr>
                </a:tc>
              </a:tr>
              <a:tr h="381000">
                <a:tc rowSpan="2">
                  <a:txBody>
                    <a:bodyPr/>
                    <a:lstStyle/>
                    <a:p>
                      <a:pPr indent="0" lvl="0" marL="0" rtl="0" algn="l">
                        <a:spcBef>
                          <a:spcPts val="0"/>
                        </a:spcBef>
                        <a:spcAft>
                          <a:spcPts val="0"/>
                        </a:spcAft>
                        <a:buNone/>
                      </a:pPr>
                      <a:r>
                        <a:rPr lang="en"/>
                        <a:t>Data Masking </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 ***</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55 - 60 age group</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{some token}</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 *** ****</a:t>
                      </a:r>
                      <a:endParaRPr/>
                    </a:p>
                  </a:txBody>
                  <a:tcPr marT="91425" marB="91425" marR="91425" marL="91425">
                    <a:solidFill>
                      <a:srgbClr val="FFFFFF"/>
                    </a:solidFill>
                  </a:tcPr>
                </a:tc>
              </a:tr>
              <a:tr h="381000">
                <a:tc vMerge="1"/>
                <a:tc>
                  <a:txBody>
                    <a:bodyPr/>
                    <a:lstStyle/>
                    <a:p>
                      <a:pPr indent="0" lvl="0" marL="0" rtl="0" algn="l">
                        <a:spcBef>
                          <a:spcPts val="0"/>
                        </a:spcBef>
                        <a:spcAft>
                          <a:spcPts val="0"/>
                        </a:spcAft>
                        <a:buNone/>
                      </a:pPr>
                      <a:r>
                        <a:rPr lang="en"/>
                        <a:t>*** *******</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45 - 50 age group</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solidFill>
                            <a:schemeClr val="lt1"/>
                          </a:solidFill>
                        </a:rPr>
                        <a:t>{some token}</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solidFill>
                            <a:schemeClr val="lt1"/>
                          </a:solidFill>
                        </a:rPr>
                        <a:t>*** *** ****</a:t>
                      </a:r>
                      <a:endParaRPr/>
                    </a:p>
                  </a:txBody>
                  <a:tcPr marT="91425" marB="91425" marR="91425" marL="91425">
                    <a:solidFill>
                      <a:srgbClr val="FFFFFF"/>
                    </a:solidFill>
                  </a:tcPr>
                </a:tc>
              </a:tr>
              <a:tr h="381000">
                <a:tc rowSpan="2">
                  <a:txBody>
                    <a:bodyPr/>
                    <a:lstStyle/>
                    <a:p>
                      <a:pPr indent="0" lvl="0" marL="0" rtl="0" algn="l">
                        <a:spcBef>
                          <a:spcPts val="0"/>
                        </a:spcBef>
                        <a:spcAft>
                          <a:spcPts val="0"/>
                        </a:spcAft>
                        <a:buNone/>
                      </a:pPr>
                      <a:r>
                        <a:rPr lang="en"/>
                        <a:t>Data Anonymization</a:t>
                      </a:r>
                      <a:endParaRPr/>
                    </a:p>
                  </a:txBody>
                  <a:tcPr marT="91425" marB="91425" marR="91425" marL="91425">
                    <a:solidFill>
                      <a:srgbClr val="CFE2F3"/>
                    </a:solidFill>
                  </a:tcPr>
                </a:tc>
                <a:tc>
                  <a:txBody>
                    <a:bodyPr/>
                    <a:lstStyle/>
                    <a:p>
                      <a:pPr indent="0" lvl="0" marL="0" rtl="0" algn="l">
                        <a:spcBef>
                          <a:spcPts val="0"/>
                        </a:spcBef>
                        <a:spcAft>
                          <a:spcPts val="0"/>
                        </a:spcAft>
                        <a:buNone/>
                      </a:pPr>
                      <a:r>
                        <a:rPr lang="en"/>
                        <a:t>Jillian Thompson</a:t>
                      </a:r>
                      <a:endParaRPr/>
                    </a:p>
                  </a:txBody>
                  <a:tcPr marT="91425" marB="91425" marR="91425" marL="91425">
                    <a:solidFill>
                      <a:srgbClr val="CFE2F3"/>
                    </a:solidFill>
                  </a:tcPr>
                </a:tc>
                <a:tc>
                  <a:txBody>
                    <a:bodyPr/>
                    <a:lstStyle/>
                    <a:p>
                      <a:pPr indent="0" lvl="0" marL="0" rtl="0" algn="l">
                        <a:spcBef>
                          <a:spcPts val="0"/>
                        </a:spcBef>
                        <a:spcAft>
                          <a:spcPts val="0"/>
                        </a:spcAft>
                        <a:buNone/>
                      </a:pPr>
                      <a:r>
                        <a:rPr lang="en"/>
                        <a:t>46</a:t>
                      </a:r>
                      <a:endParaRPr/>
                    </a:p>
                  </a:txBody>
                  <a:tcPr marT="91425" marB="91425" marR="91425" marL="91425">
                    <a:solidFill>
                      <a:srgbClr val="CFE2F3"/>
                    </a:solidFill>
                  </a:tcPr>
                </a:tc>
                <a:tc>
                  <a:txBody>
                    <a:bodyPr/>
                    <a:lstStyle/>
                    <a:p>
                      <a:pPr indent="0" lvl="0" marL="0" rtl="0" algn="l">
                        <a:spcBef>
                          <a:spcPts val="0"/>
                        </a:spcBef>
                        <a:spcAft>
                          <a:spcPts val="0"/>
                        </a:spcAft>
                        <a:buNone/>
                      </a:pPr>
                      <a:r>
                        <a:rPr lang="en"/>
                        <a:t>Breast cancer</a:t>
                      </a:r>
                      <a:endParaRPr/>
                    </a:p>
                  </a:txBody>
                  <a:tcPr marT="91425" marB="91425" marR="91425" marL="91425">
                    <a:solidFill>
                      <a:srgbClr val="CFE2F3"/>
                    </a:solidFill>
                  </a:tcPr>
                </a:tc>
                <a:tc>
                  <a:txBody>
                    <a:bodyPr/>
                    <a:lstStyle/>
                    <a:p>
                      <a:pPr indent="0" lvl="0" marL="0" rtl="0" algn="l">
                        <a:spcBef>
                          <a:spcPts val="0"/>
                        </a:spcBef>
                        <a:spcAft>
                          <a:spcPts val="0"/>
                        </a:spcAft>
                        <a:buNone/>
                      </a:pPr>
                      <a:r>
                        <a:rPr lang="en"/>
                        <a:t>755 123 5555</a:t>
                      </a:r>
                      <a:endParaRPr/>
                    </a:p>
                  </a:txBody>
                  <a:tcPr marT="91425" marB="91425" marR="91425" marL="91425">
                    <a:solidFill>
                      <a:srgbClr val="CFE2F3"/>
                    </a:solidFill>
                  </a:tcPr>
                </a:tc>
              </a:tr>
              <a:tr h="381000">
                <a:tc vMerge="1"/>
                <a:tc>
                  <a:txBody>
                    <a:bodyPr/>
                    <a:lstStyle/>
                    <a:p>
                      <a:pPr indent="0" lvl="0" marL="0" rtl="0" algn="l">
                        <a:spcBef>
                          <a:spcPts val="0"/>
                        </a:spcBef>
                        <a:spcAft>
                          <a:spcPts val="0"/>
                        </a:spcAft>
                        <a:buNone/>
                      </a:pPr>
                      <a:r>
                        <a:rPr lang="en"/>
                        <a:t>Gertrude Smith</a:t>
                      </a:r>
                      <a:endParaRPr/>
                    </a:p>
                  </a:txBody>
                  <a:tcPr marT="91425" marB="91425" marR="91425" marL="91425">
                    <a:solidFill>
                      <a:srgbClr val="CFE2F3"/>
                    </a:solidFill>
                  </a:tcPr>
                </a:tc>
                <a:tc>
                  <a:txBody>
                    <a:bodyPr/>
                    <a:lstStyle/>
                    <a:p>
                      <a:pPr indent="0" lvl="0" marL="0" rtl="0" algn="l">
                        <a:spcBef>
                          <a:spcPts val="0"/>
                        </a:spcBef>
                        <a:spcAft>
                          <a:spcPts val="0"/>
                        </a:spcAft>
                        <a:buNone/>
                      </a:pPr>
                      <a:r>
                        <a:rPr lang="en"/>
                        <a:t>58</a:t>
                      </a:r>
                      <a:endParaRPr/>
                    </a:p>
                  </a:txBody>
                  <a:tcPr marT="91425" marB="91425" marR="91425" marL="91425">
                    <a:solidFill>
                      <a:srgbClr val="CFE2F3"/>
                    </a:solidFill>
                  </a:tcPr>
                </a:tc>
                <a:tc>
                  <a:txBody>
                    <a:bodyPr/>
                    <a:lstStyle/>
                    <a:p>
                      <a:pPr indent="0" lvl="0" marL="0" rtl="0" algn="l">
                        <a:spcBef>
                          <a:spcPts val="0"/>
                        </a:spcBef>
                        <a:spcAft>
                          <a:spcPts val="0"/>
                        </a:spcAft>
                        <a:buNone/>
                      </a:pPr>
                      <a:r>
                        <a:rPr lang="en"/>
                        <a:t>Breast cancer</a:t>
                      </a:r>
                      <a:endParaRPr/>
                    </a:p>
                  </a:txBody>
                  <a:tcPr marT="91425" marB="91425" marR="91425" marL="91425">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n"/>
                        <a:t>644 123 5555</a:t>
                      </a:r>
                      <a:endParaRPr/>
                    </a:p>
                  </a:txBody>
                  <a:tcPr marT="91425" marB="91425" marR="91425" marL="91425">
                    <a:solidFill>
                      <a:srgbClr val="CFE2F3"/>
                    </a:solidFill>
                  </a:tcPr>
                </a:tc>
              </a:tr>
              <a:tr h="381000">
                <a:tc rowSpan="2">
                  <a:txBody>
                    <a:bodyPr/>
                    <a:lstStyle/>
                    <a:p>
                      <a:pPr indent="0" lvl="0" marL="0" rtl="0" algn="l">
                        <a:spcBef>
                          <a:spcPts val="0"/>
                        </a:spcBef>
                        <a:spcAft>
                          <a:spcPts val="0"/>
                        </a:spcAft>
                        <a:buNone/>
                      </a:pPr>
                      <a:r>
                        <a:rPr lang="en"/>
                        <a:t>Data redaction </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NA</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57</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t>Breast cancer</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t>NA</a:t>
                      </a:r>
                      <a:endParaRPr/>
                    </a:p>
                  </a:txBody>
                  <a:tcPr marT="91425" marB="91425" marR="91425" marL="91425">
                    <a:lnL cap="flat" cmpd="sng" w="9525">
                      <a:solidFill>
                        <a:srgbClr val="9E9E9E"/>
                      </a:solidFill>
                      <a:prstDash val="solid"/>
                      <a:round/>
                      <a:headEnd len="sm" w="sm" type="none"/>
                      <a:tailEnd len="sm" w="sm" type="none"/>
                    </a:lnL>
                    <a:solidFill>
                      <a:srgbClr val="FFFFFF"/>
                    </a:solidFill>
                  </a:tcPr>
                </a:tc>
              </a:tr>
              <a:tr h="381000">
                <a:tc vMerge="1"/>
                <a:tc>
                  <a:txBody>
                    <a:bodyPr/>
                    <a:lstStyle/>
                    <a:p>
                      <a:pPr indent="0" lvl="0" marL="0" rtl="0" algn="l">
                        <a:spcBef>
                          <a:spcPts val="0"/>
                        </a:spcBef>
                        <a:spcAft>
                          <a:spcPts val="0"/>
                        </a:spcAft>
                        <a:buNone/>
                      </a:pPr>
                      <a:r>
                        <a:rPr lang="en"/>
                        <a:t>NA</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45</a:t>
                      </a:r>
                      <a:endParaRPr/>
                    </a:p>
                  </a:txBody>
                  <a:tcPr marT="91425" marB="91425" marR="91425" marL="91425">
                    <a:lnR cap="flat" cmpd="sng" w="9525">
                      <a:solidFill>
                        <a:srgbClr val="9E9E9E"/>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a:t>Breast cancer</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t>NA</a:t>
                      </a:r>
                      <a:endParaRPr/>
                    </a:p>
                  </a:txBody>
                  <a:tcPr marT="91425" marB="91425" marR="91425" marL="91425">
                    <a:lnL cap="flat" cmpd="sng" w="9525">
                      <a:solidFill>
                        <a:srgbClr val="9E9E9E"/>
                      </a:solidFill>
                      <a:prstDash val="solid"/>
                      <a:round/>
                      <a:headEnd len="sm" w="sm" type="none"/>
                      <a:tailEnd len="sm" w="sm" type="none"/>
                    </a:lnL>
                    <a:solidFill>
                      <a:srgbClr val="FFFFFF"/>
                    </a:solidFill>
                  </a:tcPr>
                </a:tc>
              </a:tr>
            </a:tbl>
          </a:graphicData>
        </a:graphic>
      </p:graphicFrame>
      <p:cxnSp>
        <p:nvCxnSpPr>
          <p:cNvPr id="246" name="Google Shape;246;p25"/>
          <p:cNvCxnSpPr/>
          <p:nvPr/>
        </p:nvCxnSpPr>
        <p:spPr>
          <a:xfrm>
            <a:off x="541425" y="1664775"/>
            <a:ext cx="8413800" cy="10800"/>
          </a:xfrm>
          <a:prstGeom prst="straightConnector1">
            <a:avLst/>
          </a:prstGeom>
          <a:noFill/>
          <a:ln cap="flat" cmpd="sng" w="76200">
            <a:solidFill>
              <a:schemeClr val="dk2"/>
            </a:solidFill>
            <a:prstDash val="solid"/>
            <a:round/>
            <a:headEnd len="med" w="med" type="none"/>
            <a:tailEnd len="med" w="med" type="none"/>
          </a:ln>
        </p:spPr>
      </p:cxnSp>
      <p:cxnSp>
        <p:nvCxnSpPr>
          <p:cNvPr id="247" name="Google Shape;247;p25"/>
          <p:cNvCxnSpPr/>
          <p:nvPr/>
        </p:nvCxnSpPr>
        <p:spPr>
          <a:xfrm>
            <a:off x="528800" y="2288475"/>
            <a:ext cx="8413800" cy="10800"/>
          </a:xfrm>
          <a:prstGeom prst="straightConnector1">
            <a:avLst/>
          </a:prstGeom>
          <a:noFill/>
          <a:ln cap="flat" cmpd="sng" w="38100">
            <a:solidFill>
              <a:schemeClr val="dk2"/>
            </a:solidFill>
            <a:prstDash val="solid"/>
            <a:round/>
            <a:headEnd len="med" w="med" type="none"/>
            <a:tailEnd len="med" w="med" type="none"/>
          </a:ln>
        </p:spPr>
      </p:cxnSp>
      <p:cxnSp>
        <p:nvCxnSpPr>
          <p:cNvPr id="248" name="Google Shape;248;p25"/>
          <p:cNvCxnSpPr/>
          <p:nvPr/>
        </p:nvCxnSpPr>
        <p:spPr>
          <a:xfrm>
            <a:off x="541425" y="3080875"/>
            <a:ext cx="8413800" cy="10800"/>
          </a:xfrm>
          <a:prstGeom prst="straightConnector1">
            <a:avLst/>
          </a:prstGeom>
          <a:noFill/>
          <a:ln cap="flat" cmpd="sng" w="38100">
            <a:solidFill>
              <a:schemeClr val="dk2"/>
            </a:solidFill>
            <a:prstDash val="solid"/>
            <a:round/>
            <a:headEnd len="med" w="med" type="none"/>
            <a:tailEnd len="med" w="med" type="none"/>
          </a:ln>
        </p:spPr>
      </p:cxnSp>
      <p:cxnSp>
        <p:nvCxnSpPr>
          <p:cNvPr id="249" name="Google Shape;249;p25"/>
          <p:cNvCxnSpPr/>
          <p:nvPr/>
        </p:nvCxnSpPr>
        <p:spPr>
          <a:xfrm>
            <a:off x="541425" y="3873275"/>
            <a:ext cx="8413800" cy="10800"/>
          </a:xfrm>
          <a:prstGeom prst="straightConnector1">
            <a:avLst/>
          </a:prstGeom>
          <a:noFill/>
          <a:ln cap="flat" cmpd="sng" w="38100">
            <a:solidFill>
              <a:schemeClr val="dk2"/>
            </a:solidFill>
            <a:prstDash val="solid"/>
            <a:round/>
            <a:headEnd len="med" w="med" type="none"/>
            <a:tailEnd len="med" w="med" type="none"/>
          </a:ln>
        </p:spPr>
      </p:cxnSp>
      <p:sp>
        <p:nvSpPr>
          <p:cNvPr id="250" name="Google Shape;250;p25"/>
          <p:cNvSpPr txBox="1"/>
          <p:nvPr/>
        </p:nvSpPr>
        <p:spPr>
          <a:xfrm>
            <a:off x="0" y="0"/>
            <a:ext cx="91440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lt1"/>
                </a:solidFill>
                <a:latin typeface="Montserrat"/>
                <a:ea typeface="Montserrat"/>
                <a:cs typeface="Montserrat"/>
                <a:sym typeface="Montserrat"/>
              </a:rPr>
              <a:t>Data obscuring technique</a:t>
            </a:r>
            <a:endParaRPr sz="2800">
              <a:solidFill>
                <a:schemeClr val="lt1"/>
              </a:solidFill>
              <a:latin typeface="Montserrat"/>
              <a:ea typeface="Montserrat"/>
              <a:cs typeface="Montserrat"/>
              <a:sym typeface="Montserrat"/>
            </a:endParaRPr>
          </a:p>
          <a:p>
            <a:pPr indent="0" lvl="0" marL="0" rtl="0" algn="ctr">
              <a:spcBef>
                <a:spcPts val="0"/>
              </a:spcBef>
              <a:spcAft>
                <a:spcPts val="0"/>
              </a:spcAft>
              <a:buNone/>
            </a:pPr>
            <a:r>
              <a:rPr i="1" lang="en" sz="2000">
                <a:solidFill>
                  <a:schemeClr val="lt1"/>
                </a:solidFill>
                <a:latin typeface="Montserrat"/>
                <a:ea typeface="Montserrat"/>
                <a:cs typeface="Montserrat"/>
                <a:sym typeface="Montserrat"/>
              </a:rPr>
              <a:t>toy example</a:t>
            </a:r>
            <a:endParaRPr i="1" sz="2000">
              <a:solidFill>
                <a:schemeClr val="lt1"/>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6"/>
          <p:cNvSpPr txBox="1"/>
          <p:nvPr>
            <p:ph type="title"/>
          </p:nvPr>
        </p:nvSpPr>
        <p:spPr>
          <a:xfrm>
            <a:off x="823850" y="270700"/>
            <a:ext cx="7936500" cy="4461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2890"/>
              <a:t>What </a:t>
            </a:r>
            <a:r>
              <a:rPr b="1" lang="en" sz="2890"/>
              <a:t>obscuring technique</a:t>
            </a:r>
            <a:r>
              <a:rPr lang="en" sz="2890"/>
              <a:t> you employ depends on: </a:t>
            </a:r>
            <a:endParaRPr sz="2890"/>
          </a:p>
          <a:p>
            <a:pPr indent="0" lvl="0" marL="0" rtl="0" algn="l">
              <a:spcBef>
                <a:spcPts val="0"/>
              </a:spcBef>
              <a:spcAft>
                <a:spcPts val="0"/>
              </a:spcAft>
              <a:buSzPts val="990"/>
              <a:buNone/>
            </a:pPr>
            <a:r>
              <a:t/>
            </a:r>
            <a:endParaRPr sz="2890"/>
          </a:p>
          <a:p>
            <a:pPr indent="0" lvl="0" marL="0" rtl="0" algn="l">
              <a:spcBef>
                <a:spcPts val="0"/>
              </a:spcBef>
              <a:spcAft>
                <a:spcPts val="0"/>
              </a:spcAft>
              <a:buSzPts val="990"/>
              <a:buNone/>
            </a:pPr>
            <a:r>
              <a:rPr lang="en" sz="2390">
                <a:highlight>
                  <a:srgbClr val="FFFFFF"/>
                </a:highlight>
              </a:rPr>
              <a:t>1) What are the </a:t>
            </a:r>
            <a:r>
              <a:rPr b="1" lang="en" sz="2390">
                <a:highlight>
                  <a:srgbClr val="FFFFFF"/>
                </a:highlight>
              </a:rPr>
              <a:t>most sensitive items </a:t>
            </a:r>
            <a:r>
              <a:rPr lang="en" sz="2390">
                <a:highlight>
                  <a:srgbClr val="FFFFFF"/>
                </a:highlight>
              </a:rPr>
              <a:t>are included in your data? </a:t>
            </a:r>
            <a:endParaRPr sz="2390">
              <a:highlight>
                <a:srgbClr val="FFFFFF"/>
              </a:highlight>
            </a:endParaRPr>
          </a:p>
          <a:p>
            <a:pPr indent="0" lvl="0" marL="0" rtl="0" algn="l">
              <a:spcBef>
                <a:spcPts val="0"/>
              </a:spcBef>
              <a:spcAft>
                <a:spcPts val="0"/>
              </a:spcAft>
              <a:buClr>
                <a:schemeClr val="lt1"/>
              </a:buClr>
              <a:buSzPts val="990"/>
              <a:buFont typeface="Arial"/>
              <a:buNone/>
            </a:pPr>
            <a:r>
              <a:t/>
            </a:r>
            <a:endParaRPr sz="2390">
              <a:highlight>
                <a:srgbClr val="FFFFFF"/>
              </a:highlight>
            </a:endParaRPr>
          </a:p>
          <a:p>
            <a:pPr indent="0" lvl="0" marL="0" rtl="0" algn="l">
              <a:spcBef>
                <a:spcPts val="0"/>
              </a:spcBef>
              <a:spcAft>
                <a:spcPts val="0"/>
              </a:spcAft>
              <a:buClr>
                <a:schemeClr val="lt1"/>
              </a:buClr>
              <a:buSzPts val="990"/>
              <a:buFont typeface="Arial"/>
              <a:buNone/>
            </a:pPr>
            <a:r>
              <a:rPr lang="en" sz="2390">
                <a:highlight>
                  <a:srgbClr val="FFFFFF"/>
                </a:highlight>
              </a:rPr>
              <a:t>2) What is the </a:t>
            </a:r>
            <a:r>
              <a:rPr b="1" lang="en" sz="2390">
                <a:highlight>
                  <a:srgbClr val="FFFFFF"/>
                </a:highlight>
              </a:rPr>
              <a:t>minimum amount of information</a:t>
            </a:r>
            <a:r>
              <a:rPr lang="en" sz="2390">
                <a:highlight>
                  <a:srgbClr val="FFFFFF"/>
                </a:highlight>
              </a:rPr>
              <a:t> you could include in the AI model or input in order to achieve the desired goals?</a:t>
            </a:r>
            <a:r>
              <a:rPr lang="en" sz="2390"/>
              <a:t> </a:t>
            </a:r>
            <a:endParaRPr sz="2390"/>
          </a:p>
          <a:p>
            <a:pPr indent="0" lvl="0" marL="0" rtl="0" algn="l">
              <a:spcBef>
                <a:spcPts val="0"/>
              </a:spcBef>
              <a:spcAft>
                <a:spcPts val="0"/>
              </a:spcAft>
              <a:buSzPts val="990"/>
              <a:buNone/>
            </a:pPr>
            <a:r>
              <a:t/>
            </a:r>
            <a:endParaRPr sz="289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graphicFrame>
        <p:nvGraphicFramePr>
          <p:cNvPr id="260" name="Google Shape;260;p27"/>
          <p:cNvGraphicFramePr/>
          <p:nvPr/>
        </p:nvGraphicFramePr>
        <p:xfrm>
          <a:off x="1261113" y="1337113"/>
          <a:ext cx="3000000" cy="3000000"/>
        </p:xfrm>
        <a:graphic>
          <a:graphicData uri="http://schemas.openxmlformats.org/drawingml/2006/table">
            <a:tbl>
              <a:tblPr>
                <a:noFill/>
                <a:tableStyleId>{5B80F8E7-B656-48E8-BDD9-CA8F38D6F824}</a:tableStyleId>
              </a:tblPr>
              <a:tblGrid>
                <a:gridCol w="2560875"/>
                <a:gridCol w="2560875"/>
                <a:gridCol w="2560875"/>
              </a:tblGrid>
              <a:tr h="427325">
                <a:tc>
                  <a:txBody>
                    <a:bodyPr/>
                    <a:lstStyle/>
                    <a:p>
                      <a:pPr indent="0" lvl="0" marL="0" rtl="0" algn="l">
                        <a:spcBef>
                          <a:spcPts val="0"/>
                        </a:spcBef>
                        <a:spcAft>
                          <a:spcPts val="0"/>
                        </a:spcAft>
                        <a:buNone/>
                      </a:pPr>
                      <a:r>
                        <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Pros/Cons</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Links</a:t>
                      </a:r>
                      <a:endParaRPr/>
                    </a:p>
                  </a:txBody>
                  <a:tcPr marT="91425" marB="91425" marR="91425" marL="91425">
                    <a:solidFill>
                      <a:srgbClr val="FFFFFF"/>
                    </a:solidFill>
                  </a:tcPr>
                </a:tc>
              </a:tr>
              <a:tr h="427325">
                <a:tc>
                  <a:txBody>
                    <a:bodyPr/>
                    <a:lstStyle/>
                    <a:p>
                      <a:pPr indent="0" lvl="0" marL="0" rtl="0" algn="l">
                        <a:spcBef>
                          <a:spcPts val="0"/>
                        </a:spcBef>
                        <a:spcAft>
                          <a:spcPts val="0"/>
                        </a:spcAft>
                        <a:buNone/>
                      </a:pPr>
                      <a:r>
                        <a:rPr lang="en"/>
                        <a:t>PrivateAI</a:t>
                      </a:r>
                      <a:endParaRPr/>
                    </a:p>
                  </a:txBody>
                  <a:tcPr marT="91425" marB="91425" marR="91425" marL="91425">
                    <a:solidFill>
                      <a:srgbClr val="FFFFFF"/>
                    </a:solidFill>
                  </a:tcPr>
                </a:tc>
                <a:tc>
                  <a:txBody>
                    <a:bodyPr/>
                    <a:lstStyle/>
                    <a:p>
                      <a:pPr indent="-317500" lvl="0" marL="457200" rtl="0" algn="l">
                        <a:spcBef>
                          <a:spcPts val="0"/>
                        </a:spcBef>
                        <a:spcAft>
                          <a:spcPts val="0"/>
                        </a:spcAft>
                        <a:buSzPts val="1400"/>
                        <a:buChar char="●"/>
                      </a:pPr>
                      <a:r>
                        <a:rPr lang="en"/>
                        <a:t>Minimal technical expertise required</a:t>
                      </a:r>
                      <a:endParaRPr/>
                    </a:p>
                    <a:p>
                      <a:pPr indent="-317500" lvl="0" marL="457200" rtl="0" algn="l">
                        <a:spcBef>
                          <a:spcPts val="0"/>
                        </a:spcBef>
                        <a:spcAft>
                          <a:spcPts val="0"/>
                        </a:spcAft>
                        <a:buSzPts val="1400"/>
                        <a:buChar char="●"/>
                      </a:pPr>
                      <a:r>
                        <a:rPr lang="en"/>
                        <a:t>Subscription service</a:t>
                      </a:r>
                      <a:endParaRPr/>
                    </a:p>
                  </a:txBody>
                  <a:tcPr marT="91425" marB="91425" marR="91425" marL="91425">
                    <a:solidFill>
                      <a:srgbClr val="FFFFFF"/>
                    </a:solidFill>
                  </a:tcPr>
                </a:tc>
                <a:tc>
                  <a:txBody>
                    <a:bodyPr/>
                    <a:lstStyle/>
                    <a:p>
                      <a:pPr indent="0" lvl="0" marL="0" rtl="0" algn="l">
                        <a:spcBef>
                          <a:spcPts val="0"/>
                        </a:spcBef>
                        <a:spcAft>
                          <a:spcPts val="0"/>
                        </a:spcAft>
                        <a:buClr>
                          <a:schemeClr val="lt1"/>
                        </a:buClr>
                        <a:buSzPts val="1100"/>
                        <a:buFont typeface="Arial"/>
                        <a:buNone/>
                      </a:pPr>
                      <a:r>
                        <a:rPr lang="en" u="sng">
                          <a:solidFill>
                            <a:schemeClr val="accent2"/>
                          </a:solidFill>
                          <a:hlinkClick r:id="rId3">
                            <a:extLst>
                              <a:ext uri="{A12FA001-AC4F-418D-AE19-62706E023703}">
                                <ahyp:hlinkClr val="tx"/>
                              </a:ext>
                            </a:extLst>
                          </a:hlinkClick>
                        </a:rPr>
                        <a:t>Private AI</a:t>
                      </a:r>
                      <a:r>
                        <a:rPr lang="en">
                          <a:solidFill>
                            <a:schemeClr val="lt1"/>
                          </a:solidFill>
                        </a:rPr>
                        <a:t> </a:t>
                      </a:r>
                      <a:endParaRPr/>
                    </a:p>
                  </a:txBody>
                  <a:tcPr marT="91425" marB="91425" marR="91425" marL="91425">
                    <a:solidFill>
                      <a:srgbClr val="FFFFFF"/>
                    </a:solidFill>
                  </a:tcPr>
                </a:tc>
              </a:tr>
              <a:tr h="887575">
                <a:tc>
                  <a:txBody>
                    <a:bodyPr/>
                    <a:lstStyle/>
                    <a:p>
                      <a:pPr indent="0" lvl="0" marL="0" rtl="0" algn="l">
                        <a:spcBef>
                          <a:spcPts val="0"/>
                        </a:spcBef>
                        <a:spcAft>
                          <a:spcPts val="0"/>
                        </a:spcAft>
                        <a:buNone/>
                      </a:pPr>
                      <a:r>
                        <a:rPr lang="en"/>
                        <a:t>deidentify Python package</a:t>
                      </a:r>
                      <a:endParaRPr/>
                    </a:p>
                  </a:txBody>
                  <a:tcPr marT="91425" marB="91425" marR="91425" marL="91425">
                    <a:lnB cap="flat" cmpd="sng" w="952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t>Python language </a:t>
                      </a:r>
                      <a:endParaRPr/>
                    </a:p>
                  </a:txBody>
                  <a:tcPr marT="91425" marB="91425" marR="91425" marL="91425">
                    <a:lnB cap="flat" cmpd="sng" w="952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u="sng">
                          <a:solidFill>
                            <a:schemeClr val="hlink"/>
                          </a:solidFill>
                          <a:hlinkClick r:id="rId4"/>
                        </a:rPr>
                        <a:t>deidentify · PyPI</a:t>
                      </a:r>
                      <a:r>
                        <a:rPr lang="en"/>
                        <a:t> </a:t>
                      </a:r>
                      <a:endParaRPr/>
                    </a:p>
                  </a:txBody>
                  <a:tcPr marT="91425" marB="91425" marR="91425" marL="91425">
                    <a:lnB cap="flat" cmpd="sng" w="9525">
                      <a:solidFill>
                        <a:srgbClr val="9E9E9E"/>
                      </a:solidFill>
                      <a:prstDash val="solid"/>
                      <a:round/>
                      <a:headEnd len="sm" w="sm" type="none"/>
                      <a:tailEnd len="sm" w="sm" type="none"/>
                    </a:lnB>
                    <a:solidFill>
                      <a:srgbClr val="FFFFFF"/>
                    </a:solidFill>
                  </a:tcPr>
                </a:tc>
              </a:tr>
              <a:tr h="887575">
                <a:tc>
                  <a:txBody>
                    <a:bodyPr/>
                    <a:lstStyle/>
                    <a:p>
                      <a:pPr indent="0" lvl="0" marL="0" rtl="0" algn="l">
                        <a:spcBef>
                          <a:spcPts val="0"/>
                        </a:spcBef>
                        <a:spcAft>
                          <a:spcPts val="0"/>
                        </a:spcAft>
                        <a:buNone/>
                      </a:pPr>
                      <a:r>
                        <a:rPr lang="en"/>
                        <a:t>AWS servers + HuggingFace model build</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t>Technical expertise needed</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u="sng">
                          <a:solidFill>
                            <a:schemeClr val="accent2"/>
                          </a:solidFill>
                          <a:hlinkClick r:id="rId5">
                            <a:extLst>
                              <a:ext uri="{A12FA001-AC4F-418D-AE19-62706E023703}">
                                <ahyp:hlinkClr val="tx"/>
                              </a:ext>
                            </a:extLst>
                          </a:hlinkClick>
                        </a:rPr>
                        <a:t>HIPAA Compliance - Amazon Web Services (AWS)</a:t>
                      </a:r>
                      <a:r>
                        <a:rPr lang="en">
                          <a:solidFill>
                            <a:schemeClr val="lt1"/>
                          </a:solidFill>
                        </a:rPr>
                        <a:t>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bl>
          </a:graphicData>
        </a:graphic>
      </p:graphicFrame>
      <p:sp>
        <p:nvSpPr>
          <p:cNvPr id="261" name="Google Shape;261;p27"/>
          <p:cNvSpPr/>
          <p:nvPr/>
        </p:nvSpPr>
        <p:spPr>
          <a:xfrm rot="10800000">
            <a:off x="298175" y="1785300"/>
            <a:ext cx="486000" cy="2342400"/>
          </a:xfrm>
          <a:prstGeom prst="upDownArrow">
            <a:avLst>
              <a:gd fmla="val 50000" name="adj1"/>
              <a:gd fmla="val 50000" name="adj2"/>
            </a:avLst>
          </a:prstGeom>
          <a:gradFill>
            <a:gsLst>
              <a:gs pos="0">
                <a:srgbClr val="FFFFFF"/>
              </a:gs>
              <a:gs pos="57000">
                <a:srgbClr val="B8D4AB"/>
              </a:gs>
              <a:gs pos="100000">
                <a:srgbClr val="EA9999"/>
              </a:gs>
            </a:gsLst>
            <a:lin ang="16200038"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2" name="Google Shape;262;p27"/>
          <p:cNvSpPr txBox="1"/>
          <p:nvPr/>
        </p:nvSpPr>
        <p:spPr>
          <a:xfrm>
            <a:off x="38675" y="4074050"/>
            <a:ext cx="1005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Lato"/>
                <a:ea typeface="Lato"/>
                <a:cs typeface="Lato"/>
                <a:sym typeface="Lato"/>
              </a:rPr>
              <a:t>Most tech expertise</a:t>
            </a:r>
            <a:endParaRPr sz="1300">
              <a:solidFill>
                <a:schemeClr val="lt1"/>
              </a:solidFill>
              <a:latin typeface="Lato"/>
              <a:ea typeface="Lato"/>
              <a:cs typeface="Lato"/>
              <a:sym typeface="Lato"/>
            </a:endParaRPr>
          </a:p>
        </p:txBody>
      </p:sp>
      <p:sp>
        <p:nvSpPr>
          <p:cNvPr id="263" name="Google Shape;263;p27"/>
          <p:cNvSpPr txBox="1"/>
          <p:nvPr/>
        </p:nvSpPr>
        <p:spPr>
          <a:xfrm>
            <a:off x="-111825" y="1264125"/>
            <a:ext cx="13731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Lato"/>
                <a:ea typeface="Lato"/>
                <a:cs typeface="Lato"/>
                <a:sym typeface="Lato"/>
              </a:rPr>
              <a:t>Least</a:t>
            </a:r>
            <a:endParaRPr sz="1300">
              <a:solidFill>
                <a:schemeClr val="lt1"/>
              </a:solidFill>
              <a:latin typeface="Lato"/>
              <a:ea typeface="Lato"/>
              <a:cs typeface="Lato"/>
              <a:sym typeface="Lato"/>
            </a:endParaRPr>
          </a:p>
          <a:p>
            <a:pPr indent="0" lvl="0" marL="0" rtl="0" algn="ctr">
              <a:spcBef>
                <a:spcPts val="0"/>
              </a:spcBef>
              <a:spcAft>
                <a:spcPts val="0"/>
              </a:spcAft>
              <a:buNone/>
            </a:pPr>
            <a:r>
              <a:rPr lang="en" sz="1300">
                <a:solidFill>
                  <a:schemeClr val="lt1"/>
                </a:solidFill>
                <a:latin typeface="Lato"/>
                <a:ea typeface="Lato"/>
                <a:cs typeface="Lato"/>
                <a:sym typeface="Lato"/>
              </a:rPr>
              <a:t>tech expertise</a:t>
            </a:r>
            <a:endParaRPr sz="1300">
              <a:solidFill>
                <a:schemeClr val="lt1"/>
              </a:solidFill>
              <a:latin typeface="Lato"/>
              <a:ea typeface="Lato"/>
              <a:cs typeface="Lato"/>
              <a:sym typeface="Lato"/>
            </a:endParaRPr>
          </a:p>
        </p:txBody>
      </p:sp>
      <p:sp>
        <p:nvSpPr>
          <p:cNvPr id="264" name="Google Shape;264;p27"/>
          <p:cNvSpPr txBox="1"/>
          <p:nvPr/>
        </p:nvSpPr>
        <p:spPr>
          <a:xfrm>
            <a:off x="0" y="0"/>
            <a:ext cx="9144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lt1"/>
                </a:solidFill>
                <a:latin typeface="Montserrat"/>
                <a:ea typeface="Montserrat"/>
                <a:cs typeface="Montserrat"/>
                <a:sym typeface="Montserrat"/>
              </a:rPr>
              <a:t>Example strategies</a:t>
            </a:r>
            <a:endParaRPr sz="2800">
              <a:solidFill>
                <a:srgbClr val="282828"/>
              </a:solidFill>
              <a:highlight>
                <a:srgbClr val="FFFFFF"/>
              </a:highlight>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graphicFrame>
        <p:nvGraphicFramePr>
          <p:cNvPr id="269" name="Google Shape;269;p28"/>
          <p:cNvGraphicFramePr/>
          <p:nvPr/>
        </p:nvGraphicFramePr>
        <p:xfrm>
          <a:off x="1261113" y="1337113"/>
          <a:ext cx="3000000" cy="3000000"/>
        </p:xfrm>
        <a:graphic>
          <a:graphicData uri="http://schemas.openxmlformats.org/drawingml/2006/table">
            <a:tbl>
              <a:tblPr>
                <a:noFill/>
                <a:tableStyleId>{5B80F8E7-B656-48E8-BDD9-CA8F38D6F824}</a:tableStyleId>
              </a:tblPr>
              <a:tblGrid>
                <a:gridCol w="2560875"/>
                <a:gridCol w="2560875"/>
                <a:gridCol w="2560875"/>
              </a:tblGrid>
              <a:tr h="427325">
                <a:tc>
                  <a:txBody>
                    <a:bodyPr/>
                    <a:lstStyle/>
                    <a:p>
                      <a:pPr indent="0" lvl="0" marL="0" rtl="0" algn="l">
                        <a:spcBef>
                          <a:spcPts val="0"/>
                        </a:spcBef>
                        <a:spcAft>
                          <a:spcPts val="0"/>
                        </a:spcAft>
                        <a:buNone/>
                      </a:pPr>
                      <a:r>
                        <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Pros/Cons</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Links</a:t>
                      </a:r>
                      <a:endParaRPr/>
                    </a:p>
                  </a:txBody>
                  <a:tcPr marT="91425" marB="91425" marR="91425" marL="91425">
                    <a:solidFill>
                      <a:srgbClr val="FFFFFF"/>
                    </a:solidFill>
                  </a:tcPr>
                </a:tc>
              </a:tr>
              <a:tr h="427325">
                <a:tc>
                  <a:txBody>
                    <a:bodyPr/>
                    <a:lstStyle/>
                    <a:p>
                      <a:pPr indent="0" lvl="0" marL="0" rtl="0" algn="l">
                        <a:spcBef>
                          <a:spcPts val="0"/>
                        </a:spcBef>
                        <a:spcAft>
                          <a:spcPts val="0"/>
                        </a:spcAft>
                        <a:buNone/>
                      </a:pPr>
                      <a:r>
                        <a:rPr lang="en"/>
                        <a:t>PrivateAI</a:t>
                      </a:r>
                      <a:endParaRPr/>
                    </a:p>
                  </a:txBody>
                  <a:tcPr marT="91425" marB="91425" marR="91425" marL="91425">
                    <a:solidFill>
                      <a:srgbClr val="D9EAD3"/>
                    </a:solidFill>
                  </a:tcPr>
                </a:tc>
                <a:tc>
                  <a:txBody>
                    <a:bodyPr/>
                    <a:lstStyle/>
                    <a:p>
                      <a:pPr indent="-317500" lvl="0" marL="457200" rtl="0" algn="l">
                        <a:spcBef>
                          <a:spcPts val="0"/>
                        </a:spcBef>
                        <a:spcAft>
                          <a:spcPts val="0"/>
                        </a:spcAft>
                        <a:buSzPts val="1400"/>
                        <a:buChar char="●"/>
                      </a:pPr>
                      <a:r>
                        <a:rPr lang="en"/>
                        <a:t>Minimal technical expertise required</a:t>
                      </a:r>
                      <a:endParaRPr/>
                    </a:p>
                    <a:p>
                      <a:pPr indent="-317500" lvl="0" marL="457200" rtl="0" algn="l">
                        <a:spcBef>
                          <a:spcPts val="0"/>
                        </a:spcBef>
                        <a:spcAft>
                          <a:spcPts val="0"/>
                        </a:spcAft>
                        <a:buSzPts val="1400"/>
                        <a:buChar char="●"/>
                      </a:pPr>
                      <a:r>
                        <a:rPr lang="en"/>
                        <a:t>Customization and rinde tuning is not available</a:t>
                      </a:r>
                      <a:endParaRPr/>
                    </a:p>
                  </a:txBody>
                  <a:tcPr marT="91425" marB="91425" marR="91425" marL="91425">
                    <a:solidFill>
                      <a:srgbClr val="D9EAD3"/>
                    </a:solidFill>
                  </a:tcPr>
                </a:tc>
                <a:tc>
                  <a:txBody>
                    <a:bodyPr/>
                    <a:lstStyle/>
                    <a:p>
                      <a:pPr indent="0" lvl="0" marL="0" rtl="0" algn="l">
                        <a:spcBef>
                          <a:spcPts val="0"/>
                        </a:spcBef>
                        <a:spcAft>
                          <a:spcPts val="0"/>
                        </a:spcAft>
                        <a:buClr>
                          <a:schemeClr val="lt1"/>
                        </a:buClr>
                        <a:buSzPts val="1100"/>
                        <a:buFont typeface="Arial"/>
                        <a:buNone/>
                      </a:pPr>
                      <a:r>
                        <a:rPr lang="en" u="sng">
                          <a:solidFill>
                            <a:schemeClr val="accent2"/>
                          </a:solidFill>
                          <a:hlinkClick r:id="rId3">
                            <a:extLst>
                              <a:ext uri="{A12FA001-AC4F-418D-AE19-62706E023703}">
                                <ahyp:hlinkClr val="tx"/>
                              </a:ext>
                            </a:extLst>
                          </a:hlinkClick>
                        </a:rPr>
                        <a:t>Private AI</a:t>
                      </a:r>
                      <a:r>
                        <a:rPr lang="en">
                          <a:solidFill>
                            <a:schemeClr val="lt1"/>
                          </a:solidFill>
                        </a:rPr>
                        <a:t> </a:t>
                      </a:r>
                      <a:endParaRPr/>
                    </a:p>
                  </a:txBody>
                  <a:tcPr marT="91425" marB="91425" marR="91425" marL="91425">
                    <a:solidFill>
                      <a:srgbClr val="D9EAD3"/>
                    </a:solidFill>
                  </a:tcPr>
                </a:tc>
              </a:tr>
              <a:tr h="887575">
                <a:tc>
                  <a:txBody>
                    <a:bodyPr/>
                    <a:lstStyle/>
                    <a:p>
                      <a:pPr indent="0" lvl="0" marL="0" rtl="0" algn="l">
                        <a:spcBef>
                          <a:spcPts val="0"/>
                        </a:spcBef>
                        <a:spcAft>
                          <a:spcPts val="0"/>
                        </a:spcAft>
                        <a:buNone/>
                      </a:pPr>
                      <a:r>
                        <a:rPr lang="en"/>
                        <a:t>deidentify Python package </a:t>
                      </a:r>
                      <a:endParaRPr/>
                    </a:p>
                  </a:txBody>
                  <a:tcPr marT="91425" marB="91425" marR="91425" marL="91425">
                    <a:lnB cap="flat" cmpd="sng" w="952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t>Python language </a:t>
                      </a:r>
                      <a:endParaRPr/>
                    </a:p>
                  </a:txBody>
                  <a:tcPr marT="91425" marB="91425" marR="91425" marL="91425">
                    <a:lnB cap="flat" cmpd="sng" w="952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u="sng">
                          <a:solidFill>
                            <a:schemeClr val="hlink"/>
                          </a:solidFill>
                          <a:hlinkClick r:id="rId4"/>
                        </a:rPr>
                        <a:t>deidentify · PyPI</a:t>
                      </a:r>
                      <a:r>
                        <a:rPr lang="en"/>
                        <a:t> </a:t>
                      </a:r>
                      <a:endParaRPr/>
                    </a:p>
                  </a:txBody>
                  <a:tcPr marT="91425" marB="91425" marR="91425" marL="91425">
                    <a:lnB cap="flat" cmpd="sng" w="9525">
                      <a:solidFill>
                        <a:srgbClr val="9E9E9E"/>
                      </a:solidFill>
                      <a:prstDash val="solid"/>
                      <a:round/>
                      <a:headEnd len="sm" w="sm" type="none"/>
                      <a:tailEnd len="sm" w="sm" type="none"/>
                    </a:lnB>
                    <a:solidFill>
                      <a:srgbClr val="FFFFFF"/>
                    </a:solidFill>
                  </a:tcPr>
                </a:tc>
              </a:tr>
              <a:tr h="887575">
                <a:tc>
                  <a:txBody>
                    <a:bodyPr/>
                    <a:lstStyle/>
                    <a:p>
                      <a:pPr indent="0" lvl="0" marL="0" rtl="0" algn="l">
                        <a:spcBef>
                          <a:spcPts val="0"/>
                        </a:spcBef>
                        <a:spcAft>
                          <a:spcPts val="0"/>
                        </a:spcAft>
                        <a:buNone/>
                      </a:pPr>
                      <a:r>
                        <a:rPr lang="en"/>
                        <a:t>AWS servers + HuggingFace model build</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t>Technical expertise needed</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u="sng">
                          <a:solidFill>
                            <a:schemeClr val="accent2"/>
                          </a:solidFill>
                          <a:hlinkClick r:id="rId5">
                            <a:extLst>
                              <a:ext uri="{A12FA001-AC4F-418D-AE19-62706E023703}">
                                <ahyp:hlinkClr val="tx"/>
                              </a:ext>
                            </a:extLst>
                          </a:hlinkClick>
                        </a:rPr>
                        <a:t>HIPAA Compliance - Amazon Web Services (AWS)</a:t>
                      </a:r>
                      <a:r>
                        <a:rPr lang="en">
                          <a:solidFill>
                            <a:schemeClr val="lt1"/>
                          </a:solidFill>
                        </a:rPr>
                        <a:t>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bl>
          </a:graphicData>
        </a:graphic>
      </p:graphicFrame>
      <p:sp>
        <p:nvSpPr>
          <p:cNvPr id="270" name="Google Shape;270;p28"/>
          <p:cNvSpPr/>
          <p:nvPr/>
        </p:nvSpPr>
        <p:spPr>
          <a:xfrm rot="10800000">
            <a:off x="298175" y="1785300"/>
            <a:ext cx="486000" cy="2342400"/>
          </a:xfrm>
          <a:prstGeom prst="upDownArrow">
            <a:avLst>
              <a:gd fmla="val 50000" name="adj1"/>
              <a:gd fmla="val 50000" name="adj2"/>
            </a:avLst>
          </a:prstGeom>
          <a:gradFill>
            <a:gsLst>
              <a:gs pos="0">
                <a:srgbClr val="FFFFFF"/>
              </a:gs>
              <a:gs pos="57000">
                <a:srgbClr val="B8D4AB"/>
              </a:gs>
              <a:gs pos="100000">
                <a:srgbClr val="EA9999"/>
              </a:gs>
            </a:gsLst>
            <a:lin ang="16200038"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1" name="Google Shape;271;p28"/>
          <p:cNvSpPr txBox="1"/>
          <p:nvPr/>
        </p:nvSpPr>
        <p:spPr>
          <a:xfrm>
            <a:off x="38675" y="4074050"/>
            <a:ext cx="1005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Lato"/>
                <a:ea typeface="Lato"/>
                <a:cs typeface="Lato"/>
                <a:sym typeface="Lato"/>
              </a:rPr>
              <a:t>Most tech expertise</a:t>
            </a:r>
            <a:endParaRPr sz="1300">
              <a:solidFill>
                <a:schemeClr val="lt1"/>
              </a:solidFill>
              <a:latin typeface="Lato"/>
              <a:ea typeface="Lato"/>
              <a:cs typeface="Lato"/>
              <a:sym typeface="Lato"/>
            </a:endParaRPr>
          </a:p>
        </p:txBody>
      </p:sp>
      <p:sp>
        <p:nvSpPr>
          <p:cNvPr id="272" name="Google Shape;272;p28"/>
          <p:cNvSpPr txBox="1"/>
          <p:nvPr/>
        </p:nvSpPr>
        <p:spPr>
          <a:xfrm>
            <a:off x="-111825" y="1264125"/>
            <a:ext cx="13731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Lato"/>
                <a:ea typeface="Lato"/>
                <a:cs typeface="Lato"/>
                <a:sym typeface="Lato"/>
              </a:rPr>
              <a:t>Least</a:t>
            </a:r>
            <a:endParaRPr sz="1300">
              <a:solidFill>
                <a:schemeClr val="lt1"/>
              </a:solidFill>
              <a:latin typeface="Lato"/>
              <a:ea typeface="Lato"/>
              <a:cs typeface="Lato"/>
              <a:sym typeface="Lato"/>
            </a:endParaRPr>
          </a:p>
          <a:p>
            <a:pPr indent="0" lvl="0" marL="0" rtl="0" algn="ctr">
              <a:spcBef>
                <a:spcPts val="0"/>
              </a:spcBef>
              <a:spcAft>
                <a:spcPts val="0"/>
              </a:spcAft>
              <a:buNone/>
            </a:pPr>
            <a:r>
              <a:rPr lang="en" sz="1300">
                <a:solidFill>
                  <a:schemeClr val="lt1"/>
                </a:solidFill>
                <a:latin typeface="Lato"/>
                <a:ea typeface="Lato"/>
                <a:cs typeface="Lato"/>
                <a:sym typeface="Lato"/>
              </a:rPr>
              <a:t>tech expertise</a:t>
            </a:r>
            <a:endParaRPr sz="1300">
              <a:solidFill>
                <a:schemeClr val="lt1"/>
              </a:solidFill>
              <a:latin typeface="Lato"/>
              <a:ea typeface="Lato"/>
              <a:cs typeface="Lato"/>
              <a:sym typeface="Lato"/>
            </a:endParaRPr>
          </a:p>
        </p:txBody>
      </p:sp>
      <p:sp>
        <p:nvSpPr>
          <p:cNvPr id="273" name="Google Shape;273;p28"/>
          <p:cNvSpPr txBox="1"/>
          <p:nvPr/>
        </p:nvSpPr>
        <p:spPr>
          <a:xfrm>
            <a:off x="152400" y="152400"/>
            <a:ext cx="9144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lt1"/>
                </a:solidFill>
                <a:latin typeface="Montserrat"/>
                <a:ea typeface="Montserrat"/>
                <a:cs typeface="Montserrat"/>
                <a:sym typeface="Montserrat"/>
              </a:rPr>
              <a:t>Example strategies</a:t>
            </a:r>
            <a:endParaRPr sz="2800">
              <a:solidFill>
                <a:srgbClr val="282828"/>
              </a:solidFill>
              <a:highlight>
                <a:srgbClr val="FFFFFF"/>
              </a:highlight>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graphicFrame>
        <p:nvGraphicFramePr>
          <p:cNvPr id="278" name="Google Shape;278;p29"/>
          <p:cNvGraphicFramePr/>
          <p:nvPr/>
        </p:nvGraphicFramePr>
        <p:xfrm>
          <a:off x="1261113" y="1337113"/>
          <a:ext cx="3000000" cy="3000000"/>
        </p:xfrm>
        <a:graphic>
          <a:graphicData uri="http://schemas.openxmlformats.org/drawingml/2006/table">
            <a:tbl>
              <a:tblPr>
                <a:noFill/>
                <a:tableStyleId>{5B80F8E7-B656-48E8-BDD9-CA8F38D6F824}</a:tableStyleId>
              </a:tblPr>
              <a:tblGrid>
                <a:gridCol w="2560875"/>
                <a:gridCol w="2560875"/>
                <a:gridCol w="2560875"/>
              </a:tblGrid>
              <a:tr h="427325">
                <a:tc>
                  <a:txBody>
                    <a:bodyPr/>
                    <a:lstStyle/>
                    <a:p>
                      <a:pPr indent="0" lvl="0" marL="0" rtl="0" algn="l">
                        <a:spcBef>
                          <a:spcPts val="0"/>
                        </a:spcBef>
                        <a:spcAft>
                          <a:spcPts val="0"/>
                        </a:spcAft>
                        <a:buNone/>
                      </a:pPr>
                      <a:r>
                        <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Pros/Cons</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Links</a:t>
                      </a:r>
                      <a:endParaRPr/>
                    </a:p>
                  </a:txBody>
                  <a:tcPr marT="91425" marB="91425" marR="91425" marL="91425">
                    <a:solidFill>
                      <a:srgbClr val="FFFFFF"/>
                    </a:solidFill>
                  </a:tcPr>
                </a:tc>
              </a:tr>
              <a:tr h="427325">
                <a:tc>
                  <a:txBody>
                    <a:bodyPr/>
                    <a:lstStyle/>
                    <a:p>
                      <a:pPr indent="0" lvl="0" marL="0" rtl="0" algn="l">
                        <a:spcBef>
                          <a:spcPts val="0"/>
                        </a:spcBef>
                        <a:spcAft>
                          <a:spcPts val="0"/>
                        </a:spcAft>
                        <a:buNone/>
                      </a:pPr>
                      <a:r>
                        <a:rPr lang="en"/>
                        <a:t>PrivateAI</a:t>
                      </a:r>
                      <a:endParaRPr/>
                    </a:p>
                  </a:txBody>
                  <a:tcPr marT="91425" marB="91425" marR="91425" marL="91425">
                    <a:solidFill>
                      <a:srgbClr val="FFFFFF"/>
                    </a:solidFill>
                  </a:tcPr>
                </a:tc>
                <a:tc>
                  <a:txBody>
                    <a:bodyPr/>
                    <a:lstStyle/>
                    <a:p>
                      <a:pPr indent="-317500" lvl="0" marL="457200" rtl="0" algn="l">
                        <a:spcBef>
                          <a:spcPts val="0"/>
                        </a:spcBef>
                        <a:spcAft>
                          <a:spcPts val="0"/>
                        </a:spcAft>
                        <a:buSzPts val="1400"/>
                        <a:buChar char="●"/>
                      </a:pPr>
                      <a:r>
                        <a:rPr lang="en"/>
                        <a:t>Minimal technical expertise required</a:t>
                      </a:r>
                      <a:endParaRPr/>
                    </a:p>
                    <a:p>
                      <a:pPr indent="-317500" lvl="0" marL="457200" rtl="0" algn="l">
                        <a:spcBef>
                          <a:spcPts val="0"/>
                        </a:spcBef>
                        <a:spcAft>
                          <a:spcPts val="0"/>
                        </a:spcAft>
                        <a:buSzPts val="1400"/>
                        <a:buChar char="●"/>
                      </a:pPr>
                      <a:r>
                        <a:rPr lang="en"/>
                        <a:t>Customization and rinde tuning is not available</a:t>
                      </a:r>
                      <a:endParaRPr/>
                    </a:p>
                  </a:txBody>
                  <a:tcPr marT="91425" marB="91425" marR="91425" marL="91425">
                    <a:solidFill>
                      <a:srgbClr val="FFFFFF"/>
                    </a:solidFill>
                  </a:tcPr>
                </a:tc>
                <a:tc>
                  <a:txBody>
                    <a:bodyPr/>
                    <a:lstStyle/>
                    <a:p>
                      <a:pPr indent="0" lvl="0" marL="0" rtl="0" algn="l">
                        <a:spcBef>
                          <a:spcPts val="0"/>
                        </a:spcBef>
                        <a:spcAft>
                          <a:spcPts val="0"/>
                        </a:spcAft>
                        <a:buClr>
                          <a:schemeClr val="lt1"/>
                        </a:buClr>
                        <a:buSzPts val="1100"/>
                        <a:buFont typeface="Arial"/>
                        <a:buNone/>
                      </a:pPr>
                      <a:r>
                        <a:rPr lang="en" u="sng">
                          <a:solidFill>
                            <a:schemeClr val="accent2"/>
                          </a:solidFill>
                          <a:hlinkClick r:id="rId3">
                            <a:extLst>
                              <a:ext uri="{A12FA001-AC4F-418D-AE19-62706E023703}">
                                <ahyp:hlinkClr val="tx"/>
                              </a:ext>
                            </a:extLst>
                          </a:hlinkClick>
                        </a:rPr>
                        <a:t>Private AI</a:t>
                      </a:r>
                      <a:r>
                        <a:rPr lang="en">
                          <a:solidFill>
                            <a:schemeClr val="lt1"/>
                          </a:solidFill>
                        </a:rPr>
                        <a:t> </a:t>
                      </a:r>
                      <a:endParaRPr/>
                    </a:p>
                  </a:txBody>
                  <a:tcPr marT="91425" marB="91425" marR="91425" marL="91425">
                    <a:solidFill>
                      <a:srgbClr val="FFFFFF"/>
                    </a:solidFill>
                  </a:tcPr>
                </a:tc>
              </a:tr>
              <a:tr h="887575">
                <a:tc>
                  <a:txBody>
                    <a:bodyPr/>
                    <a:lstStyle/>
                    <a:p>
                      <a:pPr indent="0" lvl="0" marL="0" rtl="0" algn="l">
                        <a:spcBef>
                          <a:spcPts val="0"/>
                        </a:spcBef>
                        <a:spcAft>
                          <a:spcPts val="0"/>
                        </a:spcAft>
                        <a:buNone/>
                      </a:pPr>
                      <a:r>
                        <a:rPr lang="en"/>
                        <a:t>deidentify Python package</a:t>
                      </a:r>
                      <a:endParaRPr/>
                    </a:p>
                  </a:txBody>
                  <a:tcPr marT="91425" marB="91425" marR="91425" marL="91425">
                    <a:lnB cap="flat" cmpd="sng" w="9525">
                      <a:solidFill>
                        <a:srgbClr val="9E9E9E"/>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a:t>Python language </a:t>
                      </a:r>
                      <a:endParaRPr/>
                    </a:p>
                  </a:txBody>
                  <a:tcPr marT="91425" marB="91425" marR="91425" marL="91425">
                    <a:lnB cap="flat" cmpd="sng" w="9525">
                      <a:solidFill>
                        <a:srgbClr val="9E9E9E"/>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u="sng">
                          <a:solidFill>
                            <a:schemeClr val="hlink"/>
                          </a:solidFill>
                          <a:hlinkClick r:id="rId4"/>
                        </a:rPr>
                        <a:t>deidentify · PyPI</a:t>
                      </a:r>
                      <a:r>
                        <a:rPr lang="en"/>
                        <a:t> </a:t>
                      </a:r>
                      <a:endParaRPr/>
                    </a:p>
                  </a:txBody>
                  <a:tcPr marT="91425" marB="91425" marR="91425" marL="91425">
                    <a:lnB cap="flat" cmpd="sng" w="9525">
                      <a:solidFill>
                        <a:srgbClr val="9E9E9E"/>
                      </a:solidFill>
                      <a:prstDash val="solid"/>
                      <a:round/>
                      <a:headEnd len="sm" w="sm" type="none"/>
                      <a:tailEnd len="sm" w="sm" type="none"/>
                    </a:lnB>
                    <a:solidFill>
                      <a:srgbClr val="D9EAD3"/>
                    </a:solidFill>
                  </a:tcPr>
                </a:tc>
              </a:tr>
              <a:tr h="887575">
                <a:tc>
                  <a:txBody>
                    <a:bodyPr/>
                    <a:lstStyle/>
                    <a:p>
                      <a:pPr indent="0" lvl="0" marL="0" rtl="0" algn="l">
                        <a:spcBef>
                          <a:spcPts val="0"/>
                        </a:spcBef>
                        <a:spcAft>
                          <a:spcPts val="0"/>
                        </a:spcAft>
                        <a:buNone/>
                      </a:pPr>
                      <a:r>
                        <a:rPr lang="en"/>
                        <a:t>AWS servers + HuggingFace model build</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t>Technical expertise needed</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u="sng">
                          <a:solidFill>
                            <a:schemeClr val="accent2"/>
                          </a:solidFill>
                          <a:hlinkClick r:id="rId5">
                            <a:extLst>
                              <a:ext uri="{A12FA001-AC4F-418D-AE19-62706E023703}">
                                <ahyp:hlinkClr val="tx"/>
                              </a:ext>
                            </a:extLst>
                          </a:hlinkClick>
                        </a:rPr>
                        <a:t>HIPAA Compliance - Amazon Web Services (AWS)</a:t>
                      </a:r>
                      <a:r>
                        <a:rPr lang="en">
                          <a:solidFill>
                            <a:schemeClr val="lt1"/>
                          </a:solidFill>
                        </a:rPr>
                        <a:t>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bl>
          </a:graphicData>
        </a:graphic>
      </p:graphicFrame>
      <p:sp>
        <p:nvSpPr>
          <p:cNvPr id="279" name="Google Shape;279;p29"/>
          <p:cNvSpPr/>
          <p:nvPr/>
        </p:nvSpPr>
        <p:spPr>
          <a:xfrm rot="10800000">
            <a:off x="298175" y="1785300"/>
            <a:ext cx="486000" cy="2342400"/>
          </a:xfrm>
          <a:prstGeom prst="upDownArrow">
            <a:avLst>
              <a:gd fmla="val 50000" name="adj1"/>
              <a:gd fmla="val 50000" name="adj2"/>
            </a:avLst>
          </a:prstGeom>
          <a:gradFill>
            <a:gsLst>
              <a:gs pos="0">
                <a:srgbClr val="FFFFFF"/>
              </a:gs>
              <a:gs pos="57000">
                <a:srgbClr val="B8D4AB"/>
              </a:gs>
              <a:gs pos="100000">
                <a:srgbClr val="EA9999"/>
              </a:gs>
            </a:gsLst>
            <a:lin ang="16200038"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0" name="Google Shape;280;p29"/>
          <p:cNvSpPr txBox="1"/>
          <p:nvPr/>
        </p:nvSpPr>
        <p:spPr>
          <a:xfrm>
            <a:off x="38675" y="4074050"/>
            <a:ext cx="1005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Lato"/>
                <a:ea typeface="Lato"/>
                <a:cs typeface="Lato"/>
                <a:sym typeface="Lato"/>
              </a:rPr>
              <a:t>Most tech expertise</a:t>
            </a:r>
            <a:endParaRPr sz="1300">
              <a:solidFill>
                <a:schemeClr val="lt1"/>
              </a:solidFill>
              <a:latin typeface="Lato"/>
              <a:ea typeface="Lato"/>
              <a:cs typeface="Lato"/>
              <a:sym typeface="Lato"/>
            </a:endParaRPr>
          </a:p>
        </p:txBody>
      </p:sp>
      <p:sp>
        <p:nvSpPr>
          <p:cNvPr id="281" name="Google Shape;281;p29"/>
          <p:cNvSpPr txBox="1"/>
          <p:nvPr/>
        </p:nvSpPr>
        <p:spPr>
          <a:xfrm>
            <a:off x="-111825" y="1264125"/>
            <a:ext cx="13731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Lato"/>
                <a:ea typeface="Lato"/>
                <a:cs typeface="Lato"/>
                <a:sym typeface="Lato"/>
              </a:rPr>
              <a:t>Least</a:t>
            </a:r>
            <a:endParaRPr sz="1300">
              <a:solidFill>
                <a:schemeClr val="lt1"/>
              </a:solidFill>
              <a:latin typeface="Lato"/>
              <a:ea typeface="Lato"/>
              <a:cs typeface="Lato"/>
              <a:sym typeface="Lato"/>
            </a:endParaRPr>
          </a:p>
          <a:p>
            <a:pPr indent="0" lvl="0" marL="0" rtl="0" algn="ctr">
              <a:spcBef>
                <a:spcPts val="0"/>
              </a:spcBef>
              <a:spcAft>
                <a:spcPts val="0"/>
              </a:spcAft>
              <a:buNone/>
            </a:pPr>
            <a:r>
              <a:rPr lang="en" sz="1300">
                <a:solidFill>
                  <a:schemeClr val="lt1"/>
                </a:solidFill>
                <a:latin typeface="Lato"/>
                <a:ea typeface="Lato"/>
                <a:cs typeface="Lato"/>
                <a:sym typeface="Lato"/>
              </a:rPr>
              <a:t>tech expertise</a:t>
            </a:r>
            <a:endParaRPr sz="1300">
              <a:solidFill>
                <a:schemeClr val="lt1"/>
              </a:solidFill>
              <a:latin typeface="Lato"/>
              <a:ea typeface="Lato"/>
              <a:cs typeface="Lato"/>
              <a:sym typeface="Lato"/>
            </a:endParaRPr>
          </a:p>
        </p:txBody>
      </p:sp>
      <p:sp>
        <p:nvSpPr>
          <p:cNvPr id="282" name="Google Shape;282;p29"/>
          <p:cNvSpPr txBox="1"/>
          <p:nvPr/>
        </p:nvSpPr>
        <p:spPr>
          <a:xfrm>
            <a:off x="0" y="0"/>
            <a:ext cx="9144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lt1"/>
                </a:solidFill>
                <a:latin typeface="Montserrat"/>
                <a:ea typeface="Montserrat"/>
                <a:cs typeface="Montserrat"/>
                <a:sym typeface="Montserrat"/>
              </a:rPr>
              <a:t>Example strategies</a:t>
            </a:r>
            <a:endParaRPr sz="2800">
              <a:solidFill>
                <a:srgbClr val="282828"/>
              </a:solidFill>
              <a:highlight>
                <a:srgbClr val="FFFFFF"/>
              </a:highlight>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graphicFrame>
        <p:nvGraphicFramePr>
          <p:cNvPr id="287" name="Google Shape;287;p30"/>
          <p:cNvGraphicFramePr/>
          <p:nvPr/>
        </p:nvGraphicFramePr>
        <p:xfrm>
          <a:off x="1261113" y="1337113"/>
          <a:ext cx="3000000" cy="3000000"/>
        </p:xfrm>
        <a:graphic>
          <a:graphicData uri="http://schemas.openxmlformats.org/drawingml/2006/table">
            <a:tbl>
              <a:tblPr>
                <a:noFill/>
                <a:tableStyleId>{5B80F8E7-B656-48E8-BDD9-CA8F38D6F824}</a:tableStyleId>
              </a:tblPr>
              <a:tblGrid>
                <a:gridCol w="2560875"/>
                <a:gridCol w="2560875"/>
                <a:gridCol w="2560875"/>
              </a:tblGrid>
              <a:tr h="427325">
                <a:tc>
                  <a:txBody>
                    <a:bodyPr/>
                    <a:lstStyle/>
                    <a:p>
                      <a:pPr indent="0" lvl="0" marL="0" rtl="0" algn="l">
                        <a:spcBef>
                          <a:spcPts val="0"/>
                        </a:spcBef>
                        <a:spcAft>
                          <a:spcPts val="0"/>
                        </a:spcAft>
                        <a:buNone/>
                      </a:pPr>
                      <a:r>
                        <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Pros/Cons</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Links</a:t>
                      </a:r>
                      <a:endParaRPr/>
                    </a:p>
                  </a:txBody>
                  <a:tcPr marT="91425" marB="91425" marR="91425" marL="91425">
                    <a:solidFill>
                      <a:srgbClr val="FFFFFF"/>
                    </a:solidFill>
                  </a:tcPr>
                </a:tc>
              </a:tr>
              <a:tr h="427325">
                <a:tc>
                  <a:txBody>
                    <a:bodyPr/>
                    <a:lstStyle/>
                    <a:p>
                      <a:pPr indent="0" lvl="0" marL="0" rtl="0" algn="l">
                        <a:spcBef>
                          <a:spcPts val="0"/>
                        </a:spcBef>
                        <a:spcAft>
                          <a:spcPts val="0"/>
                        </a:spcAft>
                        <a:buNone/>
                      </a:pPr>
                      <a:r>
                        <a:rPr lang="en"/>
                        <a:t>PrivateAI</a:t>
                      </a:r>
                      <a:endParaRPr/>
                    </a:p>
                  </a:txBody>
                  <a:tcPr marT="91425" marB="91425" marR="91425" marL="91425">
                    <a:solidFill>
                      <a:srgbClr val="FFFFFF"/>
                    </a:solidFill>
                  </a:tcPr>
                </a:tc>
                <a:tc>
                  <a:txBody>
                    <a:bodyPr/>
                    <a:lstStyle/>
                    <a:p>
                      <a:pPr indent="-317500" lvl="0" marL="457200" rtl="0" algn="l">
                        <a:spcBef>
                          <a:spcPts val="0"/>
                        </a:spcBef>
                        <a:spcAft>
                          <a:spcPts val="0"/>
                        </a:spcAft>
                        <a:buSzPts val="1400"/>
                        <a:buChar char="●"/>
                      </a:pPr>
                      <a:r>
                        <a:rPr lang="en"/>
                        <a:t>Minimal technical expertise required</a:t>
                      </a:r>
                      <a:endParaRPr/>
                    </a:p>
                    <a:p>
                      <a:pPr indent="-317500" lvl="0" marL="457200" rtl="0" algn="l">
                        <a:spcBef>
                          <a:spcPts val="0"/>
                        </a:spcBef>
                        <a:spcAft>
                          <a:spcPts val="0"/>
                        </a:spcAft>
                        <a:buSzPts val="1400"/>
                        <a:buChar char="●"/>
                      </a:pPr>
                      <a:r>
                        <a:rPr lang="en"/>
                        <a:t>Customization and rinde tuning is not available</a:t>
                      </a:r>
                      <a:endParaRPr/>
                    </a:p>
                  </a:txBody>
                  <a:tcPr marT="91425" marB="91425" marR="91425" marL="91425">
                    <a:solidFill>
                      <a:srgbClr val="FFFFFF"/>
                    </a:solidFill>
                  </a:tcPr>
                </a:tc>
                <a:tc>
                  <a:txBody>
                    <a:bodyPr/>
                    <a:lstStyle/>
                    <a:p>
                      <a:pPr indent="0" lvl="0" marL="0" rtl="0" algn="l">
                        <a:spcBef>
                          <a:spcPts val="0"/>
                        </a:spcBef>
                        <a:spcAft>
                          <a:spcPts val="0"/>
                        </a:spcAft>
                        <a:buClr>
                          <a:schemeClr val="lt1"/>
                        </a:buClr>
                        <a:buSzPts val="1100"/>
                        <a:buFont typeface="Arial"/>
                        <a:buNone/>
                      </a:pPr>
                      <a:r>
                        <a:rPr lang="en" u="sng">
                          <a:solidFill>
                            <a:schemeClr val="accent2"/>
                          </a:solidFill>
                          <a:hlinkClick r:id="rId3">
                            <a:extLst>
                              <a:ext uri="{A12FA001-AC4F-418D-AE19-62706E023703}">
                                <ahyp:hlinkClr val="tx"/>
                              </a:ext>
                            </a:extLst>
                          </a:hlinkClick>
                        </a:rPr>
                        <a:t>Private AI</a:t>
                      </a:r>
                      <a:r>
                        <a:rPr lang="en">
                          <a:solidFill>
                            <a:schemeClr val="lt1"/>
                          </a:solidFill>
                        </a:rPr>
                        <a:t> </a:t>
                      </a:r>
                      <a:endParaRPr/>
                    </a:p>
                  </a:txBody>
                  <a:tcPr marT="91425" marB="91425" marR="91425" marL="91425">
                    <a:solidFill>
                      <a:srgbClr val="FFFFFF"/>
                    </a:solidFill>
                  </a:tcPr>
                </a:tc>
              </a:tr>
              <a:tr h="887575">
                <a:tc>
                  <a:txBody>
                    <a:bodyPr/>
                    <a:lstStyle/>
                    <a:p>
                      <a:pPr indent="0" lvl="0" marL="0" rtl="0" algn="l">
                        <a:spcBef>
                          <a:spcPts val="0"/>
                        </a:spcBef>
                        <a:spcAft>
                          <a:spcPts val="0"/>
                        </a:spcAft>
                        <a:buNone/>
                      </a:pPr>
                      <a:r>
                        <a:rPr lang="en"/>
                        <a:t>deidentify Python package</a:t>
                      </a:r>
                      <a:endParaRPr/>
                    </a:p>
                  </a:txBody>
                  <a:tcPr marT="91425" marB="91425" marR="91425" marL="91425">
                    <a:lnB cap="flat" cmpd="sng" w="952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t>Python language </a:t>
                      </a:r>
                      <a:endParaRPr/>
                    </a:p>
                  </a:txBody>
                  <a:tcPr marT="91425" marB="91425" marR="91425" marL="91425">
                    <a:lnB cap="flat" cmpd="sng" w="9525">
                      <a:solidFill>
                        <a:srgbClr val="9E9E9E"/>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u="sng">
                          <a:solidFill>
                            <a:schemeClr val="hlink"/>
                          </a:solidFill>
                          <a:hlinkClick r:id="rId4"/>
                        </a:rPr>
                        <a:t>deidentify · PyPI</a:t>
                      </a:r>
                      <a:r>
                        <a:rPr lang="en"/>
                        <a:t> </a:t>
                      </a:r>
                      <a:endParaRPr/>
                    </a:p>
                  </a:txBody>
                  <a:tcPr marT="91425" marB="91425" marR="91425" marL="91425">
                    <a:lnB cap="flat" cmpd="sng" w="9525">
                      <a:solidFill>
                        <a:srgbClr val="9E9E9E"/>
                      </a:solidFill>
                      <a:prstDash val="solid"/>
                      <a:round/>
                      <a:headEnd len="sm" w="sm" type="none"/>
                      <a:tailEnd len="sm" w="sm" type="none"/>
                    </a:lnB>
                    <a:solidFill>
                      <a:srgbClr val="FFFFFF"/>
                    </a:solidFill>
                  </a:tcPr>
                </a:tc>
              </a:tr>
              <a:tr h="887575">
                <a:tc>
                  <a:txBody>
                    <a:bodyPr/>
                    <a:lstStyle/>
                    <a:p>
                      <a:pPr indent="0" lvl="0" marL="0" rtl="0" algn="l">
                        <a:spcBef>
                          <a:spcPts val="0"/>
                        </a:spcBef>
                        <a:spcAft>
                          <a:spcPts val="0"/>
                        </a:spcAft>
                        <a:buNone/>
                      </a:pPr>
                      <a:r>
                        <a:rPr lang="en"/>
                        <a:t>AWS servers + HuggingFace model build</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a:t>Technical expertise needed</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u="sng">
                          <a:solidFill>
                            <a:schemeClr val="accent2"/>
                          </a:solidFill>
                          <a:hlinkClick r:id="rId5">
                            <a:extLst>
                              <a:ext uri="{A12FA001-AC4F-418D-AE19-62706E023703}">
                                <ahyp:hlinkClr val="tx"/>
                              </a:ext>
                            </a:extLst>
                          </a:hlinkClick>
                        </a:rPr>
                        <a:t>HIPAA Compliance - Amazon Web Services (AWS)</a:t>
                      </a:r>
                      <a:r>
                        <a:rPr lang="en">
                          <a:solidFill>
                            <a:schemeClr val="lt1"/>
                          </a:solidFill>
                        </a:rPr>
                        <a:t>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r>
            </a:tbl>
          </a:graphicData>
        </a:graphic>
      </p:graphicFrame>
      <p:sp>
        <p:nvSpPr>
          <p:cNvPr id="288" name="Google Shape;288;p30"/>
          <p:cNvSpPr/>
          <p:nvPr/>
        </p:nvSpPr>
        <p:spPr>
          <a:xfrm rot="10800000">
            <a:off x="298175" y="1785300"/>
            <a:ext cx="486000" cy="2342400"/>
          </a:xfrm>
          <a:prstGeom prst="upDownArrow">
            <a:avLst>
              <a:gd fmla="val 50000" name="adj1"/>
              <a:gd fmla="val 50000" name="adj2"/>
            </a:avLst>
          </a:prstGeom>
          <a:gradFill>
            <a:gsLst>
              <a:gs pos="0">
                <a:srgbClr val="FFFFFF"/>
              </a:gs>
              <a:gs pos="57000">
                <a:srgbClr val="B8D4AB"/>
              </a:gs>
              <a:gs pos="100000">
                <a:srgbClr val="EA9999"/>
              </a:gs>
            </a:gsLst>
            <a:lin ang="16200038"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9" name="Google Shape;289;p30"/>
          <p:cNvSpPr txBox="1"/>
          <p:nvPr/>
        </p:nvSpPr>
        <p:spPr>
          <a:xfrm>
            <a:off x="38675" y="4074050"/>
            <a:ext cx="1005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Lato"/>
                <a:ea typeface="Lato"/>
                <a:cs typeface="Lato"/>
                <a:sym typeface="Lato"/>
              </a:rPr>
              <a:t>Most tech expertise</a:t>
            </a:r>
            <a:endParaRPr sz="1300">
              <a:solidFill>
                <a:schemeClr val="lt1"/>
              </a:solidFill>
              <a:latin typeface="Lato"/>
              <a:ea typeface="Lato"/>
              <a:cs typeface="Lato"/>
              <a:sym typeface="Lato"/>
            </a:endParaRPr>
          </a:p>
        </p:txBody>
      </p:sp>
      <p:sp>
        <p:nvSpPr>
          <p:cNvPr id="290" name="Google Shape;290;p30"/>
          <p:cNvSpPr txBox="1"/>
          <p:nvPr/>
        </p:nvSpPr>
        <p:spPr>
          <a:xfrm>
            <a:off x="-111825" y="1264125"/>
            <a:ext cx="13731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Lato"/>
                <a:ea typeface="Lato"/>
                <a:cs typeface="Lato"/>
                <a:sym typeface="Lato"/>
              </a:rPr>
              <a:t>Least</a:t>
            </a:r>
            <a:endParaRPr sz="1300">
              <a:solidFill>
                <a:schemeClr val="lt1"/>
              </a:solidFill>
              <a:latin typeface="Lato"/>
              <a:ea typeface="Lato"/>
              <a:cs typeface="Lato"/>
              <a:sym typeface="Lato"/>
            </a:endParaRPr>
          </a:p>
          <a:p>
            <a:pPr indent="0" lvl="0" marL="0" rtl="0" algn="ctr">
              <a:spcBef>
                <a:spcPts val="0"/>
              </a:spcBef>
              <a:spcAft>
                <a:spcPts val="0"/>
              </a:spcAft>
              <a:buNone/>
            </a:pPr>
            <a:r>
              <a:rPr lang="en" sz="1300">
                <a:solidFill>
                  <a:schemeClr val="lt1"/>
                </a:solidFill>
                <a:latin typeface="Lato"/>
                <a:ea typeface="Lato"/>
                <a:cs typeface="Lato"/>
                <a:sym typeface="Lato"/>
              </a:rPr>
              <a:t>tech expertise</a:t>
            </a:r>
            <a:endParaRPr sz="1300">
              <a:solidFill>
                <a:schemeClr val="lt1"/>
              </a:solidFill>
              <a:latin typeface="Lato"/>
              <a:ea typeface="Lato"/>
              <a:cs typeface="Lato"/>
              <a:sym typeface="Lato"/>
            </a:endParaRPr>
          </a:p>
        </p:txBody>
      </p:sp>
      <p:sp>
        <p:nvSpPr>
          <p:cNvPr id="291" name="Google Shape;291;p30"/>
          <p:cNvSpPr txBox="1"/>
          <p:nvPr/>
        </p:nvSpPr>
        <p:spPr>
          <a:xfrm>
            <a:off x="0" y="0"/>
            <a:ext cx="9144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lt1"/>
                </a:solidFill>
                <a:latin typeface="Montserrat"/>
                <a:ea typeface="Montserrat"/>
                <a:cs typeface="Montserrat"/>
                <a:sym typeface="Montserrat"/>
              </a:rPr>
              <a:t>Example strategies</a:t>
            </a:r>
            <a:endParaRPr sz="2800">
              <a:solidFill>
                <a:srgbClr val="282828"/>
              </a:solidFill>
              <a:highlight>
                <a:srgbClr val="FFFFFF"/>
              </a:highlight>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1"/>
          <p:cNvSpPr txBox="1"/>
          <p:nvPr>
            <p:ph type="title"/>
          </p:nvPr>
        </p:nvSpPr>
        <p:spPr>
          <a:xfrm>
            <a:off x="823850" y="866775"/>
            <a:ext cx="6387900" cy="3521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No matter what strategy you go with, you will need to check with your in-house experts like legal experts and institutional review boards.</a:t>
            </a:r>
            <a:endParaRPr/>
          </a:p>
        </p:txBody>
      </p:sp>
      <p:pic>
        <p:nvPicPr>
          <p:cNvPr id="297" name="Google Shape;297;p31"/>
          <p:cNvPicPr preferRelativeResize="0"/>
          <p:nvPr/>
        </p:nvPicPr>
        <p:blipFill>
          <a:blip r:embed="rId3">
            <a:alphaModFix/>
          </a:blip>
          <a:stretch>
            <a:fillRect/>
          </a:stretch>
        </p:blipFill>
        <p:spPr>
          <a:xfrm>
            <a:off x="6974750" y="1652375"/>
            <a:ext cx="1627450" cy="1627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1B365D"/>
      </a:accent1>
      <a:accent2>
        <a:srgbClr val="00C1D5"/>
      </a:accent2>
      <a:accent3>
        <a:srgbClr val="FFB500"/>
      </a:accent3>
      <a:accent4>
        <a:srgbClr val="AA4AC4"/>
      </a:accent4>
      <a:accent5>
        <a:srgbClr val="0A799A"/>
      </a:accent5>
      <a:accent6>
        <a:srgbClr val="F4F4F4"/>
      </a:accent6>
      <a:hlink>
        <a:srgbClr val="00C1D5"/>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